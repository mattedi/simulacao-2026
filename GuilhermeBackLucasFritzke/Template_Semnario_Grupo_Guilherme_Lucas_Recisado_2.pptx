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4" r:id="rId5"/>
    <p:sldId id="265" r:id="rId6"/>
    <p:sldId id="263" r:id="rId7"/>
    <p:sldId id="1699" r:id="rId8"/>
    <p:sldId id="1698" r:id="rId9"/>
    <p:sldId id="696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2C88EB-6C78-4020-B43B-75C8DD609EB8}" v="3" dt="2026-05-04T09:50:32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433CB-0624-41BF-866C-207C81F879F3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B23EC-8EA9-49E9-A0AC-3EEEAF31A3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533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30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 Guilherme W. Back e Lucas Fritzke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3B92D-B05C-9361-9A3A-327B5745C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93018B4-D443-47CA-E977-7071909C5C0C}"/>
              </a:ext>
            </a:extLst>
          </p:cNvPr>
          <p:cNvSpPr txBox="1"/>
          <p:nvPr/>
        </p:nvSpPr>
        <p:spPr>
          <a:xfrm>
            <a:off x="496646" y="1146469"/>
            <a:ext cx="10647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1.1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Delimitação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do Sistema de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Referência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(S)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AA23C0-E94E-5446-8FFB-3AC8EDE1FBE6}"/>
              </a:ext>
            </a:extLst>
          </p:cNvPr>
          <p:cNvSpPr txBox="1"/>
          <p:nvPr/>
        </p:nvSpPr>
        <p:spPr>
          <a:xfrm>
            <a:off x="496646" y="1762175"/>
            <a:ext cx="1056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Fenômeno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Evacuação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emergencial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edifício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de 30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andares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em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situação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incêndio</a:t>
            </a:r>
            <a:endParaRPr lang="en-US" sz="1800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3B20AF9-A18E-DC89-B52E-6249DD208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237112"/>
              </p:ext>
            </p:extLst>
          </p:nvPr>
        </p:nvGraphicFramePr>
        <p:xfrm>
          <a:off x="609600" y="2316480"/>
          <a:ext cx="11297920" cy="4287519"/>
        </p:xfrm>
        <a:graphic>
          <a:graphicData uri="http://schemas.openxmlformats.org/drawingml/2006/table">
            <a:tbl>
              <a:tblPr/>
              <a:tblGrid>
                <a:gridCol w="2824481">
                  <a:extLst>
                    <a:ext uri="{9D8B030D-6E8A-4147-A177-3AD203B41FA5}">
                      <a16:colId xmlns:a16="http://schemas.microsoft.com/office/drawing/2014/main" val="1113624060"/>
                    </a:ext>
                  </a:extLst>
                </a:gridCol>
                <a:gridCol w="8473439">
                  <a:extLst>
                    <a:ext uri="{9D8B030D-6E8A-4147-A177-3AD203B41FA5}">
                      <a16:colId xmlns:a16="http://schemas.microsoft.com/office/drawing/2014/main" val="2867945562"/>
                    </a:ext>
                  </a:extLst>
                </a:gridCol>
              </a:tblGrid>
              <a:tr h="3795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Definição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440986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Tipo Ontológico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Físico — causalidade energética (propagação do fogo/fumaça) e mecânica (movimentação dos agentes)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23356"/>
                  </a:ext>
                </a:extLst>
              </a:tr>
              <a:tr h="5964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Fronteira Espacial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Edifício de 30 andares (0 a 29); cada andar representado como grade 2D de 20×20 células com corredores, salas, escadas e saídas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564216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Fronteira Temporal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Início do incêndio até evacuação total ou término da simulação; granularidade discreta </a:t>
                      </a:r>
                      <a:r>
                        <a:rPr lang="en-US" sz="1400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por</a:t>
                      </a: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tick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036500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Fronteira Funcional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Propagação de fogo, dispersão de fumaça, movimentação de ocupantes e ação de brigadistas dentro do edifício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536174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Escala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Espacial: meso (edifício, resolução por </a:t>
                      </a:r>
                      <a:r>
                        <a:rPr lang="en-US" sz="1400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célula</a:t>
                      </a: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); Temporal: evento (</a:t>
                      </a:r>
                      <a:r>
                        <a:rPr lang="en-US" sz="1400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minutos</a:t>
                      </a: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); Ontológica: elementar (agentes individuais)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606673"/>
                  </a:ext>
                </a:extLst>
              </a:tr>
              <a:tr h="5964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Entidades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Ocupantes (adultos vel. 1.0, idosos vel. 0.6, PcD vel. 0.4), brigadistas (vel. 1.5), fogo, fumaça, escadas (fluxo limitado), corredores, saídas de emergência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101071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Regime de Observação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Instrumentado e automatizado: coleta de métricas a tick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647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04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031F-1E27-6414-8F65-D5DA8FDE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0A95469-7CBC-E0BA-0488-FF184F4831B5}"/>
              </a:ext>
            </a:extLst>
          </p:cNvPr>
          <p:cNvSpPr txBox="1"/>
          <p:nvPr/>
        </p:nvSpPr>
        <p:spPr>
          <a:xfrm>
            <a:off x="793100" y="1161663"/>
            <a:ext cx="10647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1.2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Observáveis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Prioritários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e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Exclusões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Conscientes</a:t>
            </a:r>
            <a:endParaRPr lang="en-US" sz="28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BF1773F-1B89-134E-915F-04F52C177C72}"/>
              </a:ext>
            </a:extLst>
          </p:cNvPr>
          <p:cNvSpPr/>
          <p:nvPr/>
        </p:nvSpPr>
        <p:spPr>
          <a:xfrm>
            <a:off x="793099" y="2081872"/>
            <a:ext cx="4680489" cy="49149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21E26D-F7CA-C208-C7C2-DD4B24D819EE}"/>
              </a:ext>
            </a:extLst>
          </p:cNvPr>
          <p:cNvSpPr/>
          <p:nvPr/>
        </p:nvSpPr>
        <p:spPr>
          <a:xfrm>
            <a:off x="793099" y="2107355"/>
            <a:ext cx="4680489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Observáveis Prioritários</a:t>
            </a:r>
            <a:endParaRPr lang="en-US" sz="13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1BE1A9AF-5CF9-1CB5-98E5-1A6C2A3A6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182721"/>
              </p:ext>
            </p:extLst>
          </p:nvPr>
        </p:nvGraphicFramePr>
        <p:xfrm>
          <a:off x="793099" y="2624328"/>
          <a:ext cx="4680488" cy="3145539"/>
        </p:xfrm>
        <a:graphic>
          <a:graphicData uri="http://schemas.openxmlformats.org/drawingml/2006/table">
            <a:tbl>
              <a:tblPr/>
              <a:tblGrid>
                <a:gridCol w="1738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2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0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Observável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Taxa de evacuação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Evacuados / total ao término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Tempo médio de evacuação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Média e σ de steps por andar e total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Nº de vítimas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Mortos + feridos por rodada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Mapa de calor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Densidade acumulada por célula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Gargalos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Top-5 células com maior congestionamento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Evolução temporal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Evacuados, mortos e área em chamas por step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CB057D1B-EEB4-71B4-84CF-B56C9CF8A653}"/>
              </a:ext>
            </a:extLst>
          </p:cNvPr>
          <p:cNvSpPr/>
          <p:nvPr/>
        </p:nvSpPr>
        <p:spPr>
          <a:xfrm>
            <a:off x="6462379" y="2081872"/>
            <a:ext cx="4748545" cy="49149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C3AD19F-F4AE-219F-8764-5659690DCABD}"/>
              </a:ext>
            </a:extLst>
          </p:cNvPr>
          <p:cNvSpPr/>
          <p:nvPr/>
        </p:nvSpPr>
        <p:spPr>
          <a:xfrm>
            <a:off x="6645449" y="2105945"/>
            <a:ext cx="4382404" cy="478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Exclusões Conscientes</a:t>
            </a:r>
            <a:endParaRPr lang="en-US" sz="13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1">
            <a:extLst>
              <a:ext uri="{FF2B5EF4-FFF2-40B4-BE49-F238E27FC236}">
                <a16:creationId xmlns:a16="http://schemas.microsoft.com/office/drawing/2014/main" id="{247B5909-35F1-F6D1-5DBA-E37C86DBA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453905"/>
              </p:ext>
            </p:extLst>
          </p:nvPr>
        </p:nvGraphicFramePr>
        <p:xfrm>
          <a:off x="6462379" y="2624328"/>
          <a:ext cx="4748545" cy="3120058"/>
        </p:xfrm>
        <a:graphic>
          <a:graphicData uri="http://schemas.openxmlformats.org/drawingml/2006/table">
            <a:tbl>
              <a:tblPr/>
              <a:tblGrid>
                <a:gridCol w="1773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4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1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Elemento Excluído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Justificativa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Estados psicológicos profundos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Inobserváveis; pânico é operacionalizado como variável [0,1]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Condições climáticas externas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Foco no interior do edifício; vento e chuva não modelados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8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Políticas públicas / fiscalização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Regime causal institucional incompatível com ontologia física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Dimensões simbólicas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Percepção cultural de risco, crenças — não formalizáveis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Combate direto ao incêndio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Brigadistas orientam evacuação, não combatem o fogo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Elevadores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Bloqueados conforme ABNT NBR 9077 — não participam da evacuação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557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D0E2833-4C38-3B14-F5C2-6306E50DCA3C}"/>
              </a:ext>
            </a:extLst>
          </p:cNvPr>
          <p:cNvSpPr txBox="1"/>
          <p:nvPr/>
        </p:nvSpPr>
        <p:spPr>
          <a:xfrm>
            <a:off x="465992" y="896816"/>
            <a:ext cx="6110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Faltou o preenchimento do Sigma e da tabela de artigos</a:t>
            </a:r>
          </a:p>
        </p:txBody>
      </p:sp>
    </p:spTree>
    <p:extLst>
      <p:ext uri="{BB962C8B-B14F-4D97-AF65-F5344CB8AC3E}">
        <p14:creationId xmlns:p14="http://schemas.microsoft.com/office/powerpoint/2010/main" val="1927503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3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5" y="615043"/>
            <a:ext cx="1630018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Termos de pesquisa aplicados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>
            <a:off x="8084771" y="1055915"/>
            <a:ext cx="1008584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1779815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1801589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Termos de pesquisa aplicados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(#1 &amp; 2)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220687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496787"/>
            <a:ext cx="0" cy="283028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2960914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2944586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2944586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385458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125685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125685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125685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não atenderam aos critérios de inclusão (#3, 4 e 5)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2661559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3826330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566557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306784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306784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)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50D97BE-A3BE-DFAB-0BFA-E03C4446064F}"/>
              </a:ext>
            </a:extLst>
          </p:cNvPr>
          <p:cNvSpPr/>
          <p:nvPr/>
        </p:nvSpPr>
        <p:spPr>
          <a:xfrm>
            <a:off x="1459149" y="1439693"/>
            <a:ext cx="10048671" cy="473737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1A92EA1-33DF-B7DC-B14C-259A804F4A1F}"/>
              </a:ext>
            </a:extLst>
          </p:cNvPr>
          <p:cNvCxnSpPr>
            <a:cxnSpLocks/>
          </p:cNvCxnSpPr>
          <p:nvPr/>
        </p:nvCxnSpPr>
        <p:spPr>
          <a:xfrm>
            <a:off x="1459149" y="1984442"/>
            <a:ext cx="1004867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7935336-D13B-A17A-08F0-BA63E9B9F054}"/>
              </a:ext>
            </a:extLst>
          </p:cNvPr>
          <p:cNvCxnSpPr>
            <a:cxnSpLocks/>
          </p:cNvCxnSpPr>
          <p:nvPr/>
        </p:nvCxnSpPr>
        <p:spPr>
          <a:xfrm>
            <a:off x="3813242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20DBF4D-828E-04EC-E110-D1EC6A9B321F}"/>
              </a:ext>
            </a:extLst>
          </p:cNvPr>
          <p:cNvCxnSpPr>
            <a:cxnSpLocks/>
          </p:cNvCxnSpPr>
          <p:nvPr/>
        </p:nvCxnSpPr>
        <p:spPr>
          <a:xfrm>
            <a:off x="5290226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8D766033-A2C8-C904-42D6-CE214510C88F}"/>
              </a:ext>
            </a:extLst>
          </p:cNvPr>
          <p:cNvCxnSpPr>
            <a:cxnSpLocks/>
          </p:cNvCxnSpPr>
          <p:nvPr/>
        </p:nvCxnSpPr>
        <p:spPr>
          <a:xfrm>
            <a:off x="6711274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98200C69-F475-E7B4-760E-D09784B32564}"/>
              </a:ext>
            </a:extLst>
          </p:cNvPr>
          <p:cNvCxnSpPr>
            <a:cxnSpLocks/>
          </p:cNvCxnSpPr>
          <p:nvPr/>
        </p:nvCxnSpPr>
        <p:spPr>
          <a:xfrm>
            <a:off x="8274185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9356BE1D-8240-3DC3-6438-C43317951797}"/>
              </a:ext>
            </a:extLst>
          </p:cNvPr>
          <p:cNvCxnSpPr>
            <a:cxnSpLocks/>
          </p:cNvCxnSpPr>
          <p:nvPr/>
        </p:nvCxnSpPr>
        <p:spPr>
          <a:xfrm>
            <a:off x="1439691" y="1439693"/>
            <a:ext cx="2383280" cy="5447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15ACE4D-1A14-EEC2-432F-4519977A8D08}"/>
              </a:ext>
            </a:extLst>
          </p:cNvPr>
          <p:cNvCxnSpPr>
            <a:cxnSpLocks/>
          </p:cNvCxnSpPr>
          <p:nvPr/>
        </p:nvCxnSpPr>
        <p:spPr>
          <a:xfrm>
            <a:off x="9834662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6E20EDF2-A62A-1F18-AEF9-7482B9A3620A}"/>
              </a:ext>
            </a:extLst>
          </p:cNvPr>
          <p:cNvCxnSpPr>
            <a:cxnSpLocks/>
          </p:cNvCxnSpPr>
          <p:nvPr/>
        </p:nvCxnSpPr>
        <p:spPr>
          <a:xfrm>
            <a:off x="1459149" y="2487038"/>
            <a:ext cx="1004867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B3348F7-6597-0EB3-512F-8A3E834C4A85}"/>
              </a:ext>
            </a:extLst>
          </p:cNvPr>
          <p:cNvCxnSpPr>
            <a:cxnSpLocks/>
          </p:cNvCxnSpPr>
          <p:nvPr/>
        </p:nvCxnSpPr>
        <p:spPr>
          <a:xfrm>
            <a:off x="1459149" y="3046379"/>
            <a:ext cx="10058399" cy="22698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31DE727-605E-C112-970F-CFC16578EA84}"/>
              </a:ext>
            </a:extLst>
          </p:cNvPr>
          <p:cNvCxnSpPr>
            <a:cxnSpLocks/>
          </p:cNvCxnSpPr>
          <p:nvPr/>
        </p:nvCxnSpPr>
        <p:spPr>
          <a:xfrm>
            <a:off x="1478601" y="3638145"/>
            <a:ext cx="10068129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51FC4F62-F800-2045-A4D2-C3131C48AD80}"/>
              </a:ext>
            </a:extLst>
          </p:cNvPr>
          <p:cNvCxnSpPr>
            <a:cxnSpLocks/>
          </p:cNvCxnSpPr>
          <p:nvPr/>
        </p:nvCxnSpPr>
        <p:spPr>
          <a:xfrm>
            <a:off x="1468877" y="4276928"/>
            <a:ext cx="1004867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BB959348-E38F-249E-2362-2A34C82C3608}"/>
              </a:ext>
            </a:extLst>
          </p:cNvPr>
          <p:cNvCxnSpPr>
            <a:cxnSpLocks/>
          </p:cNvCxnSpPr>
          <p:nvPr/>
        </p:nvCxnSpPr>
        <p:spPr>
          <a:xfrm>
            <a:off x="1468877" y="4896255"/>
            <a:ext cx="10038943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6DD5D62-2EFB-8DB0-04C8-05BBF580AF3F}"/>
              </a:ext>
            </a:extLst>
          </p:cNvPr>
          <p:cNvSpPr txBox="1"/>
          <p:nvPr/>
        </p:nvSpPr>
        <p:spPr>
          <a:xfrm>
            <a:off x="3743528" y="1620826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accent1">
                    <a:lumMod val="75000"/>
                  </a:schemeClr>
                </a:solidFill>
              </a:rPr>
              <a:t>Trabalho Correlato 1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0D8A34C-171D-4139-F286-CA80748C147B}"/>
              </a:ext>
            </a:extLst>
          </p:cNvPr>
          <p:cNvSpPr txBox="1"/>
          <p:nvPr/>
        </p:nvSpPr>
        <p:spPr>
          <a:xfrm>
            <a:off x="5239967" y="1611097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>
                <a:solidFill>
                  <a:schemeClr val="accent1">
                    <a:lumMod val="75000"/>
                  </a:schemeClr>
                </a:solidFill>
              </a:rPr>
              <a:t>Trabalho Correlato 2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59F99B9-B138-D1A7-670D-B415040336C0}"/>
              </a:ext>
            </a:extLst>
          </p:cNvPr>
          <p:cNvSpPr txBox="1"/>
          <p:nvPr/>
        </p:nvSpPr>
        <p:spPr>
          <a:xfrm>
            <a:off x="6727487" y="1611097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>
                <a:solidFill>
                  <a:schemeClr val="accent1">
                    <a:lumMod val="75000"/>
                  </a:schemeClr>
                </a:solidFill>
              </a:rPr>
              <a:t>Trabalho Correlato 3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3998C8F-BAF5-0DD6-3FD7-AFA79201E892}"/>
              </a:ext>
            </a:extLst>
          </p:cNvPr>
          <p:cNvSpPr txBox="1"/>
          <p:nvPr/>
        </p:nvSpPr>
        <p:spPr>
          <a:xfrm>
            <a:off x="8268506" y="1611096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>
                <a:solidFill>
                  <a:schemeClr val="accent1">
                    <a:lumMod val="75000"/>
                  </a:schemeClr>
                </a:solidFill>
              </a:rPr>
              <a:t>Trabalho Correlato 4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A49F221-76D0-CB07-EE01-5589C8C34ED9}"/>
              </a:ext>
            </a:extLst>
          </p:cNvPr>
          <p:cNvSpPr txBox="1"/>
          <p:nvPr/>
        </p:nvSpPr>
        <p:spPr>
          <a:xfrm>
            <a:off x="9831416" y="1610168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>
                <a:solidFill>
                  <a:schemeClr val="accent1">
                    <a:lumMod val="75000"/>
                  </a:schemeClr>
                </a:solidFill>
              </a:rPr>
              <a:t>Trabalho Correlato n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9FC8479E-A8C1-98A1-EF2A-F066D92D8B8A}"/>
              </a:ext>
            </a:extLst>
          </p:cNvPr>
          <p:cNvCxnSpPr>
            <a:cxnSpLocks/>
          </p:cNvCxnSpPr>
          <p:nvPr/>
        </p:nvCxnSpPr>
        <p:spPr>
          <a:xfrm>
            <a:off x="1491168" y="5505855"/>
            <a:ext cx="1002638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C2E8CE33-DCE7-B05F-A08B-1302C9906B63}"/>
              </a:ext>
            </a:extLst>
          </p:cNvPr>
          <p:cNvSpPr txBox="1"/>
          <p:nvPr/>
        </p:nvSpPr>
        <p:spPr>
          <a:xfrm>
            <a:off x="2387330" y="1482325"/>
            <a:ext cx="1546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accent1">
                    <a:lumMod val="75000"/>
                  </a:schemeClr>
                </a:solidFill>
              </a:rPr>
              <a:t>ARTIGOS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64F57D04-3D07-5D19-A63C-67C7976B19B0}"/>
              </a:ext>
            </a:extLst>
          </p:cNvPr>
          <p:cNvSpPr txBox="1"/>
          <p:nvPr/>
        </p:nvSpPr>
        <p:spPr>
          <a:xfrm>
            <a:off x="1328634" y="1658805"/>
            <a:ext cx="1546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accent1">
                    <a:lumMod val="75000"/>
                  </a:schemeClr>
                </a:solidFill>
              </a:rPr>
              <a:t>PARÂMETROS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8BB5DE5D-120D-32F1-B899-3A382B38721F}"/>
              </a:ext>
            </a:extLst>
          </p:cNvPr>
          <p:cNvSpPr txBox="1"/>
          <p:nvPr/>
        </p:nvSpPr>
        <p:spPr>
          <a:xfrm>
            <a:off x="1384670" y="2104537"/>
            <a:ext cx="1903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Identificação do artigo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6CCD3D3-0DE3-FAD8-06F7-5607CEB6229C}"/>
              </a:ext>
            </a:extLst>
          </p:cNvPr>
          <p:cNvSpPr txBox="1"/>
          <p:nvPr/>
        </p:nvSpPr>
        <p:spPr>
          <a:xfrm>
            <a:off x="1358222" y="2606548"/>
            <a:ext cx="18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Problema de pesquisa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53252FE9-8B2A-CDAB-14C5-2F5DE6A604E6}"/>
              </a:ext>
            </a:extLst>
          </p:cNvPr>
          <p:cNvSpPr txBox="1"/>
          <p:nvPr/>
        </p:nvSpPr>
        <p:spPr>
          <a:xfrm>
            <a:off x="1497249" y="3245330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Objeto empírico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ECA3BA9-9896-7C70-2DD9-F47CF7ABB646}"/>
              </a:ext>
            </a:extLst>
          </p:cNvPr>
          <p:cNvSpPr txBox="1"/>
          <p:nvPr/>
        </p:nvSpPr>
        <p:spPr>
          <a:xfrm>
            <a:off x="1497248" y="3810825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Conceitos principais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4B1D5208-7C2B-1AA3-642E-851F9C508FBC}"/>
              </a:ext>
            </a:extLst>
          </p:cNvPr>
          <p:cNvSpPr txBox="1"/>
          <p:nvPr/>
        </p:nvSpPr>
        <p:spPr>
          <a:xfrm>
            <a:off x="1485488" y="4425287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Definições adotadas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1A532251-488D-712D-88F0-6182095C08AC}"/>
              </a:ext>
            </a:extLst>
          </p:cNvPr>
          <p:cNvSpPr txBox="1"/>
          <p:nvPr/>
        </p:nvSpPr>
        <p:spPr>
          <a:xfrm>
            <a:off x="1475768" y="5062556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Hipóteses e pressupostos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AF039B3-A564-0CFD-FDBD-82B9AA9C3FB8}"/>
              </a:ext>
            </a:extLst>
          </p:cNvPr>
          <p:cNvSpPr txBox="1"/>
          <p:nvPr/>
        </p:nvSpPr>
        <p:spPr>
          <a:xfrm>
            <a:off x="1497250" y="5680952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accent1">
                    <a:lumMod val="75000"/>
                  </a:schemeClr>
                </a:solidFill>
              </a:rPr>
              <a:t>n</a:t>
            </a:r>
          </a:p>
        </p:txBody>
      </p:sp>
      <p:sp>
        <p:nvSpPr>
          <p:cNvPr id="61" name="Chave Esquerda 60">
            <a:extLst>
              <a:ext uri="{FF2B5EF4-FFF2-40B4-BE49-F238E27FC236}">
                <a16:creationId xmlns:a16="http://schemas.microsoft.com/office/drawing/2014/main" id="{7D800B8A-4780-D0FB-5D3B-ADEF21910B93}"/>
              </a:ext>
            </a:extLst>
          </p:cNvPr>
          <p:cNvSpPr/>
          <p:nvPr/>
        </p:nvSpPr>
        <p:spPr>
          <a:xfrm rot="5400000">
            <a:off x="7460331" y="-2585603"/>
            <a:ext cx="400400" cy="7694577"/>
          </a:xfrm>
          <a:prstGeom prst="leftBrace">
            <a:avLst>
              <a:gd name="adj1" fmla="val 29797"/>
              <a:gd name="adj2" fmla="val 50000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F5730249-D8A2-31E6-C574-CB29CA6EF170}"/>
              </a:ext>
            </a:extLst>
          </p:cNvPr>
          <p:cNvSpPr txBox="1"/>
          <p:nvPr/>
        </p:nvSpPr>
        <p:spPr>
          <a:xfrm>
            <a:off x="5632657" y="667834"/>
            <a:ext cx="373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Referências Bibliográficas</a:t>
            </a:r>
          </a:p>
        </p:txBody>
      </p:sp>
      <p:sp>
        <p:nvSpPr>
          <p:cNvPr id="63" name="Chave Esquerda 62">
            <a:extLst>
              <a:ext uri="{FF2B5EF4-FFF2-40B4-BE49-F238E27FC236}">
                <a16:creationId xmlns:a16="http://schemas.microsoft.com/office/drawing/2014/main" id="{9E018E8D-BF4F-4265-F646-07683F99666E}"/>
              </a:ext>
            </a:extLst>
          </p:cNvPr>
          <p:cNvSpPr/>
          <p:nvPr/>
        </p:nvSpPr>
        <p:spPr>
          <a:xfrm>
            <a:off x="1055910" y="1984442"/>
            <a:ext cx="400400" cy="4192621"/>
          </a:xfrm>
          <a:prstGeom prst="leftBrace">
            <a:avLst>
              <a:gd name="adj1" fmla="val 29797"/>
              <a:gd name="adj2" fmla="val 50000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0259CCF2-53E8-63E9-C68B-5CBDC3A20CE3}"/>
              </a:ext>
            </a:extLst>
          </p:cNvPr>
          <p:cNvSpPr txBox="1"/>
          <p:nvPr/>
        </p:nvSpPr>
        <p:spPr>
          <a:xfrm rot="16200000">
            <a:off x="-505215" y="3935688"/>
            <a:ext cx="2694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accent1">
                    <a:lumMod val="75000"/>
                  </a:schemeClr>
                </a:solidFill>
              </a:rPr>
              <a:t>Critérios de análise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AE4FBCD2-A8B2-6C19-A18D-2DE719DD4F6A}"/>
              </a:ext>
            </a:extLst>
          </p:cNvPr>
          <p:cNvSpPr txBox="1"/>
          <p:nvPr/>
        </p:nvSpPr>
        <p:spPr>
          <a:xfrm>
            <a:off x="423151" y="503049"/>
            <a:ext cx="4416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11.2.2.2. Matriz de Extração</a:t>
            </a:r>
          </a:p>
        </p:txBody>
      </p:sp>
    </p:spTree>
    <p:extLst>
      <p:ext uri="{BB962C8B-B14F-4D97-AF65-F5344CB8AC3E}">
        <p14:creationId xmlns:p14="http://schemas.microsoft.com/office/powerpoint/2010/main" val="233247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628</Words>
  <Application>Microsoft Office PowerPoint</Application>
  <PresentationFormat>Widescreen</PresentationFormat>
  <Paragraphs>119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Marcos Mattedi</cp:lastModifiedBy>
  <cp:revision>4</cp:revision>
  <dcterms:created xsi:type="dcterms:W3CDTF">2026-04-13T15:47:06Z</dcterms:created>
  <dcterms:modified xsi:type="dcterms:W3CDTF">2026-05-04T09:51:50Z</dcterms:modified>
</cp:coreProperties>
</file>