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4" r:id="rId5"/>
    <p:sldId id="265" r:id="rId6"/>
    <p:sldId id="263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6843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CB716D76-4EE0-34BB-3FE4-746A7B7F99B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3990" y="106734"/>
            <a:ext cx="461935" cy="235953"/>
          </a:xfrm>
          <a:prstGeom prst="rect">
            <a:avLst/>
          </a:prstGeom>
        </p:spPr>
      </p:pic>
      <p:pic>
        <p:nvPicPr>
          <p:cNvPr id="8" name="Imagem 7" descr="Uma imagem contendo placar, desenho&#10;&#10;Descrição gerada automaticamente">
            <a:extLst>
              <a:ext uri="{FF2B5EF4-FFF2-40B4-BE49-F238E27FC236}">
                <a16:creationId xmlns:a16="http://schemas.microsoft.com/office/drawing/2014/main" id="{144D06B7-FB8A-8452-1AF8-C83CE1E98BF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3" t="15342" r="9314" b="15342"/>
          <a:stretch/>
        </p:blipFill>
        <p:spPr>
          <a:xfrm>
            <a:off x="11676211" y="121127"/>
            <a:ext cx="341799" cy="219153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501361FC-2F74-AE7E-3415-1ABF301AF2E0}"/>
              </a:ext>
            </a:extLst>
          </p:cNvPr>
          <p:cNvSpPr/>
          <p:nvPr userDrawn="1"/>
        </p:nvSpPr>
        <p:spPr>
          <a:xfrm>
            <a:off x="-1" y="96669"/>
            <a:ext cx="12192000" cy="318404"/>
          </a:xfrm>
          <a:prstGeom prst="rect">
            <a:avLst/>
          </a:prstGeom>
          <a:solidFill>
            <a:schemeClr val="bg1">
              <a:lumMod val="65000"/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pic>
        <p:nvPicPr>
          <p:cNvPr id="10" name="Imagem 9" descr="Interface gráfica do usuário, Texto&#10;&#10;O conteúdo gerado por IA pode estar incorreto.">
            <a:extLst>
              <a:ext uri="{FF2B5EF4-FFF2-40B4-BE49-F238E27FC236}">
                <a16:creationId xmlns:a16="http://schemas.microsoft.com/office/drawing/2014/main" id="{EC9A2412-8527-050F-1760-1D795B6593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58" b="41998"/>
          <a:stretch>
            <a:fillRect/>
          </a:stretch>
        </p:blipFill>
        <p:spPr>
          <a:xfrm>
            <a:off x="5840282" y="77509"/>
            <a:ext cx="511435" cy="262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359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411E991F-1419-1468-BE10-D2AF9BD832EA}"/>
              </a:ext>
            </a:extLst>
          </p:cNvPr>
          <p:cNvSpPr txBox="1"/>
          <p:nvPr/>
        </p:nvSpPr>
        <p:spPr>
          <a:xfrm>
            <a:off x="2794000" y="2455610"/>
            <a:ext cx="703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Título: </a:t>
            </a:r>
          </a:p>
          <a:p>
            <a:endParaRPr lang="pt-BR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B5BC1B5-ED1C-9832-E853-1E5DCBBF6E7D}"/>
              </a:ext>
            </a:extLst>
          </p:cNvPr>
          <p:cNvSpPr txBox="1"/>
          <p:nvPr/>
        </p:nvSpPr>
        <p:spPr>
          <a:xfrm>
            <a:off x="2086532" y="864415"/>
            <a:ext cx="77381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650"/>
              </a:spcBef>
              <a:spcAft>
                <a:spcPts val="825"/>
              </a:spcAft>
              <a:buNone/>
            </a:pPr>
            <a:r>
              <a:rPr lang="pt-BR" b="1" i="0" dirty="0">
                <a:solidFill>
                  <a:schemeClr val="tx2">
                    <a:lumMod val="90000"/>
                    <a:lumOff val="1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MÓDULO V - SEMINÁRIO DE APRESETNTAÇÃO DOS RESULTADOS</a:t>
            </a:r>
            <a:endParaRPr lang="pt-BR" b="0" i="0" dirty="0">
              <a:solidFill>
                <a:schemeClr val="tx2">
                  <a:lumMod val="90000"/>
                  <a:lumOff val="1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7E728AB-E81F-068E-0D0C-8111400D7157}"/>
              </a:ext>
            </a:extLst>
          </p:cNvPr>
          <p:cNvSpPr txBox="1"/>
          <p:nvPr/>
        </p:nvSpPr>
        <p:spPr>
          <a:xfrm>
            <a:off x="7630677" y="3993765"/>
            <a:ext cx="34923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Autores: Guilherme W. Back e Lucas Fritzke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13F2793-2F9E-906C-DEE3-567571E01F74}"/>
              </a:ext>
            </a:extLst>
          </p:cNvPr>
          <p:cNvSpPr txBox="1"/>
          <p:nvPr/>
        </p:nvSpPr>
        <p:spPr>
          <a:xfrm>
            <a:off x="4719217" y="5993585"/>
            <a:ext cx="260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Junho de 2026</a:t>
            </a:r>
          </a:p>
        </p:txBody>
      </p:sp>
    </p:spTree>
    <p:extLst>
      <p:ext uri="{BB962C8B-B14F-4D97-AF65-F5344CB8AC3E}">
        <p14:creationId xmlns:p14="http://schemas.microsoft.com/office/powerpoint/2010/main" val="6529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4752B93-B681-AFAB-6EB7-F01A288E8400}"/>
              </a:ext>
            </a:extLst>
          </p:cNvPr>
          <p:cNvSpPr txBox="1"/>
          <p:nvPr/>
        </p:nvSpPr>
        <p:spPr>
          <a:xfrm>
            <a:off x="2528595" y="905070"/>
            <a:ext cx="5896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Estrutura da Apresentação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3C4A689-4D83-44CA-EE9C-67A96D08D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199999"/>
              </p:ext>
            </p:extLst>
          </p:nvPr>
        </p:nvGraphicFramePr>
        <p:xfrm>
          <a:off x="1259659" y="1448045"/>
          <a:ext cx="9377239" cy="4354870"/>
        </p:xfrm>
        <a:graphic>
          <a:graphicData uri="http://schemas.openxmlformats.org/drawingml/2006/table">
            <a:tbl>
              <a:tblPr/>
              <a:tblGrid>
                <a:gridCol w="858390">
                  <a:extLst>
                    <a:ext uri="{9D8B030D-6E8A-4147-A177-3AD203B41FA5}">
                      <a16:colId xmlns:a16="http://schemas.microsoft.com/office/drawing/2014/main" val="3535084583"/>
                    </a:ext>
                  </a:extLst>
                </a:gridCol>
                <a:gridCol w="2211355">
                  <a:extLst>
                    <a:ext uri="{9D8B030D-6E8A-4147-A177-3AD203B41FA5}">
                      <a16:colId xmlns:a16="http://schemas.microsoft.com/office/drawing/2014/main" val="1130658036"/>
                    </a:ext>
                  </a:extLst>
                </a:gridCol>
                <a:gridCol w="6307494">
                  <a:extLst>
                    <a:ext uri="{9D8B030D-6E8A-4147-A177-3AD203B41FA5}">
                      <a16:colId xmlns:a16="http://schemas.microsoft.com/office/drawing/2014/main" val="3729648614"/>
                    </a:ext>
                  </a:extLst>
                </a:gridCol>
              </a:tblGrid>
              <a:tr h="3000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Etapa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>
                          <a:solidFill>
                            <a:srgbClr val="FF0000"/>
                          </a:solidFill>
                        </a:rPr>
                        <a:t>Nome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rgbClr val="FF0000"/>
                          </a:solidFill>
                        </a:rPr>
                        <a:t>Descrição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987901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Sistema de Referência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Define o problema real a ser estudado (ex: evacuação de um prédio).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737026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Modelagem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Representação simplificada do sistema real (regras, agentes, ambiente).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944287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Formalismo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Tradução do modelo para linguagem formal/matemática ou lógica.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143428"/>
                  </a:ext>
                </a:extLst>
              </a:tr>
              <a:tr h="750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Computador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Implementação do modelo em código (programação da simulação).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816725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Execução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Rodar a simulação com diferentes parâmetros e cenários.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231444"/>
                  </a:ext>
                </a:extLst>
              </a:tr>
              <a:tr h="525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1500" b="1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Observação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500" dirty="0">
                          <a:solidFill>
                            <a:schemeClr val="tx2">
                              <a:lumMod val="90000"/>
                              <a:lumOff val="10000"/>
                            </a:schemeClr>
                          </a:solidFill>
                        </a:rPr>
                        <a:t>Análise dos resultados obtidos (gráficos, métricas, conclusões).</a:t>
                      </a:r>
                    </a:p>
                  </a:txBody>
                  <a:tcPr marL="75023" marR="75023" marT="37512" marB="3751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4712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8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20F32-FD66-0C26-75DA-A9DDED95F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44EB669-D9BB-1EF5-9A40-55EB1D8A7DED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Sistema de Referência</a:t>
            </a:r>
          </a:p>
        </p:txBody>
      </p:sp>
    </p:spTree>
    <p:extLst>
      <p:ext uri="{BB962C8B-B14F-4D97-AF65-F5344CB8AC3E}">
        <p14:creationId xmlns:p14="http://schemas.microsoft.com/office/powerpoint/2010/main" val="190556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B92D-B05C-9361-9A3A-327B5745C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93018B4-D443-47CA-E977-7071909C5C0C}"/>
              </a:ext>
            </a:extLst>
          </p:cNvPr>
          <p:cNvSpPr txBox="1"/>
          <p:nvPr/>
        </p:nvSpPr>
        <p:spPr>
          <a:xfrm>
            <a:off x="496646" y="1146469"/>
            <a:ext cx="1064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1.1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Delimitação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do Sistema de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Referência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(S)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EAA23C0-E94E-5446-8FFB-3AC8EDE1FBE6}"/>
              </a:ext>
            </a:extLst>
          </p:cNvPr>
          <p:cNvSpPr txBox="1"/>
          <p:nvPr/>
        </p:nvSpPr>
        <p:spPr>
          <a:xfrm>
            <a:off x="496646" y="1762175"/>
            <a:ext cx="1056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Fenômeno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: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Evacuação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emergencial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edifício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30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andares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em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situação</a:t>
            </a:r>
            <a:r>
              <a:rPr lang="en-US" sz="1800" i="1" dirty="0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800" i="1" dirty="0" err="1">
                <a:solidFill>
                  <a:srgbClr val="156082"/>
                </a:solidFill>
                <a:ea typeface="Calibri" pitchFamily="34" charset="-122"/>
                <a:cs typeface="Calibri" pitchFamily="34" charset="-120"/>
              </a:rPr>
              <a:t>incêndio</a:t>
            </a:r>
            <a:endParaRPr lang="en-US" sz="1800" dirty="0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3B20AF9-A18E-DC89-B52E-6249DD2082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237112"/>
              </p:ext>
            </p:extLst>
          </p:nvPr>
        </p:nvGraphicFramePr>
        <p:xfrm>
          <a:off x="609600" y="2316480"/>
          <a:ext cx="11297920" cy="4287519"/>
        </p:xfrm>
        <a:graphic>
          <a:graphicData uri="http://schemas.openxmlformats.org/drawingml/2006/table">
            <a:tbl>
              <a:tblPr/>
              <a:tblGrid>
                <a:gridCol w="2824481">
                  <a:extLst>
                    <a:ext uri="{9D8B030D-6E8A-4147-A177-3AD203B41FA5}">
                      <a16:colId xmlns:a16="http://schemas.microsoft.com/office/drawing/2014/main" val="1113624060"/>
                    </a:ext>
                  </a:extLst>
                </a:gridCol>
                <a:gridCol w="8473439">
                  <a:extLst>
                    <a:ext uri="{9D8B030D-6E8A-4147-A177-3AD203B41FA5}">
                      <a16:colId xmlns:a16="http://schemas.microsoft.com/office/drawing/2014/main" val="2867945562"/>
                    </a:ext>
                  </a:extLst>
                </a:gridCol>
              </a:tblGrid>
              <a:tr h="3795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Definição</a:t>
                      </a:r>
                      <a:endParaRPr lang="en-US" sz="18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440986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Tipo Ontológico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Físico — causalidade energética (propagação do fogo/fumaça) e mecânica (movimentação dos agentes)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023356"/>
                  </a:ext>
                </a:extLst>
              </a:tr>
              <a:tr h="596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Espacial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Edifício de 30 andares (0 a 29); cada andar representado como grade 2D de 20×20 células com corredores, salas, escadas e saídas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564216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Temporal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Início do incêndio até evacuação total ou término da simulação; granularidade discreta 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por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 tick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5036500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Fronteira Funcional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Propagação de fogo, dispersão de fumaça, movimentação de ocupantes e ação de brigadistas dentro do edifício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1536174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Escala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Espacial: meso (edifício, resolução por 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célula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); Temporal: evento (</a:t>
                      </a:r>
                      <a:r>
                        <a:rPr lang="en-US" sz="1400" dirty="0" err="1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minutos</a:t>
                      </a: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); Ontológica: elementar (agentes individuais)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7606673"/>
                  </a:ext>
                </a:extLst>
              </a:tr>
              <a:tr h="596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Entidades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Ocupantes (adultos vel. 1.0, idosos vel. 0.6, PcD vel. 0.4), brigadistas (vel. 1.5), fogo, fumaça, escadas (fluxo limitado), corredores, saídas de emergência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6101071"/>
                  </a:ext>
                </a:extLst>
              </a:tr>
              <a:tr h="5430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Regime de Observação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Instrumentado e automatizado: coleta de métricas a tick</a:t>
                      </a:r>
                      <a:endParaRPr lang="en-US" sz="14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6475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04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031F-1E27-6414-8F65-D5DA8FDE6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0A95469-7CBC-E0BA-0488-FF184F4831B5}"/>
              </a:ext>
            </a:extLst>
          </p:cNvPr>
          <p:cNvSpPr txBox="1"/>
          <p:nvPr/>
        </p:nvSpPr>
        <p:spPr>
          <a:xfrm>
            <a:off x="793100" y="1161663"/>
            <a:ext cx="106477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1.2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Observáveis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Prioritários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e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Exclusões</a:t>
            </a:r>
            <a:r>
              <a:rPr lang="en-US" sz="28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US" sz="2800" b="1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Conscientes</a:t>
            </a:r>
            <a:endParaRPr lang="en-US" sz="28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BF1773F-1B89-134E-915F-04F52C177C72}"/>
              </a:ext>
            </a:extLst>
          </p:cNvPr>
          <p:cNvSpPr/>
          <p:nvPr/>
        </p:nvSpPr>
        <p:spPr>
          <a:xfrm>
            <a:off x="793099" y="2081872"/>
            <a:ext cx="4680489" cy="491490"/>
          </a:xfrm>
          <a:prstGeom prst="rect">
            <a:avLst/>
          </a:prstGeom>
          <a:solidFill>
            <a:srgbClr val="156082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621E26D-F7CA-C208-C7C2-DD4B24D819EE}"/>
              </a:ext>
            </a:extLst>
          </p:cNvPr>
          <p:cNvSpPr/>
          <p:nvPr/>
        </p:nvSpPr>
        <p:spPr>
          <a:xfrm>
            <a:off x="793099" y="2107355"/>
            <a:ext cx="4680489" cy="491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Observáveis Prioritários</a:t>
            </a:r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e 0">
            <a:extLst>
              <a:ext uri="{FF2B5EF4-FFF2-40B4-BE49-F238E27FC236}">
                <a16:creationId xmlns:a16="http://schemas.microsoft.com/office/drawing/2014/main" id="{1BE1A9AF-5CF9-1CB5-98E5-1A6C2A3A6C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5182721"/>
              </p:ext>
            </p:extLst>
          </p:nvPr>
        </p:nvGraphicFramePr>
        <p:xfrm>
          <a:off x="793099" y="2624328"/>
          <a:ext cx="4680488" cy="3145539"/>
        </p:xfrm>
        <a:graphic>
          <a:graphicData uri="http://schemas.openxmlformats.org/drawingml/2006/table">
            <a:tbl>
              <a:tblPr/>
              <a:tblGrid>
                <a:gridCol w="17384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20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404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Observável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Taxa de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Evacuados / total ao término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Tempo médio de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Média e σ de steps por andar e total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Nº de vítimas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Mortos + feridos por rodada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Mapa de calor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Densidade acumulada por célula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Gargalos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Top-5 células com maior congestionamento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69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Evolução temporal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Evacuados, mortos e área em chamas por step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>
            <a:extLst>
              <a:ext uri="{FF2B5EF4-FFF2-40B4-BE49-F238E27FC236}">
                <a16:creationId xmlns:a16="http://schemas.microsoft.com/office/drawing/2014/main" id="{CB057D1B-EEB4-71B4-84CF-B56C9CF8A653}"/>
              </a:ext>
            </a:extLst>
          </p:cNvPr>
          <p:cNvSpPr/>
          <p:nvPr/>
        </p:nvSpPr>
        <p:spPr>
          <a:xfrm>
            <a:off x="6462379" y="2081872"/>
            <a:ext cx="4748545" cy="491490"/>
          </a:xfrm>
          <a:prstGeom prst="rect">
            <a:avLst/>
          </a:prstGeom>
          <a:solidFill>
            <a:srgbClr val="E9713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BC3AD19F-F4AE-219F-8764-5659690DCABD}"/>
              </a:ext>
            </a:extLst>
          </p:cNvPr>
          <p:cNvSpPr/>
          <p:nvPr/>
        </p:nvSpPr>
        <p:spPr>
          <a:xfrm>
            <a:off x="6645449" y="2105945"/>
            <a:ext cx="4382404" cy="478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Exclusões Conscientes</a:t>
            </a:r>
            <a:endParaRPr lang="en-US" sz="1300" dirty="0"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Table 1">
            <a:extLst>
              <a:ext uri="{FF2B5EF4-FFF2-40B4-BE49-F238E27FC236}">
                <a16:creationId xmlns:a16="http://schemas.microsoft.com/office/drawing/2014/main" id="{247B5909-35F1-F6D1-5DBA-E37C86DBAB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0453905"/>
              </p:ext>
            </p:extLst>
          </p:nvPr>
        </p:nvGraphicFramePr>
        <p:xfrm>
          <a:off x="6462379" y="2624328"/>
          <a:ext cx="4748545" cy="3120058"/>
        </p:xfrm>
        <a:graphic>
          <a:graphicData uri="http://schemas.openxmlformats.org/drawingml/2006/table">
            <a:tbl>
              <a:tblPr/>
              <a:tblGrid>
                <a:gridCol w="1773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49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217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Elemento Excluído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Justificativa</a:t>
                      </a:r>
                      <a:endParaRPr lang="en-US" sz="12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Estados psicológicos profundos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Inobserváveis; pânico é operacionalizado como variável [0,1]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Condições climáticas externas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Foco no interior do edifício; vento e chuva não modelados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85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Políticas públicas / fiscalização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Regime causal institucional incompatível com ontologia física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Dimensões simbólicas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Percepção cultural de risco, crenças — não formalizáveis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Combate direto ao incêndio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Brigadistas orientam evacuação, não combatem o fogo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080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2841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Elevadores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8"/>
                          </a:solidFill>
                          <a:latin typeface="+mn-lt"/>
                          <a:ea typeface="Calibri" pitchFamily="34" charset="-122"/>
                          <a:cs typeface="Calibri" pitchFamily="34" charset="-120"/>
                        </a:rPr>
                        <a:t>Bloqueados conforme ABNT NBR 9077 — não participam da evacuação</a:t>
                      </a:r>
                      <a:endParaRPr lang="en-US" sz="1100" dirty="0">
                        <a:latin typeface="+mn-lt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55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A29C7-645E-D5F5-D652-B5F19447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B722FD8-4BE1-DF7D-4ADC-581BB2C92B46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2. Modelagem</a:t>
            </a:r>
          </a:p>
        </p:txBody>
      </p:sp>
    </p:spTree>
    <p:extLst>
      <p:ext uri="{BB962C8B-B14F-4D97-AF65-F5344CB8AC3E}">
        <p14:creationId xmlns:p14="http://schemas.microsoft.com/office/powerpoint/2010/main" val="1764901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A6C9F-62B3-9027-CE87-419B0ACD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1C5FA92-C48F-00BD-8AF8-56DD40B18358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3. Formalismo</a:t>
            </a:r>
          </a:p>
        </p:txBody>
      </p:sp>
    </p:spTree>
    <p:extLst>
      <p:ext uri="{BB962C8B-B14F-4D97-AF65-F5344CB8AC3E}">
        <p14:creationId xmlns:p14="http://schemas.microsoft.com/office/powerpoint/2010/main" val="3062111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E23C-3C29-AB43-CC1C-29FC59C61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6E588AE-613D-0F01-5119-F2764DFE15B7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4. Computador</a:t>
            </a:r>
          </a:p>
        </p:txBody>
      </p:sp>
    </p:spTree>
    <p:extLst>
      <p:ext uri="{BB962C8B-B14F-4D97-AF65-F5344CB8AC3E}">
        <p14:creationId xmlns:p14="http://schemas.microsoft.com/office/powerpoint/2010/main" val="138043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BE59-FE81-33A7-70E3-E0CBC48DF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832CDFC-286D-70E6-7117-22E38D31685C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5. Execução</a:t>
            </a:r>
          </a:p>
        </p:txBody>
      </p:sp>
    </p:spTree>
    <p:extLst>
      <p:ext uri="{BB962C8B-B14F-4D97-AF65-F5344CB8AC3E}">
        <p14:creationId xmlns:p14="http://schemas.microsoft.com/office/powerpoint/2010/main" val="3743239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0B3F0-BC85-C350-CE74-951AA51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168FC49-E03F-BACA-EC63-7EF8D148230E}"/>
              </a:ext>
            </a:extLst>
          </p:cNvPr>
          <p:cNvSpPr txBox="1"/>
          <p:nvPr/>
        </p:nvSpPr>
        <p:spPr>
          <a:xfrm>
            <a:off x="2480387" y="2957805"/>
            <a:ext cx="72312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6. Observação</a:t>
            </a:r>
          </a:p>
        </p:txBody>
      </p:sp>
    </p:spTree>
    <p:extLst>
      <p:ext uri="{BB962C8B-B14F-4D97-AF65-F5344CB8AC3E}">
        <p14:creationId xmlns:p14="http://schemas.microsoft.com/office/powerpoint/2010/main" val="31011838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453</Words>
  <Application>Microsoft Office PowerPoint</Application>
  <PresentationFormat>Widescreen</PresentationFormat>
  <Paragraphs>81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Marcos Mattedi</dc:creator>
  <cp:lastModifiedBy>Lucas Fritzke</cp:lastModifiedBy>
  <cp:revision>3</cp:revision>
  <dcterms:created xsi:type="dcterms:W3CDTF">2026-04-13T15:47:06Z</dcterms:created>
  <dcterms:modified xsi:type="dcterms:W3CDTF">2026-04-21T13:33:35Z</dcterms:modified>
</cp:coreProperties>
</file>