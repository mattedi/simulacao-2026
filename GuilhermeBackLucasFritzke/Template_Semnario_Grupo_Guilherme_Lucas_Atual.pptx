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CF61702-7288-4FBD-92C5-DC0133218CF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41DA289-770C-4BA0-8C44-1519C9B71BB0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de Título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6"/>
          <p:cNvPicPr/>
          <p:nvPr/>
        </p:nvPicPr>
        <p:blipFill>
          <a:blip r:embed="rId2"/>
          <a:stretch/>
        </p:blipFill>
        <p:spPr>
          <a:xfrm>
            <a:off x="173880" y="106560"/>
            <a:ext cx="461160" cy="235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Imagem 7" descr="Uma imagem contendo placar, desenho&#10;&#10;Descrição gerada automaticamente"/>
          <p:cNvPicPr/>
          <p:nvPr/>
        </p:nvPicPr>
        <p:blipFill>
          <a:blip r:embed="rId3"/>
          <a:srcRect l="7362" t="15322" r="9331" b="15322"/>
          <a:stretch/>
        </p:blipFill>
        <p:spPr>
          <a:xfrm>
            <a:off x="11676240" y="120960"/>
            <a:ext cx="3409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tângulo 8"/>
          <p:cNvSpPr/>
          <p:nvPr/>
        </p:nvSpPr>
        <p:spPr>
          <a:xfrm>
            <a:off x="0" y="96840"/>
            <a:ext cx="12191400" cy="317520"/>
          </a:xfrm>
          <a:prstGeom prst="rect">
            <a:avLst/>
          </a:prstGeom>
          <a:solidFill>
            <a:schemeClr val="lt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1" u="none" strike="noStrike">
              <a:solidFill>
                <a:schemeClr val="dk2">
                  <a:lumMod val="90000"/>
                  <a:lumOff val="10000"/>
                </a:schemeClr>
              </a:solidFill>
              <a:effectLst/>
              <a:uFillTx/>
              <a:latin typeface="Aptos"/>
            </a:endParaRPr>
          </a:p>
        </p:txBody>
      </p:sp>
      <p:pic>
        <p:nvPicPr>
          <p:cNvPr id="5" name="Imagem 9" descr="Interface gráfica do usuário, Texto&#10;&#10;O conteúdo gerado por IA pode estar incorreto."/>
          <p:cNvPicPr/>
          <p:nvPr/>
        </p:nvPicPr>
        <p:blipFill>
          <a:blip r:embed="rId4"/>
          <a:srcRect t="16865" b="41997"/>
          <a:stretch/>
        </p:blipFill>
        <p:spPr>
          <a:xfrm>
            <a:off x="5840280" y="77400"/>
            <a:ext cx="510840" cy="26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6"/>
          <p:cNvPicPr/>
          <p:nvPr/>
        </p:nvPicPr>
        <p:blipFill>
          <a:blip r:embed="rId2"/>
          <a:stretch/>
        </p:blipFill>
        <p:spPr>
          <a:xfrm>
            <a:off x="173880" y="106560"/>
            <a:ext cx="461160" cy="235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Imagem 7" descr="Uma imagem contendo placar, desenho&#10;&#10;Descrição gerada automaticamente"/>
          <p:cNvPicPr/>
          <p:nvPr/>
        </p:nvPicPr>
        <p:blipFill>
          <a:blip r:embed="rId3"/>
          <a:srcRect l="7362" t="15322" r="9331" b="15322"/>
          <a:stretch/>
        </p:blipFill>
        <p:spPr>
          <a:xfrm>
            <a:off x="11676240" y="120960"/>
            <a:ext cx="3409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Retângulo 8"/>
          <p:cNvSpPr/>
          <p:nvPr/>
        </p:nvSpPr>
        <p:spPr>
          <a:xfrm>
            <a:off x="0" y="96840"/>
            <a:ext cx="12191400" cy="317520"/>
          </a:xfrm>
          <a:prstGeom prst="rect">
            <a:avLst/>
          </a:prstGeom>
          <a:solidFill>
            <a:schemeClr val="lt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1" u="none" strike="noStrike">
              <a:solidFill>
                <a:schemeClr val="dk2">
                  <a:lumMod val="90000"/>
                  <a:lumOff val="10000"/>
                </a:schemeClr>
              </a:solidFill>
              <a:effectLst/>
              <a:uFillTx/>
              <a:latin typeface="Aptos"/>
            </a:endParaRPr>
          </a:p>
        </p:txBody>
      </p:sp>
      <p:pic>
        <p:nvPicPr>
          <p:cNvPr id="11" name="Imagem 9" descr="Interface gráfica do usuário, Texto&#10;&#10;O conteúdo gerado por IA pode estar incorreto."/>
          <p:cNvPicPr/>
          <p:nvPr/>
        </p:nvPicPr>
        <p:blipFill>
          <a:blip r:embed="rId4"/>
          <a:srcRect t="16865" b="41997"/>
          <a:stretch/>
        </p:blipFill>
        <p:spPr>
          <a:xfrm>
            <a:off x="5840280" y="77400"/>
            <a:ext cx="510840" cy="26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ixaDeTexto 3"/>
          <p:cNvSpPr/>
          <p:nvPr/>
        </p:nvSpPr>
        <p:spPr>
          <a:xfrm>
            <a:off x="2793960" y="2455560"/>
            <a:ext cx="7030080" cy="64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Título: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CaixaDeTexto 5"/>
          <p:cNvSpPr/>
          <p:nvPr/>
        </p:nvSpPr>
        <p:spPr>
          <a:xfrm>
            <a:off x="2227260" y="1198080"/>
            <a:ext cx="77374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1650"/>
              </a:spcBef>
              <a:spcAft>
                <a:spcPts val="825"/>
              </a:spcAft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  <a:ea typeface="Calibri"/>
              </a:rPr>
              <a:t>MÓDULO V - SEMINÁRIO DE APRESENTAÇÃO DOS RESULTADOS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CaixaDeTexto 6"/>
          <p:cNvSpPr/>
          <p:nvPr/>
        </p:nvSpPr>
        <p:spPr>
          <a:xfrm>
            <a:off x="7630560" y="3993840"/>
            <a:ext cx="3491640" cy="64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Autores: Guilherme W. Back e Lucas Fritzke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CaixaDeTexto 7"/>
          <p:cNvSpPr/>
          <p:nvPr/>
        </p:nvSpPr>
        <p:spPr>
          <a:xfrm>
            <a:off x="4719240" y="5993640"/>
            <a:ext cx="260784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Junho de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aixaDeTexto 1"/>
          <p:cNvSpPr/>
          <p:nvPr/>
        </p:nvSpPr>
        <p:spPr>
          <a:xfrm>
            <a:off x="2528640" y="905040"/>
            <a:ext cx="589608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Estrutura da Apresentação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" name="Tabela 2"/>
          <p:cNvGraphicFramePr/>
          <p:nvPr/>
        </p:nvGraphicFramePr>
        <p:xfrm>
          <a:off x="1259640" y="1447920"/>
          <a:ext cx="9376560" cy="4352760"/>
        </p:xfrm>
        <a:graphic>
          <a:graphicData uri="http://schemas.openxmlformats.org/drawingml/2006/table">
            <a:tbl>
              <a:tblPr/>
              <a:tblGrid>
                <a:gridCol w="858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Etapa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Nome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Descrição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1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Sistema de Referência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Define o problema real a ser estudado (ex: evacuação de um prédio).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2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Modelagem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Representação simplificada do sistema real (regras, agentes, ambiente).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3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Formalismo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Tradução do modelo para linguagem formal/matemática ou lógica.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4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Computador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Implementação do modelo em código (programação da simulação).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5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Execução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Rodar a simulação com diferentes parâmetros e cenários.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6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Observação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Análise dos resultados obtidos (gráficos, métricas, conclusões).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aixaDeTexto 1"/>
          <p:cNvSpPr/>
          <p:nvPr/>
        </p:nvSpPr>
        <p:spPr>
          <a:xfrm>
            <a:off x="2480400" y="2957760"/>
            <a:ext cx="7230600" cy="76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1. Sistema de Referência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aixaDeTexto 1"/>
          <p:cNvSpPr/>
          <p:nvPr/>
        </p:nvSpPr>
        <p:spPr>
          <a:xfrm>
            <a:off x="457020" y="885780"/>
            <a:ext cx="10647000" cy="52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pt-BR" sz="2800" b="1" u="none" strike="noStrike" dirty="0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1.1 </a:t>
            </a:r>
            <a:r>
              <a:rPr lang="en-US" sz="2800" b="1" u="none" strike="noStrike" dirty="0" err="1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Delimitação</a:t>
            </a:r>
            <a:r>
              <a:rPr lang="en-US" sz="2800" b="1" u="none" strike="noStrike" dirty="0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 do Sistema de </a:t>
            </a:r>
            <a:r>
              <a:rPr lang="en-US" sz="2800" b="1" u="none" strike="noStrike" dirty="0" err="1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Referência</a:t>
            </a:r>
            <a:r>
              <a:rPr lang="en-US" sz="2800" b="1" u="none" strike="noStrike" dirty="0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 (S)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CaixaDeTexto 3"/>
          <p:cNvSpPr/>
          <p:nvPr/>
        </p:nvSpPr>
        <p:spPr>
          <a:xfrm>
            <a:off x="496800" y="1762200"/>
            <a:ext cx="1056744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156082"/>
                </a:solidFill>
                <a:effectLst/>
                <a:uFillTx/>
                <a:latin typeface="Aptos"/>
                <a:ea typeface="Calibri"/>
              </a:rPr>
              <a:t>Fenômeno: Evacuação emergencial de edifício de 30 andares em situação de incêndio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" name="Tabela 4"/>
          <p:cNvGraphicFramePr/>
          <p:nvPr/>
        </p:nvGraphicFramePr>
        <p:xfrm>
          <a:off x="609480" y="2316600"/>
          <a:ext cx="11297520" cy="4286160"/>
        </p:xfrm>
        <a:graphic>
          <a:graphicData uri="http://schemas.openxmlformats.org/drawingml/2006/table">
            <a:tbl>
              <a:tblPr/>
              <a:tblGrid>
                <a:gridCol w="282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4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Critério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Definição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Tipo Ontológico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Físico — causalidade energética (propagação do fogo/fumaça) e mecânica (movimentação dos agentes)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1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Fronteira Espacial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Edifício de 30 andares (0 a 29); cada andar representado como grade 2D de 20×20 células com corredores, salas, escadas e saídas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Fronteira Temporal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Início do incêndio até evacuação total ou término da simulação; granularidade discreta por tick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Fronteira Funcional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Propagação de fogo, dispersão de fumaça, movimentação de ocupantes e ação de brigadistas dentro do edifício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Escala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Espacial: meso (edifício, resolução por célula); Temporal: evento (minutos); Ontológica: elementar (agentes individuais)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61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Entidades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Ocupantes (adultos vel. 1.0, idosos vel. 0.6, PcD vel. 0.4), brigadistas (vel. 1.5), fogo, fumaça, escadas (fluxo limitado), corredores, saídas de emergência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Regime de Observação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Instrumentado e automatizado: coleta de métricas a tick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aixaDeTexto 1"/>
          <p:cNvSpPr/>
          <p:nvPr/>
        </p:nvSpPr>
        <p:spPr>
          <a:xfrm>
            <a:off x="793080" y="1161720"/>
            <a:ext cx="10647000" cy="52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1.2 </a:t>
            </a:r>
            <a:r>
              <a:rPr lang="en-US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Observáveis Prioritários e Exclusões Conscientes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793080" y="2081880"/>
            <a:ext cx="4679640" cy="490680"/>
          </a:xfrm>
          <a:prstGeom prst="rect">
            <a:avLst/>
          </a:prstGeom>
          <a:solidFill>
            <a:srgbClr val="1560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" name="Text 2"/>
          <p:cNvSpPr/>
          <p:nvPr/>
        </p:nvSpPr>
        <p:spPr>
          <a:xfrm>
            <a:off x="793080" y="2107440"/>
            <a:ext cx="4679640" cy="49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Observáveis Prioritários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" name="Table 0"/>
          <p:cNvGraphicFramePr/>
          <p:nvPr/>
        </p:nvGraphicFramePr>
        <p:xfrm>
          <a:off x="793080" y="2624400"/>
          <a:ext cx="4680360" cy="3143160"/>
        </p:xfrm>
        <a:graphic>
          <a:graphicData uri="http://schemas.openxmlformats.org/drawingml/2006/table">
            <a:tbl>
              <a:tblPr/>
              <a:tblGrid>
                <a:gridCol w="1738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Observável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Descrição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Taxa de evacuação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Evacuados / total ao término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Tempo médio de evacuação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Média e σ de steps por andar e total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Nº de vítimas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Mortos + feridos por rodada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Mapa de calor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Densidade acumulada por célula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Gargalos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Top-5 células com maior congestionamento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Evolução temporal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Evacuados, mortos e área em chamas por step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" name="Shape 3"/>
          <p:cNvSpPr/>
          <p:nvPr/>
        </p:nvSpPr>
        <p:spPr>
          <a:xfrm>
            <a:off x="6462360" y="2081880"/>
            <a:ext cx="4747680" cy="490680"/>
          </a:xfrm>
          <a:prstGeom prst="rect">
            <a:avLst/>
          </a:prstGeom>
          <a:solidFill>
            <a:srgbClr val="E97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Text 4"/>
          <p:cNvSpPr/>
          <p:nvPr/>
        </p:nvSpPr>
        <p:spPr>
          <a:xfrm>
            <a:off x="6645600" y="2106000"/>
            <a:ext cx="4381560" cy="47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Exclusões Conscientes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6" name="Table 1"/>
          <p:cNvGraphicFramePr/>
          <p:nvPr/>
        </p:nvGraphicFramePr>
        <p:xfrm>
          <a:off x="6462360" y="2624400"/>
          <a:ext cx="4748040" cy="3119040"/>
        </p:xfrm>
        <a:graphic>
          <a:graphicData uri="http://schemas.openxmlformats.org/drawingml/2006/table">
            <a:tbl>
              <a:tblPr/>
              <a:tblGrid>
                <a:gridCol w="177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Elemento Excluído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Justificativa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7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Estados psicológicos profundos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Inobserváveis; pânico é operacionalizado como variável [0,1]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7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Condições climáticas externas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Foco no interior do edifício; vento e chuva não modelados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5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Políticas públicas / fiscalização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Regime causal institucional incompatível com ontologia física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7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Dimensões simbólicas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Percepção cultural de risco, crenças — não formalizáveis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7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Combate direto ao incêndio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Brigadistas orientam evacuação, não combatem o fogo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7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Elevadores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Bloqueados conforme ABNT NBR 9077 — não participam da evacuação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aixaDeTexto 1"/>
          <p:cNvSpPr/>
          <p:nvPr/>
        </p:nvSpPr>
        <p:spPr>
          <a:xfrm>
            <a:off x="2480400" y="2957760"/>
            <a:ext cx="7230600" cy="76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2. Modelagem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aixaDeTexto 3"/>
          <p:cNvSpPr/>
          <p:nvPr/>
        </p:nvSpPr>
        <p:spPr>
          <a:xfrm>
            <a:off x="599040" y="788400"/>
            <a:ext cx="376236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2.1. Bases de dados consultadas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Imagem 5"/>
          <p:cNvPicPr/>
          <p:nvPr/>
        </p:nvPicPr>
        <p:blipFill>
          <a:blip r:embed="rId2"/>
          <a:stretch/>
        </p:blipFill>
        <p:spPr>
          <a:xfrm>
            <a:off x="1357920" y="1811160"/>
            <a:ext cx="2244960" cy="12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Imagem 7"/>
          <p:cNvPicPr/>
          <p:nvPr/>
        </p:nvPicPr>
        <p:blipFill>
          <a:blip r:embed="rId3"/>
          <a:stretch/>
        </p:blipFill>
        <p:spPr>
          <a:xfrm>
            <a:off x="5291640" y="1811160"/>
            <a:ext cx="2244960" cy="12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Imagem 9"/>
          <p:cNvPicPr/>
          <p:nvPr/>
        </p:nvPicPr>
        <p:blipFill>
          <a:blip r:embed="rId4"/>
          <a:stretch/>
        </p:blipFill>
        <p:spPr>
          <a:xfrm>
            <a:off x="8887680" y="1811160"/>
            <a:ext cx="2244960" cy="12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Chave Esquerda 10"/>
          <p:cNvSpPr/>
          <p:nvPr/>
        </p:nvSpPr>
        <p:spPr>
          <a:xfrm>
            <a:off x="1837440" y="4176360"/>
            <a:ext cx="536040" cy="137988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3" name="Chave Esquerda 12"/>
          <p:cNvSpPr/>
          <p:nvPr/>
        </p:nvSpPr>
        <p:spPr>
          <a:xfrm rot="16200000">
            <a:off x="5864400" y="-1665720"/>
            <a:ext cx="856800" cy="10326240"/>
          </a:xfrm>
          <a:prstGeom prst="leftBrace">
            <a:avLst>
              <a:gd name="adj1" fmla="val 0"/>
              <a:gd name="adj2" fmla="val 50000"/>
            </a:avLst>
          </a:prstGeom>
          <a:noFill/>
          <a:ln w="28575">
            <a:solidFill>
              <a:srgbClr val="0F9ED5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44" name="Imagem 14"/>
          <p:cNvPicPr/>
          <p:nvPr/>
        </p:nvPicPr>
        <p:blipFill>
          <a:blip r:embed="rId5"/>
          <a:stretch/>
        </p:blipFill>
        <p:spPr>
          <a:xfrm>
            <a:off x="5197680" y="3936600"/>
            <a:ext cx="2190240" cy="2085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tângulo: Cantos Arredondados 1"/>
          <p:cNvSpPr/>
          <p:nvPr/>
        </p:nvSpPr>
        <p:spPr>
          <a:xfrm>
            <a:off x="889560" y="948240"/>
            <a:ext cx="1628640" cy="81504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1. Identificação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Retângulo: Cantos Arredondados 2"/>
          <p:cNvSpPr/>
          <p:nvPr/>
        </p:nvSpPr>
        <p:spPr>
          <a:xfrm>
            <a:off x="3528000" y="931680"/>
            <a:ext cx="4564080" cy="88020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Artigos identificados por meio de busca em banco de dados: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 Web of Science (n=150)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Scopus (n=2063)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IEEE(n=144)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Retângulo: Cantos Arredondados 3"/>
          <p:cNvSpPr/>
          <p:nvPr/>
        </p:nvSpPr>
        <p:spPr>
          <a:xfrm>
            <a:off x="9101880" y="931680"/>
            <a:ext cx="1628640" cy="88020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Termos de pesquisa aplicados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8" name="Conector de Seta Reta 5"/>
          <p:cNvCxnSpPr>
            <a:stCxn id="47" idx="1"/>
            <a:endCxn id="46" idx="3"/>
          </p:cNvCxnSpPr>
          <p:nvPr/>
        </p:nvCxnSpPr>
        <p:spPr>
          <a:xfrm flipH="1">
            <a:off x="8092080" y="1371960"/>
            <a:ext cx="1010160" cy="360"/>
          </a:xfrm>
          <a:prstGeom prst="straightConnector1">
            <a:avLst/>
          </a:prstGeom>
          <a:ln w="0">
            <a:solidFill>
              <a:srgbClr val="163E64"/>
            </a:solidFill>
            <a:tailEnd type="arrow" w="med" len="med"/>
          </a:ln>
        </p:spPr>
      </p:cxnSp>
      <p:sp>
        <p:nvSpPr>
          <p:cNvPr id="49" name="Retângulo: Cantos Arredondados 9"/>
          <p:cNvSpPr/>
          <p:nvPr/>
        </p:nvSpPr>
        <p:spPr>
          <a:xfrm>
            <a:off x="3528000" y="2096640"/>
            <a:ext cx="4564080" cy="88020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  <a:ea typeface="Noto Sans CJK SC"/>
              </a:rPr>
              <a:t>  Web of Science (n=150)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  <a:ea typeface="Noto Sans CJK SC"/>
              </a:rPr>
              <a:t>Scopus (n=2063)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  <a:ea typeface="Noto Sans CJK SC"/>
              </a:rPr>
              <a:t>IEEE(n=144)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Retângulo: Cantos Arredondados 10"/>
          <p:cNvSpPr/>
          <p:nvPr/>
        </p:nvSpPr>
        <p:spPr>
          <a:xfrm>
            <a:off x="9101880" y="2118240"/>
            <a:ext cx="1628640" cy="86400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Termos de pesquisa aplicados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(#1 &amp; 2)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1" name="Conector de Seta Reta 13"/>
          <p:cNvCxnSpPr>
            <a:stCxn id="50" idx="1"/>
            <a:endCxn id="49" idx="3"/>
          </p:cNvCxnSpPr>
          <p:nvPr/>
        </p:nvCxnSpPr>
        <p:spPr>
          <a:xfrm flipH="1" flipV="1">
            <a:off x="8092080" y="2536920"/>
            <a:ext cx="1010160" cy="13680"/>
          </a:xfrm>
          <a:prstGeom prst="straightConnector1">
            <a:avLst/>
          </a:prstGeom>
          <a:ln w="0">
            <a:solidFill>
              <a:srgbClr val="163E64"/>
            </a:solidFill>
            <a:tailEnd type="arrow" w="med" len="med"/>
          </a:ln>
        </p:spPr>
      </p:cxnSp>
      <p:cxnSp>
        <p:nvCxnSpPr>
          <p:cNvPr id="52" name="Conector de Seta Reta 16"/>
          <p:cNvCxnSpPr>
            <a:stCxn id="46" idx="2"/>
            <a:endCxn id="49" idx="0"/>
          </p:cNvCxnSpPr>
          <p:nvPr/>
        </p:nvCxnSpPr>
        <p:spPr>
          <a:xfrm>
            <a:off x="5810040" y="1811880"/>
            <a:ext cx="360" cy="285120"/>
          </a:xfrm>
          <a:prstGeom prst="straightConnector1">
            <a:avLst/>
          </a:prstGeom>
          <a:ln w="0">
            <a:solidFill>
              <a:srgbClr val="163E64"/>
            </a:solidFill>
            <a:tailEnd type="arrow" w="med" len="med"/>
          </a:ln>
        </p:spPr>
      </p:cxnSp>
      <p:sp>
        <p:nvSpPr>
          <p:cNvPr id="53" name="Retângulo: Cantos Arredondados 19"/>
          <p:cNvSpPr/>
          <p:nvPr/>
        </p:nvSpPr>
        <p:spPr>
          <a:xfrm>
            <a:off x="889560" y="3277800"/>
            <a:ext cx="1628640" cy="88020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2. Triagem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Retângulo: Cantos Arredondados 20"/>
          <p:cNvSpPr/>
          <p:nvPr/>
        </p:nvSpPr>
        <p:spPr>
          <a:xfrm>
            <a:off x="3528000" y="3261240"/>
            <a:ext cx="4564080" cy="88020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Artigos selecionados para triagem de resumos (n=1909)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Retângulo: Cantos Arredondados 21"/>
          <p:cNvSpPr/>
          <p:nvPr/>
        </p:nvSpPr>
        <p:spPr>
          <a:xfrm>
            <a:off x="9181080" y="3261240"/>
            <a:ext cx="1628640" cy="88020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Duplicados removidos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6" name="Conector de Seta Reta 22"/>
          <p:cNvCxnSpPr>
            <a:stCxn id="55" idx="1"/>
          </p:cNvCxnSpPr>
          <p:nvPr/>
        </p:nvCxnSpPr>
        <p:spPr>
          <a:xfrm flipH="1">
            <a:off x="8251200" y="3701520"/>
            <a:ext cx="930240" cy="2160"/>
          </a:xfrm>
          <a:prstGeom prst="straightConnector1">
            <a:avLst/>
          </a:prstGeom>
          <a:ln w="0">
            <a:solidFill>
              <a:srgbClr val="163E64"/>
            </a:solidFill>
            <a:tailEnd type="arrow" w="med" len="med"/>
          </a:ln>
        </p:spPr>
      </p:cxnSp>
      <p:sp>
        <p:nvSpPr>
          <p:cNvPr id="57" name="Retângulo: Cantos Arredondados 23"/>
          <p:cNvSpPr/>
          <p:nvPr/>
        </p:nvSpPr>
        <p:spPr>
          <a:xfrm>
            <a:off x="889560" y="4442400"/>
            <a:ext cx="1628640" cy="880200"/>
          </a:xfrm>
          <a:prstGeom prst="roundRect">
            <a:avLst>
              <a:gd name="adj" fmla="val 16667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3. Eligibilidade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Retângulo: Cantos Arredondados 25"/>
          <p:cNvSpPr/>
          <p:nvPr/>
        </p:nvSpPr>
        <p:spPr>
          <a:xfrm>
            <a:off x="3528000" y="4442400"/>
            <a:ext cx="4564080" cy="880200"/>
          </a:xfrm>
          <a:prstGeom prst="roundRect">
            <a:avLst>
              <a:gd name="adj" fmla="val 16667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Artigos de texto completo avaliados para elegibilidade (n=15)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Retângulo: Cantos Arredondados 26"/>
          <p:cNvSpPr/>
          <p:nvPr/>
        </p:nvSpPr>
        <p:spPr>
          <a:xfrm>
            <a:off x="9181080" y="4317120"/>
            <a:ext cx="1799280" cy="1131120"/>
          </a:xfrm>
          <a:prstGeom prst="roundRect">
            <a:avLst>
              <a:gd name="adj" fmla="val 16667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Artigos excluídos: Aqueles focados em IOT ou em Temas com outro foco principal.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0" name="Conector de Seta Reta 27"/>
          <p:cNvCxnSpPr>
            <a:stCxn id="49" idx="2"/>
            <a:endCxn id="54" idx="0"/>
          </p:cNvCxnSpPr>
          <p:nvPr/>
        </p:nvCxnSpPr>
        <p:spPr>
          <a:xfrm>
            <a:off x="5810040" y="2976840"/>
            <a:ext cx="360" cy="284760"/>
          </a:xfrm>
          <a:prstGeom prst="straightConnector1">
            <a:avLst/>
          </a:prstGeom>
          <a:ln w="0">
            <a:solidFill>
              <a:srgbClr val="163E64"/>
            </a:solidFill>
            <a:tailEnd type="arrow" w="med" len="med"/>
          </a:ln>
        </p:spPr>
      </p:cxnSp>
      <p:cxnSp>
        <p:nvCxnSpPr>
          <p:cNvPr id="61" name="Conector de Seta Reta 30"/>
          <p:cNvCxnSpPr>
            <a:stCxn id="54" idx="2"/>
            <a:endCxn id="58" idx="0"/>
          </p:cNvCxnSpPr>
          <p:nvPr/>
        </p:nvCxnSpPr>
        <p:spPr>
          <a:xfrm>
            <a:off x="5810040" y="4141440"/>
            <a:ext cx="360" cy="301320"/>
          </a:xfrm>
          <a:prstGeom prst="straightConnector1">
            <a:avLst/>
          </a:prstGeom>
          <a:ln w="0">
            <a:solidFill>
              <a:srgbClr val="163E64"/>
            </a:solidFill>
            <a:tailEnd type="arrow" w="med" len="med"/>
          </a:ln>
        </p:spPr>
      </p:cxnSp>
      <p:cxnSp>
        <p:nvCxnSpPr>
          <p:cNvPr id="62" name="Conector de Seta Reta 34"/>
          <p:cNvCxnSpPr>
            <a:stCxn id="59" idx="1"/>
            <a:endCxn id="58" idx="3"/>
          </p:cNvCxnSpPr>
          <p:nvPr/>
        </p:nvCxnSpPr>
        <p:spPr>
          <a:xfrm flipH="1">
            <a:off x="8092080" y="4882680"/>
            <a:ext cx="1089360" cy="360"/>
          </a:xfrm>
          <a:prstGeom prst="straightConnector1">
            <a:avLst/>
          </a:prstGeom>
          <a:ln w="0">
            <a:solidFill>
              <a:srgbClr val="163E64"/>
            </a:solidFill>
            <a:tailEnd type="arrow" w="med" len="med"/>
          </a:ln>
        </p:spPr>
      </p:cxnSp>
      <p:sp>
        <p:nvSpPr>
          <p:cNvPr id="63" name="Retângulo: Cantos Arredondados 37"/>
          <p:cNvSpPr/>
          <p:nvPr/>
        </p:nvSpPr>
        <p:spPr>
          <a:xfrm>
            <a:off x="889560" y="5623560"/>
            <a:ext cx="1628640" cy="88020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4. Incluídos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etângulo: Cantos Arredondados 38"/>
          <p:cNvSpPr/>
          <p:nvPr/>
        </p:nvSpPr>
        <p:spPr>
          <a:xfrm>
            <a:off x="3528000" y="5623560"/>
            <a:ext cx="4564080" cy="88020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Estudos elegíveis incluídos na revisão final (n=8)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CaixaDeTexto 2"/>
          <p:cNvSpPr/>
          <p:nvPr/>
        </p:nvSpPr>
        <p:spPr>
          <a:xfrm>
            <a:off x="369360" y="562320"/>
            <a:ext cx="511668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2.2. Mecanismos de inclusão e exclusão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ângulo 1"/>
          <p:cNvSpPr/>
          <p:nvPr/>
        </p:nvSpPr>
        <p:spPr>
          <a:xfrm>
            <a:off x="801720" y="1452960"/>
            <a:ext cx="11130480" cy="4736520"/>
          </a:xfrm>
          <a:prstGeom prst="rect">
            <a:avLst/>
          </a:prstGeom>
          <a:noFill/>
          <a:ln w="28575">
            <a:solidFill>
              <a:srgbClr val="1048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cxnSp>
        <p:nvCxnSpPr>
          <p:cNvPr id="67" name="Conector reto 3"/>
          <p:cNvCxnSpPr/>
          <p:nvPr/>
        </p:nvCxnSpPr>
        <p:spPr>
          <a:xfrm>
            <a:off x="801720" y="1997280"/>
            <a:ext cx="11131560" cy="720"/>
          </a:xfrm>
          <a:prstGeom prst="straightConnector1">
            <a:avLst/>
          </a:prstGeom>
          <a:ln w="19050">
            <a:solidFill>
              <a:srgbClr val="104862"/>
            </a:solidFill>
            <a:round/>
          </a:ln>
        </p:spPr>
      </p:cxnSp>
      <p:cxnSp>
        <p:nvCxnSpPr>
          <p:cNvPr id="68" name="Conector reto 5"/>
          <p:cNvCxnSpPr/>
          <p:nvPr/>
        </p:nvCxnSpPr>
        <p:spPr>
          <a:xfrm>
            <a:off x="3155760" y="1452600"/>
            <a:ext cx="720" cy="4737960"/>
          </a:xfrm>
          <a:prstGeom prst="straightConnector1">
            <a:avLst/>
          </a:prstGeom>
          <a:ln w="19050">
            <a:solidFill>
              <a:srgbClr val="156082"/>
            </a:solidFill>
            <a:round/>
          </a:ln>
        </p:spPr>
      </p:cxnSp>
      <p:cxnSp>
        <p:nvCxnSpPr>
          <p:cNvPr id="69" name="Conector reto 10"/>
          <p:cNvCxnSpPr/>
          <p:nvPr/>
        </p:nvCxnSpPr>
        <p:spPr>
          <a:xfrm>
            <a:off x="5334480" y="1474920"/>
            <a:ext cx="720" cy="4737960"/>
          </a:xfrm>
          <a:prstGeom prst="straightConnector1">
            <a:avLst/>
          </a:prstGeom>
          <a:ln w="19050">
            <a:solidFill>
              <a:srgbClr val="156082"/>
            </a:solidFill>
            <a:round/>
          </a:ln>
        </p:spPr>
      </p:cxnSp>
      <p:cxnSp>
        <p:nvCxnSpPr>
          <p:cNvPr id="70" name="Conector reto 14"/>
          <p:cNvCxnSpPr/>
          <p:nvPr/>
        </p:nvCxnSpPr>
        <p:spPr>
          <a:xfrm>
            <a:off x="782280" y="1452600"/>
            <a:ext cx="2383920" cy="545400"/>
          </a:xfrm>
          <a:prstGeom prst="straightConnector1">
            <a:avLst/>
          </a:prstGeom>
          <a:ln w="19050">
            <a:solidFill>
              <a:srgbClr val="156082"/>
            </a:solidFill>
            <a:round/>
          </a:ln>
        </p:spPr>
      </p:cxnSp>
      <p:cxnSp>
        <p:nvCxnSpPr>
          <p:cNvPr id="71" name="Conector reto 20"/>
          <p:cNvCxnSpPr/>
          <p:nvPr/>
        </p:nvCxnSpPr>
        <p:spPr>
          <a:xfrm>
            <a:off x="801720" y="2499840"/>
            <a:ext cx="11131560" cy="720"/>
          </a:xfrm>
          <a:prstGeom prst="straightConnector1">
            <a:avLst/>
          </a:prstGeom>
          <a:ln w="19050">
            <a:solidFill>
              <a:srgbClr val="104862"/>
            </a:solidFill>
            <a:round/>
          </a:ln>
        </p:spPr>
      </p:cxnSp>
      <p:cxnSp>
        <p:nvCxnSpPr>
          <p:cNvPr id="72" name="Conector reto 21"/>
          <p:cNvCxnSpPr/>
          <p:nvPr/>
        </p:nvCxnSpPr>
        <p:spPr>
          <a:xfrm>
            <a:off x="801720" y="3059280"/>
            <a:ext cx="11131560" cy="720"/>
          </a:xfrm>
          <a:prstGeom prst="straightConnector1">
            <a:avLst/>
          </a:prstGeom>
          <a:ln w="19050">
            <a:solidFill>
              <a:srgbClr val="104862"/>
            </a:solidFill>
            <a:round/>
          </a:ln>
        </p:spPr>
      </p:cxnSp>
      <p:cxnSp>
        <p:nvCxnSpPr>
          <p:cNvPr id="73" name="Conector reto 22"/>
          <p:cNvCxnSpPr/>
          <p:nvPr/>
        </p:nvCxnSpPr>
        <p:spPr>
          <a:xfrm>
            <a:off x="821160" y="3651120"/>
            <a:ext cx="11112120" cy="720"/>
          </a:xfrm>
          <a:prstGeom prst="straightConnector1">
            <a:avLst/>
          </a:prstGeom>
          <a:ln w="19050">
            <a:solidFill>
              <a:srgbClr val="104862"/>
            </a:solidFill>
            <a:round/>
          </a:ln>
        </p:spPr>
      </p:cxnSp>
      <p:cxnSp>
        <p:nvCxnSpPr>
          <p:cNvPr id="74" name="Conector reto 23"/>
          <p:cNvCxnSpPr/>
          <p:nvPr/>
        </p:nvCxnSpPr>
        <p:spPr>
          <a:xfrm>
            <a:off x="811440" y="4289760"/>
            <a:ext cx="11121840" cy="720"/>
          </a:xfrm>
          <a:prstGeom prst="straightConnector1">
            <a:avLst/>
          </a:prstGeom>
          <a:ln w="19050">
            <a:solidFill>
              <a:srgbClr val="104862"/>
            </a:solidFill>
            <a:round/>
          </a:ln>
        </p:spPr>
      </p:cxnSp>
      <p:cxnSp>
        <p:nvCxnSpPr>
          <p:cNvPr id="75" name="Conector reto 24"/>
          <p:cNvCxnSpPr/>
          <p:nvPr/>
        </p:nvCxnSpPr>
        <p:spPr>
          <a:xfrm>
            <a:off x="811440" y="4909320"/>
            <a:ext cx="11121840" cy="720"/>
          </a:xfrm>
          <a:prstGeom prst="straightConnector1">
            <a:avLst/>
          </a:prstGeom>
          <a:ln w="19050">
            <a:solidFill>
              <a:srgbClr val="104862"/>
            </a:solidFill>
            <a:round/>
          </a:ln>
        </p:spPr>
      </p:cxnSp>
      <p:sp>
        <p:nvSpPr>
          <p:cNvPr id="76" name="CaixaDeTexto 25"/>
          <p:cNvSpPr/>
          <p:nvPr/>
        </p:nvSpPr>
        <p:spPr>
          <a:xfrm>
            <a:off x="3488760" y="1623240"/>
            <a:ext cx="1545840" cy="24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CaixaDeTexto 26"/>
          <p:cNvSpPr/>
          <p:nvPr/>
        </p:nvSpPr>
        <p:spPr>
          <a:xfrm>
            <a:off x="5664240" y="1621800"/>
            <a:ext cx="1545840" cy="24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CaixaDeTexto 27"/>
          <p:cNvSpPr/>
          <p:nvPr/>
        </p:nvSpPr>
        <p:spPr>
          <a:xfrm>
            <a:off x="7916040" y="1633680"/>
            <a:ext cx="1545840" cy="24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CaixaDeTexto 28"/>
          <p:cNvSpPr/>
          <p:nvPr/>
        </p:nvSpPr>
        <p:spPr>
          <a:xfrm>
            <a:off x="10088640" y="1621800"/>
            <a:ext cx="1545840" cy="24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0" name="Conector reto 48"/>
          <p:cNvCxnSpPr/>
          <p:nvPr/>
        </p:nvCxnSpPr>
        <p:spPr>
          <a:xfrm flipV="1">
            <a:off x="833760" y="5480640"/>
            <a:ext cx="11099520" cy="38880"/>
          </a:xfrm>
          <a:prstGeom prst="straightConnector1">
            <a:avLst/>
          </a:prstGeom>
          <a:ln w="19050">
            <a:solidFill>
              <a:srgbClr val="104862"/>
            </a:solidFill>
            <a:round/>
          </a:ln>
        </p:spPr>
      </p:cxnSp>
      <p:sp>
        <p:nvSpPr>
          <p:cNvPr id="81" name="CaixaDeTexto 51"/>
          <p:cNvSpPr/>
          <p:nvPr/>
        </p:nvSpPr>
        <p:spPr>
          <a:xfrm>
            <a:off x="1729800" y="1495440"/>
            <a:ext cx="154584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ARTIGOS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CaixaDeTexto 52"/>
          <p:cNvSpPr/>
          <p:nvPr/>
        </p:nvSpPr>
        <p:spPr>
          <a:xfrm>
            <a:off x="671400" y="1671840"/>
            <a:ext cx="154584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PARÂMETROS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CaixaDeTexto 53"/>
          <p:cNvSpPr/>
          <p:nvPr/>
        </p:nvSpPr>
        <p:spPr>
          <a:xfrm>
            <a:off x="811080" y="2144880"/>
            <a:ext cx="190260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Identificação do artigo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CaixaDeTexto 54"/>
          <p:cNvSpPr/>
          <p:nvPr/>
        </p:nvSpPr>
        <p:spPr>
          <a:xfrm>
            <a:off x="802080" y="2635200"/>
            <a:ext cx="186876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Problema de pesquisa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CaixaDeTexto 55"/>
          <p:cNvSpPr/>
          <p:nvPr/>
        </p:nvSpPr>
        <p:spPr>
          <a:xfrm>
            <a:off x="839880" y="3258360"/>
            <a:ext cx="238572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Objeto empírico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CaixaDeTexto 56"/>
          <p:cNvSpPr/>
          <p:nvPr/>
        </p:nvSpPr>
        <p:spPr>
          <a:xfrm>
            <a:off x="839880" y="3823920"/>
            <a:ext cx="238572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Método/Ferramenta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CaixaDeTexto 57"/>
          <p:cNvSpPr/>
          <p:nvPr/>
        </p:nvSpPr>
        <p:spPr>
          <a:xfrm>
            <a:off x="909720" y="4479120"/>
            <a:ext cx="155052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Variáveis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CaixaDeTexto 58"/>
          <p:cNvSpPr/>
          <p:nvPr/>
        </p:nvSpPr>
        <p:spPr>
          <a:xfrm>
            <a:off x="904680" y="5073840"/>
            <a:ext cx="212796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Resultados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CaixaDeTexto 59"/>
          <p:cNvSpPr/>
          <p:nvPr/>
        </p:nvSpPr>
        <p:spPr>
          <a:xfrm>
            <a:off x="868680" y="5729040"/>
            <a:ext cx="189036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Contribuição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Chave Esquerda 60"/>
          <p:cNvSpPr/>
          <p:nvPr/>
        </p:nvSpPr>
        <p:spPr>
          <a:xfrm rot="5400000">
            <a:off x="6803640" y="-2572560"/>
            <a:ext cx="399600" cy="7693920"/>
          </a:xfrm>
          <a:prstGeom prst="leftBrace">
            <a:avLst>
              <a:gd name="adj1" fmla="val 29797"/>
              <a:gd name="adj2" fmla="val 50000"/>
            </a:avLst>
          </a:prstGeom>
          <a:noFill/>
          <a:ln w="28575">
            <a:solidFill>
              <a:srgbClr val="1048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1" name="CaixaDeTexto 61"/>
          <p:cNvSpPr/>
          <p:nvPr/>
        </p:nvSpPr>
        <p:spPr>
          <a:xfrm>
            <a:off x="5084640" y="676440"/>
            <a:ext cx="373572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Referências Bibliográficas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Chave Esquerda 62"/>
          <p:cNvSpPr/>
          <p:nvPr/>
        </p:nvSpPr>
        <p:spPr>
          <a:xfrm>
            <a:off x="398520" y="1997640"/>
            <a:ext cx="399600" cy="4191840"/>
          </a:xfrm>
          <a:prstGeom prst="leftBrace">
            <a:avLst>
              <a:gd name="adj1" fmla="val 29797"/>
              <a:gd name="adj2" fmla="val 50000"/>
            </a:avLst>
          </a:prstGeom>
          <a:noFill/>
          <a:ln w="28575">
            <a:solidFill>
              <a:srgbClr val="1048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3" name="CaixaDeTexto 63"/>
          <p:cNvSpPr/>
          <p:nvPr/>
        </p:nvSpPr>
        <p:spPr>
          <a:xfrm rot="16200000">
            <a:off x="-1162080" y="3949200"/>
            <a:ext cx="269388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Critérios de análise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CaixaDeTexto 65"/>
          <p:cNvSpPr/>
          <p:nvPr/>
        </p:nvSpPr>
        <p:spPr>
          <a:xfrm>
            <a:off x="423000" y="502920"/>
            <a:ext cx="441576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2.2.1. Matriz de Extração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CaixaDeTexto 42"/>
          <p:cNvSpPr/>
          <p:nvPr/>
        </p:nvSpPr>
        <p:spPr>
          <a:xfrm>
            <a:off x="3192840" y="196344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Ding et al. (2024). Reliability Engineering and System Safety, v.244.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6" name="Conector reto 44"/>
          <p:cNvCxnSpPr/>
          <p:nvPr/>
        </p:nvCxnSpPr>
        <p:spPr>
          <a:xfrm>
            <a:off x="7544160" y="1495080"/>
            <a:ext cx="17640" cy="4695480"/>
          </a:xfrm>
          <a:prstGeom prst="straightConnector1">
            <a:avLst/>
          </a:prstGeom>
          <a:ln w="19050">
            <a:solidFill>
              <a:srgbClr val="156082"/>
            </a:solidFill>
            <a:round/>
          </a:ln>
        </p:spPr>
      </p:cxnSp>
      <p:cxnSp>
        <p:nvCxnSpPr>
          <p:cNvPr id="97" name="Conector reto 46"/>
          <p:cNvCxnSpPr/>
          <p:nvPr/>
        </p:nvCxnSpPr>
        <p:spPr>
          <a:xfrm>
            <a:off x="9790560" y="1558080"/>
            <a:ext cx="720" cy="4632480"/>
          </a:xfrm>
          <a:prstGeom prst="straightConnector1">
            <a:avLst/>
          </a:prstGeom>
          <a:ln w="19050">
            <a:solidFill>
              <a:srgbClr val="156082"/>
            </a:solidFill>
            <a:round/>
          </a:ln>
        </p:spPr>
      </p:cxnSp>
      <p:sp>
        <p:nvSpPr>
          <p:cNvPr id="98" name="CaixaDeTexto 77"/>
          <p:cNvSpPr/>
          <p:nvPr/>
        </p:nvSpPr>
        <p:spPr>
          <a:xfrm>
            <a:off x="3167640" y="251748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Sistema BIM em tempo real para otimizar rotas de evacuação em grandes infraestruturas.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CaixaDeTexto 78"/>
          <p:cNvSpPr/>
          <p:nvPr/>
        </p:nvSpPr>
        <p:spPr>
          <a:xfrm>
            <a:off x="3146400" y="308088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Estação de metrô Chegongmiao (Shenzhen, China). 1.200 ocupantes, 4 saídas, 2 pavimentos.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CaixaDeTexto 79"/>
          <p:cNvSpPr/>
          <p:nvPr/>
        </p:nvSpPr>
        <p:spPr>
          <a:xfrm>
            <a:off x="3158640" y="367452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Revit (BIM) + PyroSim (FDS) + AnyLogic (ABM + força social) + algoritmo de otimização.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CaixaDeTexto 80"/>
          <p:cNvSpPr/>
          <p:nvPr/>
        </p:nvSpPr>
        <p:spPr>
          <a:xfrm>
            <a:off x="3146400" y="433800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Temperatura, altura/densidade de fumaça, gênero, idade, velocidade por local (escada/aisle/solo).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CaixaDeTexto 81"/>
          <p:cNvSpPr/>
          <p:nvPr/>
        </p:nvSpPr>
        <p:spPr>
          <a:xfrm>
            <a:off x="3097440" y="492660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Otimização equilibrou uso das 4 saídas e reduziu tempo total em 12,87% (443s→386s).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CaixaDeTexto 82"/>
          <p:cNvSpPr/>
          <p:nvPr/>
        </p:nvSpPr>
        <p:spPr>
          <a:xfrm>
            <a:off x="3179520" y="555624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Velocidades diferenciadas por idade/gênero e por tipo de via; lógica de saturação de saídas.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CaixaDeTexto 83"/>
          <p:cNvSpPr/>
          <p:nvPr/>
        </p:nvSpPr>
        <p:spPr>
          <a:xfrm>
            <a:off x="5410800" y="2064240"/>
            <a:ext cx="21294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a-DK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Sun &amp; Turkan (2020). Adv. Eng. Informatics, v.44.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CaixaDeTexto 84"/>
          <p:cNvSpPr/>
          <p:nvPr/>
        </p:nvSpPr>
        <p:spPr>
          <a:xfrm>
            <a:off x="5297040" y="253080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Integrar BIM + FDS + ABM para prever evacuação e otimizar projeto.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CaixaDeTexto 85"/>
          <p:cNvSpPr/>
          <p:nvPr/>
        </p:nvSpPr>
        <p:spPr>
          <a:xfrm>
            <a:off x="5328720" y="309708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Incêndio da boate Station (EUA, 2003). 462 ocupantes, 1 pavimento.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CaixaDeTexto 86"/>
          <p:cNvSpPr/>
          <p:nvPr/>
        </p:nvSpPr>
        <p:spPr>
          <a:xfrm>
            <a:off x="5373720" y="3759840"/>
            <a:ext cx="21294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Revit + PyroSim (FDS) + AnyLogic (ABM).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CaixaDeTexto 87"/>
          <p:cNvSpPr/>
          <p:nvPr/>
        </p:nvSpPr>
        <p:spPr>
          <a:xfrm>
            <a:off x="5331600" y="433296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ASET/RSET, nº saídas, largura, ocupação, fumaça, temperatura, velocidade.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CaixaDeTexto 89"/>
          <p:cNvSpPr/>
          <p:nvPr/>
        </p:nvSpPr>
        <p:spPr>
          <a:xfrm>
            <a:off x="5271840" y="489816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RSET = f(saídas, largura, ocupação). Reduzir ocupação de 462→323 otimiza evacuação.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CaixaDeTexto 90"/>
          <p:cNvSpPr/>
          <p:nvPr/>
        </p:nvSpPr>
        <p:spPr>
          <a:xfrm>
            <a:off x="5354280" y="555372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Fatores críticos (humano/edifício/fogo) e ciclo de 4 fases (pré-alarme→evacuação).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CaixaDeTexto 91"/>
          <p:cNvSpPr/>
          <p:nvPr/>
        </p:nvSpPr>
        <p:spPr>
          <a:xfrm>
            <a:off x="7611480" y="2030040"/>
            <a:ext cx="21294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Lu &amp; Li (2025). Reliab. Eng. Syst. Safety, v.260.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CaixaDeTexto 92"/>
          <p:cNvSpPr/>
          <p:nvPr/>
        </p:nvSpPr>
        <p:spPr>
          <a:xfrm>
            <a:off x="7563960" y="253080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Acoplar FDS + ABM com aprendizagem social para otimizar evacuação.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CaixaDeTexto 93"/>
          <p:cNvSpPr/>
          <p:nvPr/>
        </p:nvSpPr>
        <p:spPr>
          <a:xfrm>
            <a:off x="7600320" y="305712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Incêndio da boate Ala (Taiwan, 2011). ~200 ocupantes, 2 pavimentos.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CaixaDeTexto 94"/>
          <p:cNvSpPr/>
          <p:nvPr/>
        </p:nvSpPr>
        <p:spPr>
          <a:xfrm>
            <a:off x="7620480" y="3795480"/>
            <a:ext cx="21294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PyroSim (FDS) + NetLogo (ABM) + Random Forest + PSO-GA.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CaixaDeTexto 95"/>
          <p:cNvSpPr/>
          <p:nvPr/>
        </p:nvSpPr>
        <p:spPr>
          <a:xfrm>
            <a:off x="7624080" y="433008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Tempo, mortos, feridos, pisoteamento, saúde, CO, temperatura, k_p, k_t.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CaixaDeTexto 96"/>
          <p:cNvSpPr/>
          <p:nvPr/>
        </p:nvSpPr>
        <p:spPr>
          <a:xfrm>
            <a:off x="7600320" y="490284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Validação &gt;98%. Saída 2º andar aberta: −22,47% tempo. Plano ótimo: −6,77% pisoteamento.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CaixaDeTexto 97"/>
          <p:cNvSpPr/>
          <p:nvPr/>
        </p:nvSpPr>
        <p:spPr>
          <a:xfrm>
            <a:off x="7561080" y="558684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Grid 0,4m, vizinhança de Moore, Dijkstra, coeficientes calibrados, evacuação faseada.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CaixaDeTexto 98"/>
          <p:cNvSpPr/>
          <p:nvPr/>
        </p:nvSpPr>
        <p:spPr>
          <a:xfrm>
            <a:off x="9837360" y="2048040"/>
            <a:ext cx="21294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Tan, Hu &amp; Lin (2015). Information Sciences, v.295.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CaixaDeTexto 99"/>
          <p:cNvSpPr/>
          <p:nvPr/>
        </p:nvSpPr>
        <p:spPr>
          <a:xfrm>
            <a:off x="9713520" y="2472480"/>
            <a:ext cx="2253240" cy="64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Combinar comportamento humano com mudança previsível de acessibilidade por dispositivos de segurança contra incêndio.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CaixaDeTexto 100"/>
          <p:cNvSpPr/>
          <p:nvPr/>
        </p:nvSpPr>
        <p:spPr>
          <a:xfrm>
            <a:off x="9783720" y="310896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2º andar de prédio universitário (CUHK, Hong Kong). 680 ocupantes, 8 saídas.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CaixaDeTexto 101"/>
          <p:cNvSpPr/>
          <p:nvPr/>
        </p:nvSpPr>
        <p:spPr>
          <a:xfrm>
            <a:off x="9730440" y="3727440"/>
            <a:ext cx="21294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ArcGIS + Agent Analyst (ABM) + ontologia semântica BIM + grid.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CaixaDeTexto 102"/>
          <p:cNvSpPr/>
          <p:nvPr/>
        </p:nvSpPr>
        <p:spPr>
          <a:xfrm>
            <a:off x="9773640" y="4275720"/>
            <a:ext cx="2129400" cy="64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Conhecimento espacial/do evento, visibilidade, distância, repulsão, congestionamento, estresse, estado do dispositivo.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CaixaDeTexto 103"/>
          <p:cNvSpPr/>
          <p:nvPr/>
        </p:nvSpPr>
        <p:spPr>
          <a:xfrm>
            <a:off x="9760320" y="4889160"/>
            <a:ext cx="215136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Falta de conhecimento prévio aumenta tempo; mudança espacial pode equilibrar uso das saídas.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CaixaDeTexto 104"/>
          <p:cNvSpPr/>
          <p:nvPr/>
        </p:nvSpPr>
        <p:spPr>
          <a:xfrm>
            <a:off x="9763200" y="558900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Grid 40×40cm, sensor visual ray tracing (170°/10m), 5 tipos de agentes por conhecimento.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tângulo 1"/>
          <p:cNvSpPr/>
          <p:nvPr/>
        </p:nvSpPr>
        <p:spPr>
          <a:xfrm>
            <a:off x="801720" y="1452960"/>
            <a:ext cx="11130480" cy="4736520"/>
          </a:xfrm>
          <a:prstGeom prst="rect">
            <a:avLst/>
          </a:prstGeom>
          <a:noFill/>
          <a:ln w="28575">
            <a:solidFill>
              <a:srgbClr val="1048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cxnSp>
        <p:nvCxnSpPr>
          <p:cNvPr id="126" name="Conector reto 3"/>
          <p:cNvCxnSpPr/>
          <p:nvPr/>
        </p:nvCxnSpPr>
        <p:spPr>
          <a:xfrm>
            <a:off x="801720" y="1997280"/>
            <a:ext cx="11131560" cy="720"/>
          </a:xfrm>
          <a:prstGeom prst="straightConnector1">
            <a:avLst/>
          </a:prstGeom>
          <a:ln w="19050">
            <a:solidFill>
              <a:srgbClr val="104862"/>
            </a:solidFill>
            <a:round/>
          </a:ln>
        </p:spPr>
      </p:cxnSp>
      <p:cxnSp>
        <p:nvCxnSpPr>
          <p:cNvPr id="127" name="Conector reto 5"/>
          <p:cNvCxnSpPr/>
          <p:nvPr/>
        </p:nvCxnSpPr>
        <p:spPr>
          <a:xfrm>
            <a:off x="3155760" y="1452600"/>
            <a:ext cx="720" cy="4737960"/>
          </a:xfrm>
          <a:prstGeom prst="straightConnector1">
            <a:avLst/>
          </a:prstGeom>
          <a:ln w="19050">
            <a:solidFill>
              <a:srgbClr val="156082"/>
            </a:solidFill>
            <a:round/>
          </a:ln>
        </p:spPr>
      </p:cxnSp>
      <p:cxnSp>
        <p:nvCxnSpPr>
          <p:cNvPr id="128" name="Conector reto 10"/>
          <p:cNvCxnSpPr/>
          <p:nvPr/>
        </p:nvCxnSpPr>
        <p:spPr>
          <a:xfrm>
            <a:off x="5334480" y="1474920"/>
            <a:ext cx="720" cy="4737960"/>
          </a:xfrm>
          <a:prstGeom prst="straightConnector1">
            <a:avLst/>
          </a:prstGeom>
          <a:ln w="19050">
            <a:solidFill>
              <a:srgbClr val="156082"/>
            </a:solidFill>
            <a:round/>
          </a:ln>
        </p:spPr>
      </p:cxnSp>
      <p:cxnSp>
        <p:nvCxnSpPr>
          <p:cNvPr id="129" name="Conector reto 14"/>
          <p:cNvCxnSpPr/>
          <p:nvPr/>
        </p:nvCxnSpPr>
        <p:spPr>
          <a:xfrm>
            <a:off x="782280" y="1452600"/>
            <a:ext cx="2383920" cy="545400"/>
          </a:xfrm>
          <a:prstGeom prst="straightConnector1">
            <a:avLst/>
          </a:prstGeom>
          <a:ln w="19050">
            <a:solidFill>
              <a:srgbClr val="156082"/>
            </a:solidFill>
            <a:round/>
          </a:ln>
        </p:spPr>
      </p:cxnSp>
      <p:cxnSp>
        <p:nvCxnSpPr>
          <p:cNvPr id="130" name="Conector reto 20"/>
          <p:cNvCxnSpPr/>
          <p:nvPr/>
        </p:nvCxnSpPr>
        <p:spPr>
          <a:xfrm>
            <a:off x="801720" y="2499840"/>
            <a:ext cx="11131560" cy="720"/>
          </a:xfrm>
          <a:prstGeom prst="straightConnector1">
            <a:avLst/>
          </a:prstGeom>
          <a:ln w="19050">
            <a:solidFill>
              <a:srgbClr val="104862"/>
            </a:solidFill>
            <a:round/>
          </a:ln>
        </p:spPr>
      </p:cxnSp>
      <p:cxnSp>
        <p:nvCxnSpPr>
          <p:cNvPr id="131" name="Conector reto 21"/>
          <p:cNvCxnSpPr/>
          <p:nvPr/>
        </p:nvCxnSpPr>
        <p:spPr>
          <a:xfrm>
            <a:off x="801720" y="3059280"/>
            <a:ext cx="11131560" cy="720"/>
          </a:xfrm>
          <a:prstGeom prst="straightConnector1">
            <a:avLst/>
          </a:prstGeom>
          <a:ln w="19050">
            <a:solidFill>
              <a:srgbClr val="104862"/>
            </a:solidFill>
            <a:round/>
          </a:ln>
        </p:spPr>
      </p:cxnSp>
      <p:cxnSp>
        <p:nvCxnSpPr>
          <p:cNvPr id="132" name="Conector reto 22"/>
          <p:cNvCxnSpPr/>
          <p:nvPr/>
        </p:nvCxnSpPr>
        <p:spPr>
          <a:xfrm>
            <a:off x="821160" y="3651120"/>
            <a:ext cx="11112120" cy="720"/>
          </a:xfrm>
          <a:prstGeom prst="straightConnector1">
            <a:avLst/>
          </a:prstGeom>
          <a:ln w="19050">
            <a:solidFill>
              <a:srgbClr val="104862"/>
            </a:solidFill>
            <a:round/>
          </a:ln>
        </p:spPr>
      </p:cxnSp>
      <p:cxnSp>
        <p:nvCxnSpPr>
          <p:cNvPr id="133" name="Conector reto 23"/>
          <p:cNvCxnSpPr/>
          <p:nvPr/>
        </p:nvCxnSpPr>
        <p:spPr>
          <a:xfrm>
            <a:off x="811440" y="4289760"/>
            <a:ext cx="11121840" cy="720"/>
          </a:xfrm>
          <a:prstGeom prst="straightConnector1">
            <a:avLst/>
          </a:prstGeom>
          <a:ln w="19050">
            <a:solidFill>
              <a:srgbClr val="104862"/>
            </a:solidFill>
            <a:round/>
          </a:ln>
        </p:spPr>
      </p:cxnSp>
      <p:cxnSp>
        <p:nvCxnSpPr>
          <p:cNvPr id="134" name="Conector reto 24"/>
          <p:cNvCxnSpPr/>
          <p:nvPr/>
        </p:nvCxnSpPr>
        <p:spPr>
          <a:xfrm>
            <a:off x="811440" y="4909320"/>
            <a:ext cx="11121840" cy="720"/>
          </a:xfrm>
          <a:prstGeom prst="straightConnector1">
            <a:avLst/>
          </a:prstGeom>
          <a:ln w="19050">
            <a:solidFill>
              <a:srgbClr val="104862"/>
            </a:solidFill>
            <a:round/>
          </a:ln>
        </p:spPr>
      </p:cxnSp>
      <p:sp>
        <p:nvSpPr>
          <p:cNvPr id="135" name="CaixaDeTexto 25"/>
          <p:cNvSpPr/>
          <p:nvPr/>
        </p:nvSpPr>
        <p:spPr>
          <a:xfrm>
            <a:off x="3488760" y="1623240"/>
            <a:ext cx="1545840" cy="24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CaixaDeTexto 26"/>
          <p:cNvSpPr/>
          <p:nvPr/>
        </p:nvSpPr>
        <p:spPr>
          <a:xfrm>
            <a:off x="5664240" y="1621800"/>
            <a:ext cx="1545840" cy="24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CaixaDeTexto 27"/>
          <p:cNvSpPr/>
          <p:nvPr/>
        </p:nvSpPr>
        <p:spPr>
          <a:xfrm>
            <a:off x="7916040" y="1633680"/>
            <a:ext cx="1545840" cy="24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CaixaDeTexto 28"/>
          <p:cNvSpPr/>
          <p:nvPr/>
        </p:nvSpPr>
        <p:spPr>
          <a:xfrm>
            <a:off x="10088640" y="1621800"/>
            <a:ext cx="1545840" cy="24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9" name="Conector reto 48"/>
          <p:cNvCxnSpPr/>
          <p:nvPr/>
        </p:nvCxnSpPr>
        <p:spPr>
          <a:xfrm flipV="1">
            <a:off x="833760" y="5480640"/>
            <a:ext cx="11099520" cy="38880"/>
          </a:xfrm>
          <a:prstGeom prst="straightConnector1">
            <a:avLst/>
          </a:prstGeom>
          <a:ln w="19050">
            <a:solidFill>
              <a:srgbClr val="104862"/>
            </a:solidFill>
            <a:round/>
          </a:ln>
        </p:spPr>
      </p:cxnSp>
      <p:sp>
        <p:nvSpPr>
          <p:cNvPr id="140" name="CaixaDeTexto 51"/>
          <p:cNvSpPr/>
          <p:nvPr/>
        </p:nvSpPr>
        <p:spPr>
          <a:xfrm>
            <a:off x="1729800" y="1495440"/>
            <a:ext cx="154584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ARTIGOS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CaixaDeTexto 52"/>
          <p:cNvSpPr/>
          <p:nvPr/>
        </p:nvSpPr>
        <p:spPr>
          <a:xfrm>
            <a:off x="671400" y="1671840"/>
            <a:ext cx="154584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PARÂMETROS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CaixaDeTexto 53"/>
          <p:cNvSpPr/>
          <p:nvPr/>
        </p:nvSpPr>
        <p:spPr>
          <a:xfrm>
            <a:off x="811080" y="2144880"/>
            <a:ext cx="190260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Identificação do artigo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CaixaDeTexto 54"/>
          <p:cNvSpPr/>
          <p:nvPr/>
        </p:nvSpPr>
        <p:spPr>
          <a:xfrm>
            <a:off x="802080" y="2635200"/>
            <a:ext cx="186876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Problema de pesquisa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CaixaDeTexto 55"/>
          <p:cNvSpPr/>
          <p:nvPr/>
        </p:nvSpPr>
        <p:spPr>
          <a:xfrm>
            <a:off x="839880" y="3258360"/>
            <a:ext cx="238572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Objeto empírico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CaixaDeTexto 56"/>
          <p:cNvSpPr/>
          <p:nvPr/>
        </p:nvSpPr>
        <p:spPr>
          <a:xfrm>
            <a:off x="839880" y="3823920"/>
            <a:ext cx="238572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Método/Ferramenta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CaixaDeTexto 57"/>
          <p:cNvSpPr/>
          <p:nvPr/>
        </p:nvSpPr>
        <p:spPr>
          <a:xfrm>
            <a:off x="909720" y="4479120"/>
            <a:ext cx="155052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Variáveis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CaixaDeTexto 58"/>
          <p:cNvSpPr/>
          <p:nvPr/>
        </p:nvSpPr>
        <p:spPr>
          <a:xfrm>
            <a:off x="904680" y="5073840"/>
            <a:ext cx="212796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Resultados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CaixaDeTexto 59"/>
          <p:cNvSpPr/>
          <p:nvPr/>
        </p:nvSpPr>
        <p:spPr>
          <a:xfrm>
            <a:off x="868680" y="5729040"/>
            <a:ext cx="189036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Contribuição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Chave Esquerda 60"/>
          <p:cNvSpPr/>
          <p:nvPr/>
        </p:nvSpPr>
        <p:spPr>
          <a:xfrm rot="5400000">
            <a:off x="6803640" y="-2572560"/>
            <a:ext cx="399600" cy="7693920"/>
          </a:xfrm>
          <a:prstGeom prst="leftBrace">
            <a:avLst>
              <a:gd name="adj1" fmla="val 29797"/>
              <a:gd name="adj2" fmla="val 50000"/>
            </a:avLst>
          </a:prstGeom>
          <a:noFill/>
          <a:ln w="28575">
            <a:solidFill>
              <a:srgbClr val="1048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0" name="CaixaDeTexto 61"/>
          <p:cNvSpPr/>
          <p:nvPr/>
        </p:nvSpPr>
        <p:spPr>
          <a:xfrm>
            <a:off x="5084640" y="676440"/>
            <a:ext cx="373572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Referências Bibliográficas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Chave Esquerda 62"/>
          <p:cNvSpPr/>
          <p:nvPr/>
        </p:nvSpPr>
        <p:spPr>
          <a:xfrm>
            <a:off x="398520" y="1997640"/>
            <a:ext cx="399600" cy="4191840"/>
          </a:xfrm>
          <a:prstGeom prst="leftBrace">
            <a:avLst>
              <a:gd name="adj1" fmla="val 29797"/>
              <a:gd name="adj2" fmla="val 50000"/>
            </a:avLst>
          </a:prstGeom>
          <a:noFill/>
          <a:ln w="28575">
            <a:solidFill>
              <a:srgbClr val="1048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2" name="CaixaDeTexto 63"/>
          <p:cNvSpPr/>
          <p:nvPr/>
        </p:nvSpPr>
        <p:spPr>
          <a:xfrm rot="16200000">
            <a:off x="-1162080" y="3949200"/>
            <a:ext cx="269388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Critérios de análise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CaixaDeTexto 65"/>
          <p:cNvSpPr/>
          <p:nvPr/>
        </p:nvSpPr>
        <p:spPr>
          <a:xfrm>
            <a:off x="423000" y="502920"/>
            <a:ext cx="441576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11.2.2.2. Matriz de Extração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CaixaDeTexto 42"/>
          <p:cNvSpPr/>
          <p:nvPr/>
        </p:nvSpPr>
        <p:spPr>
          <a:xfrm>
            <a:off x="3190680" y="2008800"/>
            <a:ext cx="21294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Pelechano &amp; Malkawi (2008). Automation in Construction, v.17.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5" name="Conector reto 44"/>
          <p:cNvCxnSpPr/>
          <p:nvPr/>
        </p:nvCxnSpPr>
        <p:spPr>
          <a:xfrm>
            <a:off x="7544160" y="1495080"/>
            <a:ext cx="17640" cy="4695480"/>
          </a:xfrm>
          <a:prstGeom prst="straightConnector1">
            <a:avLst/>
          </a:prstGeom>
          <a:ln w="19050">
            <a:solidFill>
              <a:srgbClr val="156082"/>
            </a:solidFill>
            <a:round/>
          </a:ln>
        </p:spPr>
      </p:cxnSp>
      <p:cxnSp>
        <p:nvCxnSpPr>
          <p:cNvPr id="156" name="Conector reto 46"/>
          <p:cNvCxnSpPr/>
          <p:nvPr/>
        </p:nvCxnSpPr>
        <p:spPr>
          <a:xfrm>
            <a:off x="9790560" y="1558080"/>
            <a:ext cx="720" cy="4632480"/>
          </a:xfrm>
          <a:prstGeom prst="straightConnector1">
            <a:avLst/>
          </a:prstGeom>
          <a:ln w="19050">
            <a:solidFill>
              <a:srgbClr val="156082"/>
            </a:solidFill>
            <a:round/>
          </a:ln>
        </p:spPr>
      </p:cxnSp>
      <p:sp>
        <p:nvSpPr>
          <p:cNvPr id="157" name="CaixaDeTexto 77"/>
          <p:cNvSpPr/>
          <p:nvPr/>
        </p:nvSpPr>
        <p:spPr>
          <a:xfrm>
            <a:off x="3167640" y="2517480"/>
            <a:ext cx="2205360" cy="50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Avaliar limitações de modelos de autômatos celulares (CA) na simulação de evacuação de edifícios altos.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CaixaDeTexto 78"/>
          <p:cNvSpPr/>
          <p:nvPr/>
        </p:nvSpPr>
        <p:spPr>
          <a:xfrm>
            <a:off x="3146400" y="308088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Revisão crítica de softwares (STEPS, EXODUS); dados do World Trade Center (11/09/2001).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CaixaDeTexto 79"/>
          <p:cNvSpPr/>
          <p:nvPr/>
        </p:nvSpPr>
        <p:spPr>
          <a:xfrm>
            <a:off x="3158640" y="367452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Análise comparativa de CA (STEPS, EXODUS), forças sociais, regras (boids), filas.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CaixaDeTexto 80"/>
          <p:cNvSpPr/>
          <p:nvPr/>
        </p:nvSpPr>
        <p:spPr>
          <a:xfrm>
            <a:off x="3146400" y="433800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Tamanho da célula, fadiga, contrafluxo, rota, densidade, fluxo, comunicação, papéis.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CaixaDeTexto 81"/>
          <p:cNvSpPr/>
          <p:nvPr/>
        </p:nvSpPr>
        <p:spPr>
          <a:xfrm>
            <a:off x="3097440" y="492660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CA distorce densidades, fluxos e rotas (45°); fadiga e contrafluxo subestimam tempo real.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CaixaDeTexto 82"/>
          <p:cNvSpPr/>
          <p:nvPr/>
        </p:nvSpPr>
        <p:spPr>
          <a:xfrm>
            <a:off x="3179520" y="555624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Alerta sobre artefatos do grid; recomenda fadiga, comunicação, papéis, escolha dinâmica.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CaixaDeTexto 83"/>
          <p:cNvSpPr/>
          <p:nvPr/>
        </p:nvSpPr>
        <p:spPr>
          <a:xfrm>
            <a:off x="5410800" y="2064240"/>
            <a:ext cx="21294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a-DK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Zhao et al. (2022). Safety Science, v.145.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CaixaDeTexto 84"/>
          <p:cNvSpPr/>
          <p:nvPr/>
        </p:nvSpPr>
        <p:spPr>
          <a:xfrm>
            <a:off x="5369400" y="253080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Avaliar sinalização adaptativa centralizada vs descentralizada para evacuação de incêndio.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CaixaDeTexto 85"/>
          <p:cNvSpPr/>
          <p:nvPr/>
        </p:nvSpPr>
        <p:spPr>
          <a:xfrm>
            <a:off x="5328720" y="309708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Museu virtual Cooper Hewitt (3 andares); 85 participantes em VR + agentes simulados.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CaixaDeTexto 86"/>
          <p:cNvSpPr/>
          <p:nvPr/>
        </p:nvSpPr>
        <p:spPr>
          <a:xfrm>
            <a:off x="5373720" y="3759840"/>
            <a:ext cx="21294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VR (Unity) + experimento humano + ABM + grafo direcionado de sinais.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CaixaDeTexto 87"/>
          <p:cNvSpPr/>
          <p:nvPr/>
        </p:nvSpPr>
        <p:spPr>
          <a:xfrm>
            <a:off x="5331600" y="433296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Direção do sinal, localização do fogo, tempo, distância, dano, estresse, EDA, HRV.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CaixaDeTexto 89"/>
          <p:cNvSpPr/>
          <p:nvPr/>
        </p:nvSpPr>
        <p:spPr>
          <a:xfrm>
            <a:off x="5364720" y="489708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Sinais adaptativos: sobrevivência 94% vs 45%; menos distresse, dano e tempo.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CaixaDeTexto 90"/>
          <p:cNvSpPr/>
          <p:nvPr/>
        </p:nvSpPr>
        <p:spPr>
          <a:xfrm>
            <a:off x="5354280" y="555372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Lógica de agentes com memória, modos exploração/seguir-sinal, cone visual de 120°.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CaixaDeTexto 91"/>
          <p:cNvSpPr/>
          <p:nvPr/>
        </p:nvSpPr>
        <p:spPr>
          <a:xfrm>
            <a:off x="7611480" y="2030040"/>
            <a:ext cx="21294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Haghani &amp; Sarvi (2016). Fire Safety Journal, v.85.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CaixaDeTexto 92"/>
          <p:cNvSpPr/>
          <p:nvPr/>
        </p:nvSpPr>
        <p:spPr>
          <a:xfrm>
            <a:off x="7557120" y="2500200"/>
            <a:ext cx="2226240" cy="50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Quantificar diferenças comportamentais na escolha de saída entre egresso normal e emergência.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CaixaDeTexto 93"/>
          <p:cNvSpPr/>
          <p:nvPr/>
        </p:nvSpPr>
        <p:spPr>
          <a:xfrm>
            <a:off x="7534080" y="3057120"/>
            <a:ext cx="226296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Estação Flinders Street (Melbourne, Austrália). 105 passageiros entrevistados, 6 saídas.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CaixaDeTexto 94"/>
          <p:cNvSpPr/>
          <p:nvPr/>
        </p:nvSpPr>
        <p:spPr>
          <a:xfrm>
            <a:off x="7595640" y="369468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Stated-choice survey + modelo logit misto multinomial com componentes de erro.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CaixaDeTexto 95"/>
          <p:cNvSpPr/>
          <p:nvPr/>
        </p:nvSpPr>
        <p:spPr>
          <a:xfrm>
            <a:off x="7540920" y="4330080"/>
            <a:ext cx="224208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Distância, aglomeração, fluxo direcional, visibilidade, proximidade do destino, distribuição.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CaixaDeTexto 96"/>
          <p:cNvSpPr/>
          <p:nvPr/>
        </p:nvSpPr>
        <p:spPr>
          <a:xfrm>
            <a:off x="7600320" y="490284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Em emergência: aglomeração pesa mais; maioria evita seguir fluxos; visibilidade modera "herding".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CaixaDeTexto 97"/>
          <p:cNvSpPr/>
          <p:nvPr/>
        </p:nvSpPr>
        <p:spPr>
          <a:xfrm>
            <a:off x="7561080" y="5540040"/>
            <a:ext cx="222912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Coeficientes de utilidade calibrados para regra de escolha de saída por agente heterogêneo.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CaixaDeTexto 98"/>
          <p:cNvSpPr/>
          <p:nvPr/>
        </p:nvSpPr>
        <p:spPr>
          <a:xfrm>
            <a:off x="9837360" y="2048040"/>
            <a:ext cx="212940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Mirahadi, McCabe &amp; Shahi (2019). Automation in Construction, v.101.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CaixaDeTexto 99"/>
          <p:cNvSpPr/>
          <p:nvPr/>
        </p:nvSpPr>
        <p:spPr>
          <a:xfrm>
            <a:off x="9668520" y="2516400"/>
            <a:ext cx="2253240" cy="50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Integrar BIM (IFC) + FDS + ABM com índices de risco espaço-temporais (RRI/CRI).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CaixaDeTexto 100"/>
          <p:cNvSpPr/>
          <p:nvPr/>
        </p:nvSpPr>
        <p:spPr>
          <a:xfrm>
            <a:off x="9783720" y="308088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Edifício de escritórios de 2 andares, 59 compartimentos, 400 agentes simulados.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CaixaDeTexto 101"/>
          <p:cNvSpPr/>
          <p:nvPr/>
        </p:nvSpPr>
        <p:spPr>
          <a:xfrm>
            <a:off x="9741960" y="367272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BIM/IFC + CYPECAD MEP (FDS) + MassMotion (ABM) + MATLAB (grafo).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CaixaDeTexto 102"/>
          <p:cNvSpPr/>
          <p:nvPr/>
        </p:nvSpPr>
        <p:spPr>
          <a:xfrm>
            <a:off x="9782640" y="4331520"/>
            <a:ext cx="2129400" cy="50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ALET, RRI, CRI, tempo, distância, fumaça, temperatura, congestionamento, tenabilidade.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CaixaDeTexto 103"/>
          <p:cNvSpPr/>
          <p:nvPr/>
        </p:nvSpPr>
        <p:spPr>
          <a:xfrm>
            <a:off x="9760320" y="4889160"/>
            <a:ext cx="215136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Rota mais curta nem sempre é mais segura; RRI detecta rotas bloqueadas e zonas críticas.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CaixaDeTexto 104"/>
          <p:cNvSpPr/>
          <p:nvPr/>
        </p:nvSpPr>
        <p:spPr>
          <a:xfrm>
            <a:off x="9782640" y="5560920"/>
            <a:ext cx="212940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Índices RRI/CRI por compartimento e rota; agentes "obedientes" vs "livres" para validação.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Box 1"/>
          <p:cNvSpPr/>
          <p:nvPr/>
        </p:nvSpPr>
        <p:spPr>
          <a:xfrm>
            <a:off x="496080" y="569880"/>
            <a:ext cx="2545560" cy="36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56082"/>
                </a:solidFill>
                <a:effectLst/>
                <a:uFillTx/>
                <a:latin typeface="Aptos Display"/>
              </a:rPr>
              <a:t>2.3. Modelo Formal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2"/>
          <p:cNvSpPr/>
          <p:nvPr/>
        </p:nvSpPr>
        <p:spPr>
          <a:xfrm>
            <a:off x="322920" y="1217880"/>
            <a:ext cx="11199240" cy="36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Seja o sistema: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3"/>
          <p:cNvSpPr/>
          <p:nvPr/>
        </p:nvSpPr>
        <p:spPr>
          <a:xfrm>
            <a:off x="4326120" y="1638000"/>
            <a:ext cx="3199320" cy="51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200" b="1" u="none" strike="noStrike">
                <a:solidFill>
                  <a:srgbClr val="C0392B"/>
                </a:solidFill>
                <a:effectLst/>
                <a:uFillTx/>
                <a:latin typeface="Cambria"/>
              </a:rPr>
              <a:t>S = ⟨ A, E, R, F, T, I, D, O ⟩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7" name="Table 4"/>
          <p:cNvGraphicFramePr/>
          <p:nvPr/>
        </p:nvGraphicFramePr>
        <p:xfrm>
          <a:off x="322920" y="2408040"/>
          <a:ext cx="5399640" cy="4039920"/>
        </p:xfrm>
        <a:graphic>
          <a:graphicData uri="http://schemas.openxmlformats.org/drawingml/2006/table">
            <a:tbl>
              <a:tblPr/>
              <a:tblGrid>
                <a:gridCol w="1299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9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C0392B"/>
                          </a:solidFill>
                          <a:effectLst/>
                          <a:uFillTx/>
                          <a:latin typeface="Aptos Display"/>
                        </a:rPr>
                        <a:t>Símbolo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C0392B"/>
                          </a:solidFill>
                          <a:effectLst/>
                          <a:uFillTx/>
                          <a:latin typeface="Aptos Display"/>
                        </a:rPr>
                        <a:t>Significado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(A)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ocupantes ∪ brigadistas (heterogêneos)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(E)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edifício: 30 andares × grade 20×20 (2D por andar)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(R)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conjunto de rotas possíveis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(F)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dinâmica do fogo e da fumaça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(T)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tempo discreto: t ∈ {0, 1, ..., T_max} (tick)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(I)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informação disponível aos agentes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(D)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regras de decisão dos agentes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(O)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T_evac, vítimas, mapa de calor, gargalos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8" name="TextBox 5"/>
          <p:cNvSpPr/>
          <p:nvPr/>
        </p:nvSpPr>
        <p:spPr>
          <a:xfrm>
            <a:off x="6126120" y="2408040"/>
            <a:ext cx="5399280" cy="32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5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Regras formais básicas: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6"/>
          <p:cNvSpPr/>
          <p:nvPr/>
        </p:nvSpPr>
        <p:spPr>
          <a:xfrm>
            <a:off x="6126120" y="2858040"/>
            <a:ext cx="5399280" cy="284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799"/>
              </a:spcBef>
            </a:pPr>
            <a:r>
              <a:rPr lang="pt-BR" sz="12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1. Todo agente possui posição: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lang="pt-BR" sz="1300" b="0" i="1" u="none" strike="noStrike">
                <a:solidFill>
                  <a:srgbClr val="1F1F1F"/>
                </a:solidFill>
                <a:effectLst/>
                <a:uFillTx/>
                <a:latin typeface="Cambria"/>
              </a:rPr>
              <a:t>         xᵢ(t) ∈ 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BR" sz="12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2. Todo agente escolhe uma rota: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lang="pt-BR" sz="1300" b="0" i="1" u="none" strike="noStrike">
                <a:solidFill>
                  <a:srgbClr val="1F1F1F"/>
                </a:solidFill>
                <a:effectLst/>
                <a:uFillTx/>
                <a:latin typeface="Cambria"/>
              </a:rPr>
              <a:t>         rᵢ(t) ∈ 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BR" sz="12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3. A escolha da rota depende de visibilidade,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2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     distância, congestionamento e risco: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lang="pt-BR" sz="1300" b="0" i="1" u="none" strike="noStrike">
                <a:solidFill>
                  <a:srgbClr val="1F1F1F"/>
                </a:solidFill>
                <a:effectLst/>
                <a:uFillTx/>
                <a:latin typeface="Cambria"/>
              </a:rPr>
              <a:t>         rᵢ(t) = Dᵢ(VIS, DIST, CONG, RISCO, INFO)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BR" sz="12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4. A velocidade do agente diminui com densidade e fumaça: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lang="pt-BR" sz="1300" b="0" i="1" u="none" strike="noStrike">
                <a:solidFill>
                  <a:srgbClr val="1F1F1F"/>
                </a:solidFill>
                <a:effectLst/>
                <a:uFillTx/>
                <a:latin typeface="Cambria"/>
              </a:rPr>
              <a:t>         vᵢ(t) = f(v_max, ρ, Φ)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BR" sz="12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5. O agente evacua quando alcança uma saída: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lang="pt-BR" sz="1300" b="0" i="1" u="none" strike="noStrike">
                <a:solidFill>
                  <a:srgbClr val="1F1F1F"/>
                </a:solidFill>
                <a:effectLst/>
                <a:uFillTx/>
                <a:latin typeface="Cambria"/>
              </a:rPr>
              <a:t>         xᵢ(t) ∈ Saídas  ⇒  evac(aᵢ) =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"/>
          <p:cNvSpPr/>
          <p:nvPr/>
        </p:nvSpPr>
        <p:spPr>
          <a:xfrm>
            <a:off x="487440" y="515160"/>
            <a:ext cx="4075560" cy="36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56082"/>
                </a:solidFill>
                <a:effectLst/>
                <a:uFillTx/>
                <a:latin typeface="Calibri"/>
              </a:rPr>
              <a:t>2.4. Variáveis Principais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1" name="Table 2"/>
          <p:cNvGraphicFramePr/>
          <p:nvPr/>
        </p:nvGraphicFramePr>
        <p:xfrm>
          <a:off x="2642400" y="1100160"/>
          <a:ext cx="7199640" cy="5580360"/>
        </p:xfrm>
        <a:graphic>
          <a:graphicData uri="http://schemas.openxmlformats.org/drawingml/2006/table">
            <a:tbl>
              <a:tblPr/>
              <a:tblGrid>
                <a:gridCol w="2199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9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C0392B"/>
                          </a:solidFill>
                          <a:effectLst/>
                          <a:uFillTx/>
                          <a:latin typeface="Aptos Display"/>
                        </a:rPr>
                        <a:t>Variável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C0392B"/>
                          </a:solidFill>
                          <a:effectLst/>
                          <a:uFillTx/>
                          <a:latin typeface="Aptos Display"/>
                        </a:rPr>
                        <a:t>Significado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(N)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número total de ocupantes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(aᵢ)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agente i, com i ∈ {1, ..., N}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(tipo(aᵢ))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tipo do agente ∈ {adulto, idoso, PcD, brigadista}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(xᵢ(t))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posição do agente no tempo 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(vᵢ(t))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velocidade do agente no tempo 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(v_max)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velocidade máxima por tipo (1.0 / 0.6 / 0.4 / 1.5)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(ρ(x, t))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densidade local de agentes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(Φ(x, t))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intensidade da fumaça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(V(x, t))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visibilidade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(Cₑ)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capacidade de fluxo da escada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(estado(aᵢ,t))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estado ∈ {ativo, evacuado, ferido, morto}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(pânico(aᵢ,t))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nível de pânico ∈ [0, 1]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(T_react,i)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tempo de reação do agente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(T_evac)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tempo total de evacuação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CaixaDeTexto 1"/>
          <p:cNvSpPr/>
          <p:nvPr/>
        </p:nvSpPr>
        <p:spPr>
          <a:xfrm>
            <a:off x="2480400" y="2957760"/>
            <a:ext cx="7230600" cy="76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3. Formalismo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CaixaDeTexto 3"/>
          <p:cNvSpPr/>
          <p:nvPr/>
        </p:nvSpPr>
        <p:spPr>
          <a:xfrm>
            <a:off x="536040" y="735840"/>
            <a:ext cx="42289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 dirty="0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</a:rPr>
              <a:t>3.1. Agente Baseado em Modelo (ABM)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94" name="CaixaDeTexto 4"/>
          <p:cNvSpPr/>
          <p:nvPr/>
        </p:nvSpPr>
        <p:spPr>
          <a:xfrm>
            <a:off x="1233720" y="1494720"/>
            <a:ext cx="28339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</a:rPr>
              <a:t>3.1.1. Definição de ABM</a:t>
            </a:r>
            <a:endParaRPr lang="en-US" sz="18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95" name="CaixaDeTexto 5"/>
          <p:cNvSpPr/>
          <p:nvPr/>
        </p:nvSpPr>
        <p:spPr>
          <a:xfrm>
            <a:off x="1233720" y="2979000"/>
            <a:ext cx="273276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</a:rPr>
              <a:t>3.1.2. Justificativa</a:t>
            </a:r>
            <a:endParaRPr lang="en-US" sz="18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96" name="CaixaDeTexto 6"/>
          <p:cNvSpPr/>
          <p:nvPr/>
        </p:nvSpPr>
        <p:spPr>
          <a:xfrm>
            <a:off x="1284120" y="4624560"/>
            <a:ext cx="273276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</a:rPr>
              <a:t>3.1.3. Descrição de ABM</a:t>
            </a:r>
            <a:endParaRPr lang="en-US" sz="18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97" name="CaixaDeTexto 196"/>
          <p:cNvSpPr txBox="1"/>
          <p:nvPr/>
        </p:nvSpPr>
        <p:spPr>
          <a:xfrm>
            <a:off x="1902600" y="1863720"/>
            <a:ext cx="9879092" cy="583321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pPr algn="just"/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Um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método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de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modelagem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computacional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usado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para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simular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as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ações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e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interações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de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agentes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dentro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de um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ambiente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virtual, com o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objetivo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de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entender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como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o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comportamento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deles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afeta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o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sistema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como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um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todo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.</a:t>
            </a:r>
          </a:p>
        </p:txBody>
      </p:sp>
      <p:sp>
        <p:nvSpPr>
          <p:cNvPr id="198" name="CaixaDeTexto 197"/>
          <p:cNvSpPr txBox="1"/>
          <p:nvPr/>
        </p:nvSpPr>
        <p:spPr>
          <a:xfrm>
            <a:off x="1902599" y="3375720"/>
            <a:ext cx="9958223" cy="1075764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pPr algn="just"/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Permite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que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você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trate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a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multidão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de forma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heterogênea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: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cada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pessoa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no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seu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prédio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tem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sua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própria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velocidade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,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seu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próprio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tempo de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reação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,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toma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suas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próprias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decisões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de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rota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e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entra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em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pânico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de forma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individualizada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com base no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que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está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acontecendo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ao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seu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redor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.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Isso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permite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observar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fenômenos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reais de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comportamento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coletivo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,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como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o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surgimento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de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gargalos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nas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portas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e o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efeito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 </a:t>
            </a:r>
            <a:r>
              <a:rPr lang="en-US" sz="1600" b="0" u="none" strike="noStrike" dirty="0" err="1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manada</a:t>
            </a:r>
            <a:r>
              <a:rPr lang="en-US" sz="1600" b="0" u="none" strike="noStrike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.</a:t>
            </a:r>
          </a:p>
        </p:txBody>
      </p:sp>
      <p:sp>
        <p:nvSpPr>
          <p:cNvPr id="199" name="CaixaDeTexto 198"/>
          <p:cNvSpPr txBox="1"/>
          <p:nvPr/>
        </p:nvSpPr>
        <p:spPr>
          <a:xfrm>
            <a:off x="1902598" y="5114602"/>
            <a:ext cx="9958223" cy="1075764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pPr algn="just"/>
            <a:r>
              <a:rPr lang="en-US" sz="1600" b="0" u="none" strike="noStrike">
                <a:solidFill>
                  <a:schemeClr val="tx2">
                    <a:lumMod val="90000"/>
                    <a:lumOff val="10000"/>
                  </a:schemeClr>
                </a:solidFill>
                <a:effectLst/>
                <a:uFillTx/>
              </a:rPr>
              <a:t>Uma técnica de simulação computacional onde você não tenta modelar o comportamento de um sistema inteiro de cima para baixo. Em vez disso, você cria os indivíduos (os agentes), define regras simples de comportamento para eles e os coloca para interagir em um ambiente. O comportamento do sistema global "emerge" dessas interações individuais.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aixaDeTexto 3"/>
          <p:cNvSpPr/>
          <p:nvPr/>
        </p:nvSpPr>
        <p:spPr>
          <a:xfrm>
            <a:off x="624600" y="814320"/>
            <a:ext cx="20278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3.2. Exemplo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F9845F7-CBD4-4A01-4A46-EC9114752B49}"/>
              </a:ext>
            </a:extLst>
          </p:cNvPr>
          <p:cNvSpPr txBox="1"/>
          <p:nvPr/>
        </p:nvSpPr>
        <p:spPr>
          <a:xfrm>
            <a:off x="1099038" y="1521069"/>
            <a:ext cx="1054127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Evacuação de Edifício em Incêndio:</a:t>
            </a: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Agentes são ocupantes (adultos, idosos, </a:t>
            </a:r>
            <a:r>
              <a:rPr lang="pt-BR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PcD</a:t>
            </a: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) e brigadistas. Regra: </a:t>
            </a:r>
            <a:r>
              <a:rPr lang="pt-BR" i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"Se a fumaça na célula atual ultrapassar Φ=0,05, aumente o pânico; se a escada mais próxima estiver bloqueada pelo fogo, redirecione para a escada alternativa; mova-se para o vizinho com menor custo efetivo </a:t>
            </a:r>
            <a:r>
              <a:rPr lang="pt-BR" i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d_ef</a:t>
            </a:r>
            <a:r>
              <a:rPr lang="pt-BR" i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= </a:t>
            </a:r>
            <a:r>
              <a:rPr lang="pt-BR" i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dist</a:t>
            </a:r>
            <a:r>
              <a:rPr lang="pt-BR" i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(saída) + Φ×2 + ρ×0,5."</a:t>
            </a: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O ABM permite observar como surgem </a:t>
            </a:r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gargalos espontâneos nas escadas</a:t>
            </a: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e o </a:t>
            </a:r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efeito manada</a:t>
            </a: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— fenômenos coletivos que emergem das decisões individuais simples de cada agente, sem que nenhuma regra global os programe diretamente.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CaixaDeTexto 8"/>
          <p:cNvSpPr/>
          <p:nvPr/>
        </p:nvSpPr>
        <p:spPr>
          <a:xfrm>
            <a:off x="572206" y="576253"/>
            <a:ext cx="20278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3.3. SDD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0F68DD9-FB47-B4BB-2432-F0C6D51E3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446" y="940933"/>
            <a:ext cx="5817577" cy="581757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CaixaDeTexto 1"/>
          <p:cNvSpPr/>
          <p:nvPr/>
        </p:nvSpPr>
        <p:spPr>
          <a:xfrm>
            <a:off x="2480400" y="2957760"/>
            <a:ext cx="7230600" cy="76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4. Computador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A42723F-62D9-77AC-7D9E-D65DA1996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623" y="544146"/>
            <a:ext cx="8991600" cy="5994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CaixaDeTexto 1"/>
          <p:cNvSpPr/>
          <p:nvPr/>
        </p:nvSpPr>
        <p:spPr>
          <a:xfrm>
            <a:off x="2480400" y="2957760"/>
            <a:ext cx="7230600" cy="76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5. Execução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CaixaDeTexto 1"/>
          <p:cNvSpPr/>
          <p:nvPr/>
        </p:nvSpPr>
        <p:spPr>
          <a:xfrm>
            <a:off x="2480400" y="2957760"/>
            <a:ext cx="7230600" cy="76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6. Observação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</TotalTime>
  <Words>2320</Words>
  <Application>Microsoft Office PowerPoint</Application>
  <PresentationFormat>Widescreen</PresentationFormat>
  <Paragraphs>265</Paragraphs>
  <Slides>20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Cambria</vt:lpstr>
      <vt:lpstr>Symbol</vt:lpstr>
      <vt:lpstr>Times New Roman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Marcos Mattedi</dc:creator>
  <dc:description/>
  <cp:lastModifiedBy>Lucas Fritzke</cp:lastModifiedBy>
  <cp:revision>16</cp:revision>
  <dcterms:created xsi:type="dcterms:W3CDTF">2026-04-13T15:47:06Z</dcterms:created>
  <dcterms:modified xsi:type="dcterms:W3CDTF">2026-06-07T23:07:13Z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18</vt:i4>
  </property>
</Properties>
</file>