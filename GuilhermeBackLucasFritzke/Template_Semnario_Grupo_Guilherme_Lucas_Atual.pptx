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presProps.xml" ContentType="application/vnd.openxmlformats-officedocument.presentationml.presProps+xml"/>
  <Override PartName="/ppt/notesMasters/notesMaster1.xml" ContentType="application/vnd.openxmlformats-officedocument.presentationml.notesMaster+xml"/>
  <Override PartName="/ppt/slides/slide17.xml" ContentType="application/vnd.openxmlformats-officedocument.presentationml.slide+xml"/>
  <Override PartName="/ppt/slides/slide7.xml" ContentType="application/vnd.openxmlformats-officedocument.presentationml.slide+xml"/>
  <Override PartName="/ppt/slides/slide16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15.xml" ContentType="application/vnd.openxmlformats-officedocument.presentationml.slide+xml"/>
  <Override PartName="/ppt/slides/slide14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12.xml" ContentType="application/vnd.openxmlformats-officedocument.presentationml.slide+xml"/>
  <Override PartName="/ppt/slides/slide29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4.xml" ContentType="application/vnd.openxmlformats-officedocument.presentationml.slide+xml"/>
  <Override PartName="/ppt/slides/slide9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24.xml" ContentType="application/vnd.openxmlformats-officedocument.presentationml.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916AC76-07EA-4AC1-B352-0282786A657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5320" cy="3085200"/>
          </a:xfrm>
          <a:prstGeom prst="rect">
            <a:avLst/>
          </a:prstGeom>
          <a:ln w="0">
            <a:noFill/>
          </a:ln>
        </p:spPr>
      </p:sp>
      <p:sp>
        <p:nvSpPr>
          <p:cNvPr id="2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BB0E11-A5A4-40AE-80FB-B91296CA3F29}" type="slidenum">
              <a:rPr lang="pt-BR" sz="1200" b="0" u="none" strike="noStrike">
                <a:solidFill>
                  <a:srgbClr val="000000"/>
                </a:solidFill>
                <a:effectLst/>
                <a:uFillTx/>
                <a:latin typeface="Times New Roman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de Título">
    <p:bg>
      <p:bgPr>
        <a:solidFill>
          <a:srgbClr val="E8E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6"/>
          <p:cNvPicPr/>
          <p:nvPr/>
        </p:nvPicPr>
        <p:blipFill>
          <a:blip r:embed="rId2"/>
          <a:stretch/>
        </p:blipFill>
        <p:spPr>
          <a:xfrm>
            <a:off x="173880" y="106560"/>
            <a:ext cx="460440" cy="23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" name="Imagem 7" descr="Uma imagem contendo placar, desenho&#10;&#10;Descrição gerada automaticamente"/>
          <p:cNvPicPr/>
          <p:nvPr/>
        </p:nvPicPr>
        <p:blipFill>
          <a:blip r:embed="rId3"/>
          <a:srcRect l="7362" t="15322" r="9331" b="15322"/>
          <a:stretch/>
        </p:blipFill>
        <p:spPr>
          <a:xfrm>
            <a:off x="11676240" y="120960"/>
            <a:ext cx="340200" cy="217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Retângulo 8"/>
          <p:cNvSpPr/>
          <p:nvPr/>
        </p:nvSpPr>
        <p:spPr>
          <a:xfrm>
            <a:off x="0" y="96840"/>
            <a:ext cx="12190680" cy="316800"/>
          </a:xfrm>
          <a:prstGeom prst="rect">
            <a:avLst/>
          </a:prstGeom>
          <a:solidFill>
            <a:schemeClr val="lt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1" u="none" strike="noStrike">
              <a:solidFill>
                <a:schemeClr val="dk2">
                  <a:lumMod val="90000"/>
                  <a:lumOff val="10000"/>
                </a:schemeClr>
              </a:solidFill>
              <a:effectLst/>
              <a:uFillTx/>
              <a:latin typeface="Aptos"/>
            </a:endParaRPr>
          </a:p>
        </p:txBody>
      </p:sp>
      <p:pic>
        <p:nvPicPr>
          <p:cNvPr id="5" name="Imagem 9" descr="Interface gráfica do usuário, Texto&#10;&#10;O conteúdo gerado por IA pode estar incorreto."/>
          <p:cNvPicPr/>
          <p:nvPr/>
        </p:nvPicPr>
        <p:blipFill>
          <a:blip r:embed="rId4"/>
          <a:srcRect l="0" t="16865" r="0" b="41997"/>
          <a:stretch/>
        </p:blipFill>
        <p:spPr>
          <a:xfrm>
            <a:off x="5840280" y="77400"/>
            <a:ext cx="510120" cy="2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Em Branco">
    <p:bg>
      <p:bgPr>
        <a:solidFill>
          <a:srgbClr val="E8E8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6"/>
          <p:cNvPicPr/>
          <p:nvPr/>
        </p:nvPicPr>
        <p:blipFill>
          <a:blip r:embed="rId2"/>
          <a:stretch/>
        </p:blipFill>
        <p:spPr>
          <a:xfrm>
            <a:off x="173880" y="106560"/>
            <a:ext cx="460440" cy="2343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9" name="Imagem 7" descr="Uma imagem contendo placar, desenho&#10;&#10;Descrição gerada automaticamente"/>
          <p:cNvPicPr/>
          <p:nvPr/>
        </p:nvPicPr>
        <p:blipFill>
          <a:blip r:embed="rId3"/>
          <a:srcRect l="7362" t="15322" r="9331" b="15322"/>
          <a:stretch/>
        </p:blipFill>
        <p:spPr>
          <a:xfrm>
            <a:off x="11676240" y="120960"/>
            <a:ext cx="340200" cy="217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" name="Retângulo 8"/>
          <p:cNvSpPr/>
          <p:nvPr/>
        </p:nvSpPr>
        <p:spPr>
          <a:xfrm>
            <a:off x="0" y="96840"/>
            <a:ext cx="12190680" cy="316800"/>
          </a:xfrm>
          <a:prstGeom prst="rect">
            <a:avLst/>
          </a:prstGeom>
          <a:solidFill>
            <a:schemeClr val="lt1">
              <a:lumMod val="65000"/>
              <a:alpha val="13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1" u="none" strike="noStrike">
              <a:solidFill>
                <a:schemeClr val="dk2">
                  <a:lumMod val="90000"/>
                  <a:lumOff val="10000"/>
                </a:schemeClr>
              </a:solidFill>
              <a:effectLst/>
              <a:uFillTx/>
              <a:latin typeface="Aptos"/>
            </a:endParaRPr>
          </a:p>
        </p:txBody>
      </p:sp>
      <p:pic>
        <p:nvPicPr>
          <p:cNvPr id="11" name="Imagem 9" descr="Interface gráfica do usuário, Texto&#10;&#10;O conteúdo gerado por IA pode estar incorreto."/>
          <p:cNvPicPr/>
          <p:nvPr/>
        </p:nvPicPr>
        <p:blipFill>
          <a:blip r:embed="rId4"/>
          <a:srcRect l="0" t="16865" r="0" b="41997"/>
          <a:stretch/>
        </p:blipFill>
        <p:spPr>
          <a:xfrm>
            <a:off x="5840280" y="77400"/>
            <a:ext cx="510120" cy="261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1360" cy="114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1360" cy="397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pt-BR" sz="2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pt-BR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pt-BR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pt-BR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2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aixaDeTexto 3"/>
          <p:cNvSpPr/>
          <p:nvPr/>
        </p:nvSpPr>
        <p:spPr>
          <a:xfrm>
            <a:off x="2793960" y="2455560"/>
            <a:ext cx="7029360" cy="63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Título: Simulação de incêndios em Netlogo 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CaixaDeTexto 5"/>
          <p:cNvSpPr/>
          <p:nvPr/>
        </p:nvSpPr>
        <p:spPr>
          <a:xfrm>
            <a:off x="2227320" y="1198080"/>
            <a:ext cx="77367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  <a:spcBef>
                <a:spcPts val="1650"/>
              </a:spcBef>
              <a:spcAft>
                <a:spcPts val="825"/>
              </a:spcAft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Calibri"/>
                <a:ea typeface="Calibri"/>
              </a:rPr>
              <a:t>MÓDULO V - SEMINÁRIO DE APRESENTAÇÃO DOS RESULTADOS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CaixaDeTexto 6"/>
          <p:cNvSpPr/>
          <p:nvPr/>
        </p:nvSpPr>
        <p:spPr>
          <a:xfrm>
            <a:off x="7630560" y="3993840"/>
            <a:ext cx="349092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Autores: Guilherme W. Back e Lucas Fritzke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CaixaDeTexto 7"/>
          <p:cNvSpPr/>
          <p:nvPr/>
        </p:nvSpPr>
        <p:spPr>
          <a:xfrm>
            <a:off x="4719240" y="5993640"/>
            <a:ext cx="260712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Junho de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CaixaDeTexto 1"/>
          <p:cNvSpPr/>
          <p:nvPr/>
        </p:nvSpPr>
        <p:spPr>
          <a:xfrm>
            <a:off x="2528640" y="905040"/>
            <a:ext cx="58953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Estrutura da Apresentação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5" name="Tabela 2"/>
          <p:cNvGraphicFramePr/>
          <p:nvPr/>
        </p:nvGraphicFramePr>
        <p:xfrm>
          <a:off x="1259640" y="1447920"/>
          <a:ext cx="9376200" cy="4353120"/>
        </p:xfrm>
        <a:graphic>
          <a:graphicData uri="http://schemas.openxmlformats.org/drawingml/2006/table">
            <a:tbl>
              <a:tblPr/>
              <a:tblGrid>
                <a:gridCol w="858240"/>
                <a:gridCol w="2211120"/>
                <a:gridCol w="6307200"/>
              </a:tblGrid>
              <a:tr h="29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Etapa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Nome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rgbClr val="FF0000"/>
                          </a:solidFill>
                          <a:effectLst/>
                          <a:uFillTx/>
                          <a:latin typeface="Aptos"/>
                        </a:rPr>
                        <a:t>Descrição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chemeClr val="lt1">
                        <a:lumMod val="75000"/>
                      </a:schemeClr>
                    </a:solidFill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1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Sistema de Referência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Define o problema real a ser estudado (ex: evacuação de um prédio).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2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Modelagem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Representação simplificada do sistema real (regras, agentes, ambiente).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Formalismo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Tradução do modelo para linguagem formal/matemática ou lógica.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49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4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Computador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Implementação do modelo em código (programação da simulação).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24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5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Execução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Rodar a simulação com diferentes parâmetros e cenários.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524880">
                <a:tc>
                  <a:txBody>
                    <a:bodyPr lIns="74880" tIns="37440" rIns="74880" bIns="3744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500" b="1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6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Observação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74880" tIns="37440" rIns="74880" bIns="3744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500" b="0" u="none" strike="noStrike">
                          <a:solidFill>
                            <a:schemeClr val="dk2">
                              <a:lumMod val="90000"/>
                              <a:lumOff val="10000"/>
                            </a:schemeClr>
                          </a:solidFill>
                          <a:effectLst/>
                          <a:uFillTx/>
                          <a:latin typeface="Aptos"/>
                        </a:rPr>
                        <a:t>Análise dos resultados obtidos (gráficos, métricas, conclusões).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4880" marR="74880" marT="37440" marB="37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aixaDeTexto 1"/>
          <p:cNvSpPr/>
          <p:nvPr/>
        </p:nvSpPr>
        <p:spPr>
          <a:xfrm>
            <a:off x="2480400" y="2957760"/>
            <a:ext cx="722988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 Sistema de Referência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CaixaDeTexto 1"/>
          <p:cNvSpPr/>
          <p:nvPr/>
        </p:nvSpPr>
        <p:spPr>
          <a:xfrm>
            <a:off x="457200" y="885960"/>
            <a:ext cx="1064628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1.1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Delimitação do Sistema de Referência (S)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CaixaDeTexto 3"/>
          <p:cNvSpPr/>
          <p:nvPr/>
        </p:nvSpPr>
        <p:spPr>
          <a:xfrm>
            <a:off x="496800" y="1762200"/>
            <a:ext cx="1056672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156082"/>
                </a:solidFill>
                <a:effectLst/>
                <a:uFillTx/>
                <a:latin typeface="Aptos"/>
                <a:ea typeface="Calibri"/>
              </a:rPr>
              <a:t>Fenômeno: Evacuação emergencial de edifício de 30 andares em situação de incêndio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" name="Tabela 4"/>
          <p:cNvGraphicFramePr/>
          <p:nvPr/>
        </p:nvGraphicFramePr>
        <p:xfrm>
          <a:off x="609480" y="2316600"/>
          <a:ext cx="11297160" cy="4286160"/>
        </p:xfrm>
        <a:graphic>
          <a:graphicData uri="http://schemas.openxmlformats.org/drawingml/2006/table">
            <a:tbl>
              <a:tblPr/>
              <a:tblGrid>
                <a:gridCol w="2824200"/>
                <a:gridCol w="8473320"/>
              </a:tblGrid>
              <a:tr h="37944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Critério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8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Definição</a:t>
                      </a:r>
                      <a:endParaRPr lang="en-US" sz="18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Tipo Ontológico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Físico — causalidade energética (propagação do fogo/fumaça) e mecânica (movimentação dos agentes)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59616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Espacial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Edifício de 30 andares (0 a 29); cada andar representado como grade 2D de 20×20 células com corredores, salas, escadas e saídas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Temporal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Início do incêndio até evacuação total ou término da simulação; granularidade discreta por tick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Fronteira Funcional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Propagação de fogo, dispersão de fumaça, movimentação de ocupantes e ação de brigadistas dentro do edifício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Escala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Espacial: meso (edifício, resolução por célula); Temporal: evento (minutos); Ontológica: elementar (agentes individuais)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59616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Entidades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Ocupantes (adultos vel. 1.0, idosos vel. 0.6, PcD vel. 0.4), brigadistas (vel. 1.5), fogo, fumaça, escadas (fluxo limitado), corredores, saídas de emergência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42880"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Regime de Observação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75960" tIns="50760" rIns="75960" bIns="5076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Instrumentado e automatizado: coleta de métricas a tick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75960" marR="75960" marT="50760" marB="5076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CaixaDeTexto 1"/>
          <p:cNvSpPr/>
          <p:nvPr/>
        </p:nvSpPr>
        <p:spPr>
          <a:xfrm>
            <a:off x="793080" y="1161720"/>
            <a:ext cx="10646280" cy="52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pt-BR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1.2 </a:t>
            </a:r>
            <a:r>
              <a:rPr lang="en-US" sz="2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Observáveis Prioritários e Exclusões Conscientes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"/>
          <p:cNvSpPr/>
          <p:nvPr/>
        </p:nvSpPr>
        <p:spPr>
          <a:xfrm>
            <a:off x="793080" y="2081880"/>
            <a:ext cx="4678920" cy="489960"/>
          </a:xfrm>
          <a:prstGeom prst="rect">
            <a:avLst/>
          </a:prstGeom>
          <a:solidFill>
            <a:srgbClr val="15608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2" name="Text 2"/>
          <p:cNvSpPr/>
          <p:nvPr/>
        </p:nvSpPr>
        <p:spPr>
          <a:xfrm>
            <a:off x="793080" y="2107440"/>
            <a:ext cx="46789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Observáveis Prioritários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3" name="Table 0"/>
          <p:cNvGraphicFramePr/>
          <p:nvPr/>
        </p:nvGraphicFramePr>
        <p:xfrm>
          <a:off x="793080" y="2624400"/>
          <a:ext cx="4680000" cy="3143160"/>
        </p:xfrm>
        <a:graphic>
          <a:graphicData uri="http://schemas.openxmlformats.org/drawingml/2006/table">
            <a:tbl>
              <a:tblPr/>
              <a:tblGrid>
                <a:gridCol w="1738440"/>
                <a:gridCol w="2941920"/>
              </a:tblGrid>
              <a:tr h="34380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Observável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Descrição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Taxa de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Evacuados / total ao término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Tempo médio de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Média e σ de steps por andar e total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Nº de vítimas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Mortos + feridos por rodada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Mapa de calor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Densidade acumulada por célula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Gargalos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Top-5 células com maior congestionamento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6656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Evolução temporal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Evacuados, mortos e área em chamas por step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34" name="Shape 3"/>
          <p:cNvSpPr/>
          <p:nvPr/>
        </p:nvSpPr>
        <p:spPr>
          <a:xfrm>
            <a:off x="6462360" y="2081880"/>
            <a:ext cx="4746960" cy="489960"/>
          </a:xfrm>
          <a:prstGeom prst="rect">
            <a:avLst/>
          </a:prstGeom>
          <a:solidFill>
            <a:srgbClr val="E9713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5" name="Text 4"/>
          <p:cNvSpPr/>
          <p:nvPr/>
        </p:nvSpPr>
        <p:spPr>
          <a:xfrm>
            <a:off x="6645600" y="2106000"/>
            <a:ext cx="4380840" cy="47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Aptos"/>
                <a:ea typeface="Calibri"/>
              </a:rPr>
              <a:t>Exclusões Conscientes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6" name="Table 1"/>
          <p:cNvGraphicFramePr/>
          <p:nvPr/>
        </p:nvGraphicFramePr>
        <p:xfrm>
          <a:off x="6462360" y="2624400"/>
          <a:ext cx="4747680" cy="3119040"/>
        </p:xfrm>
        <a:graphic>
          <a:graphicData uri="http://schemas.openxmlformats.org/drawingml/2006/table">
            <a:tbl>
              <a:tblPr/>
              <a:tblGrid>
                <a:gridCol w="1773360"/>
                <a:gridCol w="2974680"/>
              </a:tblGrid>
              <a:tr h="3319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Elemento Excluído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Justificativa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E2841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Estados psicológicos profundos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Inobserváveis; pânico é operacionalizado como variável [0,1]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Condições climáticas externas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Foco no interior do edifício; vento e chuva não modelados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5335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Políticas públicas / fiscalização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Regime causal institucional incompatível com ontologia física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Dimensões simbólicas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Percepção cultural de risco, crenças — não formalizáveis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Combate direto ao incêndio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Brigadistas orientam evacuação, não combatem o fogo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720"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Elevadores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lIns="50760" tIns="37800" rIns="50760" bIns="3780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100" b="0" u="none" strike="noStrike">
                          <a:solidFill>
                            <a:srgbClr val="4A5568"/>
                          </a:solidFill>
                          <a:effectLst/>
                          <a:uFillTx/>
                          <a:latin typeface="Aptos"/>
                          <a:ea typeface="Calibri"/>
                        </a:rPr>
                        <a:t>Bloqueados conforme ABNT NBR 9077 — não participam da evacuação</a:t>
                      </a:r>
                      <a:endParaRPr lang="en-US" sz="11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50760" marR="50760" marT="37800" marB="3780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CaixaDeTexto 1"/>
          <p:cNvSpPr/>
          <p:nvPr/>
        </p:nvSpPr>
        <p:spPr>
          <a:xfrm>
            <a:off x="2480400" y="2957760"/>
            <a:ext cx="722988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 Modelagem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CaixaDeTexto 3"/>
          <p:cNvSpPr/>
          <p:nvPr/>
        </p:nvSpPr>
        <p:spPr>
          <a:xfrm>
            <a:off x="599040" y="788400"/>
            <a:ext cx="37616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2.1. Bases de dados consultadas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9" name="Imagem 5"/>
          <p:cNvPicPr/>
          <p:nvPr/>
        </p:nvPicPr>
        <p:blipFill>
          <a:blip r:embed="rId1"/>
          <a:stretch/>
        </p:blipFill>
        <p:spPr>
          <a:xfrm>
            <a:off x="1357920" y="1811160"/>
            <a:ext cx="2244240" cy="1256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0" name="Imagem 7"/>
          <p:cNvPicPr/>
          <p:nvPr/>
        </p:nvPicPr>
        <p:blipFill>
          <a:blip r:embed="rId2"/>
          <a:stretch/>
        </p:blipFill>
        <p:spPr>
          <a:xfrm>
            <a:off x="5291640" y="1811160"/>
            <a:ext cx="2244240" cy="12564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1" name="Imagem 9"/>
          <p:cNvPicPr/>
          <p:nvPr/>
        </p:nvPicPr>
        <p:blipFill>
          <a:blip r:embed="rId3"/>
          <a:stretch/>
        </p:blipFill>
        <p:spPr>
          <a:xfrm>
            <a:off x="8887680" y="1811160"/>
            <a:ext cx="2244240" cy="125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Chave Esquerda 10"/>
          <p:cNvSpPr/>
          <p:nvPr/>
        </p:nvSpPr>
        <p:spPr>
          <a:xfrm>
            <a:off x="1837440" y="4176360"/>
            <a:ext cx="535320" cy="1379160"/>
          </a:xfrm>
          <a:prstGeom prst="leftBrace">
            <a:avLst>
              <a:gd name="adj1" fmla="val 8333"/>
              <a:gd name="adj2" fmla="val 50000"/>
            </a:avLst>
          </a:prstGeom>
          <a:noFill/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43" name="Chave Esquerda 12"/>
          <p:cNvSpPr/>
          <p:nvPr/>
        </p:nvSpPr>
        <p:spPr>
          <a:xfrm rot="16200000">
            <a:off x="5864400" y="-1664280"/>
            <a:ext cx="856080" cy="10325520"/>
          </a:xfrm>
          <a:prstGeom prst="leftBrace">
            <a:avLst>
              <a:gd name="adj1" fmla="val 0"/>
              <a:gd name="adj2" fmla="val 50000"/>
            </a:avLst>
          </a:prstGeom>
          <a:noFill/>
          <a:ln w="28575">
            <a:solidFill>
              <a:srgbClr val="084F6B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pic>
        <p:nvPicPr>
          <p:cNvPr id="44" name="Imagem 14"/>
          <p:cNvPicPr/>
          <p:nvPr/>
        </p:nvPicPr>
        <p:blipFill>
          <a:blip r:embed="rId4"/>
          <a:stretch/>
        </p:blipFill>
        <p:spPr>
          <a:xfrm>
            <a:off x="5197680" y="3936600"/>
            <a:ext cx="2189520" cy="20847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tângulo: Cantos Arredondados 1"/>
          <p:cNvSpPr/>
          <p:nvPr/>
        </p:nvSpPr>
        <p:spPr>
          <a:xfrm>
            <a:off x="889560" y="948240"/>
            <a:ext cx="1627920" cy="81432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1. Identificação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Retângulo: Cantos Arredondados 2"/>
          <p:cNvSpPr/>
          <p:nvPr/>
        </p:nvSpPr>
        <p:spPr>
          <a:xfrm>
            <a:off x="3528000" y="931680"/>
            <a:ext cx="4563360" cy="87948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Artigos identificados por meio de busca em banco de dados: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 Web of Science (n=150)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Scopus (n=2063)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IEEE(n=144)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Retângulo: Cantos Arredondados 3"/>
          <p:cNvSpPr/>
          <p:nvPr/>
        </p:nvSpPr>
        <p:spPr>
          <a:xfrm>
            <a:off x="9101880" y="931680"/>
            <a:ext cx="1627920" cy="87948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Termos de pesquisa aplicados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48" name="Conector de Seta Reta 5"/>
          <p:cNvCxnSpPr>
            <a:stCxn id="47" idx="1"/>
            <a:endCxn id="46" idx="3"/>
          </p:cNvCxnSpPr>
          <p:nvPr/>
        </p:nvCxnSpPr>
        <p:spPr>
          <a:xfrm flipH="1">
            <a:off x="8091360" y="1371600"/>
            <a:ext cx="1010880" cy="36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49" name="Retângulo: Cantos Arredondados 9"/>
          <p:cNvSpPr/>
          <p:nvPr/>
        </p:nvSpPr>
        <p:spPr>
          <a:xfrm>
            <a:off x="3528000" y="2096640"/>
            <a:ext cx="4563360" cy="87948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  Web of Science (n=150)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Scopus (n=2063)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  <a:ea typeface="Noto Sans CJK SC"/>
              </a:rPr>
              <a:t>IEEE(n=144)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Retângulo: Cantos Arredondados 10"/>
          <p:cNvSpPr/>
          <p:nvPr/>
        </p:nvSpPr>
        <p:spPr>
          <a:xfrm>
            <a:off x="9101880" y="2118240"/>
            <a:ext cx="1627920" cy="863280"/>
          </a:xfrm>
          <a:prstGeom prst="roundRect">
            <a:avLst>
              <a:gd name="adj" fmla="val 16667"/>
            </a:avLst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Termos de pesquisa aplicados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lt1"/>
                </a:solidFill>
                <a:effectLst/>
                <a:uFillTx/>
                <a:latin typeface="Aptos"/>
              </a:rPr>
              <a:t>(#1 &amp; 2)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51" name="Conector de Seta Reta 13"/>
          <p:cNvCxnSpPr>
            <a:stCxn id="50" idx="1"/>
            <a:endCxn id="49" idx="3"/>
          </p:cNvCxnSpPr>
          <p:nvPr/>
        </p:nvCxnSpPr>
        <p:spPr>
          <a:xfrm flipH="1" flipV="1">
            <a:off x="8091360" y="2536560"/>
            <a:ext cx="1010880" cy="1368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cxnSp>
        <p:nvCxnSpPr>
          <p:cNvPr id="52" name="Conector de Seta Reta 16"/>
          <p:cNvCxnSpPr>
            <a:stCxn id="46" idx="2"/>
            <a:endCxn id="49" idx="0"/>
          </p:cNvCxnSpPr>
          <p:nvPr/>
        </p:nvCxnSpPr>
        <p:spPr>
          <a:xfrm>
            <a:off x="5809680" y="1811160"/>
            <a:ext cx="360" cy="28584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53" name="Retângulo: Cantos Arredondados 19"/>
          <p:cNvSpPr/>
          <p:nvPr/>
        </p:nvSpPr>
        <p:spPr>
          <a:xfrm>
            <a:off x="889560" y="3277800"/>
            <a:ext cx="1627920" cy="87948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 Triagem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Retângulo: Cantos Arredondados 20"/>
          <p:cNvSpPr/>
          <p:nvPr/>
        </p:nvSpPr>
        <p:spPr>
          <a:xfrm>
            <a:off x="3528000" y="3261240"/>
            <a:ext cx="4563360" cy="87948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selecionados para triagem de resumos (n=1909)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Retângulo: Cantos Arredondados 21"/>
          <p:cNvSpPr/>
          <p:nvPr/>
        </p:nvSpPr>
        <p:spPr>
          <a:xfrm>
            <a:off x="9181080" y="3261240"/>
            <a:ext cx="1627920" cy="879480"/>
          </a:xfrm>
          <a:prstGeom prst="roundRect">
            <a:avLst>
              <a:gd name="adj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Duplicados removidos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56" name="Conector de Seta Reta 22"/>
          <p:cNvCxnSpPr>
            <a:stCxn id="55" idx="1"/>
          </p:cNvCxnSpPr>
          <p:nvPr/>
        </p:nvCxnSpPr>
        <p:spPr>
          <a:xfrm flipH="1">
            <a:off x="8251200" y="3701160"/>
            <a:ext cx="930240" cy="324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57" name="Retângulo: Cantos Arredondados 23"/>
          <p:cNvSpPr/>
          <p:nvPr/>
        </p:nvSpPr>
        <p:spPr>
          <a:xfrm>
            <a:off x="889560" y="4442400"/>
            <a:ext cx="1627920" cy="87948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 Eligibilidade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Retângulo: Cantos Arredondados 25"/>
          <p:cNvSpPr/>
          <p:nvPr/>
        </p:nvSpPr>
        <p:spPr>
          <a:xfrm>
            <a:off x="3528000" y="4442400"/>
            <a:ext cx="4563360" cy="87948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de texto completo avaliados para elegibilidade (n=15)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Retângulo: Cantos Arredondados 26"/>
          <p:cNvSpPr/>
          <p:nvPr/>
        </p:nvSpPr>
        <p:spPr>
          <a:xfrm>
            <a:off x="9181080" y="4317120"/>
            <a:ext cx="1798560" cy="1130400"/>
          </a:xfrm>
          <a:prstGeom prst="roundRect">
            <a:avLst>
              <a:gd name="adj" fmla="val 16667"/>
            </a:avLst>
          </a:prstGeom>
          <a:solidFill>
            <a:schemeClr val="tx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Artigos excluídos: Aqueles focados em IOT ou em Temas com outro foco principal.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60" name="Conector de Seta Reta 27"/>
          <p:cNvCxnSpPr>
            <a:stCxn id="49" idx="2"/>
            <a:endCxn id="54" idx="0"/>
          </p:cNvCxnSpPr>
          <p:nvPr/>
        </p:nvCxnSpPr>
        <p:spPr>
          <a:xfrm>
            <a:off x="5809680" y="2976120"/>
            <a:ext cx="360" cy="28548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cxnSp>
        <p:nvCxnSpPr>
          <p:cNvPr id="61" name="Conector de Seta Reta 30"/>
          <p:cNvCxnSpPr>
            <a:stCxn id="54" idx="2"/>
            <a:endCxn id="58" idx="0"/>
          </p:cNvCxnSpPr>
          <p:nvPr/>
        </p:nvCxnSpPr>
        <p:spPr>
          <a:xfrm>
            <a:off x="5809680" y="4140720"/>
            <a:ext cx="360" cy="30204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cxnSp>
        <p:nvCxnSpPr>
          <p:cNvPr id="62" name="Conector de Seta Reta 34"/>
          <p:cNvCxnSpPr>
            <a:stCxn id="59" idx="1"/>
            <a:endCxn id="58" idx="3"/>
          </p:cNvCxnSpPr>
          <p:nvPr/>
        </p:nvCxnSpPr>
        <p:spPr>
          <a:xfrm flipH="1">
            <a:off x="8091360" y="4882320"/>
            <a:ext cx="1090080" cy="360"/>
          </a:xfrm>
          <a:prstGeom prst="straightConnector1">
            <a:avLst/>
          </a:prstGeom>
          <a:ln w="0">
            <a:solidFill>
              <a:srgbClr val="163E64"/>
            </a:solidFill>
            <a:tailEnd len="med" type="arrow" w="med"/>
          </a:ln>
        </p:spPr>
      </p:cxnSp>
      <p:sp>
        <p:nvSpPr>
          <p:cNvPr id="63" name="Retângulo: Cantos Arredondados 37"/>
          <p:cNvSpPr/>
          <p:nvPr/>
        </p:nvSpPr>
        <p:spPr>
          <a:xfrm>
            <a:off x="889560" y="5623560"/>
            <a:ext cx="1627920" cy="87948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4. Incluídos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Retângulo: Cantos Arredondados 38"/>
          <p:cNvSpPr/>
          <p:nvPr/>
        </p:nvSpPr>
        <p:spPr>
          <a:xfrm>
            <a:off x="3528000" y="5623560"/>
            <a:ext cx="4563360" cy="879480"/>
          </a:xfrm>
          <a:prstGeom prst="roundRect">
            <a:avLst>
              <a:gd name="adj" fmla="val 16667"/>
            </a:avLst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pt-BR" sz="12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Estudos elegíveis incluídos na revisão final (n=8)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CaixaDeTexto 2"/>
          <p:cNvSpPr/>
          <p:nvPr/>
        </p:nvSpPr>
        <p:spPr>
          <a:xfrm>
            <a:off x="369360" y="562320"/>
            <a:ext cx="51159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2.2. Mecanismos de inclusão e exclusão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tângulo 1"/>
          <p:cNvSpPr/>
          <p:nvPr/>
        </p:nvSpPr>
        <p:spPr>
          <a:xfrm>
            <a:off x="801720" y="1452960"/>
            <a:ext cx="11129760" cy="4735800"/>
          </a:xfrm>
          <a:prstGeom prst="rect">
            <a:avLst/>
          </a:prstGeom>
          <a:noFill/>
          <a:ln w="28575">
            <a:solidFill>
              <a:srgbClr val="10486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67" name="Conector reto 3"/>
          <p:cNvCxnSpPr/>
          <p:nvPr/>
        </p:nvCxnSpPr>
        <p:spPr>
          <a:xfrm>
            <a:off x="801720" y="1997280"/>
            <a:ext cx="11132280" cy="144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68" name="Conector reto 5"/>
          <p:cNvCxnSpPr/>
          <p:nvPr/>
        </p:nvCxnSpPr>
        <p:spPr>
          <a:xfrm>
            <a:off x="3155760" y="1452600"/>
            <a:ext cx="1440" cy="47386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69" name="Conector reto 10"/>
          <p:cNvCxnSpPr/>
          <p:nvPr/>
        </p:nvCxnSpPr>
        <p:spPr>
          <a:xfrm>
            <a:off x="5334480" y="1474920"/>
            <a:ext cx="1440" cy="47386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70" name="Conector reto 14"/>
          <p:cNvCxnSpPr/>
          <p:nvPr/>
        </p:nvCxnSpPr>
        <p:spPr>
          <a:xfrm>
            <a:off x="782280" y="1452600"/>
            <a:ext cx="2384640" cy="54612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71" name="Conector reto 20"/>
          <p:cNvCxnSpPr/>
          <p:nvPr/>
        </p:nvCxnSpPr>
        <p:spPr>
          <a:xfrm>
            <a:off x="801720" y="2499840"/>
            <a:ext cx="11132280" cy="144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2" name="Conector reto 21"/>
          <p:cNvCxnSpPr/>
          <p:nvPr/>
        </p:nvCxnSpPr>
        <p:spPr>
          <a:xfrm>
            <a:off x="801720" y="3059280"/>
            <a:ext cx="11132280" cy="144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3" name="Conector reto 22"/>
          <p:cNvCxnSpPr/>
          <p:nvPr/>
        </p:nvCxnSpPr>
        <p:spPr>
          <a:xfrm>
            <a:off x="821160" y="3651120"/>
            <a:ext cx="11112840" cy="144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4" name="Conector reto 23"/>
          <p:cNvCxnSpPr/>
          <p:nvPr/>
        </p:nvCxnSpPr>
        <p:spPr>
          <a:xfrm>
            <a:off x="811440" y="4289760"/>
            <a:ext cx="11122560" cy="144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75" name="Conector reto 24"/>
          <p:cNvCxnSpPr/>
          <p:nvPr/>
        </p:nvCxnSpPr>
        <p:spPr>
          <a:xfrm>
            <a:off x="811440" y="4909320"/>
            <a:ext cx="11122560" cy="144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76" name="CaixaDeTexto 25"/>
          <p:cNvSpPr/>
          <p:nvPr/>
        </p:nvSpPr>
        <p:spPr>
          <a:xfrm>
            <a:off x="3488760" y="1623240"/>
            <a:ext cx="15451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1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CaixaDeTexto 26"/>
          <p:cNvSpPr/>
          <p:nvPr/>
        </p:nvSpPr>
        <p:spPr>
          <a:xfrm>
            <a:off x="5664240" y="1621800"/>
            <a:ext cx="15451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2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CaixaDeTexto 27"/>
          <p:cNvSpPr/>
          <p:nvPr/>
        </p:nvSpPr>
        <p:spPr>
          <a:xfrm>
            <a:off x="7916040" y="1633680"/>
            <a:ext cx="15451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3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CaixaDeTexto 28"/>
          <p:cNvSpPr/>
          <p:nvPr/>
        </p:nvSpPr>
        <p:spPr>
          <a:xfrm>
            <a:off x="10088640" y="1621800"/>
            <a:ext cx="15451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4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80" name="Conector reto 48"/>
          <p:cNvCxnSpPr/>
          <p:nvPr/>
        </p:nvCxnSpPr>
        <p:spPr>
          <a:xfrm flipV="1">
            <a:off x="833760" y="5480640"/>
            <a:ext cx="11100240" cy="3960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81" name="CaixaDeTexto 51"/>
          <p:cNvSpPr/>
          <p:nvPr/>
        </p:nvSpPr>
        <p:spPr>
          <a:xfrm>
            <a:off x="1729800" y="1495440"/>
            <a:ext cx="154512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ARTIGOS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CaixaDeTexto 52"/>
          <p:cNvSpPr/>
          <p:nvPr/>
        </p:nvSpPr>
        <p:spPr>
          <a:xfrm>
            <a:off x="671400" y="1671840"/>
            <a:ext cx="154512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PARÂMETROS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CaixaDeTexto 53"/>
          <p:cNvSpPr/>
          <p:nvPr/>
        </p:nvSpPr>
        <p:spPr>
          <a:xfrm>
            <a:off x="811080" y="2144880"/>
            <a:ext cx="190188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Identificação do artigo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CaixaDeTexto 54"/>
          <p:cNvSpPr/>
          <p:nvPr/>
        </p:nvSpPr>
        <p:spPr>
          <a:xfrm>
            <a:off x="802080" y="2635200"/>
            <a:ext cx="18680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Problema de pesquisa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CaixaDeTexto 55"/>
          <p:cNvSpPr/>
          <p:nvPr/>
        </p:nvSpPr>
        <p:spPr>
          <a:xfrm>
            <a:off x="839880" y="3258360"/>
            <a:ext cx="2385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Objeto empírico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CaixaDeTexto 56"/>
          <p:cNvSpPr/>
          <p:nvPr/>
        </p:nvSpPr>
        <p:spPr>
          <a:xfrm>
            <a:off x="839880" y="3823920"/>
            <a:ext cx="2385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Método/Ferramenta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CaixaDeTexto 57"/>
          <p:cNvSpPr/>
          <p:nvPr/>
        </p:nvSpPr>
        <p:spPr>
          <a:xfrm>
            <a:off x="909720" y="4479120"/>
            <a:ext cx="15498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Variáveis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CaixaDeTexto 58"/>
          <p:cNvSpPr/>
          <p:nvPr/>
        </p:nvSpPr>
        <p:spPr>
          <a:xfrm>
            <a:off x="904680" y="5073840"/>
            <a:ext cx="21272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Resultados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CaixaDeTexto 59"/>
          <p:cNvSpPr/>
          <p:nvPr/>
        </p:nvSpPr>
        <p:spPr>
          <a:xfrm>
            <a:off x="868680" y="5729040"/>
            <a:ext cx="18896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Contribuição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Chave Esquerda 60"/>
          <p:cNvSpPr/>
          <p:nvPr/>
        </p:nvSpPr>
        <p:spPr>
          <a:xfrm rot="5400000">
            <a:off x="6804360" y="-2572560"/>
            <a:ext cx="398880" cy="769320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1" name="CaixaDeTexto 61"/>
          <p:cNvSpPr/>
          <p:nvPr/>
        </p:nvSpPr>
        <p:spPr>
          <a:xfrm>
            <a:off x="5084640" y="676440"/>
            <a:ext cx="373500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Referências Bibliográficas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Chave Esquerda 62"/>
          <p:cNvSpPr/>
          <p:nvPr/>
        </p:nvSpPr>
        <p:spPr>
          <a:xfrm>
            <a:off x="398520" y="1997640"/>
            <a:ext cx="398880" cy="419112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93" name="CaixaDeTexto 63"/>
          <p:cNvSpPr/>
          <p:nvPr/>
        </p:nvSpPr>
        <p:spPr>
          <a:xfrm rot="16200000">
            <a:off x="-1161360" y="3949920"/>
            <a:ext cx="26931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Critérios de análise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CaixaDeTexto 65"/>
          <p:cNvSpPr/>
          <p:nvPr/>
        </p:nvSpPr>
        <p:spPr>
          <a:xfrm>
            <a:off x="423000" y="502920"/>
            <a:ext cx="44150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2.2.1. Matriz de Extração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CaixaDeTexto 42"/>
          <p:cNvSpPr/>
          <p:nvPr/>
        </p:nvSpPr>
        <p:spPr>
          <a:xfrm>
            <a:off x="3192840" y="196344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Ding et al. (2024). Reliability Engineering and System Safety, v.244.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6" name="Conector reto 44"/>
          <p:cNvCxnSpPr/>
          <p:nvPr/>
        </p:nvCxnSpPr>
        <p:spPr>
          <a:xfrm>
            <a:off x="7544160" y="1495080"/>
            <a:ext cx="18360" cy="469620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97" name="Conector reto 46"/>
          <p:cNvCxnSpPr/>
          <p:nvPr/>
        </p:nvCxnSpPr>
        <p:spPr>
          <a:xfrm>
            <a:off x="9790560" y="1558080"/>
            <a:ext cx="1440" cy="463320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sp>
        <p:nvSpPr>
          <p:cNvPr id="98" name="CaixaDeTexto 77"/>
          <p:cNvSpPr/>
          <p:nvPr/>
        </p:nvSpPr>
        <p:spPr>
          <a:xfrm>
            <a:off x="3167640" y="251748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Sistema BIM em tempo real para otimizar rotas de evacuação em grandes infraestruturas.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CaixaDeTexto 78"/>
          <p:cNvSpPr/>
          <p:nvPr/>
        </p:nvSpPr>
        <p:spPr>
          <a:xfrm>
            <a:off x="3146400" y="308088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Estação de metrô Chegongmiao (Shenzhen, China). 1.200 ocupantes, 4 saídas, 2 pavimentos.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CaixaDeTexto 79"/>
          <p:cNvSpPr/>
          <p:nvPr/>
        </p:nvSpPr>
        <p:spPr>
          <a:xfrm>
            <a:off x="3158640" y="367452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Revit (BIM) + PyroSim (FDS) + AnyLogic (ABM + força social) + algoritmo de otimização.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CaixaDeTexto 80"/>
          <p:cNvSpPr/>
          <p:nvPr/>
        </p:nvSpPr>
        <p:spPr>
          <a:xfrm>
            <a:off x="3146400" y="433800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Temperatura, altura/densidade de fumaça, gênero, idade, velocidade por local (escada/aisle/solo).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CaixaDeTexto 81"/>
          <p:cNvSpPr/>
          <p:nvPr/>
        </p:nvSpPr>
        <p:spPr>
          <a:xfrm>
            <a:off x="3097440" y="492660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Otimização equilibrou uso das 4 saídas e reduziu tempo total em 12,87% (443s→386s).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CaixaDeTexto 82"/>
          <p:cNvSpPr/>
          <p:nvPr/>
        </p:nvSpPr>
        <p:spPr>
          <a:xfrm>
            <a:off x="3179520" y="555624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Velocidades diferenciadas por idade/gênero e por tipo de via; lógica de saturação de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CaixaDeTexto 83"/>
          <p:cNvSpPr/>
          <p:nvPr/>
        </p:nvSpPr>
        <p:spPr>
          <a:xfrm>
            <a:off x="5410800" y="2064240"/>
            <a:ext cx="21286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a-DK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Sun &amp; Turkan (2020). Adv. Eng. Informatics, v.44.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CaixaDeTexto 84"/>
          <p:cNvSpPr/>
          <p:nvPr/>
        </p:nvSpPr>
        <p:spPr>
          <a:xfrm>
            <a:off x="5297040" y="253080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Integrar BIM + FDS + ABM para prever evacuação e otimizar projeto.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CaixaDeTexto 85"/>
          <p:cNvSpPr/>
          <p:nvPr/>
        </p:nvSpPr>
        <p:spPr>
          <a:xfrm>
            <a:off x="5328720" y="309708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Incêndio da boate Station (EUA, 2003). 462 ocupantes, 1 pavimento.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CaixaDeTexto 86"/>
          <p:cNvSpPr/>
          <p:nvPr/>
        </p:nvSpPr>
        <p:spPr>
          <a:xfrm>
            <a:off x="5373720" y="3759840"/>
            <a:ext cx="21286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Revit + PyroSim (FDS) + AnyLogic (ABM).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CaixaDeTexto 87"/>
          <p:cNvSpPr/>
          <p:nvPr/>
        </p:nvSpPr>
        <p:spPr>
          <a:xfrm>
            <a:off x="5331600" y="433296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ASET/RSET, nº saídas, largura, ocupação, fumaça, temperatura, velocidade.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CaixaDeTexto 89"/>
          <p:cNvSpPr/>
          <p:nvPr/>
        </p:nvSpPr>
        <p:spPr>
          <a:xfrm>
            <a:off x="5271840" y="489816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RSET = f(saídas, largura, ocupação). Reduzir ocupação de 462→323 otimiza evacuação.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CaixaDeTexto 90"/>
          <p:cNvSpPr/>
          <p:nvPr/>
        </p:nvSpPr>
        <p:spPr>
          <a:xfrm>
            <a:off x="5354280" y="555372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Fatores críticos (humano/edifício/fogo) e ciclo de 4 fases (pré-alarme→evacuação).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CaixaDeTexto 91"/>
          <p:cNvSpPr/>
          <p:nvPr/>
        </p:nvSpPr>
        <p:spPr>
          <a:xfrm>
            <a:off x="7611480" y="2030040"/>
            <a:ext cx="21286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Lu &amp; Li (2025). Reliab. Eng. Syst. Safety, v.260.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CaixaDeTexto 92"/>
          <p:cNvSpPr/>
          <p:nvPr/>
        </p:nvSpPr>
        <p:spPr>
          <a:xfrm>
            <a:off x="7563960" y="253080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Acoplar FDS + ABM com aprendizagem social para otimizar evacuação.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CaixaDeTexto 93"/>
          <p:cNvSpPr/>
          <p:nvPr/>
        </p:nvSpPr>
        <p:spPr>
          <a:xfrm>
            <a:off x="7600320" y="305712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Incêndio da boate Ala (Taiwan, 2011). ~200 ocupantes, 2 pavimentos.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CaixaDeTexto 94"/>
          <p:cNvSpPr/>
          <p:nvPr/>
        </p:nvSpPr>
        <p:spPr>
          <a:xfrm>
            <a:off x="7620480" y="3795480"/>
            <a:ext cx="21286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PyroSim (FDS) + NetLogo (ABM) + Random Forest + PSO-GA.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CaixaDeTexto 95"/>
          <p:cNvSpPr/>
          <p:nvPr/>
        </p:nvSpPr>
        <p:spPr>
          <a:xfrm>
            <a:off x="7624080" y="433008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Tempo, mortos, feridos, pisoteamento, saúde, CO, temperatura, k_p, k_t.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CaixaDeTexto 96"/>
          <p:cNvSpPr/>
          <p:nvPr/>
        </p:nvSpPr>
        <p:spPr>
          <a:xfrm>
            <a:off x="7600320" y="490284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Validação &gt;98%. Saída 2º andar aberta: −22,47% tempo. Plano ótimo: −6,77% pisoteamento.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CaixaDeTexto 97"/>
          <p:cNvSpPr/>
          <p:nvPr/>
        </p:nvSpPr>
        <p:spPr>
          <a:xfrm>
            <a:off x="7561080" y="558684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Grid 0,4m, vizinhança de Moore, Dijkstra, coeficientes calibrados, evacuação faseada.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CaixaDeTexto 98"/>
          <p:cNvSpPr/>
          <p:nvPr/>
        </p:nvSpPr>
        <p:spPr>
          <a:xfrm>
            <a:off x="9837360" y="2048040"/>
            <a:ext cx="21286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Tan, Hu &amp; Lin (2015). Information Sciences, v.295.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CaixaDeTexto 99"/>
          <p:cNvSpPr/>
          <p:nvPr/>
        </p:nvSpPr>
        <p:spPr>
          <a:xfrm>
            <a:off x="9713520" y="2472480"/>
            <a:ext cx="225252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Combinar comportamento humano com mudança previsível de acessibilidade por dispositivos de segurança contra incêndio.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CaixaDeTexto 100"/>
          <p:cNvSpPr/>
          <p:nvPr/>
        </p:nvSpPr>
        <p:spPr>
          <a:xfrm>
            <a:off x="9783720" y="310896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2º andar de prédio universitário (CUHK, Hong Kong). 680 ocupantes, 8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CaixaDeTexto 101"/>
          <p:cNvSpPr/>
          <p:nvPr/>
        </p:nvSpPr>
        <p:spPr>
          <a:xfrm>
            <a:off x="9730440" y="3727440"/>
            <a:ext cx="21286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ArcGIS + Agent Analyst (ABM) + ontologia semântica BIM + grid.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CaixaDeTexto 102"/>
          <p:cNvSpPr/>
          <p:nvPr/>
        </p:nvSpPr>
        <p:spPr>
          <a:xfrm>
            <a:off x="9773640" y="4275720"/>
            <a:ext cx="2128680" cy="644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Conhecimento espacial/do evento, visibilidade, distância, repulsão, congestionamento, estresse, estado do dispositivo.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CaixaDeTexto 103"/>
          <p:cNvSpPr/>
          <p:nvPr/>
        </p:nvSpPr>
        <p:spPr>
          <a:xfrm>
            <a:off x="9760320" y="4889160"/>
            <a:ext cx="215064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Falta de conhecimento prévio aumenta tempo; mudança espacial pode equilibrar uso das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CaixaDeTexto 104"/>
          <p:cNvSpPr/>
          <p:nvPr/>
        </p:nvSpPr>
        <p:spPr>
          <a:xfrm>
            <a:off x="9763200" y="558900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Grid 40×40cm, sensor visual ray tracing (170°/10m), 5 tipos de agentes por conhecimento.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Retângulo 1"/>
          <p:cNvSpPr/>
          <p:nvPr/>
        </p:nvSpPr>
        <p:spPr>
          <a:xfrm>
            <a:off x="801720" y="1452960"/>
            <a:ext cx="11129760" cy="4735800"/>
          </a:xfrm>
          <a:prstGeom prst="rect">
            <a:avLst/>
          </a:prstGeom>
          <a:noFill/>
          <a:ln w="28575">
            <a:solidFill>
              <a:srgbClr val="10486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lt1"/>
              </a:solidFill>
              <a:effectLst/>
              <a:uFillTx/>
              <a:latin typeface="Aptos"/>
            </a:endParaRPr>
          </a:p>
        </p:txBody>
      </p:sp>
      <p:cxnSp>
        <p:nvCxnSpPr>
          <p:cNvPr id="126" name="Conector reto 3"/>
          <p:cNvCxnSpPr/>
          <p:nvPr/>
        </p:nvCxnSpPr>
        <p:spPr>
          <a:xfrm>
            <a:off x="801720" y="1997280"/>
            <a:ext cx="11132280" cy="144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27" name="Conector reto 5"/>
          <p:cNvCxnSpPr/>
          <p:nvPr/>
        </p:nvCxnSpPr>
        <p:spPr>
          <a:xfrm>
            <a:off x="3155760" y="1452600"/>
            <a:ext cx="1440" cy="47386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28" name="Conector reto 10"/>
          <p:cNvCxnSpPr/>
          <p:nvPr/>
        </p:nvCxnSpPr>
        <p:spPr>
          <a:xfrm>
            <a:off x="5334480" y="1474920"/>
            <a:ext cx="1440" cy="473868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29" name="Conector reto 14"/>
          <p:cNvCxnSpPr/>
          <p:nvPr/>
        </p:nvCxnSpPr>
        <p:spPr>
          <a:xfrm>
            <a:off x="782280" y="1452600"/>
            <a:ext cx="2384640" cy="54612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30" name="Conector reto 20"/>
          <p:cNvCxnSpPr/>
          <p:nvPr/>
        </p:nvCxnSpPr>
        <p:spPr>
          <a:xfrm>
            <a:off x="801720" y="2499840"/>
            <a:ext cx="11132280" cy="144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1" name="Conector reto 21"/>
          <p:cNvCxnSpPr/>
          <p:nvPr/>
        </p:nvCxnSpPr>
        <p:spPr>
          <a:xfrm>
            <a:off x="801720" y="3059280"/>
            <a:ext cx="11132280" cy="144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2" name="Conector reto 22"/>
          <p:cNvCxnSpPr/>
          <p:nvPr/>
        </p:nvCxnSpPr>
        <p:spPr>
          <a:xfrm>
            <a:off x="821160" y="3651120"/>
            <a:ext cx="11112840" cy="144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3" name="Conector reto 23"/>
          <p:cNvCxnSpPr/>
          <p:nvPr/>
        </p:nvCxnSpPr>
        <p:spPr>
          <a:xfrm>
            <a:off x="811440" y="4289760"/>
            <a:ext cx="11122560" cy="144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cxnSp>
        <p:nvCxnSpPr>
          <p:cNvPr id="134" name="Conector reto 24"/>
          <p:cNvCxnSpPr/>
          <p:nvPr/>
        </p:nvCxnSpPr>
        <p:spPr>
          <a:xfrm>
            <a:off x="811440" y="4909320"/>
            <a:ext cx="11122560" cy="144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135" name="CaixaDeTexto 25"/>
          <p:cNvSpPr/>
          <p:nvPr/>
        </p:nvSpPr>
        <p:spPr>
          <a:xfrm>
            <a:off x="3488760" y="1623240"/>
            <a:ext cx="15451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5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CaixaDeTexto 26"/>
          <p:cNvSpPr/>
          <p:nvPr/>
        </p:nvSpPr>
        <p:spPr>
          <a:xfrm>
            <a:off x="5664240" y="1621800"/>
            <a:ext cx="15451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CaixaDeTexto 27"/>
          <p:cNvSpPr/>
          <p:nvPr/>
        </p:nvSpPr>
        <p:spPr>
          <a:xfrm>
            <a:off x="7916040" y="1633680"/>
            <a:ext cx="15451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7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CaixaDeTexto 28"/>
          <p:cNvSpPr/>
          <p:nvPr/>
        </p:nvSpPr>
        <p:spPr>
          <a:xfrm>
            <a:off x="10088640" y="1621800"/>
            <a:ext cx="1545120" cy="24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Trabalho Correlato 8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9" name="Conector reto 48"/>
          <p:cNvCxnSpPr/>
          <p:nvPr/>
        </p:nvCxnSpPr>
        <p:spPr>
          <a:xfrm flipV="1">
            <a:off x="833760" y="5480640"/>
            <a:ext cx="11100240" cy="39600"/>
          </a:xfrm>
          <a:prstGeom prst="straightConnector1">
            <a:avLst/>
          </a:prstGeom>
          <a:ln w="19050">
            <a:solidFill>
              <a:srgbClr val="104862"/>
            </a:solidFill>
            <a:round/>
          </a:ln>
        </p:spPr>
      </p:cxnSp>
      <p:sp>
        <p:nvSpPr>
          <p:cNvPr id="140" name="CaixaDeTexto 51"/>
          <p:cNvSpPr/>
          <p:nvPr/>
        </p:nvSpPr>
        <p:spPr>
          <a:xfrm>
            <a:off x="1729800" y="1495440"/>
            <a:ext cx="154512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ARTIGOS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CaixaDeTexto 52"/>
          <p:cNvSpPr/>
          <p:nvPr/>
        </p:nvSpPr>
        <p:spPr>
          <a:xfrm>
            <a:off x="671400" y="1671840"/>
            <a:ext cx="154512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PARÂMETROS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CaixaDeTexto 53"/>
          <p:cNvSpPr/>
          <p:nvPr/>
        </p:nvSpPr>
        <p:spPr>
          <a:xfrm>
            <a:off x="811080" y="2144880"/>
            <a:ext cx="190188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Identificação do artigo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CaixaDeTexto 54"/>
          <p:cNvSpPr/>
          <p:nvPr/>
        </p:nvSpPr>
        <p:spPr>
          <a:xfrm>
            <a:off x="802080" y="2635200"/>
            <a:ext cx="18680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Problema de pesquisa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CaixaDeTexto 55"/>
          <p:cNvSpPr/>
          <p:nvPr/>
        </p:nvSpPr>
        <p:spPr>
          <a:xfrm>
            <a:off x="839880" y="3258360"/>
            <a:ext cx="2385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Objeto empírico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CaixaDeTexto 56"/>
          <p:cNvSpPr/>
          <p:nvPr/>
        </p:nvSpPr>
        <p:spPr>
          <a:xfrm>
            <a:off x="839880" y="3823920"/>
            <a:ext cx="23850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Método/Ferramenta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CaixaDeTexto 57"/>
          <p:cNvSpPr/>
          <p:nvPr/>
        </p:nvSpPr>
        <p:spPr>
          <a:xfrm>
            <a:off x="909720" y="4479120"/>
            <a:ext cx="154980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Variáveis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CaixaDeTexto 58"/>
          <p:cNvSpPr/>
          <p:nvPr/>
        </p:nvSpPr>
        <p:spPr>
          <a:xfrm>
            <a:off x="904680" y="5073840"/>
            <a:ext cx="21272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Resultados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CaixaDeTexto 59"/>
          <p:cNvSpPr/>
          <p:nvPr/>
        </p:nvSpPr>
        <p:spPr>
          <a:xfrm>
            <a:off x="868680" y="5729040"/>
            <a:ext cx="1889640" cy="27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2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Contribuição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Chave Esquerda 60"/>
          <p:cNvSpPr/>
          <p:nvPr/>
        </p:nvSpPr>
        <p:spPr>
          <a:xfrm rot="5400000">
            <a:off x="6804360" y="-2572560"/>
            <a:ext cx="398880" cy="769320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0" name="CaixaDeTexto 61"/>
          <p:cNvSpPr/>
          <p:nvPr/>
        </p:nvSpPr>
        <p:spPr>
          <a:xfrm>
            <a:off x="5084640" y="676440"/>
            <a:ext cx="373500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Referências Bibliográficas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Chave Esquerda 62"/>
          <p:cNvSpPr/>
          <p:nvPr/>
        </p:nvSpPr>
        <p:spPr>
          <a:xfrm>
            <a:off x="398520" y="1997640"/>
            <a:ext cx="398880" cy="4191120"/>
          </a:xfrm>
          <a:prstGeom prst="leftBrace">
            <a:avLst>
              <a:gd name="adj1" fmla="val 29797"/>
              <a:gd name="adj2" fmla="val 50000"/>
            </a:avLst>
          </a:prstGeom>
          <a:noFill/>
          <a:ln w="28575">
            <a:solidFill>
              <a:srgbClr val="1048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pt-BR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152" name="CaixaDeTexto 63"/>
          <p:cNvSpPr/>
          <p:nvPr/>
        </p:nvSpPr>
        <p:spPr>
          <a:xfrm rot="16200000">
            <a:off x="-1161360" y="3949920"/>
            <a:ext cx="269316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Critérios de análise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CaixaDeTexto 65"/>
          <p:cNvSpPr/>
          <p:nvPr/>
        </p:nvSpPr>
        <p:spPr>
          <a:xfrm>
            <a:off x="423000" y="502920"/>
            <a:ext cx="4415040" cy="36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11.2.2.2. Matriz de Extração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CaixaDeTexto 42"/>
          <p:cNvSpPr/>
          <p:nvPr/>
        </p:nvSpPr>
        <p:spPr>
          <a:xfrm>
            <a:off x="3190680" y="2008800"/>
            <a:ext cx="21286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Pelechano &amp; Malkawi (2008). Automation in Construction, v.17.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55" name="Conector reto 44"/>
          <p:cNvCxnSpPr/>
          <p:nvPr/>
        </p:nvCxnSpPr>
        <p:spPr>
          <a:xfrm>
            <a:off x="7544160" y="1495080"/>
            <a:ext cx="18360" cy="469620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cxnSp>
        <p:nvCxnSpPr>
          <p:cNvPr id="156" name="Conector reto 46"/>
          <p:cNvCxnSpPr/>
          <p:nvPr/>
        </p:nvCxnSpPr>
        <p:spPr>
          <a:xfrm>
            <a:off x="9790560" y="1558080"/>
            <a:ext cx="1440" cy="4633200"/>
          </a:xfrm>
          <a:prstGeom prst="straightConnector1">
            <a:avLst/>
          </a:prstGeom>
          <a:ln w="19050">
            <a:solidFill>
              <a:srgbClr val="156082"/>
            </a:solidFill>
            <a:round/>
          </a:ln>
        </p:spPr>
      </p:cxnSp>
      <p:sp>
        <p:nvSpPr>
          <p:cNvPr id="157" name="CaixaDeTexto 77"/>
          <p:cNvSpPr/>
          <p:nvPr/>
        </p:nvSpPr>
        <p:spPr>
          <a:xfrm>
            <a:off x="3167640" y="2517480"/>
            <a:ext cx="2204640" cy="50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Avaliar limitações de modelos de autômatos celulares (CA) na simulação de evacuação de edifícios altos.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CaixaDeTexto 78"/>
          <p:cNvSpPr/>
          <p:nvPr/>
        </p:nvSpPr>
        <p:spPr>
          <a:xfrm>
            <a:off x="3146400" y="308088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Revisão crítica de softwares (STEPS, EXODUS); dados do World Trade Center (11/09/2001).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CaixaDeTexto 79"/>
          <p:cNvSpPr/>
          <p:nvPr/>
        </p:nvSpPr>
        <p:spPr>
          <a:xfrm>
            <a:off x="3158640" y="367452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Análise comparativa de CA (STEPS, EXODUS), forças sociais, regras (boids), filas.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CaixaDeTexto 80"/>
          <p:cNvSpPr/>
          <p:nvPr/>
        </p:nvSpPr>
        <p:spPr>
          <a:xfrm>
            <a:off x="3146400" y="433800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Tamanho da célula, fadiga, contrafluxo, rota, densidade, fluxo, comunicação, papéis.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CaixaDeTexto 81"/>
          <p:cNvSpPr/>
          <p:nvPr/>
        </p:nvSpPr>
        <p:spPr>
          <a:xfrm>
            <a:off x="3097440" y="492660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CA distorce densidades, fluxos e rotas (45°); fadiga e contrafluxo subestimam tempo real.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CaixaDeTexto 82"/>
          <p:cNvSpPr/>
          <p:nvPr/>
        </p:nvSpPr>
        <p:spPr>
          <a:xfrm>
            <a:off x="3179520" y="555624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Alerta sobre artefatos do grid; recomenda fadiga, comunicação, papéis, escolha dinâmica.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CaixaDeTexto 83"/>
          <p:cNvSpPr/>
          <p:nvPr/>
        </p:nvSpPr>
        <p:spPr>
          <a:xfrm>
            <a:off x="5410800" y="2064240"/>
            <a:ext cx="21286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da-DK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Zhao et al. (2022). Safety Science, v.145.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CaixaDeTexto 84"/>
          <p:cNvSpPr/>
          <p:nvPr/>
        </p:nvSpPr>
        <p:spPr>
          <a:xfrm>
            <a:off x="5369400" y="253080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Avaliar sinalização adaptativa centralizada vs descentralizada para evacuação de incêndio.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CaixaDeTexto 85"/>
          <p:cNvSpPr/>
          <p:nvPr/>
        </p:nvSpPr>
        <p:spPr>
          <a:xfrm>
            <a:off x="5328720" y="309708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Museu virtual Cooper Hewitt (3 andares); 85 participantes em VR + agentes simulados.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CaixaDeTexto 86"/>
          <p:cNvSpPr/>
          <p:nvPr/>
        </p:nvSpPr>
        <p:spPr>
          <a:xfrm>
            <a:off x="5373720" y="3759840"/>
            <a:ext cx="21286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VR (Unity) + experimento humano + ABM + grafo direcionado de sinais.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CaixaDeTexto 87"/>
          <p:cNvSpPr/>
          <p:nvPr/>
        </p:nvSpPr>
        <p:spPr>
          <a:xfrm>
            <a:off x="5331600" y="433296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Direção do sinal, localização do fogo, tempo, distância, dano, estresse, EDA, HRV.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CaixaDeTexto 89"/>
          <p:cNvSpPr/>
          <p:nvPr/>
        </p:nvSpPr>
        <p:spPr>
          <a:xfrm>
            <a:off x="5364720" y="489708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Sinais adaptativos: sobrevivência 94% vs 45%; menos distresse, dano e tempo.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CaixaDeTexto 90"/>
          <p:cNvSpPr/>
          <p:nvPr/>
        </p:nvSpPr>
        <p:spPr>
          <a:xfrm>
            <a:off x="5354280" y="555372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Lógica de agentes com memória, modos exploração/seguir-sinal, cone visual de 120°.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CaixaDeTexto 91"/>
          <p:cNvSpPr/>
          <p:nvPr/>
        </p:nvSpPr>
        <p:spPr>
          <a:xfrm>
            <a:off x="7611480" y="2030040"/>
            <a:ext cx="21286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Haghani &amp; Sarvi (2016). Fire Safety Journal, v.85.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CaixaDeTexto 92"/>
          <p:cNvSpPr/>
          <p:nvPr/>
        </p:nvSpPr>
        <p:spPr>
          <a:xfrm>
            <a:off x="7557120" y="2500200"/>
            <a:ext cx="2225520" cy="50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Quantificar diferenças comportamentais na escolha de saída entre egresso normal e emergência.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CaixaDeTexto 93"/>
          <p:cNvSpPr/>
          <p:nvPr/>
        </p:nvSpPr>
        <p:spPr>
          <a:xfrm>
            <a:off x="7534080" y="3057120"/>
            <a:ext cx="226224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Estação Flinders Street (Melbourne, Austrália). 105 passageiros entrevistados, 6 saídas.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CaixaDeTexto 94"/>
          <p:cNvSpPr/>
          <p:nvPr/>
        </p:nvSpPr>
        <p:spPr>
          <a:xfrm>
            <a:off x="7595640" y="369468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Stated-choice survey + modelo logit misto multinomial com componentes de erro.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CaixaDeTexto 95"/>
          <p:cNvSpPr/>
          <p:nvPr/>
        </p:nvSpPr>
        <p:spPr>
          <a:xfrm>
            <a:off x="7540920" y="4330080"/>
            <a:ext cx="224136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Distância, aglomeração, fluxo direcional, visibilidade, proximidade do destino, distribuição.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CaixaDeTexto 96"/>
          <p:cNvSpPr/>
          <p:nvPr/>
        </p:nvSpPr>
        <p:spPr>
          <a:xfrm>
            <a:off x="7600320" y="490284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Em emergência: aglomeração pesa mais; maioria evita seguir fluxos; visibilidade modera "herding".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6" name="CaixaDeTexto 97"/>
          <p:cNvSpPr/>
          <p:nvPr/>
        </p:nvSpPr>
        <p:spPr>
          <a:xfrm>
            <a:off x="7561080" y="5540040"/>
            <a:ext cx="222840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Coeficientes de utilidade calibrados para regra de escolha de saída por agente heterogêneo.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CaixaDeTexto 98"/>
          <p:cNvSpPr/>
          <p:nvPr/>
        </p:nvSpPr>
        <p:spPr>
          <a:xfrm>
            <a:off x="9837360" y="2048040"/>
            <a:ext cx="2128680" cy="3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fr-F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Mirahadi, McCabe &amp; Shahi (2019). Automation in Construction, v.101.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CaixaDeTexto 99"/>
          <p:cNvSpPr/>
          <p:nvPr/>
        </p:nvSpPr>
        <p:spPr>
          <a:xfrm>
            <a:off x="9668520" y="2516400"/>
            <a:ext cx="2252520" cy="50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Integrar BIM (IFC) + FDS + ABM com índices de risco espaço-temporais (RRI/CRI).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CaixaDeTexto 100"/>
          <p:cNvSpPr/>
          <p:nvPr/>
        </p:nvSpPr>
        <p:spPr>
          <a:xfrm>
            <a:off x="9783720" y="308088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Edifício de escritórios de 2 andares, 59 compartimentos, 400 agentes simulados.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CaixaDeTexto 101"/>
          <p:cNvSpPr/>
          <p:nvPr/>
        </p:nvSpPr>
        <p:spPr>
          <a:xfrm>
            <a:off x="9741960" y="367272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BIM/IFC + CYPECAD MEP (FDS) + MassMotion (ABM) + MATLAB (grafo).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CaixaDeTexto 102"/>
          <p:cNvSpPr/>
          <p:nvPr/>
        </p:nvSpPr>
        <p:spPr>
          <a:xfrm>
            <a:off x="9782640" y="4331520"/>
            <a:ext cx="2128680" cy="50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9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ALET, RRI, CRI, tempo, distância, fumaça, temperatura, congestionamento, tenabilidade.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CaixaDeTexto 103"/>
          <p:cNvSpPr/>
          <p:nvPr/>
        </p:nvSpPr>
        <p:spPr>
          <a:xfrm>
            <a:off x="9760320" y="4889160"/>
            <a:ext cx="215064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Rota mais curta nem sempre é mais segura; RRI detecta rotas bloqueadas e zonas críticas.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CaixaDeTexto 104"/>
          <p:cNvSpPr/>
          <p:nvPr/>
        </p:nvSpPr>
        <p:spPr>
          <a:xfrm>
            <a:off x="9782640" y="5560920"/>
            <a:ext cx="2128680" cy="55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1000" b="0" u="none" strike="noStrike">
                <a:solidFill>
                  <a:schemeClr val="accent1">
                    <a:lumMod val="75000"/>
                  </a:schemeClr>
                </a:solidFill>
                <a:effectLst/>
                <a:uFillTx/>
                <a:latin typeface="Aptos"/>
              </a:rPr>
              <a:t>Índices RRI/CRI por compartimento e rota; agentes "obedientes" vs "livres" para validação.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TextBox 1"/>
          <p:cNvSpPr/>
          <p:nvPr/>
        </p:nvSpPr>
        <p:spPr>
          <a:xfrm>
            <a:off x="496080" y="569880"/>
            <a:ext cx="2544840" cy="36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Aptos Display"/>
              </a:rPr>
              <a:t>2.3. Modelo Formal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Box 2"/>
          <p:cNvSpPr/>
          <p:nvPr/>
        </p:nvSpPr>
        <p:spPr>
          <a:xfrm>
            <a:off x="322920" y="1217880"/>
            <a:ext cx="11198520" cy="36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Seja o sistema: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3"/>
          <p:cNvSpPr/>
          <p:nvPr/>
        </p:nvSpPr>
        <p:spPr>
          <a:xfrm>
            <a:off x="4326120" y="1638000"/>
            <a:ext cx="3198600" cy="518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2200" b="1" u="none" strike="noStrike">
                <a:solidFill>
                  <a:srgbClr val="C0392B"/>
                </a:solidFill>
                <a:effectLst/>
                <a:uFillTx/>
                <a:latin typeface="Cambria"/>
              </a:rPr>
              <a:t>S = ⟨ A, E, R, F, T, I, D, O ⟩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87" name="Table 4"/>
          <p:cNvGraphicFramePr/>
          <p:nvPr/>
        </p:nvGraphicFramePr>
        <p:xfrm>
          <a:off x="322920" y="2408040"/>
          <a:ext cx="5399280" cy="4039920"/>
        </p:xfrm>
        <a:graphic>
          <a:graphicData uri="http://schemas.openxmlformats.org/drawingml/2006/table">
            <a:tbl>
              <a:tblPr/>
              <a:tblGrid>
                <a:gridCol w="1299960"/>
                <a:gridCol w="4099680"/>
              </a:tblGrid>
              <a:tr h="4399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Símbolo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Significado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(A)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ocupantes ∪ brigadistas (heterogêneos)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(E)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edifício: 30 andares × grade 20×20 (2D por andar)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(R)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conjunto de rotas possíveis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(F)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dinâmica do fogo e da fumaça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(T)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discreto: t ∈ {0, 1, ..., T_max} (tick)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(I)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informação disponível aos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(D)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regras de decisão dos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4500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libri"/>
                        </a:rPr>
                        <a:t>(O)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T_evac, vítimas, mapa de calor, gargalos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  <p:sp>
        <p:nvSpPr>
          <p:cNvPr id="188" name="TextBox 5"/>
          <p:cNvSpPr/>
          <p:nvPr/>
        </p:nvSpPr>
        <p:spPr>
          <a:xfrm>
            <a:off x="6126120" y="2408040"/>
            <a:ext cx="5398560" cy="32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5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Regras formais básicas: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Box 6"/>
          <p:cNvSpPr/>
          <p:nvPr/>
        </p:nvSpPr>
        <p:spPr>
          <a:xfrm>
            <a:off x="6126120" y="2858040"/>
            <a:ext cx="5398560" cy="284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  <a:spcBef>
                <a:spcPts val="799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1. Todo agente possui posição: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xᵢ(t) ∈ 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2. Todo agente escolhe uma rota: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rᵢ(t) ∈ 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3. A escolha da rota depende de visibilidade,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     distância, congestionamento e risco: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rᵢ(t) = Dᵢ(VIS, DIST, CONG, RISCO, INFO)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4. A velocidade do agente diminui com densidade e fumaça: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vᵢ(t) = f(v_max, ρ, Φ)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1001"/>
              </a:spcBef>
            </a:pPr>
            <a:r>
              <a:rPr lang="pt-BR" sz="1200" b="0" u="none" strike="noStrike">
                <a:solidFill>
                  <a:srgbClr val="1F1F1F"/>
                </a:solidFill>
                <a:effectLst/>
                <a:uFillTx/>
                <a:latin typeface="Aptos Display"/>
              </a:rPr>
              <a:t>5. O agente evacua quando alcança uma saída: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Bef>
                <a:spcPts val="201"/>
              </a:spcBef>
            </a:pPr>
            <a:r>
              <a:rPr lang="pt-BR" sz="1300" b="0" i="1" u="none" strike="noStrike">
                <a:solidFill>
                  <a:srgbClr val="1F1F1F"/>
                </a:solidFill>
                <a:effectLst/>
                <a:uFillTx/>
                <a:latin typeface="Cambria"/>
              </a:rPr>
              <a:t>         xᵢ(t) ∈ Saídas  ⇒  evac(aᵢ) = 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Box 4"/>
          <p:cNvSpPr/>
          <p:nvPr/>
        </p:nvSpPr>
        <p:spPr>
          <a:xfrm>
            <a:off x="496440" y="570240"/>
            <a:ext cx="254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Aptos Display"/>
              </a:rPr>
              <a:t>2.3. Modelo Formal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TextBox 1"/>
          <p:cNvSpPr/>
          <p:nvPr/>
        </p:nvSpPr>
        <p:spPr>
          <a:xfrm>
            <a:off x="487440" y="515160"/>
            <a:ext cx="4074840" cy="36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Calibri"/>
              </a:rPr>
              <a:t>2.4. Variáveis Principais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92" name="Table 2"/>
          <p:cNvGraphicFramePr/>
          <p:nvPr/>
        </p:nvGraphicFramePr>
        <p:xfrm>
          <a:off x="2642400" y="1100160"/>
          <a:ext cx="7199280" cy="5580360"/>
        </p:xfrm>
        <a:graphic>
          <a:graphicData uri="http://schemas.openxmlformats.org/drawingml/2006/table">
            <a:tbl>
              <a:tblPr/>
              <a:tblGrid>
                <a:gridCol w="2199960"/>
                <a:gridCol w="4999680"/>
              </a:tblGrid>
              <a:tr h="45972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Variável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400" b="1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Aptos Display"/>
                        </a:rPr>
                        <a:t>Significado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(N)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número total de ocupantes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(aᵢ)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agente i, com i ∈ {1, ..., N}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(tipo(aᵢ))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tipo do agente ∈ {adulto, idoso, PcD, brigadista}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(xᵢ(t))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posição do agente no tempo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(vᵢ(t))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velocidade do agente no tempo t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(v_max)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velocidade máxima por tipo (1.0 / 0.6 / 0.4 / 1.5)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(ρ(x,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densidade local de agentes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(Φ(x,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intensidade da fumaça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(V(x, 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visibilidade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(Cₑ)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capacidade de fluxo da escada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(estado(aᵢ,t))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estado ∈ {ativo, evacuado, ferido, morto}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(pânico(aᵢ,t))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nível de pânico ∈ [0, 1]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(T_react,i)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de reação do agente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8E8E8"/>
                    </a:solidFill>
                  </a:tcPr>
                </a:tc>
              </a:tr>
              <a:tr h="36576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lang="pt-BR" sz="1300" b="1" u="none" strike="noStrike">
                          <a:solidFill>
                            <a:srgbClr val="0E2841"/>
                          </a:solidFill>
                          <a:effectLst/>
                          <a:uFillTx/>
                          <a:latin typeface="Cambria"/>
                        </a:rPr>
                        <a:t>(T_evac)</a:t>
                      </a:r>
                      <a:endParaRPr lang="en-US" sz="13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  <a:tc>
                  <a:txBody>
                    <a:bodyPr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lang="pt-BR" sz="1200" b="0" u="none" strike="noStrike">
                          <a:solidFill>
                            <a:srgbClr val="1F1F1F"/>
                          </a:solidFill>
                          <a:effectLst/>
                          <a:uFillTx/>
                          <a:latin typeface="Aptos Display"/>
                        </a:rPr>
                        <a:t>tempo total de evacuação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EDF2F7"/>
                    </a:solidFill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CaixaDeTexto 1"/>
          <p:cNvSpPr/>
          <p:nvPr/>
        </p:nvSpPr>
        <p:spPr>
          <a:xfrm>
            <a:off x="2480400" y="2957760"/>
            <a:ext cx="722988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 Formalismo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CaixaDeTexto 3"/>
          <p:cNvSpPr/>
          <p:nvPr/>
        </p:nvSpPr>
        <p:spPr>
          <a:xfrm>
            <a:off x="536040" y="735840"/>
            <a:ext cx="42282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 Agente Baseado em Modelo (ABM)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CaixaDeTexto 4"/>
          <p:cNvSpPr/>
          <p:nvPr/>
        </p:nvSpPr>
        <p:spPr>
          <a:xfrm>
            <a:off x="1233720" y="1494720"/>
            <a:ext cx="283320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3.1.1. Definição de ABM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CaixaDeTexto 5"/>
          <p:cNvSpPr/>
          <p:nvPr/>
        </p:nvSpPr>
        <p:spPr>
          <a:xfrm>
            <a:off x="1233720" y="2979000"/>
            <a:ext cx="27320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3.1.2. Justificativa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CaixaDeTexto 6"/>
          <p:cNvSpPr/>
          <p:nvPr/>
        </p:nvSpPr>
        <p:spPr>
          <a:xfrm>
            <a:off x="1284120" y="4624560"/>
            <a:ext cx="2732040" cy="367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3.1.3. Descrição de ABM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CaixaDeTexto 196"/>
          <p:cNvSpPr/>
          <p:nvPr/>
        </p:nvSpPr>
        <p:spPr>
          <a:xfrm>
            <a:off x="1902600" y="1863720"/>
            <a:ext cx="9878400" cy="58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Um método de modelagem computacional usado para simular as ações e interações de agentes dentro de um ambiente virtual, com o objetivo de entender como o comportamento deles afeta o sistema como um todo.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CaixaDeTexto 197"/>
          <p:cNvSpPr/>
          <p:nvPr/>
        </p:nvSpPr>
        <p:spPr>
          <a:xfrm>
            <a:off x="1902600" y="3375720"/>
            <a:ext cx="9957600" cy="10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Permite que você trate a multidão de forma heterogênea: cada pessoa no seu prédio tem sua própria velocidade, seu próprio tempo de reação, toma suas próprias decisões de rota e entra em pânico de forma individualizada com base no que está acontecendo ao seu redor. Isso permite observar fenômenos reais de comportamento coletivo, como o surgimento de gargalos nas portas e o efeito manada.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0" name="CaixaDeTexto 198"/>
          <p:cNvSpPr/>
          <p:nvPr/>
        </p:nvSpPr>
        <p:spPr>
          <a:xfrm>
            <a:off x="1902600" y="5114520"/>
            <a:ext cx="9957600" cy="10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just" defTabSz="914400">
              <a:lnSpc>
                <a:spcPct val="100000"/>
              </a:lnSpc>
            </a:pPr>
            <a:r>
              <a:rPr lang="en-US" sz="16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Uma técnica de simulação computacional onde você não tenta modelar o comportamento de um sistema inteiro de cima para baixo. Em vez disso, você cria os indivíduos (os agentes), define regras simples de comportamento para eles e os coloca para interagir em um ambiente. O comportamento do sistema global "emerge" dessas interações individuais.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CaixaDeTexto 3"/>
          <p:cNvSpPr/>
          <p:nvPr/>
        </p:nvSpPr>
        <p:spPr>
          <a:xfrm>
            <a:off x="624600" y="814320"/>
            <a:ext cx="2027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3.2. Exemplo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CaixaDeTexto 3"/>
          <p:cNvSpPr/>
          <p:nvPr/>
        </p:nvSpPr>
        <p:spPr>
          <a:xfrm>
            <a:off x="1099080" y="1521000"/>
            <a:ext cx="10540440" cy="175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Evacuação de Edifício em Incêndio:</a:t>
            </a:r>
            <a:r>
              <a:rPr lang="pt-BR" sz="18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 Agentes são ocupantes (adultos, idosos, PcD) e brigadistas. Regra: </a:t>
            </a:r>
            <a:r>
              <a:rPr lang="pt-BR" sz="1800" b="0" i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"Se a fumaça na célula atual ultrapassar Φ=0,05, aumente o pânico; se a escada mais próxima estiver bloqueada pelo fogo, redirecione para a escada alternativa; mova-se para o vizinho com menor custo efetivo d_ef = dist(saída) + Φ×2 + ρ×0,5."</a:t>
            </a:r>
            <a:r>
              <a:rPr lang="pt-BR" sz="18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 O ABM permite observar como surgem 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gargalos espontâneos nas escadas</a:t>
            </a:r>
            <a:r>
              <a:rPr lang="pt-BR" sz="18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 e o </a:t>
            </a: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efeito manada</a:t>
            </a:r>
            <a:r>
              <a:rPr lang="pt-BR" sz="1800" b="0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 — fenômenos coletivos que emergem das decisões individuais simples de cada agente, sem que nenhuma regra global os programe diretamente.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CaixaDeTexto 8"/>
          <p:cNvSpPr/>
          <p:nvPr/>
        </p:nvSpPr>
        <p:spPr>
          <a:xfrm>
            <a:off x="572040" y="576360"/>
            <a:ext cx="20271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3.3. SDD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4" name="Imagem 2"/>
          <p:cNvPicPr/>
          <p:nvPr/>
        </p:nvPicPr>
        <p:blipFill>
          <a:blip r:embed="rId1"/>
          <a:stretch/>
        </p:blipFill>
        <p:spPr>
          <a:xfrm>
            <a:off x="3071520" y="941040"/>
            <a:ext cx="5816880" cy="5816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CaixaDeTexto 1"/>
          <p:cNvSpPr/>
          <p:nvPr/>
        </p:nvSpPr>
        <p:spPr>
          <a:xfrm>
            <a:off x="2480400" y="2957760"/>
            <a:ext cx="722988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4. Computador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Imagem 2"/>
          <p:cNvPicPr/>
          <p:nvPr/>
        </p:nvPicPr>
        <p:blipFill>
          <a:blip r:embed="rId1"/>
          <a:stretch/>
        </p:blipFill>
        <p:spPr>
          <a:xfrm>
            <a:off x="1497600" y="544320"/>
            <a:ext cx="8991000" cy="5993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CaixaDeTexto 1"/>
          <p:cNvSpPr/>
          <p:nvPr/>
        </p:nvSpPr>
        <p:spPr>
          <a:xfrm>
            <a:off x="2480400" y="2957760"/>
            <a:ext cx="722988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5. Execução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"/>
          <p:cNvPicPr/>
          <p:nvPr/>
        </p:nvPicPr>
        <p:blipFill>
          <a:blip r:embed="rId1"/>
          <a:stretch/>
        </p:blipFill>
        <p:spPr>
          <a:xfrm>
            <a:off x="1600200" y="1133280"/>
            <a:ext cx="8915040" cy="549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9" name="TextBox 7"/>
          <p:cNvSpPr/>
          <p:nvPr/>
        </p:nvSpPr>
        <p:spPr>
          <a:xfrm>
            <a:off x="553680" y="627120"/>
            <a:ext cx="254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Aptos Display"/>
              </a:rPr>
              <a:t>5.1. Cenário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"/>
          <p:cNvPicPr/>
          <p:nvPr/>
        </p:nvPicPr>
        <p:blipFill>
          <a:blip r:embed="rId1"/>
          <a:stretch/>
        </p:blipFill>
        <p:spPr>
          <a:xfrm>
            <a:off x="457200" y="1063440"/>
            <a:ext cx="11201040" cy="4879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1" name="TextBox 8"/>
          <p:cNvSpPr/>
          <p:nvPr/>
        </p:nvSpPr>
        <p:spPr>
          <a:xfrm>
            <a:off x="554040" y="627480"/>
            <a:ext cx="254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Aptos Display"/>
              </a:rPr>
              <a:t>5.1. Cenário 1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"/>
          <p:cNvPicPr/>
          <p:nvPr/>
        </p:nvPicPr>
        <p:blipFill>
          <a:blip r:embed="rId1"/>
          <a:stretch/>
        </p:blipFill>
        <p:spPr>
          <a:xfrm>
            <a:off x="1600200" y="1128960"/>
            <a:ext cx="8921880" cy="5500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3" name="TextBox 9"/>
          <p:cNvSpPr/>
          <p:nvPr/>
        </p:nvSpPr>
        <p:spPr>
          <a:xfrm>
            <a:off x="554040" y="627480"/>
            <a:ext cx="254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Aptos Display"/>
              </a:rPr>
              <a:t>5.2. Cenário 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"/>
          <p:cNvPicPr/>
          <p:nvPr/>
        </p:nvPicPr>
        <p:blipFill>
          <a:blip r:embed="rId1"/>
          <a:stretch/>
        </p:blipFill>
        <p:spPr>
          <a:xfrm>
            <a:off x="381240" y="1599840"/>
            <a:ext cx="11505600" cy="382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TextBox 10"/>
          <p:cNvSpPr/>
          <p:nvPr/>
        </p:nvSpPr>
        <p:spPr>
          <a:xfrm>
            <a:off x="554040" y="627480"/>
            <a:ext cx="254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Aptos Display"/>
              </a:rPr>
              <a:t>5.2. Cenário 2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6" name=""/>
          <p:cNvPicPr/>
          <p:nvPr/>
        </p:nvPicPr>
        <p:blipFill>
          <a:blip r:embed="rId1"/>
          <a:stretch/>
        </p:blipFill>
        <p:spPr>
          <a:xfrm>
            <a:off x="1600200" y="1143000"/>
            <a:ext cx="8915040" cy="5495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TextBox 11"/>
          <p:cNvSpPr/>
          <p:nvPr/>
        </p:nvSpPr>
        <p:spPr>
          <a:xfrm>
            <a:off x="554040" y="627480"/>
            <a:ext cx="254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Aptos Display"/>
              </a:rPr>
              <a:t>5.3. Cenário 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8" name=""/>
          <p:cNvPicPr/>
          <p:nvPr/>
        </p:nvPicPr>
        <p:blipFill>
          <a:blip r:embed="rId1"/>
          <a:stretch/>
        </p:blipFill>
        <p:spPr>
          <a:xfrm>
            <a:off x="228600" y="1600200"/>
            <a:ext cx="11684520" cy="388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9" name="TextBox 12"/>
          <p:cNvSpPr/>
          <p:nvPr/>
        </p:nvSpPr>
        <p:spPr>
          <a:xfrm>
            <a:off x="554040" y="627480"/>
            <a:ext cx="2544840" cy="36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45000" rIns="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pt-BR" sz="1800" b="1" u="none" strike="noStrike">
                <a:solidFill>
                  <a:srgbClr val="156082"/>
                </a:solidFill>
                <a:effectLst/>
                <a:uFillTx/>
                <a:latin typeface="Aptos Display"/>
              </a:rPr>
              <a:t>5.3. Cenário 3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CaixaDeTexto 1"/>
          <p:cNvSpPr/>
          <p:nvPr/>
        </p:nvSpPr>
        <p:spPr>
          <a:xfrm>
            <a:off x="2480400" y="2957760"/>
            <a:ext cx="7229880" cy="76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pt-BR" sz="4400" b="1" u="none" strike="noStrike">
                <a:solidFill>
                  <a:schemeClr val="dk2">
                    <a:lumMod val="90000"/>
                    <a:lumOff val="10000"/>
                  </a:schemeClr>
                </a:solidFill>
                <a:effectLst/>
                <a:uFillTx/>
                <a:latin typeface="Aptos"/>
              </a:rPr>
              <a:t>6. Observação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Imagem 6"/>
          <p:cNvPicPr/>
          <p:nvPr/>
        </p:nvPicPr>
        <p:blipFill>
          <a:blip r:embed="rId1"/>
          <a:stretch/>
        </p:blipFill>
        <p:spPr>
          <a:xfrm>
            <a:off x="1662480" y="677520"/>
            <a:ext cx="8431920" cy="5994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2" name="Imagem 2"/>
          <p:cNvPicPr/>
          <p:nvPr/>
        </p:nvPicPr>
        <p:blipFill>
          <a:blip r:embed="rId1"/>
          <a:stretch/>
        </p:blipFill>
        <p:spPr>
          <a:xfrm>
            <a:off x="1724040" y="457920"/>
            <a:ext cx="8589600" cy="61254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3" name="Imagem 4"/>
          <p:cNvPicPr/>
          <p:nvPr/>
        </p:nvPicPr>
        <p:blipFill>
          <a:blip r:embed="rId1"/>
          <a:stretch/>
        </p:blipFill>
        <p:spPr>
          <a:xfrm>
            <a:off x="1552680" y="505440"/>
            <a:ext cx="8404200" cy="6168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ema do Offic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 pitchFamily="0" charset="1"/>
        <a:ea typeface=""/>
        <a:cs typeface=""/>
      </a:majorFont>
      <a:minorFont>
        <a:latin typeface="Aptos" panose="0211000402020202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  <a:ln w="2540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307</TotalTime>
  <Application>LibreOffice/26.2.4.2$Linux_X86_64 LibreOffice_project/f4d82cf4d44730936b3f1a72d05a6253f577d3e9</Application>
  <AppVersion>15.0000</AppVersion>
  <Words>2320</Words>
  <Paragraphs>265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2026-04-13T15:47:06Z</dcterms:created>
  <dc:creator>Marcos Mattedi</dc:creator>
  <dc:description/>
  <dc:language>en-US</dc:language>
  <cp:lastModifiedBy/>
  <dcterms:modified xsi:type="dcterms:W3CDTF">2026-06-21T16:49:29Z</dcterms:modified>
  <cp:revision>19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</vt:i4>
  </property>
  <property fmtid="{D5CDD505-2E9C-101B-9397-08002B2CF9AE}" pid="3" name="PresentationFormat">
    <vt:lpwstr>Widescreen</vt:lpwstr>
  </property>
  <property fmtid="{D5CDD505-2E9C-101B-9397-08002B2CF9AE}" pid="4" name="Slides">
    <vt:i4>23</vt:i4>
  </property>
</Properties>
</file>