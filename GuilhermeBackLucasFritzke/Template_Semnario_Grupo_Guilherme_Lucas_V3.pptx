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4" r:id="rId5"/>
    <p:sldId id="265" r:id="rId6"/>
    <p:sldId id="263" r:id="rId7"/>
    <p:sldId id="1698" r:id="rId8"/>
    <p:sldId id="696" r:id="rId9"/>
    <p:sldId id="1699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2C88EB-6C78-4020-B43B-75C8DD609EB8}" v="3" dt="2026-05-04T09:50:32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433CB-0624-41BF-866C-207C81F879F3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B23EC-8EA9-49E9-A0AC-3EEEAF31A3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533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30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 Guilherme W. Back e Lucas Fritzke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3B92D-B05C-9361-9A3A-327B5745C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93018B4-D443-47CA-E977-7071909C5C0C}"/>
              </a:ext>
            </a:extLst>
          </p:cNvPr>
          <p:cNvSpPr txBox="1"/>
          <p:nvPr/>
        </p:nvSpPr>
        <p:spPr>
          <a:xfrm>
            <a:off x="496646" y="1146469"/>
            <a:ext cx="10647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1.1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Delimitação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do Sistema de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Referência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(S)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AA23C0-E94E-5446-8FFB-3AC8EDE1FBE6}"/>
              </a:ext>
            </a:extLst>
          </p:cNvPr>
          <p:cNvSpPr txBox="1"/>
          <p:nvPr/>
        </p:nvSpPr>
        <p:spPr>
          <a:xfrm>
            <a:off x="496646" y="1762175"/>
            <a:ext cx="1056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Fenômeno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Evacuação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emergencial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edifício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de 30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andares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em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situação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incêndio</a:t>
            </a:r>
            <a:endParaRPr lang="en-US" sz="1800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3B20AF9-A18E-DC89-B52E-6249DD208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237112"/>
              </p:ext>
            </p:extLst>
          </p:nvPr>
        </p:nvGraphicFramePr>
        <p:xfrm>
          <a:off x="609600" y="2316480"/>
          <a:ext cx="11297920" cy="4287519"/>
        </p:xfrm>
        <a:graphic>
          <a:graphicData uri="http://schemas.openxmlformats.org/drawingml/2006/table">
            <a:tbl>
              <a:tblPr/>
              <a:tblGrid>
                <a:gridCol w="2824481">
                  <a:extLst>
                    <a:ext uri="{9D8B030D-6E8A-4147-A177-3AD203B41FA5}">
                      <a16:colId xmlns:a16="http://schemas.microsoft.com/office/drawing/2014/main" val="1113624060"/>
                    </a:ext>
                  </a:extLst>
                </a:gridCol>
                <a:gridCol w="8473439">
                  <a:extLst>
                    <a:ext uri="{9D8B030D-6E8A-4147-A177-3AD203B41FA5}">
                      <a16:colId xmlns:a16="http://schemas.microsoft.com/office/drawing/2014/main" val="2867945562"/>
                    </a:ext>
                  </a:extLst>
                </a:gridCol>
              </a:tblGrid>
              <a:tr h="3795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Definição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440986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Tipo Ontológico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Físico — causalidade energética (propagação do fogo/fumaça) e mecânica (movimentação dos agentes)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23356"/>
                  </a:ext>
                </a:extLst>
              </a:tr>
              <a:tr h="5964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Fronteira Espacial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Edifício de 30 andares (0 a 29); cada andar representado como grade 2D de 20×20 células com corredores, salas, escadas e saídas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564216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Fronteira Temporal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Início do incêndio até evacuação total ou término da simulação; granularidade discreta </a:t>
                      </a:r>
                      <a:r>
                        <a:rPr lang="en-US" sz="1400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por</a:t>
                      </a: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tick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036500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Fronteira Funcional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Propagação de fogo, dispersão de fumaça, movimentação de ocupantes e ação de brigadistas dentro do edifício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536174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Escala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Espacial: meso (edifício, resolução por </a:t>
                      </a:r>
                      <a:r>
                        <a:rPr lang="en-US" sz="1400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célula</a:t>
                      </a: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); Temporal: evento (</a:t>
                      </a:r>
                      <a:r>
                        <a:rPr lang="en-US" sz="1400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minutos</a:t>
                      </a: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); Ontológica: elementar (agentes individuais)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606673"/>
                  </a:ext>
                </a:extLst>
              </a:tr>
              <a:tr h="5964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Entidades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Ocupantes (adultos vel. 1.0, idosos vel. 0.6, PcD vel. 0.4), brigadistas (vel. 1.5), fogo, fumaça, escadas (fluxo limitado), corredores, saídas de emergência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101071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Regime de Observação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Instrumentado e automatizado: coleta de métricas a tick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647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04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031F-1E27-6414-8F65-D5DA8FDE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0A95469-7CBC-E0BA-0488-FF184F4831B5}"/>
              </a:ext>
            </a:extLst>
          </p:cNvPr>
          <p:cNvSpPr txBox="1"/>
          <p:nvPr/>
        </p:nvSpPr>
        <p:spPr>
          <a:xfrm>
            <a:off x="793100" y="1161663"/>
            <a:ext cx="10647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1.2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Observáveis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Prioritários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e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Exclusões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Conscientes</a:t>
            </a:r>
            <a:endParaRPr lang="en-US" sz="28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BF1773F-1B89-134E-915F-04F52C177C72}"/>
              </a:ext>
            </a:extLst>
          </p:cNvPr>
          <p:cNvSpPr/>
          <p:nvPr/>
        </p:nvSpPr>
        <p:spPr>
          <a:xfrm>
            <a:off x="793099" y="2081872"/>
            <a:ext cx="4680489" cy="49149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21E26D-F7CA-C208-C7C2-DD4B24D819EE}"/>
              </a:ext>
            </a:extLst>
          </p:cNvPr>
          <p:cNvSpPr/>
          <p:nvPr/>
        </p:nvSpPr>
        <p:spPr>
          <a:xfrm>
            <a:off x="793099" y="2107355"/>
            <a:ext cx="4680489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Observáveis Prioritários</a:t>
            </a:r>
            <a:endParaRPr lang="en-US" sz="13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1BE1A9AF-5CF9-1CB5-98E5-1A6C2A3A6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182721"/>
              </p:ext>
            </p:extLst>
          </p:nvPr>
        </p:nvGraphicFramePr>
        <p:xfrm>
          <a:off x="793099" y="2624328"/>
          <a:ext cx="4680488" cy="3145539"/>
        </p:xfrm>
        <a:graphic>
          <a:graphicData uri="http://schemas.openxmlformats.org/drawingml/2006/table">
            <a:tbl>
              <a:tblPr/>
              <a:tblGrid>
                <a:gridCol w="1738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2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0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Observável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Taxa de evacuação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Evacuados / total ao término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Tempo médio de evacuação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Média e σ de steps por andar e total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Nº de vítimas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Mortos + feridos por rodada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Mapa de calor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Densidade acumulada por célula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Gargalos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Top-5 células com maior congestionamento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Evolução temporal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Evacuados, mortos e área em chamas por step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CB057D1B-EEB4-71B4-84CF-B56C9CF8A653}"/>
              </a:ext>
            </a:extLst>
          </p:cNvPr>
          <p:cNvSpPr/>
          <p:nvPr/>
        </p:nvSpPr>
        <p:spPr>
          <a:xfrm>
            <a:off x="6462379" y="2081872"/>
            <a:ext cx="4748545" cy="49149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C3AD19F-F4AE-219F-8764-5659690DCABD}"/>
              </a:ext>
            </a:extLst>
          </p:cNvPr>
          <p:cNvSpPr/>
          <p:nvPr/>
        </p:nvSpPr>
        <p:spPr>
          <a:xfrm>
            <a:off x="6645449" y="2105945"/>
            <a:ext cx="4382404" cy="478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Exclusões Conscientes</a:t>
            </a:r>
            <a:endParaRPr lang="en-US" sz="13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1">
            <a:extLst>
              <a:ext uri="{FF2B5EF4-FFF2-40B4-BE49-F238E27FC236}">
                <a16:creationId xmlns:a16="http://schemas.microsoft.com/office/drawing/2014/main" id="{247B5909-35F1-F6D1-5DBA-E37C86DBA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453905"/>
              </p:ext>
            </p:extLst>
          </p:nvPr>
        </p:nvGraphicFramePr>
        <p:xfrm>
          <a:off x="6462379" y="2624328"/>
          <a:ext cx="4748545" cy="3120058"/>
        </p:xfrm>
        <a:graphic>
          <a:graphicData uri="http://schemas.openxmlformats.org/drawingml/2006/table">
            <a:tbl>
              <a:tblPr/>
              <a:tblGrid>
                <a:gridCol w="1773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4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1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Elemento Excluído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Justificativa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Estados psicológicos profundos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Inobserváveis; pânico é operacionalizado como variável [0,1]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Condições climáticas externas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Foco no interior do edifício; vento e chuva não modelados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8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Políticas públicas / fiscalização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Regime causal institucional incompatível com ontologia física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Dimensões simbólicas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Percepção cultural de risco, crenças — não formalizáveis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Combate direto ao incêndio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Brigadistas orientam evacuação, não combatem o fogo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Elevadores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Bloqueados conforme ABNT NBR 9077 — não participam da evacuação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557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3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5" y="615043"/>
            <a:ext cx="1630018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Termos de pesquisa aplicados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>
            <a:off x="8084771" y="1055915"/>
            <a:ext cx="1008584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1779815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1801589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Termos de pesquisa aplicados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(#1 &amp; 2)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220687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496787"/>
            <a:ext cx="0" cy="283028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2960914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2944586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2944586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385458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125685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125685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125685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não atenderam aos critérios de inclusão (#3, 4 e 5)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2661559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3826330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566557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306784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306784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)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50D97BE-A3BE-DFAB-0BFA-E03C4446064F}"/>
              </a:ext>
            </a:extLst>
          </p:cNvPr>
          <p:cNvSpPr/>
          <p:nvPr/>
        </p:nvSpPr>
        <p:spPr>
          <a:xfrm>
            <a:off x="801750" y="1452796"/>
            <a:ext cx="11131167" cy="473737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1A92EA1-33DF-B7DC-B14C-259A804F4A1F}"/>
              </a:ext>
            </a:extLst>
          </p:cNvPr>
          <p:cNvCxnSpPr>
            <a:cxnSpLocks/>
          </p:cNvCxnSpPr>
          <p:nvPr/>
        </p:nvCxnSpPr>
        <p:spPr>
          <a:xfrm>
            <a:off x="801750" y="1997545"/>
            <a:ext cx="11131167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7935336-D13B-A17A-08F0-BA63E9B9F054}"/>
              </a:ext>
            </a:extLst>
          </p:cNvPr>
          <p:cNvCxnSpPr>
            <a:cxnSpLocks/>
          </p:cNvCxnSpPr>
          <p:nvPr/>
        </p:nvCxnSpPr>
        <p:spPr>
          <a:xfrm>
            <a:off x="3155843" y="1452796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20DBF4D-828E-04EC-E110-D1EC6A9B321F}"/>
              </a:ext>
            </a:extLst>
          </p:cNvPr>
          <p:cNvCxnSpPr>
            <a:cxnSpLocks/>
          </p:cNvCxnSpPr>
          <p:nvPr/>
        </p:nvCxnSpPr>
        <p:spPr>
          <a:xfrm>
            <a:off x="5334700" y="1474989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9356BE1D-8240-3DC3-6438-C43317951797}"/>
              </a:ext>
            </a:extLst>
          </p:cNvPr>
          <p:cNvCxnSpPr>
            <a:cxnSpLocks/>
          </p:cNvCxnSpPr>
          <p:nvPr/>
        </p:nvCxnSpPr>
        <p:spPr>
          <a:xfrm>
            <a:off x="782292" y="1452796"/>
            <a:ext cx="2383280" cy="5447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6E20EDF2-A62A-1F18-AEF9-7482B9A3620A}"/>
              </a:ext>
            </a:extLst>
          </p:cNvPr>
          <p:cNvCxnSpPr>
            <a:cxnSpLocks/>
          </p:cNvCxnSpPr>
          <p:nvPr/>
        </p:nvCxnSpPr>
        <p:spPr>
          <a:xfrm>
            <a:off x="801750" y="2500141"/>
            <a:ext cx="11131167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B3348F7-6597-0EB3-512F-8A3E834C4A85}"/>
              </a:ext>
            </a:extLst>
          </p:cNvPr>
          <p:cNvCxnSpPr>
            <a:cxnSpLocks/>
          </p:cNvCxnSpPr>
          <p:nvPr/>
        </p:nvCxnSpPr>
        <p:spPr>
          <a:xfrm>
            <a:off x="801750" y="3059482"/>
            <a:ext cx="11131167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31DE727-605E-C112-970F-CFC16578EA84}"/>
              </a:ext>
            </a:extLst>
          </p:cNvPr>
          <p:cNvCxnSpPr>
            <a:cxnSpLocks/>
          </p:cNvCxnSpPr>
          <p:nvPr/>
        </p:nvCxnSpPr>
        <p:spPr>
          <a:xfrm>
            <a:off x="821202" y="3651248"/>
            <a:ext cx="11111715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51FC4F62-F800-2045-A4D2-C3131C48AD80}"/>
              </a:ext>
            </a:extLst>
          </p:cNvPr>
          <p:cNvCxnSpPr>
            <a:cxnSpLocks/>
          </p:cNvCxnSpPr>
          <p:nvPr/>
        </p:nvCxnSpPr>
        <p:spPr>
          <a:xfrm>
            <a:off x="811478" y="4290031"/>
            <a:ext cx="11121439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BB959348-E38F-249E-2362-2A34C82C3608}"/>
              </a:ext>
            </a:extLst>
          </p:cNvPr>
          <p:cNvCxnSpPr>
            <a:cxnSpLocks/>
          </p:cNvCxnSpPr>
          <p:nvPr/>
        </p:nvCxnSpPr>
        <p:spPr>
          <a:xfrm>
            <a:off x="811478" y="4909358"/>
            <a:ext cx="11121439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6DD5D62-2EFB-8DB0-04C8-05BBF580AF3F}"/>
              </a:ext>
            </a:extLst>
          </p:cNvPr>
          <p:cNvSpPr txBox="1"/>
          <p:nvPr/>
        </p:nvSpPr>
        <p:spPr>
          <a:xfrm>
            <a:off x="3488909" y="1623187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accent1">
                    <a:lumMod val="75000"/>
                  </a:schemeClr>
                </a:solidFill>
              </a:rPr>
              <a:t>Trabalho Correlato 1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0D8A34C-171D-4139-F286-CA80748C147B}"/>
              </a:ext>
            </a:extLst>
          </p:cNvPr>
          <p:cNvSpPr txBox="1"/>
          <p:nvPr/>
        </p:nvSpPr>
        <p:spPr>
          <a:xfrm>
            <a:off x="5664213" y="1621631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accent1">
                    <a:lumMod val="75000"/>
                  </a:schemeClr>
                </a:solidFill>
              </a:rPr>
              <a:t>Trabalho Correlato 2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59F99B9-B138-D1A7-670D-B415040336C0}"/>
              </a:ext>
            </a:extLst>
          </p:cNvPr>
          <p:cNvSpPr txBox="1"/>
          <p:nvPr/>
        </p:nvSpPr>
        <p:spPr>
          <a:xfrm>
            <a:off x="7915874" y="1633631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accent1">
                    <a:lumMod val="75000"/>
                  </a:schemeClr>
                </a:solidFill>
              </a:rPr>
              <a:t>Trabalho Correlato 3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3998C8F-BAF5-0DD6-3FD7-AFA79201E892}"/>
              </a:ext>
            </a:extLst>
          </p:cNvPr>
          <p:cNvSpPr txBox="1"/>
          <p:nvPr/>
        </p:nvSpPr>
        <p:spPr>
          <a:xfrm>
            <a:off x="10088548" y="1621630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accent1">
                    <a:lumMod val="75000"/>
                  </a:schemeClr>
                </a:solidFill>
              </a:rPr>
              <a:t>Trabalho Correlato 4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9FC8479E-A8C1-98A1-EF2A-F066D92D8B8A}"/>
              </a:ext>
            </a:extLst>
          </p:cNvPr>
          <p:cNvCxnSpPr>
            <a:cxnSpLocks/>
          </p:cNvCxnSpPr>
          <p:nvPr/>
        </p:nvCxnSpPr>
        <p:spPr>
          <a:xfrm flipV="1">
            <a:off x="833769" y="5480738"/>
            <a:ext cx="11099148" cy="3822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C2E8CE33-DCE7-B05F-A08B-1302C9906B63}"/>
              </a:ext>
            </a:extLst>
          </p:cNvPr>
          <p:cNvSpPr txBox="1"/>
          <p:nvPr/>
        </p:nvSpPr>
        <p:spPr>
          <a:xfrm>
            <a:off x="1729931" y="1495428"/>
            <a:ext cx="1546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accent1">
                    <a:lumMod val="75000"/>
                  </a:schemeClr>
                </a:solidFill>
              </a:rPr>
              <a:t>ARTIGOS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64F57D04-3D07-5D19-A63C-67C7976B19B0}"/>
              </a:ext>
            </a:extLst>
          </p:cNvPr>
          <p:cNvSpPr txBox="1"/>
          <p:nvPr/>
        </p:nvSpPr>
        <p:spPr>
          <a:xfrm>
            <a:off x="671235" y="1671908"/>
            <a:ext cx="1546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accent1">
                    <a:lumMod val="75000"/>
                  </a:schemeClr>
                </a:solidFill>
              </a:rPr>
              <a:t>PARÂMETROS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8BB5DE5D-120D-32F1-B899-3A382B38721F}"/>
              </a:ext>
            </a:extLst>
          </p:cNvPr>
          <p:cNvSpPr txBox="1"/>
          <p:nvPr/>
        </p:nvSpPr>
        <p:spPr>
          <a:xfrm>
            <a:off x="810931" y="2144735"/>
            <a:ext cx="1903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Identificação do artigo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6CCD3D3-0DE3-FAD8-06F7-5607CEB6229C}"/>
              </a:ext>
            </a:extLst>
          </p:cNvPr>
          <p:cNvSpPr txBox="1"/>
          <p:nvPr/>
        </p:nvSpPr>
        <p:spPr>
          <a:xfrm>
            <a:off x="802154" y="2635293"/>
            <a:ext cx="18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Problema de pesquisa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53252FE9-8B2A-CDAB-14C5-2F5DE6A604E6}"/>
              </a:ext>
            </a:extLst>
          </p:cNvPr>
          <p:cNvSpPr txBox="1"/>
          <p:nvPr/>
        </p:nvSpPr>
        <p:spPr>
          <a:xfrm>
            <a:off x="839850" y="3258433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Objeto empírico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ECA3BA9-9896-7C70-2DD9-F47CF7ABB646}"/>
              </a:ext>
            </a:extLst>
          </p:cNvPr>
          <p:cNvSpPr txBox="1"/>
          <p:nvPr/>
        </p:nvSpPr>
        <p:spPr>
          <a:xfrm>
            <a:off x="839849" y="3823928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Método/Ferramenta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4B1D5208-7C2B-1AA3-642E-851F9C508FBC}"/>
              </a:ext>
            </a:extLst>
          </p:cNvPr>
          <p:cNvSpPr txBox="1"/>
          <p:nvPr/>
        </p:nvSpPr>
        <p:spPr>
          <a:xfrm>
            <a:off x="909569" y="4479135"/>
            <a:ext cx="1551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Variáveis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1A532251-488D-712D-88F0-6182095C08AC}"/>
              </a:ext>
            </a:extLst>
          </p:cNvPr>
          <p:cNvSpPr txBox="1"/>
          <p:nvPr/>
        </p:nvSpPr>
        <p:spPr>
          <a:xfrm>
            <a:off x="904782" y="5073798"/>
            <a:ext cx="2128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Resultados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AF039B3-A564-0CFD-FDBD-82B9AA9C3FB8}"/>
              </a:ext>
            </a:extLst>
          </p:cNvPr>
          <p:cNvSpPr txBox="1"/>
          <p:nvPr/>
        </p:nvSpPr>
        <p:spPr>
          <a:xfrm>
            <a:off x="868731" y="5729005"/>
            <a:ext cx="1891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Contribuição</a:t>
            </a:r>
          </a:p>
        </p:txBody>
      </p:sp>
      <p:sp>
        <p:nvSpPr>
          <p:cNvPr id="61" name="Chave Esquerda 60">
            <a:extLst>
              <a:ext uri="{FF2B5EF4-FFF2-40B4-BE49-F238E27FC236}">
                <a16:creationId xmlns:a16="http://schemas.microsoft.com/office/drawing/2014/main" id="{7D800B8A-4780-D0FB-5D3B-ADEF21910B93}"/>
              </a:ext>
            </a:extLst>
          </p:cNvPr>
          <p:cNvSpPr/>
          <p:nvPr/>
        </p:nvSpPr>
        <p:spPr>
          <a:xfrm rot="5400000">
            <a:off x="6802932" y="-2572500"/>
            <a:ext cx="400400" cy="7694577"/>
          </a:xfrm>
          <a:prstGeom prst="leftBrace">
            <a:avLst>
              <a:gd name="adj1" fmla="val 29797"/>
              <a:gd name="adj2" fmla="val 50000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F5730249-D8A2-31E6-C574-CB29CA6EF170}"/>
              </a:ext>
            </a:extLst>
          </p:cNvPr>
          <p:cNvSpPr txBox="1"/>
          <p:nvPr/>
        </p:nvSpPr>
        <p:spPr>
          <a:xfrm>
            <a:off x="5084694" y="676365"/>
            <a:ext cx="373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Referências Bibliográficas</a:t>
            </a:r>
          </a:p>
        </p:txBody>
      </p:sp>
      <p:sp>
        <p:nvSpPr>
          <p:cNvPr id="63" name="Chave Esquerda 62">
            <a:extLst>
              <a:ext uri="{FF2B5EF4-FFF2-40B4-BE49-F238E27FC236}">
                <a16:creationId xmlns:a16="http://schemas.microsoft.com/office/drawing/2014/main" id="{9E018E8D-BF4F-4265-F646-07683F99666E}"/>
              </a:ext>
            </a:extLst>
          </p:cNvPr>
          <p:cNvSpPr/>
          <p:nvPr/>
        </p:nvSpPr>
        <p:spPr>
          <a:xfrm>
            <a:off x="398511" y="1997545"/>
            <a:ext cx="400400" cy="4192621"/>
          </a:xfrm>
          <a:prstGeom prst="leftBrace">
            <a:avLst>
              <a:gd name="adj1" fmla="val 29797"/>
              <a:gd name="adj2" fmla="val 50000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0259CCF2-53E8-63E9-C68B-5CBDC3A20CE3}"/>
              </a:ext>
            </a:extLst>
          </p:cNvPr>
          <p:cNvSpPr txBox="1"/>
          <p:nvPr/>
        </p:nvSpPr>
        <p:spPr>
          <a:xfrm rot="16200000">
            <a:off x="-1162614" y="3948791"/>
            <a:ext cx="2694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accent1">
                    <a:lumMod val="75000"/>
                  </a:schemeClr>
                </a:solidFill>
              </a:rPr>
              <a:t>Critérios de análise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AE4FBCD2-A8B2-6C19-A18D-2DE719DD4F6A}"/>
              </a:ext>
            </a:extLst>
          </p:cNvPr>
          <p:cNvSpPr txBox="1"/>
          <p:nvPr/>
        </p:nvSpPr>
        <p:spPr>
          <a:xfrm>
            <a:off x="423151" y="503049"/>
            <a:ext cx="4416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11.2.2.2. Matriz de Extração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2C624E6-9905-2569-0B3E-A0A5694C8A06}"/>
              </a:ext>
            </a:extLst>
          </p:cNvPr>
          <p:cNvSpPr txBox="1"/>
          <p:nvPr/>
        </p:nvSpPr>
        <p:spPr>
          <a:xfrm>
            <a:off x="3192660" y="1963468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Ding et al. (2024). Reliability Engineering and System Safety, v.244.</a:t>
            </a:r>
            <a:endParaRPr lang="pt-BR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497529B9-CAEF-8445-20D9-3268DD7BAA04}"/>
              </a:ext>
            </a:extLst>
          </p:cNvPr>
          <p:cNvCxnSpPr>
            <a:cxnSpLocks/>
          </p:cNvCxnSpPr>
          <p:nvPr/>
        </p:nvCxnSpPr>
        <p:spPr>
          <a:xfrm>
            <a:off x="7544500" y="1495428"/>
            <a:ext cx="16620" cy="46947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48F97927-4692-267F-3DC5-88D19EC8343B}"/>
              </a:ext>
            </a:extLst>
          </p:cNvPr>
          <p:cNvCxnSpPr>
            <a:cxnSpLocks/>
          </p:cNvCxnSpPr>
          <p:nvPr/>
        </p:nvCxnSpPr>
        <p:spPr>
          <a:xfrm>
            <a:off x="9790876" y="1558144"/>
            <a:ext cx="0" cy="46320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6941D547-4BAC-3757-2D96-1381582F1895}"/>
              </a:ext>
            </a:extLst>
          </p:cNvPr>
          <p:cNvSpPr txBox="1"/>
          <p:nvPr/>
        </p:nvSpPr>
        <p:spPr>
          <a:xfrm>
            <a:off x="3167730" y="2517523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Sistema BIM em tempo real para otimizar rotas de evacuação em grandes infraestruturas.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9262B352-D535-CF31-9D88-6441AA7A2FA0}"/>
              </a:ext>
            </a:extLst>
          </p:cNvPr>
          <p:cNvSpPr txBox="1"/>
          <p:nvPr/>
        </p:nvSpPr>
        <p:spPr>
          <a:xfrm>
            <a:off x="3146436" y="3080826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Estação de metrô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Chegongmiao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(Shenzhen, China). 1.200 ocupantes, 4 saídas, 2 pavimentos.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C4BB46E9-0DE1-A4DE-65B5-D3A77E0CAD62}"/>
              </a:ext>
            </a:extLst>
          </p:cNvPr>
          <p:cNvSpPr txBox="1"/>
          <p:nvPr/>
        </p:nvSpPr>
        <p:spPr>
          <a:xfrm>
            <a:off x="3158683" y="3674541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Revit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(BIM) +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PyroSim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(FDS) +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AnyLogic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(ABM + força social) + algoritmo de otimização.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C18BCE4E-F359-C495-F7D1-E25EEFA5A7DD}"/>
              </a:ext>
            </a:extLst>
          </p:cNvPr>
          <p:cNvSpPr txBox="1"/>
          <p:nvPr/>
        </p:nvSpPr>
        <p:spPr>
          <a:xfrm>
            <a:off x="3146436" y="4337979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Temperatura, altura/densidade de fumaça, gênero, idade, velocidade por local (escada/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aisle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/solo).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452C9EF6-B655-26D8-631F-88DD3989D854}"/>
              </a:ext>
            </a:extLst>
          </p:cNvPr>
          <p:cNvSpPr txBox="1"/>
          <p:nvPr/>
        </p:nvSpPr>
        <p:spPr>
          <a:xfrm>
            <a:off x="3097384" y="4926482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Otimização equilibrou uso das 4 saídas e reduziu tempo total em 12,87% (443s→386s).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AFCAAB0E-E883-A192-D1DB-6043E575D2FB}"/>
              </a:ext>
            </a:extLst>
          </p:cNvPr>
          <p:cNvSpPr txBox="1"/>
          <p:nvPr/>
        </p:nvSpPr>
        <p:spPr>
          <a:xfrm>
            <a:off x="3179669" y="5556311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Velocidades diferenciadas por idade/gênero e por tipo de via; lógica de saturação de saídas.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61697A09-2A1D-53E2-96E7-2554F8F8866D}"/>
              </a:ext>
            </a:extLst>
          </p:cNvPr>
          <p:cNvSpPr txBox="1"/>
          <p:nvPr/>
        </p:nvSpPr>
        <p:spPr>
          <a:xfrm>
            <a:off x="5410853" y="2064307"/>
            <a:ext cx="2130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00" dirty="0">
                <a:solidFill>
                  <a:schemeClr val="accent1">
                    <a:lumMod val="75000"/>
                  </a:schemeClr>
                </a:solidFill>
              </a:rPr>
              <a:t>Sun &amp; Turkan (2020). Adv. Eng. Informatics, v.44.</a:t>
            </a:r>
            <a:endParaRPr lang="pt-BR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C66A5DE8-1C39-39F2-76A4-0FB86D0A6654}"/>
              </a:ext>
            </a:extLst>
          </p:cNvPr>
          <p:cNvSpPr txBox="1"/>
          <p:nvPr/>
        </p:nvSpPr>
        <p:spPr>
          <a:xfrm>
            <a:off x="5296952" y="2530685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Integrar BIM + FDS + ABM para prever evacuação e otimizar projeto.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A8ED71C5-A648-31C3-9A81-F4915DFED1A2}"/>
              </a:ext>
            </a:extLst>
          </p:cNvPr>
          <p:cNvSpPr txBox="1"/>
          <p:nvPr/>
        </p:nvSpPr>
        <p:spPr>
          <a:xfrm>
            <a:off x="5328582" y="3097121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Incêndio da boate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Station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(EUA, 2003). 462 ocupantes, 1 pavimento.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8C7B5B06-8525-C0AA-1B58-3B17ABE2C292}"/>
              </a:ext>
            </a:extLst>
          </p:cNvPr>
          <p:cNvSpPr txBox="1"/>
          <p:nvPr/>
        </p:nvSpPr>
        <p:spPr>
          <a:xfrm>
            <a:off x="5373675" y="3759964"/>
            <a:ext cx="2130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Revit +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PyroSim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 (FDS) +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AnyLogic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 (ABM).</a:t>
            </a:r>
            <a:endParaRPr lang="pt-BR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E1F764FA-9173-85CD-25A4-08FF41DB3193}"/>
              </a:ext>
            </a:extLst>
          </p:cNvPr>
          <p:cNvSpPr txBox="1"/>
          <p:nvPr/>
        </p:nvSpPr>
        <p:spPr>
          <a:xfrm>
            <a:off x="5331642" y="4333014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ASET/RSET, nº saídas, largura, ocupação, fumaça, temperatura, velocidade.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07F42018-A44D-516A-43A7-ABA8A8767C7D}"/>
              </a:ext>
            </a:extLst>
          </p:cNvPr>
          <p:cNvSpPr txBox="1"/>
          <p:nvPr/>
        </p:nvSpPr>
        <p:spPr>
          <a:xfrm>
            <a:off x="5271886" y="4898337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RSET = f(saídas, largura, ocupação). Reduzir ocupação de 462→323 otimiza evacuação.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26C42CE0-FF82-7CA6-653F-C61E82A42028}"/>
              </a:ext>
            </a:extLst>
          </p:cNvPr>
          <p:cNvSpPr txBox="1"/>
          <p:nvPr/>
        </p:nvSpPr>
        <p:spPr>
          <a:xfrm>
            <a:off x="5354159" y="5553544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Fatores críticos (humano/edifício/fogo) e ciclo de 4 fases (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pré-alarme→evacuação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).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D72F2B4C-5E68-0506-4813-35E93554A6FA}"/>
              </a:ext>
            </a:extLst>
          </p:cNvPr>
          <p:cNvSpPr txBox="1"/>
          <p:nvPr/>
        </p:nvSpPr>
        <p:spPr>
          <a:xfrm>
            <a:off x="7611659" y="2029957"/>
            <a:ext cx="2130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Lu &amp; Li (2025).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Reliab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. Eng. Syst. Safety, v.260.</a:t>
            </a:r>
            <a:endParaRPr lang="pt-BR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81BF039C-43F2-AF59-ADBF-554EECD32D71}"/>
              </a:ext>
            </a:extLst>
          </p:cNvPr>
          <p:cNvSpPr txBox="1"/>
          <p:nvPr/>
        </p:nvSpPr>
        <p:spPr>
          <a:xfrm>
            <a:off x="7563959" y="2530685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Acoplar FDS + ABM com aprendizagem social para otimizar evacuação.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9FAE47CC-8613-3B30-6140-F6EFC510F077}"/>
              </a:ext>
            </a:extLst>
          </p:cNvPr>
          <p:cNvSpPr txBox="1"/>
          <p:nvPr/>
        </p:nvSpPr>
        <p:spPr>
          <a:xfrm>
            <a:off x="7600326" y="3057152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Incêndio da boate Ala (Taiwan, 2011). ~200 ocupantes, 2 pavimentos.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41E836F9-92B7-E9D6-BAF6-521351E5D828}"/>
              </a:ext>
            </a:extLst>
          </p:cNvPr>
          <p:cNvSpPr txBox="1"/>
          <p:nvPr/>
        </p:nvSpPr>
        <p:spPr>
          <a:xfrm>
            <a:off x="7620650" y="3795353"/>
            <a:ext cx="2130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PyroSim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 (FDS) +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NetLogo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 (ABM) + Random Forest + PSO-GA.</a:t>
            </a:r>
            <a:endParaRPr lang="pt-BR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C52C4703-6B38-E346-C14C-BCD39FE1403F}"/>
              </a:ext>
            </a:extLst>
          </p:cNvPr>
          <p:cNvSpPr txBox="1"/>
          <p:nvPr/>
        </p:nvSpPr>
        <p:spPr>
          <a:xfrm>
            <a:off x="7624146" y="4330113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Tempo, mortos, feridos, pisoteamento, saúde, CO, temperatura,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k_p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k_t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1DF6E05A-CA11-1CE4-A505-A5E70D95607C}"/>
              </a:ext>
            </a:extLst>
          </p:cNvPr>
          <p:cNvSpPr txBox="1"/>
          <p:nvPr/>
        </p:nvSpPr>
        <p:spPr>
          <a:xfrm>
            <a:off x="7600326" y="4902851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Validação &gt;98%. Saída 2º andar aberta: −22,47% tempo. Plano ótimo: −6,77% pisoteamento.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405111DA-B455-CFF4-B69B-F4DCA2C5AC4D}"/>
              </a:ext>
            </a:extLst>
          </p:cNvPr>
          <p:cNvSpPr txBox="1"/>
          <p:nvPr/>
        </p:nvSpPr>
        <p:spPr>
          <a:xfrm>
            <a:off x="7561120" y="5586790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Grid 0,4m, vizinhança de Moore,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Dijkstra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, coeficientes calibrados, evacuação faseada.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FA1920C6-E0DA-35F0-4FA6-BF2F6E5E6937}"/>
              </a:ext>
            </a:extLst>
          </p:cNvPr>
          <p:cNvSpPr txBox="1"/>
          <p:nvPr/>
        </p:nvSpPr>
        <p:spPr>
          <a:xfrm>
            <a:off x="9837370" y="2048156"/>
            <a:ext cx="2130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Tan, Hu &amp; Lin (2015). Information Sciences, v.295.</a:t>
            </a:r>
            <a:endParaRPr lang="pt-BR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500246CA-03B7-FC7F-C06E-EC78F500760C}"/>
              </a:ext>
            </a:extLst>
          </p:cNvPr>
          <p:cNvSpPr txBox="1"/>
          <p:nvPr/>
        </p:nvSpPr>
        <p:spPr>
          <a:xfrm>
            <a:off x="9713570" y="2472445"/>
            <a:ext cx="2253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chemeClr val="accent1">
                    <a:lumMod val="75000"/>
                  </a:schemeClr>
                </a:solidFill>
              </a:rPr>
              <a:t>Combinar comportamento humano com mudança previsível de acessibilidade por dispositivos de segurança contra incêndio.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B398EE01-3E16-0F61-FA22-916284F3AD92}"/>
              </a:ext>
            </a:extLst>
          </p:cNvPr>
          <p:cNvSpPr txBox="1"/>
          <p:nvPr/>
        </p:nvSpPr>
        <p:spPr>
          <a:xfrm>
            <a:off x="9783889" y="3108786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2º andar de prédio universitário (CUHK, Hong Kong). 680 ocupantes, 8 saídas.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AAE2918C-0F5C-6314-4BFF-C302DBF7C883}"/>
              </a:ext>
            </a:extLst>
          </p:cNvPr>
          <p:cNvSpPr txBox="1"/>
          <p:nvPr/>
        </p:nvSpPr>
        <p:spPr>
          <a:xfrm>
            <a:off x="9730480" y="3727508"/>
            <a:ext cx="2130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ArcGIS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+ Agent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Analyst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(ABM) + ontologia semântica BIM + grid.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774998C5-952C-6734-9813-B9DE4ABE1E89}"/>
              </a:ext>
            </a:extLst>
          </p:cNvPr>
          <p:cNvSpPr txBox="1"/>
          <p:nvPr/>
        </p:nvSpPr>
        <p:spPr>
          <a:xfrm>
            <a:off x="9773533" y="4275620"/>
            <a:ext cx="2130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chemeClr val="accent1">
                    <a:lumMod val="75000"/>
                  </a:schemeClr>
                </a:solidFill>
              </a:rPr>
              <a:t>Conhecimento espacial/do evento, visibilidade, distância, repulsão, congestionamento, estresse, estado do dispositivo.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B16A3CDF-E758-F8AC-F66B-FAB8B78BDF75}"/>
              </a:ext>
            </a:extLst>
          </p:cNvPr>
          <p:cNvSpPr txBox="1"/>
          <p:nvPr/>
        </p:nvSpPr>
        <p:spPr>
          <a:xfrm>
            <a:off x="9760488" y="4888993"/>
            <a:ext cx="21522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Falta de conhecimento prévio aumenta tempo; mudança espacial pode equilibrar uso das saídas.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0E4EC975-C097-39C1-DDCB-7243AC1C6642}"/>
              </a:ext>
            </a:extLst>
          </p:cNvPr>
          <p:cNvSpPr txBox="1"/>
          <p:nvPr/>
        </p:nvSpPr>
        <p:spPr>
          <a:xfrm>
            <a:off x="9763327" y="5589032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Grid 40×40cm, sensor visual ray tracing (170°/10m), 5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tipos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agentes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por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conhecimento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pt-BR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47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D5928-B6C2-F50B-C070-52AC9DAED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104688A-FBAE-91D7-B5A8-031EA62A793F}"/>
              </a:ext>
            </a:extLst>
          </p:cNvPr>
          <p:cNvSpPr/>
          <p:nvPr/>
        </p:nvSpPr>
        <p:spPr>
          <a:xfrm>
            <a:off x="801750" y="1452796"/>
            <a:ext cx="11131167" cy="473737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9E3F8EC-54C0-08AB-D73D-D31EC9F4124F}"/>
              </a:ext>
            </a:extLst>
          </p:cNvPr>
          <p:cNvCxnSpPr>
            <a:cxnSpLocks/>
          </p:cNvCxnSpPr>
          <p:nvPr/>
        </p:nvCxnSpPr>
        <p:spPr>
          <a:xfrm>
            <a:off x="801750" y="1997545"/>
            <a:ext cx="11131167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5F9E50E-A477-CF62-B6DB-AF90E291F54A}"/>
              </a:ext>
            </a:extLst>
          </p:cNvPr>
          <p:cNvCxnSpPr>
            <a:cxnSpLocks/>
          </p:cNvCxnSpPr>
          <p:nvPr/>
        </p:nvCxnSpPr>
        <p:spPr>
          <a:xfrm>
            <a:off x="3155843" y="1452796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182F2230-C4BE-F363-D179-9DB74EA1798D}"/>
              </a:ext>
            </a:extLst>
          </p:cNvPr>
          <p:cNvCxnSpPr>
            <a:cxnSpLocks/>
          </p:cNvCxnSpPr>
          <p:nvPr/>
        </p:nvCxnSpPr>
        <p:spPr>
          <a:xfrm>
            <a:off x="5334700" y="1474989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94969A6F-8501-C8CB-C78C-6B6DADBCD66E}"/>
              </a:ext>
            </a:extLst>
          </p:cNvPr>
          <p:cNvCxnSpPr>
            <a:cxnSpLocks/>
          </p:cNvCxnSpPr>
          <p:nvPr/>
        </p:nvCxnSpPr>
        <p:spPr>
          <a:xfrm>
            <a:off x="782292" y="1452796"/>
            <a:ext cx="2383280" cy="5447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EE6E3DC2-7D98-D566-5929-04C66B58C353}"/>
              </a:ext>
            </a:extLst>
          </p:cNvPr>
          <p:cNvCxnSpPr>
            <a:cxnSpLocks/>
          </p:cNvCxnSpPr>
          <p:nvPr/>
        </p:nvCxnSpPr>
        <p:spPr>
          <a:xfrm>
            <a:off x="801750" y="2500141"/>
            <a:ext cx="11131167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4058DB18-2199-E89A-0B45-6C10D44D5E6C}"/>
              </a:ext>
            </a:extLst>
          </p:cNvPr>
          <p:cNvCxnSpPr>
            <a:cxnSpLocks/>
          </p:cNvCxnSpPr>
          <p:nvPr/>
        </p:nvCxnSpPr>
        <p:spPr>
          <a:xfrm>
            <a:off x="801750" y="3059482"/>
            <a:ext cx="11131167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5725AE9F-E25F-E4CA-B30C-3F33331108D2}"/>
              </a:ext>
            </a:extLst>
          </p:cNvPr>
          <p:cNvCxnSpPr>
            <a:cxnSpLocks/>
          </p:cNvCxnSpPr>
          <p:nvPr/>
        </p:nvCxnSpPr>
        <p:spPr>
          <a:xfrm>
            <a:off x="821202" y="3651248"/>
            <a:ext cx="11111715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F37C66E9-48E5-A52E-9206-12AE834EA204}"/>
              </a:ext>
            </a:extLst>
          </p:cNvPr>
          <p:cNvCxnSpPr>
            <a:cxnSpLocks/>
          </p:cNvCxnSpPr>
          <p:nvPr/>
        </p:nvCxnSpPr>
        <p:spPr>
          <a:xfrm>
            <a:off x="811478" y="4290031"/>
            <a:ext cx="11121439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FC6D1FD-71AA-A816-EF27-8B93FAAE2E47}"/>
              </a:ext>
            </a:extLst>
          </p:cNvPr>
          <p:cNvCxnSpPr>
            <a:cxnSpLocks/>
          </p:cNvCxnSpPr>
          <p:nvPr/>
        </p:nvCxnSpPr>
        <p:spPr>
          <a:xfrm>
            <a:off x="811478" y="4909358"/>
            <a:ext cx="11121439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BB7A983-ED3B-56AF-B679-FB36360DA0D8}"/>
              </a:ext>
            </a:extLst>
          </p:cNvPr>
          <p:cNvSpPr txBox="1"/>
          <p:nvPr/>
        </p:nvSpPr>
        <p:spPr>
          <a:xfrm>
            <a:off x="3488909" y="1623187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accent1">
                    <a:lumMod val="75000"/>
                  </a:schemeClr>
                </a:solidFill>
              </a:rPr>
              <a:t>Trabalho Correlato 5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B674144-D28D-9357-EA86-EF3539EAAAE6}"/>
              </a:ext>
            </a:extLst>
          </p:cNvPr>
          <p:cNvSpPr txBox="1"/>
          <p:nvPr/>
        </p:nvSpPr>
        <p:spPr>
          <a:xfrm>
            <a:off x="5664213" y="1621631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accent1">
                    <a:lumMod val="75000"/>
                  </a:schemeClr>
                </a:solidFill>
              </a:rPr>
              <a:t>Trabalho Correlato 6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019D6A2-F1A6-B319-472F-561ACFD9DBD8}"/>
              </a:ext>
            </a:extLst>
          </p:cNvPr>
          <p:cNvSpPr txBox="1"/>
          <p:nvPr/>
        </p:nvSpPr>
        <p:spPr>
          <a:xfrm>
            <a:off x="7915874" y="1633631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accent1">
                    <a:lumMod val="75000"/>
                  </a:schemeClr>
                </a:solidFill>
              </a:rPr>
              <a:t>Trabalho Correlato 7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FDE3FC3-2001-9D53-7B7A-2D5E2E6FF884}"/>
              </a:ext>
            </a:extLst>
          </p:cNvPr>
          <p:cNvSpPr txBox="1"/>
          <p:nvPr/>
        </p:nvSpPr>
        <p:spPr>
          <a:xfrm>
            <a:off x="10088548" y="1621630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accent1">
                    <a:lumMod val="75000"/>
                  </a:schemeClr>
                </a:solidFill>
              </a:rPr>
              <a:t>Trabalho Correlato 8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89C10B5B-6FE2-FD24-580F-D3467798BA9D}"/>
              </a:ext>
            </a:extLst>
          </p:cNvPr>
          <p:cNvCxnSpPr>
            <a:cxnSpLocks/>
          </p:cNvCxnSpPr>
          <p:nvPr/>
        </p:nvCxnSpPr>
        <p:spPr>
          <a:xfrm flipV="1">
            <a:off x="833769" y="5480738"/>
            <a:ext cx="11099148" cy="3822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D26858A-DE39-B304-42D2-AA40AA84EE35}"/>
              </a:ext>
            </a:extLst>
          </p:cNvPr>
          <p:cNvSpPr txBox="1"/>
          <p:nvPr/>
        </p:nvSpPr>
        <p:spPr>
          <a:xfrm>
            <a:off x="1729931" y="1495428"/>
            <a:ext cx="1546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accent1">
                    <a:lumMod val="75000"/>
                  </a:schemeClr>
                </a:solidFill>
              </a:rPr>
              <a:t>ARTIGOS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37089F00-F1AE-7EB1-4F71-65591C49958E}"/>
              </a:ext>
            </a:extLst>
          </p:cNvPr>
          <p:cNvSpPr txBox="1"/>
          <p:nvPr/>
        </p:nvSpPr>
        <p:spPr>
          <a:xfrm>
            <a:off x="671235" y="1671908"/>
            <a:ext cx="1546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accent1">
                    <a:lumMod val="75000"/>
                  </a:schemeClr>
                </a:solidFill>
              </a:rPr>
              <a:t>PARÂMETROS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C5C54AD-B0DF-84AF-89FF-D5477B7455DF}"/>
              </a:ext>
            </a:extLst>
          </p:cNvPr>
          <p:cNvSpPr txBox="1"/>
          <p:nvPr/>
        </p:nvSpPr>
        <p:spPr>
          <a:xfrm>
            <a:off x="810931" y="2144735"/>
            <a:ext cx="1903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Identificação do artigo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FDDEBBF-8F4A-3ABB-441D-58DB17E838CB}"/>
              </a:ext>
            </a:extLst>
          </p:cNvPr>
          <p:cNvSpPr txBox="1"/>
          <p:nvPr/>
        </p:nvSpPr>
        <p:spPr>
          <a:xfrm>
            <a:off x="802154" y="2635293"/>
            <a:ext cx="18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Problema de pesquisa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0A000838-3F7F-6D11-210F-0D388653649A}"/>
              </a:ext>
            </a:extLst>
          </p:cNvPr>
          <p:cNvSpPr txBox="1"/>
          <p:nvPr/>
        </p:nvSpPr>
        <p:spPr>
          <a:xfrm>
            <a:off x="839850" y="3258433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Objeto empírico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87A88A4E-9ED1-39C0-1E21-ED423CCF4E76}"/>
              </a:ext>
            </a:extLst>
          </p:cNvPr>
          <p:cNvSpPr txBox="1"/>
          <p:nvPr/>
        </p:nvSpPr>
        <p:spPr>
          <a:xfrm>
            <a:off x="839849" y="3823928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Método/Ferramenta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288519DA-7966-A70D-D341-21ABA1FE06D4}"/>
              </a:ext>
            </a:extLst>
          </p:cNvPr>
          <p:cNvSpPr txBox="1"/>
          <p:nvPr/>
        </p:nvSpPr>
        <p:spPr>
          <a:xfrm>
            <a:off x="909569" y="4479135"/>
            <a:ext cx="1551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Variáveis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8F06D9AA-2F0A-B8CB-B5BD-42C5D0608460}"/>
              </a:ext>
            </a:extLst>
          </p:cNvPr>
          <p:cNvSpPr txBox="1"/>
          <p:nvPr/>
        </p:nvSpPr>
        <p:spPr>
          <a:xfrm>
            <a:off x="904782" y="5073798"/>
            <a:ext cx="2128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Resultados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0829B2BD-8C92-B0E5-4624-1B8251636334}"/>
              </a:ext>
            </a:extLst>
          </p:cNvPr>
          <p:cNvSpPr txBox="1"/>
          <p:nvPr/>
        </p:nvSpPr>
        <p:spPr>
          <a:xfrm>
            <a:off x="868731" y="5729005"/>
            <a:ext cx="1891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Contribuição</a:t>
            </a:r>
          </a:p>
        </p:txBody>
      </p:sp>
      <p:sp>
        <p:nvSpPr>
          <p:cNvPr id="61" name="Chave Esquerda 60">
            <a:extLst>
              <a:ext uri="{FF2B5EF4-FFF2-40B4-BE49-F238E27FC236}">
                <a16:creationId xmlns:a16="http://schemas.microsoft.com/office/drawing/2014/main" id="{090DEE2A-4308-2954-C3D8-A1E94667A47A}"/>
              </a:ext>
            </a:extLst>
          </p:cNvPr>
          <p:cNvSpPr/>
          <p:nvPr/>
        </p:nvSpPr>
        <p:spPr>
          <a:xfrm rot="5400000">
            <a:off x="6802932" y="-2572500"/>
            <a:ext cx="400400" cy="7694577"/>
          </a:xfrm>
          <a:prstGeom prst="leftBrace">
            <a:avLst>
              <a:gd name="adj1" fmla="val 29797"/>
              <a:gd name="adj2" fmla="val 50000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99EB64E3-8FD4-0BF1-69B4-17F807542905}"/>
              </a:ext>
            </a:extLst>
          </p:cNvPr>
          <p:cNvSpPr txBox="1"/>
          <p:nvPr/>
        </p:nvSpPr>
        <p:spPr>
          <a:xfrm>
            <a:off x="5084694" y="676365"/>
            <a:ext cx="373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Referências Bibliográficas</a:t>
            </a:r>
          </a:p>
        </p:txBody>
      </p:sp>
      <p:sp>
        <p:nvSpPr>
          <p:cNvPr id="63" name="Chave Esquerda 62">
            <a:extLst>
              <a:ext uri="{FF2B5EF4-FFF2-40B4-BE49-F238E27FC236}">
                <a16:creationId xmlns:a16="http://schemas.microsoft.com/office/drawing/2014/main" id="{6C92AE0B-69B7-170C-D2FA-B020F1ED6352}"/>
              </a:ext>
            </a:extLst>
          </p:cNvPr>
          <p:cNvSpPr/>
          <p:nvPr/>
        </p:nvSpPr>
        <p:spPr>
          <a:xfrm>
            <a:off x="398511" y="1997545"/>
            <a:ext cx="400400" cy="4192621"/>
          </a:xfrm>
          <a:prstGeom prst="leftBrace">
            <a:avLst>
              <a:gd name="adj1" fmla="val 29797"/>
              <a:gd name="adj2" fmla="val 50000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16FF8DCF-0234-EFD8-1679-A4B2C641CDB2}"/>
              </a:ext>
            </a:extLst>
          </p:cNvPr>
          <p:cNvSpPr txBox="1"/>
          <p:nvPr/>
        </p:nvSpPr>
        <p:spPr>
          <a:xfrm rot="16200000">
            <a:off x="-1162614" y="3948791"/>
            <a:ext cx="2694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accent1">
                    <a:lumMod val="75000"/>
                  </a:schemeClr>
                </a:solidFill>
              </a:rPr>
              <a:t>Critérios de análise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70307875-953F-AAEF-1935-63E5B9BC9CA9}"/>
              </a:ext>
            </a:extLst>
          </p:cNvPr>
          <p:cNvSpPr txBox="1"/>
          <p:nvPr/>
        </p:nvSpPr>
        <p:spPr>
          <a:xfrm>
            <a:off x="423151" y="503049"/>
            <a:ext cx="4416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11.2.2.2. Matriz de Extração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70AFC2D-93A3-F4F1-CAD4-BAB20B09555D}"/>
              </a:ext>
            </a:extLst>
          </p:cNvPr>
          <p:cNvSpPr txBox="1"/>
          <p:nvPr/>
        </p:nvSpPr>
        <p:spPr>
          <a:xfrm>
            <a:off x="3190772" y="2008698"/>
            <a:ext cx="2130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Pelechano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 &amp;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Malkawi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 (2008). Automation in Construction, v.17.</a:t>
            </a:r>
            <a:endParaRPr lang="pt-BR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2006C25E-6180-369E-BB27-9E890F0D4332}"/>
              </a:ext>
            </a:extLst>
          </p:cNvPr>
          <p:cNvCxnSpPr>
            <a:cxnSpLocks/>
          </p:cNvCxnSpPr>
          <p:nvPr/>
        </p:nvCxnSpPr>
        <p:spPr>
          <a:xfrm>
            <a:off x="7544500" y="1495428"/>
            <a:ext cx="16620" cy="46947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2C6F6A2-43F3-F3E8-499B-541233DDDD55}"/>
              </a:ext>
            </a:extLst>
          </p:cNvPr>
          <p:cNvCxnSpPr>
            <a:cxnSpLocks/>
          </p:cNvCxnSpPr>
          <p:nvPr/>
        </p:nvCxnSpPr>
        <p:spPr>
          <a:xfrm>
            <a:off x="9790876" y="1558144"/>
            <a:ext cx="0" cy="46320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9C3A4811-1EF7-A879-54A9-990B2470665A}"/>
              </a:ext>
            </a:extLst>
          </p:cNvPr>
          <p:cNvSpPr txBox="1"/>
          <p:nvPr/>
        </p:nvSpPr>
        <p:spPr>
          <a:xfrm>
            <a:off x="3167729" y="2517523"/>
            <a:ext cx="220594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chemeClr val="accent1">
                    <a:lumMod val="75000"/>
                  </a:schemeClr>
                </a:solidFill>
              </a:rPr>
              <a:t>Avaliar limitações de modelos de autômatos celulares (CA) na simulação de evacuação de edifícios altos.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6A8E52AC-97AB-E384-1E95-DA3724643DD3}"/>
              </a:ext>
            </a:extLst>
          </p:cNvPr>
          <p:cNvSpPr txBox="1"/>
          <p:nvPr/>
        </p:nvSpPr>
        <p:spPr>
          <a:xfrm>
            <a:off x="3146436" y="3080826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Revisão crítica de softwares (STEPS, EXODUS); dados do World Trade Center (11/09/2001).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F2FA271D-3CFD-958C-9C54-2029438DC3CB}"/>
              </a:ext>
            </a:extLst>
          </p:cNvPr>
          <p:cNvSpPr txBox="1"/>
          <p:nvPr/>
        </p:nvSpPr>
        <p:spPr>
          <a:xfrm>
            <a:off x="3158683" y="3674541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Análise comparativa de CA (STEPS, EXODUS), forças sociais, regras (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boids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), filas.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3666A15D-1FB5-A0E3-5A8F-C7E03BBA63C9}"/>
              </a:ext>
            </a:extLst>
          </p:cNvPr>
          <p:cNvSpPr txBox="1"/>
          <p:nvPr/>
        </p:nvSpPr>
        <p:spPr>
          <a:xfrm>
            <a:off x="3146436" y="4337979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Tamanho da célula, fadiga, contrafluxo, rota, densidade, fluxo, comunicação, papéis.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08EE5E90-6F6F-760F-A210-4703551B4BCF}"/>
              </a:ext>
            </a:extLst>
          </p:cNvPr>
          <p:cNvSpPr txBox="1"/>
          <p:nvPr/>
        </p:nvSpPr>
        <p:spPr>
          <a:xfrm>
            <a:off x="3097384" y="4926482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CA distorce densidades, fluxos e rotas (45°); fadiga e contrafluxo subestimam tempo real.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AFF35568-9886-471F-B521-210DDE622F78}"/>
              </a:ext>
            </a:extLst>
          </p:cNvPr>
          <p:cNvSpPr txBox="1"/>
          <p:nvPr/>
        </p:nvSpPr>
        <p:spPr>
          <a:xfrm>
            <a:off x="3179669" y="5556311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Alerta sobre artefatos do grid; recomenda fadiga, comunicação, papéis, escolha dinâmica.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8801FC1D-99AD-DDE7-15D1-415F87DDEBB1}"/>
              </a:ext>
            </a:extLst>
          </p:cNvPr>
          <p:cNvSpPr txBox="1"/>
          <p:nvPr/>
        </p:nvSpPr>
        <p:spPr>
          <a:xfrm>
            <a:off x="5410853" y="2064307"/>
            <a:ext cx="2130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00" dirty="0">
                <a:solidFill>
                  <a:schemeClr val="accent1">
                    <a:lumMod val="75000"/>
                  </a:schemeClr>
                </a:solidFill>
              </a:rPr>
              <a:t>Zhao et al. (2022). Safety Science, v.145.</a:t>
            </a:r>
            <a:endParaRPr lang="pt-BR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24722265-5130-392F-B98B-15ECFD96E792}"/>
              </a:ext>
            </a:extLst>
          </p:cNvPr>
          <p:cNvSpPr txBox="1"/>
          <p:nvPr/>
        </p:nvSpPr>
        <p:spPr>
          <a:xfrm>
            <a:off x="5369308" y="2530685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Avaliar sinalização adaptativa centralizada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vs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descentralizada para evacuação de incêndio.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25B082BE-74D9-1E65-28C0-98DF771E0932}"/>
              </a:ext>
            </a:extLst>
          </p:cNvPr>
          <p:cNvSpPr txBox="1"/>
          <p:nvPr/>
        </p:nvSpPr>
        <p:spPr>
          <a:xfrm>
            <a:off x="5328582" y="3097121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Museu virtual Cooper Hewitt (3 andares); 85 participantes em VR + agentes simulados.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93E02651-B401-DC0C-7D68-D0EE5347D5FA}"/>
              </a:ext>
            </a:extLst>
          </p:cNvPr>
          <p:cNvSpPr txBox="1"/>
          <p:nvPr/>
        </p:nvSpPr>
        <p:spPr>
          <a:xfrm>
            <a:off x="5373675" y="3759964"/>
            <a:ext cx="2130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VR (Unity) +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experimento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humano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 + ABM +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grafo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direcionado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accent1">
                    <a:lumMod val="75000"/>
                  </a:schemeClr>
                </a:solidFill>
              </a:rPr>
              <a:t>sinais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pt-BR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94AF80BE-AEC5-3FE8-43CF-FDCE5198E425}"/>
              </a:ext>
            </a:extLst>
          </p:cNvPr>
          <p:cNvSpPr txBox="1"/>
          <p:nvPr/>
        </p:nvSpPr>
        <p:spPr>
          <a:xfrm>
            <a:off x="5331642" y="4333014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Direção do sinal, localização do fogo, tempo, distância, dano, estresse, EDA, HRV.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F7ECD588-77D6-859F-8464-E7C6ABDC9964}"/>
              </a:ext>
            </a:extLst>
          </p:cNvPr>
          <p:cNvSpPr txBox="1"/>
          <p:nvPr/>
        </p:nvSpPr>
        <p:spPr>
          <a:xfrm>
            <a:off x="5364545" y="4897015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Sinais adaptativos: sobrevivência 94%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vs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45%; menos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distresse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, dano e tempo.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8DFAD811-ED7A-7FFF-393B-F5925D2747A4}"/>
              </a:ext>
            </a:extLst>
          </p:cNvPr>
          <p:cNvSpPr txBox="1"/>
          <p:nvPr/>
        </p:nvSpPr>
        <p:spPr>
          <a:xfrm>
            <a:off x="5354159" y="5553544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Lógica de agentes com memória, modos exploração/seguir-sinal, cone visual de 120°.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5FFA478F-9DEC-825D-F176-3E2EC2B4C6E8}"/>
              </a:ext>
            </a:extLst>
          </p:cNvPr>
          <p:cNvSpPr txBox="1"/>
          <p:nvPr/>
        </p:nvSpPr>
        <p:spPr>
          <a:xfrm>
            <a:off x="7611659" y="2029957"/>
            <a:ext cx="2130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Haghani &amp; Sarvi (2016). Fire Safety Journal, v.85.</a:t>
            </a:r>
            <a:endParaRPr lang="pt-BR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8085AE70-3D4A-C989-2AC6-30B267DCAFBF}"/>
              </a:ext>
            </a:extLst>
          </p:cNvPr>
          <p:cNvSpPr txBox="1"/>
          <p:nvPr/>
        </p:nvSpPr>
        <p:spPr>
          <a:xfrm>
            <a:off x="7556972" y="2500141"/>
            <a:ext cx="22269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chemeClr val="accent1">
                    <a:lumMod val="75000"/>
                  </a:schemeClr>
                </a:solidFill>
              </a:rPr>
              <a:t>Quantificar diferenças comportamentais na escolha de saída entre egresso normal e emergência.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3DE3FBDB-9279-2893-6A18-BA76C0E0CD02}"/>
              </a:ext>
            </a:extLst>
          </p:cNvPr>
          <p:cNvSpPr txBox="1"/>
          <p:nvPr/>
        </p:nvSpPr>
        <p:spPr>
          <a:xfrm>
            <a:off x="7534069" y="3057152"/>
            <a:ext cx="22637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Estação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Flinders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Street (Melbourne, Austrália). 105 passageiros entrevistados, 6 saídas.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9FF8ACDC-471C-E347-4C7A-F2F65D2AB0F4}"/>
              </a:ext>
            </a:extLst>
          </p:cNvPr>
          <p:cNvSpPr txBox="1"/>
          <p:nvPr/>
        </p:nvSpPr>
        <p:spPr>
          <a:xfrm>
            <a:off x="7595727" y="3694565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Stated-choice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survey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+ modelo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logit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misto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multinomial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com componentes de erro.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E6E1C1FC-FA06-82B2-C57A-7CF1016ED47E}"/>
              </a:ext>
            </a:extLst>
          </p:cNvPr>
          <p:cNvSpPr txBox="1"/>
          <p:nvPr/>
        </p:nvSpPr>
        <p:spPr>
          <a:xfrm>
            <a:off x="7541007" y="4330113"/>
            <a:ext cx="22428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Distância, aglomeração, fluxo direcional, visibilidade, proximidade do destino, distribuição.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02B3C16A-5D56-6E26-A7B7-E3DC58F3EE84}"/>
              </a:ext>
            </a:extLst>
          </p:cNvPr>
          <p:cNvSpPr txBox="1"/>
          <p:nvPr/>
        </p:nvSpPr>
        <p:spPr>
          <a:xfrm>
            <a:off x="7600326" y="4902851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Em emergência: aglomeração pesa mais; maioria evita seguir fluxos; visibilidade modera "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herding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".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E71E22FF-73A9-E87B-04D9-383624284102}"/>
              </a:ext>
            </a:extLst>
          </p:cNvPr>
          <p:cNvSpPr txBox="1"/>
          <p:nvPr/>
        </p:nvSpPr>
        <p:spPr>
          <a:xfrm>
            <a:off x="7561120" y="5540004"/>
            <a:ext cx="22297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Coeficientes de utilidade calibrados para regra de escolha de saída por agente heterogêneo.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44976299-D645-AB80-5A9B-108D2E959D0C}"/>
              </a:ext>
            </a:extLst>
          </p:cNvPr>
          <p:cNvSpPr txBox="1"/>
          <p:nvPr/>
        </p:nvSpPr>
        <p:spPr>
          <a:xfrm>
            <a:off x="9837370" y="2048156"/>
            <a:ext cx="2130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Mirahadi, McCabe &amp; Shahi (2019). Automation in Construction, v.101.</a:t>
            </a:r>
            <a:endParaRPr lang="pt-BR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597DB57D-61E6-CC3C-13B5-D20D263BCCF9}"/>
              </a:ext>
            </a:extLst>
          </p:cNvPr>
          <p:cNvSpPr txBox="1"/>
          <p:nvPr/>
        </p:nvSpPr>
        <p:spPr>
          <a:xfrm>
            <a:off x="9668580" y="2516566"/>
            <a:ext cx="22539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chemeClr val="accent1">
                    <a:lumMod val="75000"/>
                  </a:schemeClr>
                </a:solidFill>
              </a:rPr>
              <a:t>Integrar BIM (IFC) + FDS + ABM com índices de risco espaço-temporais (RRI/CRI).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BD765AD6-8CB9-EF7B-4238-CBDA22BAB1CE}"/>
              </a:ext>
            </a:extLst>
          </p:cNvPr>
          <p:cNvSpPr txBox="1"/>
          <p:nvPr/>
        </p:nvSpPr>
        <p:spPr>
          <a:xfrm>
            <a:off x="9783888" y="3080929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Edifício de escritórios de 2 andares, 59 compartimentos, 400 agentes simulados.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5FEC406D-0B12-CD49-1357-660FE2783F95}"/>
              </a:ext>
            </a:extLst>
          </p:cNvPr>
          <p:cNvSpPr txBox="1"/>
          <p:nvPr/>
        </p:nvSpPr>
        <p:spPr>
          <a:xfrm>
            <a:off x="9741813" y="3672594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>
                <a:solidFill>
                  <a:schemeClr val="accent1">
                    <a:lumMod val="75000"/>
                  </a:schemeClr>
                </a:solidFill>
              </a:rPr>
              <a:t>BIM/IFC + CYPECAD MEP (FDS) + MassMotion (ABM) + MATLAB (grafo).</a:t>
            </a:r>
            <a:endParaRPr lang="pt-BR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C15F3D05-52DC-44A0-6EFF-0380CFD48733}"/>
              </a:ext>
            </a:extLst>
          </p:cNvPr>
          <p:cNvSpPr txBox="1"/>
          <p:nvPr/>
        </p:nvSpPr>
        <p:spPr>
          <a:xfrm>
            <a:off x="9782560" y="4331453"/>
            <a:ext cx="213015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chemeClr val="accent1">
                    <a:lumMod val="75000"/>
                  </a:schemeClr>
                </a:solidFill>
              </a:rPr>
              <a:t>ALET, RRI, CRI, tempo, distância, fumaça, temperatura, congestionamento, </a:t>
            </a:r>
            <a:r>
              <a:rPr lang="pt-BR" sz="900" dirty="0" err="1">
                <a:solidFill>
                  <a:schemeClr val="accent1">
                    <a:lumMod val="75000"/>
                  </a:schemeClr>
                </a:solidFill>
              </a:rPr>
              <a:t>tenabilidade</a:t>
            </a:r>
            <a:r>
              <a:rPr lang="pt-BR" sz="9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C19C6131-DE7F-E720-F360-36D8384D90E2}"/>
              </a:ext>
            </a:extLst>
          </p:cNvPr>
          <p:cNvSpPr txBox="1"/>
          <p:nvPr/>
        </p:nvSpPr>
        <p:spPr>
          <a:xfrm>
            <a:off x="9760488" y="4888993"/>
            <a:ext cx="21522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Rota mais curta nem sempre é mais segura; RRI detecta rotas bloqueadas e zonas críticas.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7CA9987F-81C4-3AB1-D050-2BB44ED33102}"/>
              </a:ext>
            </a:extLst>
          </p:cNvPr>
          <p:cNvSpPr txBox="1"/>
          <p:nvPr/>
        </p:nvSpPr>
        <p:spPr>
          <a:xfrm>
            <a:off x="9782560" y="5561050"/>
            <a:ext cx="21301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Índices RRI/CRI por compartimento e rota; agentes "obedientes" </a:t>
            </a:r>
            <a:r>
              <a:rPr lang="pt-BR" sz="1000" dirty="0" err="1">
                <a:solidFill>
                  <a:schemeClr val="accent1">
                    <a:lumMod val="75000"/>
                  </a:schemeClr>
                </a:solidFill>
              </a:rPr>
              <a:t>vs</a:t>
            </a:r>
            <a:r>
              <a:rPr lang="pt-BR" sz="1000" dirty="0">
                <a:solidFill>
                  <a:schemeClr val="accent1">
                    <a:lumMod val="75000"/>
                  </a:schemeClr>
                </a:solidFill>
              </a:rPr>
              <a:t> "livres" para validação.</a:t>
            </a:r>
          </a:p>
        </p:txBody>
      </p:sp>
    </p:spTree>
    <p:extLst>
      <p:ext uri="{BB962C8B-B14F-4D97-AF65-F5344CB8AC3E}">
        <p14:creationId xmlns:p14="http://schemas.microsoft.com/office/powerpoint/2010/main" val="2455440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1573</Words>
  <Application>Microsoft Office PowerPoint</Application>
  <PresentationFormat>Widescreen</PresentationFormat>
  <Paragraphs>189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Lucas Fritzke</cp:lastModifiedBy>
  <cp:revision>5</cp:revision>
  <dcterms:created xsi:type="dcterms:W3CDTF">2026-04-13T15:47:06Z</dcterms:created>
  <dcterms:modified xsi:type="dcterms:W3CDTF">2026-05-08T01:30:25Z</dcterms:modified>
</cp:coreProperties>
</file>