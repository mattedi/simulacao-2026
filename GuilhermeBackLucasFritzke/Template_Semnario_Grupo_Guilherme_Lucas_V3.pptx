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64" r:id="rId5"/>
    <p:sldId id="265" r:id="rId6"/>
    <p:sldId id="263" r:id="rId7"/>
    <p:sldId id="1698" r:id="rId8"/>
    <p:sldId id="696" r:id="rId9"/>
    <p:sldId id="1699" r:id="rId10"/>
    <p:sldId id="1700" r:id="rId11"/>
    <p:sldId id="1701" r:id="rId12"/>
    <p:sldId id="259" r:id="rId13"/>
    <p:sldId id="260" r:id="rId14"/>
    <p:sldId id="261" r:id="rId15"/>
    <p:sldId id="262" r:id="rId16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12C88EB-6C78-4020-B43B-75C8DD609EB8}" v="3" dt="2026-05-04T09:50:32.8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7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433CB-0624-41BF-866C-207C81F879F3}" type="datetimeFigureOut">
              <a:rPr lang="pt-BR" smtClean="0"/>
              <a:t>08/05/2026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AB23EC-8EA9-49E9-A0AC-3EEEAF31A3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3304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00C17B-0A72-4CE8-B023-6D1C17B7998B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411122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46843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930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CB716D76-4EE0-34BB-3FE4-746A7B7F99B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73990" y="106734"/>
            <a:ext cx="461935" cy="235953"/>
          </a:xfrm>
          <a:prstGeom prst="rect">
            <a:avLst/>
          </a:prstGeom>
        </p:spPr>
      </p:pic>
      <p:pic>
        <p:nvPicPr>
          <p:cNvPr id="8" name="Imagem 7" descr="Uma imagem contendo placar, desenho&#10;&#10;Descrição gerada automaticamente">
            <a:extLst>
              <a:ext uri="{FF2B5EF4-FFF2-40B4-BE49-F238E27FC236}">
                <a16:creationId xmlns:a16="http://schemas.microsoft.com/office/drawing/2014/main" id="{144D06B7-FB8A-8452-1AF8-C83CE1E98BFE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53" t="15342" r="9314" b="15342"/>
          <a:stretch/>
        </p:blipFill>
        <p:spPr>
          <a:xfrm>
            <a:off x="11676211" y="121127"/>
            <a:ext cx="341799" cy="219153"/>
          </a:xfrm>
          <a:prstGeom prst="rect">
            <a:avLst/>
          </a:prstGeom>
        </p:spPr>
      </p:pic>
      <p:sp>
        <p:nvSpPr>
          <p:cNvPr id="9" name="Retângulo 8">
            <a:extLst>
              <a:ext uri="{FF2B5EF4-FFF2-40B4-BE49-F238E27FC236}">
                <a16:creationId xmlns:a16="http://schemas.microsoft.com/office/drawing/2014/main" id="{501361FC-2F74-AE7E-3415-1ABF301AF2E0}"/>
              </a:ext>
            </a:extLst>
          </p:cNvPr>
          <p:cNvSpPr/>
          <p:nvPr userDrawn="1"/>
        </p:nvSpPr>
        <p:spPr>
          <a:xfrm>
            <a:off x="-1" y="96669"/>
            <a:ext cx="12192000" cy="318404"/>
          </a:xfrm>
          <a:prstGeom prst="rect">
            <a:avLst/>
          </a:prstGeom>
          <a:solidFill>
            <a:schemeClr val="bg1">
              <a:lumMod val="65000"/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pic>
        <p:nvPicPr>
          <p:cNvPr id="10" name="Imagem 9" descr="Interface gráfica do usuário, Texto&#10;&#10;O conteúdo gerado por IA pode estar incorreto.">
            <a:extLst>
              <a:ext uri="{FF2B5EF4-FFF2-40B4-BE49-F238E27FC236}">
                <a16:creationId xmlns:a16="http://schemas.microsoft.com/office/drawing/2014/main" id="{EC9A2412-8527-050F-1760-1D795B65936E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858" b="41998"/>
          <a:stretch>
            <a:fillRect/>
          </a:stretch>
        </p:blipFill>
        <p:spPr>
          <a:xfrm>
            <a:off x="5840282" y="77509"/>
            <a:ext cx="511435" cy="262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63590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11E991F-1419-1468-BE10-D2AF9BD832EA}"/>
              </a:ext>
            </a:extLst>
          </p:cNvPr>
          <p:cNvSpPr txBox="1"/>
          <p:nvPr/>
        </p:nvSpPr>
        <p:spPr>
          <a:xfrm>
            <a:off x="2794000" y="2455610"/>
            <a:ext cx="70307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Título: </a:t>
            </a:r>
          </a:p>
          <a:p>
            <a:endParaRPr lang="pt-BR" b="1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B5BC1B5-ED1C-9832-E853-1E5DCBBF6E7D}"/>
              </a:ext>
            </a:extLst>
          </p:cNvPr>
          <p:cNvSpPr txBox="1"/>
          <p:nvPr/>
        </p:nvSpPr>
        <p:spPr>
          <a:xfrm>
            <a:off x="2086532" y="864415"/>
            <a:ext cx="77381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1650"/>
              </a:spcBef>
              <a:spcAft>
                <a:spcPts val="825"/>
              </a:spcAft>
              <a:buNone/>
            </a:pPr>
            <a:r>
              <a:rPr lang="pt-BR" b="1" i="0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MÓDULO V - SEMINÁRIO DE APRESETNTAÇÃO DOS RESULTADOS</a:t>
            </a:r>
            <a:endParaRPr lang="pt-BR" b="0" i="0" dirty="0">
              <a:solidFill>
                <a:schemeClr val="tx2">
                  <a:lumMod val="90000"/>
                  <a:lumOff val="1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7E728AB-E81F-068E-0D0C-8111400D7157}"/>
              </a:ext>
            </a:extLst>
          </p:cNvPr>
          <p:cNvSpPr txBox="1"/>
          <p:nvPr/>
        </p:nvSpPr>
        <p:spPr>
          <a:xfrm>
            <a:off x="7630677" y="3993765"/>
            <a:ext cx="34923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Autores: Guilherme W. Back e Lucas Fritzke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113F2793-2F9E-906C-DEE3-567571E01F74}"/>
              </a:ext>
            </a:extLst>
          </p:cNvPr>
          <p:cNvSpPr txBox="1"/>
          <p:nvPr/>
        </p:nvSpPr>
        <p:spPr>
          <a:xfrm>
            <a:off x="4719217" y="5993585"/>
            <a:ext cx="26084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Junho de 2026</a:t>
            </a:r>
          </a:p>
        </p:txBody>
      </p:sp>
    </p:spTree>
    <p:extLst>
      <p:ext uri="{BB962C8B-B14F-4D97-AF65-F5344CB8AC3E}">
        <p14:creationId xmlns:p14="http://schemas.microsoft.com/office/powerpoint/2010/main" val="65292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A4752B93-B681-AFAB-6EB7-F01A288E8400}"/>
              </a:ext>
            </a:extLst>
          </p:cNvPr>
          <p:cNvSpPr txBox="1"/>
          <p:nvPr/>
        </p:nvSpPr>
        <p:spPr>
          <a:xfrm>
            <a:off x="2528595" y="905070"/>
            <a:ext cx="5896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Estrutura da Apresentação</a:t>
            </a:r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F3C4A689-4D83-44CA-EE9C-67A96D08DF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199999"/>
              </p:ext>
            </p:extLst>
          </p:nvPr>
        </p:nvGraphicFramePr>
        <p:xfrm>
          <a:off x="1259659" y="1448045"/>
          <a:ext cx="9377239" cy="4354870"/>
        </p:xfrm>
        <a:graphic>
          <a:graphicData uri="http://schemas.openxmlformats.org/drawingml/2006/table">
            <a:tbl>
              <a:tblPr/>
              <a:tblGrid>
                <a:gridCol w="858390">
                  <a:extLst>
                    <a:ext uri="{9D8B030D-6E8A-4147-A177-3AD203B41FA5}">
                      <a16:colId xmlns:a16="http://schemas.microsoft.com/office/drawing/2014/main" val="3535084583"/>
                    </a:ext>
                  </a:extLst>
                </a:gridCol>
                <a:gridCol w="2211355">
                  <a:extLst>
                    <a:ext uri="{9D8B030D-6E8A-4147-A177-3AD203B41FA5}">
                      <a16:colId xmlns:a16="http://schemas.microsoft.com/office/drawing/2014/main" val="1130658036"/>
                    </a:ext>
                  </a:extLst>
                </a:gridCol>
                <a:gridCol w="6307494">
                  <a:extLst>
                    <a:ext uri="{9D8B030D-6E8A-4147-A177-3AD203B41FA5}">
                      <a16:colId xmlns:a16="http://schemas.microsoft.com/office/drawing/2014/main" val="3729648614"/>
                    </a:ext>
                  </a:extLst>
                </a:gridCol>
              </a:tblGrid>
              <a:tr h="3000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>
                          <a:solidFill>
                            <a:srgbClr val="FF0000"/>
                          </a:solidFill>
                        </a:rPr>
                        <a:t>Etapa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>
                          <a:solidFill>
                            <a:srgbClr val="FF0000"/>
                          </a:solidFill>
                        </a:rPr>
                        <a:t>Nome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 dirty="0">
                          <a:solidFill>
                            <a:srgbClr val="FF0000"/>
                          </a:solidFill>
                        </a:rPr>
                        <a:t>Descrição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9879018"/>
                  </a:ext>
                </a:extLst>
              </a:tr>
              <a:tr h="75023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1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50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Sistema de Referência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50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Define o problema real a ser estudado (ex: evacuação de um prédio).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14737026"/>
                  </a:ext>
                </a:extLst>
              </a:tr>
              <a:tr h="75023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2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50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Modelagem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50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Representação simplificada do sistema real (regras, agentes, ambiente).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944287"/>
                  </a:ext>
                </a:extLst>
              </a:tr>
              <a:tr h="75023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3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50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Formalismo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5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Tradução do modelo para linguagem formal/matemática ou lógica.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0143428"/>
                  </a:ext>
                </a:extLst>
              </a:tr>
              <a:tr h="75023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4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50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Computador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50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Implementação do modelo em código (programação da simulação).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2816725"/>
                  </a:ext>
                </a:extLst>
              </a:tr>
              <a:tr h="52516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5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50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Execução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5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Rodar a simulação com diferentes parâmetros e cenários.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9231444"/>
                  </a:ext>
                </a:extLst>
              </a:tr>
              <a:tr h="52516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6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5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Observação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500" dirty="0">
                          <a:solidFill>
                            <a:schemeClr val="tx2">
                              <a:lumMod val="90000"/>
                              <a:lumOff val="10000"/>
                            </a:schemeClr>
                          </a:solidFill>
                        </a:rPr>
                        <a:t>Análise dos resultados obtidos (gráficos, métricas, conclusões).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47126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54860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20F32-FD66-0C26-75DA-A9DDED95F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544EB669-D9BB-1EF5-9A40-55EB1D8A7DED}"/>
              </a:ext>
            </a:extLst>
          </p:cNvPr>
          <p:cNvSpPr txBox="1"/>
          <p:nvPr/>
        </p:nvSpPr>
        <p:spPr>
          <a:xfrm>
            <a:off x="2480387" y="2957805"/>
            <a:ext cx="72312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4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1. Sistema de Referência</a:t>
            </a:r>
          </a:p>
        </p:txBody>
      </p:sp>
    </p:spTree>
    <p:extLst>
      <p:ext uri="{BB962C8B-B14F-4D97-AF65-F5344CB8AC3E}">
        <p14:creationId xmlns:p14="http://schemas.microsoft.com/office/powerpoint/2010/main" val="19055649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3B92D-B05C-9361-9A3A-327B5745C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693018B4-D443-47CA-E977-7071909C5C0C}"/>
              </a:ext>
            </a:extLst>
          </p:cNvPr>
          <p:cNvSpPr txBox="1"/>
          <p:nvPr/>
        </p:nvSpPr>
        <p:spPr>
          <a:xfrm>
            <a:off x="496646" y="1146469"/>
            <a:ext cx="106477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8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1.1 </a:t>
            </a:r>
            <a:r>
              <a:rPr lang="en-US" sz="2800" b="1" dirty="0" err="1">
                <a:solidFill>
                  <a:schemeClr val="tx2">
                    <a:lumMod val="90000"/>
                    <a:lumOff val="10000"/>
                  </a:schemeClr>
                </a:solidFill>
              </a:rPr>
              <a:t>Delimitação</a:t>
            </a:r>
            <a:r>
              <a:rPr lang="en-US" sz="28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 do Sistema de </a:t>
            </a:r>
            <a:r>
              <a:rPr lang="en-US" sz="2800" b="1" dirty="0" err="1">
                <a:solidFill>
                  <a:schemeClr val="tx2">
                    <a:lumMod val="90000"/>
                    <a:lumOff val="10000"/>
                  </a:schemeClr>
                </a:solidFill>
              </a:rPr>
              <a:t>Referência</a:t>
            </a:r>
            <a:r>
              <a:rPr lang="en-US" sz="28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 (S)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AEAA23C0-E94E-5446-8FFB-3AC8EDE1FBE6}"/>
              </a:ext>
            </a:extLst>
          </p:cNvPr>
          <p:cNvSpPr txBox="1"/>
          <p:nvPr/>
        </p:nvSpPr>
        <p:spPr>
          <a:xfrm>
            <a:off x="496646" y="1762175"/>
            <a:ext cx="105683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i="1" dirty="0" err="1">
                <a:solidFill>
                  <a:srgbClr val="156082"/>
                </a:solidFill>
                <a:ea typeface="Calibri" pitchFamily="34" charset="-122"/>
                <a:cs typeface="Calibri" pitchFamily="34" charset="-120"/>
              </a:rPr>
              <a:t>Fenômeno</a:t>
            </a:r>
            <a:r>
              <a:rPr lang="en-US" sz="1800" i="1" dirty="0">
                <a:solidFill>
                  <a:srgbClr val="156082"/>
                </a:solidFill>
                <a:ea typeface="Calibri" pitchFamily="34" charset="-122"/>
                <a:cs typeface="Calibri" pitchFamily="34" charset="-120"/>
              </a:rPr>
              <a:t>: </a:t>
            </a:r>
            <a:r>
              <a:rPr lang="en-US" sz="1800" i="1" dirty="0" err="1">
                <a:solidFill>
                  <a:srgbClr val="156082"/>
                </a:solidFill>
                <a:ea typeface="Calibri" pitchFamily="34" charset="-122"/>
                <a:cs typeface="Calibri" pitchFamily="34" charset="-120"/>
              </a:rPr>
              <a:t>Evacuação</a:t>
            </a:r>
            <a:r>
              <a:rPr lang="en-US" sz="1800" i="1" dirty="0">
                <a:solidFill>
                  <a:srgbClr val="156082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i="1" dirty="0" err="1">
                <a:solidFill>
                  <a:srgbClr val="156082"/>
                </a:solidFill>
                <a:ea typeface="Calibri" pitchFamily="34" charset="-122"/>
                <a:cs typeface="Calibri" pitchFamily="34" charset="-120"/>
              </a:rPr>
              <a:t>emergencial</a:t>
            </a:r>
            <a:r>
              <a:rPr lang="en-US" sz="1800" i="1" dirty="0">
                <a:solidFill>
                  <a:srgbClr val="156082"/>
                </a:solidFill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800" i="1" dirty="0" err="1">
                <a:solidFill>
                  <a:srgbClr val="156082"/>
                </a:solidFill>
                <a:ea typeface="Calibri" pitchFamily="34" charset="-122"/>
                <a:cs typeface="Calibri" pitchFamily="34" charset="-120"/>
              </a:rPr>
              <a:t>edifício</a:t>
            </a:r>
            <a:r>
              <a:rPr lang="en-US" sz="1800" i="1" dirty="0">
                <a:solidFill>
                  <a:srgbClr val="156082"/>
                </a:solidFill>
                <a:ea typeface="Calibri" pitchFamily="34" charset="-122"/>
                <a:cs typeface="Calibri" pitchFamily="34" charset="-120"/>
              </a:rPr>
              <a:t> de 30 </a:t>
            </a:r>
            <a:r>
              <a:rPr lang="en-US" sz="1800" i="1" dirty="0" err="1">
                <a:solidFill>
                  <a:srgbClr val="156082"/>
                </a:solidFill>
                <a:ea typeface="Calibri" pitchFamily="34" charset="-122"/>
                <a:cs typeface="Calibri" pitchFamily="34" charset="-120"/>
              </a:rPr>
              <a:t>andares</a:t>
            </a:r>
            <a:r>
              <a:rPr lang="en-US" sz="1800" i="1" dirty="0">
                <a:solidFill>
                  <a:srgbClr val="156082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i="1" dirty="0" err="1">
                <a:solidFill>
                  <a:srgbClr val="156082"/>
                </a:solidFill>
                <a:ea typeface="Calibri" pitchFamily="34" charset="-122"/>
                <a:cs typeface="Calibri" pitchFamily="34" charset="-120"/>
              </a:rPr>
              <a:t>em</a:t>
            </a:r>
            <a:r>
              <a:rPr lang="en-US" sz="1800" i="1" dirty="0">
                <a:solidFill>
                  <a:srgbClr val="156082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i="1" dirty="0" err="1">
                <a:solidFill>
                  <a:srgbClr val="156082"/>
                </a:solidFill>
                <a:ea typeface="Calibri" pitchFamily="34" charset="-122"/>
                <a:cs typeface="Calibri" pitchFamily="34" charset="-120"/>
              </a:rPr>
              <a:t>situação</a:t>
            </a:r>
            <a:r>
              <a:rPr lang="en-US" sz="1800" i="1" dirty="0">
                <a:solidFill>
                  <a:srgbClr val="156082"/>
                </a:solidFill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800" i="1" dirty="0" err="1">
                <a:solidFill>
                  <a:srgbClr val="156082"/>
                </a:solidFill>
                <a:ea typeface="Calibri" pitchFamily="34" charset="-122"/>
                <a:cs typeface="Calibri" pitchFamily="34" charset="-120"/>
              </a:rPr>
              <a:t>incêndio</a:t>
            </a:r>
            <a:endParaRPr lang="en-US" sz="1800" dirty="0"/>
          </a:p>
        </p:txBody>
      </p:sp>
      <p:graphicFrame>
        <p:nvGraphicFramePr>
          <p:cNvPr id="5" name="Tabela 4">
            <a:extLst>
              <a:ext uri="{FF2B5EF4-FFF2-40B4-BE49-F238E27FC236}">
                <a16:creationId xmlns:a16="http://schemas.microsoft.com/office/drawing/2014/main" id="{53B20AF9-A18E-DC89-B52E-6249DD2082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0237112"/>
              </p:ext>
            </p:extLst>
          </p:nvPr>
        </p:nvGraphicFramePr>
        <p:xfrm>
          <a:off x="609600" y="2316480"/>
          <a:ext cx="11297920" cy="4287519"/>
        </p:xfrm>
        <a:graphic>
          <a:graphicData uri="http://schemas.openxmlformats.org/drawingml/2006/table">
            <a:tbl>
              <a:tblPr/>
              <a:tblGrid>
                <a:gridCol w="2824481">
                  <a:extLst>
                    <a:ext uri="{9D8B030D-6E8A-4147-A177-3AD203B41FA5}">
                      <a16:colId xmlns:a16="http://schemas.microsoft.com/office/drawing/2014/main" val="1113624060"/>
                    </a:ext>
                  </a:extLst>
                </a:gridCol>
                <a:gridCol w="8473439">
                  <a:extLst>
                    <a:ext uri="{9D8B030D-6E8A-4147-A177-3AD203B41FA5}">
                      <a16:colId xmlns:a16="http://schemas.microsoft.com/office/drawing/2014/main" val="2867945562"/>
                    </a:ext>
                  </a:extLst>
                </a:gridCol>
              </a:tblGrid>
              <a:tr h="37957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Critério</a:t>
                      </a:r>
                      <a:endParaRPr lang="en-US" sz="1800" dirty="0"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Definição</a:t>
                      </a:r>
                      <a:endParaRPr lang="en-US" sz="1800" dirty="0"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8440986"/>
                  </a:ext>
                </a:extLst>
              </a:tr>
              <a:tr h="54300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E2841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Tipo Ontológico</a:t>
                      </a:r>
                      <a:endParaRPr lang="en-US" sz="1400" dirty="0"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4A5568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Físico — causalidade energética (propagação do fogo/fumaça) e mecânica (movimentação dos agentes)</a:t>
                      </a:r>
                      <a:endParaRPr lang="en-US" sz="1400" dirty="0"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3023356"/>
                  </a:ext>
                </a:extLst>
              </a:tr>
              <a:tr h="59646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E2841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Fronteira Espacial</a:t>
                      </a:r>
                      <a:endParaRPr lang="en-US" sz="1400" dirty="0"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4A5568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Edifício de 30 andares (0 a 29); cada andar representado como grade 2D de 20×20 células com corredores, salas, escadas e saídas</a:t>
                      </a:r>
                      <a:endParaRPr lang="en-US" sz="1400" dirty="0"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8564216"/>
                  </a:ext>
                </a:extLst>
              </a:tr>
              <a:tr h="54300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E2841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Fronteira Temporal</a:t>
                      </a:r>
                      <a:endParaRPr lang="en-US" sz="1400" dirty="0"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4A5568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Início do incêndio até evacuação total ou término da simulação; granularidade discreta </a:t>
                      </a:r>
                      <a:r>
                        <a:rPr lang="en-US" sz="1400" dirty="0" err="1">
                          <a:solidFill>
                            <a:srgbClr val="4A5568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por</a:t>
                      </a:r>
                      <a:r>
                        <a:rPr lang="en-US" sz="1400" dirty="0">
                          <a:solidFill>
                            <a:srgbClr val="4A5568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 tick</a:t>
                      </a:r>
                      <a:endParaRPr lang="en-US" sz="1400" dirty="0"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5036500"/>
                  </a:ext>
                </a:extLst>
              </a:tr>
              <a:tr h="54300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E2841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Fronteira Funcional</a:t>
                      </a:r>
                      <a:endParaRPr lang="en-US" sz="1400" dirty="0"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4A5568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Propagação de fogo, dispersão de fumaça, movimentação de ocupantes e ação de brigadistas dentro do edifício</a:t>
                      </a:r>
                      <a:endParaRPr lang="en-US" sz="1400" dirty="0"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1536174"/>
                  </a:ext>
                </a:extLst>
              </a:tr>
              <a:tr h="54300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E2841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Escala</a:t>
                      </a:r>
                      <a:endParaRPr lang="en-US" sz="1400" dirty="0"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4A5568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Espacial: meso (edifício, resolução por </a:t>
                      </a:r>
                      <a:r>
                        <a:rPr lang="en-US" sz="1400" dirty="0" err="1">
                          <a:solidFill>
                            <a:srgbClr val="4A5568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célula</a:t>
                      </a:r>
                      <a:r>
                        <a:rPr lang="en-US" sz="1400" dirty="0">
                          <a:solidFill>
                            <a:srgbClr val="4A5568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); Temporal: evento (</a:t>
                      </a:r>
                      <a:r>
                        <a:rPr lang="en-US" sz="1400" dirty="0" err="1">
                          <a:solidFill>
                            <a:srgbClr val="4A5568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minutos</a:t>
                      </a:r>
                      <a:r>
                        <a:rPr lang="en-US" sz="1400" dirty="0">
                          <a:solidFill>
                            <a:srgbClr val="4A5568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); Ontológica: elementar (agentes individuais)</a:t>
                      </a:r>
                      <a:endParaRPr lang="en-US" sz="1400" dirty="0"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7606673"/>
                  </a:ext>
                </a:extLst>
              </a:tr>
              <a:tr h="59646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E2841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Entidades</a:t>
                      </a:r>
                      <a:endParaRPr lang="en-US" sz="1400" dirty="0"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4A5568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Ocupantes (adultos vel. 1.0, idosos vel. 0.6, PcD vel. 0.4), brigadistas (vel. 1.5), fogo, fumaça, escadas (fluxo limitado), corredores, saídas de emergência</a:t>
                      </a:r>
                      <a:endParaRPr lang="en-US" sz="1400" dirty="0"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6101071"/>
                  </a:ext>
                </a:extLst>
              </a:tr>
              <a:tr h="54300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E2841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Regime de Observação</a:t>
                      </a:r>
                      <a:endParaRPr lang="en-US" sz="1400" dirty="0"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4A5568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Instrumentado e automatizado: coleta de métricas a tick</a:t>
                      </a:r>
                      <a:endParaRPr lang="en-US" sz="1400" dirty="0"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26475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80496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E031F-1E27-6414-8F65-D5DA8FDE6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F0A95469-7CBC-E0BA-0488-FF184F4831B5}"/>
              </a:ext>
            </a:extLst>
          </p:cNvPr>
          <p:cNvSpPr txBox="1"/>
          <p:nvPr/>
        </p:nvSpPr>
        <p:spPr>
          <a:xfrm>
            <a:off x="793100" y="1161663"/>
            <a:ext cx="106477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8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1.2 </a:t>
            </a:r>
            <a:r>
              <a:rPr lang="en-US" sz="2800" b="1" dirty="0" err="1">
                <a:solidFill>
                  <a:schemeClr val="tx2">
                    <a:lumMod val="90000"/>
                    <a:lumOff val="10000"/>
                  </a:schemeClr>
                </a:solidFill>
              </a:rPr>
              <a:t>Observáveis</a:t>
            </a:r>
            <a:r>
              <a:rPr lang="en-US" sz="28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 </a:t>
            </a:r>
            <a:r>
              <a:rPr lang="en-US" sz="2800" b="1" dirty="0" err="1">
                <a:solidFill>
                  <a:schemeClr val="tx2">
                    <a:lumMod val="90000"/>
                    <a:lumOff val="10000"/>
                  </a:schemeClr>
                </a:solidFill>
              </a:rPr>
              <a:t>Prioritários</a:t>
            </a:r>
            <a:r>
              <a:rPr lang="en-US" sz="28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 e </a:t>
            </a:r>
            <a:r>
              <a:rPr lang="en-US" sz="2800" b="1" dirty="0" err="1">
                <a:solidFill>
                  <a:schemeClr val="tx2">
                    <a:lumMod val="90000"/>
                    <a:lumOff val="10000"/>
                  </a:schemeClr>
                </a:solidFill>
              </a:rPr>
              <a:t>Exclusões</a:t>
            </a:r>
            <a:r>
              <a:rPr lang="en-US" sz="28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 </a:t>
            </a:r>
            <a:r>
              <a:rPr lang="en-US" sz="2800" b="1" dirty="0" err="1">
                <a:solidFill>
                  <a:schemeClr val="tx2">
                    <a:lumMod val="90000"/>
                    <a:lumOff val="10000"/>
                  </a:schemeClr>
                </a:solidFill>
              </a:rPr>
              <a:t>Conscientes</a:t>
            </a:r>
            <a:endParaRPr lang="en-US" sz="2800" b="1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BF1773F-1B89-134E-915F-04F52C177C72}"/>
              </a:ext>
            </a:extLst>
          </p:cNvPr>
          <p:cNvSpPr/>
          <p:nvPr/>
        </p:nvSpPr>
        <p:spPr>
          <a:xfrm>
            <a:off x="793099" y="2081872"/>
            <a:ext cx="4680489" cy="491490"/>
          </a:xfrm>
          <a:prstGeom prst="rect">
            <a:avLst/>
          </a:prstGeom>
          <a:solidFill>
            <a:srgbClr val="15608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621E26D-F7CA-C208-C7C2-DD4B24D819EE}"/>
              </a:ext>
            </a:extLst>
          </p:cNvPr>
          <p:cNvSpPr/>
          <p:nvPr/>
        </p:nvSpPr>
        <p:spPr>
          <a:xfrm>
            <a:off x="793099" y="2107355"/>
            <a:ext cx="4680489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Observáveis Prioritários</a:t>
            </a:r>
            <a:endParaRPr lang="en-US" sz="1300" dirty="0"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1BE1A9AF-5CF9-1CB5-98E5-1A6C2A3A6C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182721"/>
              </p:ext>
            </p:extLst>
          </p:nvPr>
        </p:nvGraphicFramePr>
        <p:xfrm>
          <a:off x="793099" y="2624328"/>
          <a:ext cx="4680488" cy="3145539"/>
        </p:xfrm>
        <a:graphic>
          <a:graphicData uri="http://schemas.openxmlformats.org/drawingml/2006/table">
            <a:tbl>
              <a:tblPr/>
              <a:tblGrid>
                <a:gridCol w="17384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420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404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Observável</a:t>
                      </a:r>
                      <a:endParaRPr lang="en-US" sz="1200" dirty="0"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Descrição</a:t>
                      </a:r>
                      <a:endParaRPr lang="en-US" sz="1200" dirty="0"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69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E2841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Taxa de evacuação</a:t>
                      </a:r>
                      <a:endParaRPr lang="en-US" sz="1100" dirty="0"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Evacuados / total ao término</a:t>
                      </a:r>
                      <a:endParaRPr lang="en-US" sz="1100" dirty="0"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69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E2841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Tempo médio de evacuação</a:t>
                      </a:r>
                      <a:endParaRPr lang="en-US" sz="1100" dirty="0"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Média e σ de steps por andar e total</a:t>
                      </a:r>
                      <a:endParaRPr lang="en-US" sz="1100" dirty="0"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69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E2841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Nº de vítimas</a:t>
                      </a:r>
                      <a:endParaRPr lang="en-US" sz="1100" dirty="0"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Mortos + feridos por rodada</a:t>
                      </a:r>
                      <a:endParaRPr lang="en-US" sz="1100" dirty="0"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69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E2841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Mapa de calor</a:t>
                      </a:r>
                      <a:endParaRPr lang="en-US" sz="1100" dirty="0"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Densidade acumulada por célula</a:t>
                      </a:r>
                      <a:endParaRPr lang="en-US" sz="1100" dirty="0"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69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E2841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Gargalos</a:t>
                      </a:r>
                      <a:endParaRPr lang="en-US" sz="1100" dirty="0"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Top-5 células com maior congestionamento</a:t>
                      </a:r>
                      <a:endParaRPr lang="en-US" sz="1100" dirty="0"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69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E2841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Evolução temporal</a:t>
                      </a:r>
                      <a:endParaRPr lang="en-US" sz="1100" dirty="0"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Evacuados, mortos e área em chamas por step</a:t>
                      </a:r>
                      <a:endParaRPr lang="en-US" sz="1100" dirty="0"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Shape 3">
            <a:extLst>
              <a:ext uri="{FF2B5EF4-FFF2-40B4-BE49-F238E27FC236}">
                <a16:creationId xmlns:a16="http://schemas.microsoft.com/office/drawing/2014/main" id="{CB057D1B-EEB4-71B4-84CF-B56C9CF8A653}"/>
              </a:ext>
            </a:extLst>
          </p:cNvPr>
          <p:cNvSpPr/>
          <p:nvPr/>
        </p:nvSpPr>
        <p:spPr>
          <a:xfrm>
            <a:off x="6462379" y="2081872"/>
            <a:ext cx="4748545" cy="491490"/>
          </a:xfrm>
          <a:prstGeom prst="rect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BC3AD19F-F4AE-219F-8764-5659690DCABD}"/>
              </a:ext>
            </a:extLst>
          </p:cNvPr>
          <p:cNvSpPr/>
          <p:nvPr/>
        </p:nvSpPr>
        <p:spPr>
          <a:xfrm>
            <a:off x="6645449" y="2105945"/>
            <a:ext cx="4382404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Exclusões Conscientes</a:t>
            </a:r>
            <a:endParaRPr lang="en-US" sz="1300" dirty="0"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8" name="Table 1">
            <a:extLst>
              <a:ext uri="{FF2B5EF4-FFF2-40B4-BE49-F238E27FC236}">
                <a16:creationId xmlns:a16="http://schemas.microsoft.com/office/drawing/2014/main" id="{247B5909-35F1-F6D1-5DBA-E37C86DBAB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0453905"/>
              </p:ext>
            </p:extLst>
          </p:nvPr>
        </p:nvGraphicFramePr>
        <p:xfrm>
          <a:off x="6462379" y="2624328"/>
          <a:ext cx="4748545" cy="3120058"/>
        </p:xfrm>
        <a:graphic>
          <a:graphicData uri="http://schemas.openxmlformats.org/drawingml/2006/table">
            <a:tbl>
              <a:tblPr/>
              <a:tblGrid>
                <a:gridCol w="17735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49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217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Elemento Excluído</a:t>
                      </a:r>
                      <a:endParaRPr lang="en-US" sz="1200" dirty="0"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Justificativa</a:t>
                      </a:r>
                      <a:endParaRPr lang="en-US" sz="1200" dirty="0"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80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E2841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Estados psicológicos profundos</a:t>
                      </a:r>
                      <a:endParaRPr lang="en-US" sz="1100" dirty="0"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Inobserváveis; pânico é operacionalizado como variável [0,1]</a:t>
                      </a:r>
                      <a:endParaRPr lang="en-US" sz="1100" dirty="0"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080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E2841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Condições climáticas externas</a:t>
                      </a:r>
                      <a:endParaRPr lang="en-US" sz="1100" dirty="0"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Foco no interior do edifício; vento e chuva não modelados</a:t>
                      </a:r>
                      <a:endParaRPr lang="en-US" sz="1100" dirty="0"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8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E2841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Políticas públicas / fiscalização</a:t>
                      </a:r>
                      <a:endParaRPr lang="en-US" sz="1100" dirty="0"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Regime causal institucional incompatível com ontologia física</a:t>
                      </a:r>
                      <a:endParaRPr lang="en-US" sz="1100" dirty="0"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0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E2841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Dimensões simbólicas</a:t>
                      </a:r>
                      <a:endParaRPr lang="en-US" sz="1100" dirty="0"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Percepção cultural de risco, crenças — não formalizáveis</a:t>
                      </a:r>
                      <a:endParaRPr lang="en-US" sz="1100" dirty="0"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80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E2841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Combate direto ao incêndio</a:t>
                      </a:r>
                      <a:endParaRPr lang="en-US" sz="1100" dirty="0"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Brigadistas orientam evacuação, não combatem o fogo</a:t>
                      </a:r>
                      <a:endParaRPr lang="en-US" sz="1100" dirty="0"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0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E2841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Elevadores</a:t>
                      </a:r>
                      <a:endParaRPr lang="en-US" sz="1100" dirty="0"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Bloqueados conforme ABNT NBR 9077 — não participam da evacuação</a:t>
                      </a:r>
                      <a:endParaRPr lang="en-US" sz="1100" dirty="0"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75578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A29C7-645E-D5F5-D652-B5F194475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BB722FD8-4BE1-DF7D-4ADC-581BB2C92B46}"/>
              </a:ext>
            </a:extLst>
          </p:cNvPr>
          <p:cNvSpPr txBox="1"/>
          <p:nvPr/>
        </p:nvSpPr>
        <p:spPr>
          <a:xfrm>
            <a:off x="2480387" y="2957805"/>
            <a:ext cx="72312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4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2. Modelagem</a:t>
            </a:r>
          </a:p>
        </p:txBody>
      </p:sp>
    </p:spTree>
    <p:extLst>
      <p:ext uri="{BB962C8B-B14F-4D97-AF65-F5344CB8AC3E}">
        <p14:creationId xmlns:p14="http://schemas.microsoft.com/office/powerpoint/2010/main" val="17649019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E618911F-C30D-EE7A-E712-E08E56536012}"/>
              </a:ext>
            </a:extLst>
          </p:cNvPr>
          <p:cNvSpPr/>
          <p:nvPr/>
        </p:nvSpPr>
        <p:spPr>
          <a:xfrm>
            <a:off x="880796" y="631371"/>
            <a:ext cx="1630018" cy="816429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bg1"/>
                </a:solidFill>
              </a:rPr>
              <a:t>1. Identificação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39AB7694-572B-A7B5-F667-35D85E86B910}"/>
              </a:ext>
            </a:extLst>
          </p:cNvPr>
          <p:cNvSpPr/>
          <p:nvPr/>
        </p:nvSpPr>
        <p:spPr>
          <a:xfrm>
            <a:off x="3519398" y="615043"/>
            <a:ext cx="4565373" cy="881744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bg1"/>
                </a:solidFill>
              </a:rPr>
              <a:t>Artigos identificados por meio de busca em banco de dados:</a:t>
            </a:r>
          </a:p>
          <a:p>
            <a:pPr algn="ctr"/>
            <a:r>
              <a:rPr lang="pt-BR" sz="1200" dirty="0">
                <a:solidFill>
                  <a:schemeClr val="bg1"/>
                </a:solidFill>
              </a:rPr>
              <a:t> Web of Science (n= )</a:t>
            </a:r>
          </a:p>
          <a:p>
            <a:pPr algn="ctr"/>
            <a:r>
              <a:rPr lang="pt-BR" sz="1200" dirty="0">
                <a:solidFill>
                  <a:schemeClr val="bg1"/>
                </a:solidFill>
              </a:rPr>
              <a:t>Scopus (n= )</a:t>
            </a:r>
          </a:p>
          <a:p>
            <a:pPr algn="ctr"/>
            <a:r>
              <a:rPr lang="pt-BR" sz="1200" dirty="0">
                <a:solidFill>
                  <a:schemeClr val="bg1"/>
                </a:solidFill>
              </a:rPr>
              <a:t>IEEE(n= )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E6598904-72E3-BD06-D0C1-7204C26C27B5}"/>
              </a:ext>
            </a:extLst>
          </p:cNvPr>
          <p:cNvSpPr/>
          <p:nvPr/>
        </p:nvSpPr>
        <p:spPr>
          <a:xfrm>
            <a:off x="9093355" y="615043"/>
            <a:ext cx="1630018" cy="881744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bg1"/>
                </a:solidFill>
              </a:rPr>
              <a:t>Termos de pesquisa aplicados</a:t>
            </a:r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81A9D67D-8C61-D8A9-FD31-999B9D6AE17C}"/>
              </a:ext>
            </a:extLst>
          </p:cNvPr>
          <p:cNvCxnSpPr>
            <a:cxnSpLocks/>
            <a:stCxn id="4" idx="1"/>
            <a:endCxn id="3" idx="3"/>
          </p:cNvCxnSpPr>
          <p:nvPr/>
        </p:nvCxnSpPr>
        <p:spPr>
          <a:xfrm flipH="1">
            <a:off x="8084771" y="1055915"/>
            <a:ext cx="1008584" cy="0"/>
          </a:xfrm>
          <a:prstGeom prst="straightConnector1">
            <a:avLst/>
          </a:prstGeom>
          <a:ln>
            <a:solidFill>
              <a:schemeClr val="tx2">
                <a:lumMod val="90000"/>
                <a:lumOff val="1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00F98B93-4D54-1C0D-BF17-AD5B905C914D}"/>
              </a:ext>
            </a:extLst>
          </p:cNvPr>
          <p:cNvSpPr/>
          <p:nvPr/>
        </p:nvSpPr>
        <p:spPr>
          <a:xfrm>
            <a:off x="3519398" y="1779815"/>
            <a:ext cx="4565373" cy="881744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bg1"/>
                </a:solidFill>
              </a:rPr>
              <a:t> Web of Science (n= )</a:t>
            </a:r>
          </a:p>
          <a:p>
            <a:pPr algn="ctr"/>
            <a:r>
              <a:rPr lang="pt-BR" sz="1200" dirty="0">
                <a:solidFill>
                  <a:schemeClr val="bg1"/>
                </a:solidFill>
              </a:rPr>
              <a:t>Scopus (n= )</a:t>
            </a:r>
          </a:p>
          <a:p>
            <a:pPr algn="ctr"/>
            <a:r>
              <a:rPr lang="pt-BR" sz="1200" dirty="0">
                <a:solidFill>
                  <a:schemeClr val="bg1"/>
                </a:solidFill>
              </a:rPr>
              <a:t>IEEE(n= )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12AD511C-C129-57CB-751D-E2D4854AB865}"/>
              </a:ext>
            </a:extLst>
          </p:cNvPr>
          <p:cNvSpPr/>
          <p:nvPr/>
        </p:nvSpPr>
        <p:spPr>
          <a:xfrm>
            <a:off x="9093355" y="1801589"/>
            <a:ext cx="1630018" cy="865414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bg1"/>
                </a:solidFill>
              </a:rPr>
              <a:t>Termos de pesquisa aplicados</a:t>
            </a:r>
          </a:p>
          <a:p>
            <a:pPr algn="ctr"/>
            <a:r>
              <a:rPr lang="pt-BR" sz="1200" dirty="0">
                <a:solidFill>
                  <a:schemeClr val="bg1"/>
                </a:solidFill>
              </a:rPr>
              <a:t>(#1 &amp; 2)</a:t>
            </a:r>
          </a:p>
        </p:txBody>
      </p:sp>
      <p:cxnSp>
        <p:nvCxnSpPr>
          <p:cNvPr id="14" name="Conector de Seta Reta 13">
            <a:extLst>
              <a:ext uri="{FF2B5EF4-FFF2-40B4-BE49-F238E27FC236}">
                <a16:creationId xmlns:a16="http://schemas.microsoft.com/office/drawing/2014/main" id="{3A10F3A3-7629-F2B0-1488-2523ABBDC592}"/>
              </a:ext>
            </a:extLst>
          </p:cNvPr>
          <p:cNvCxnSpPr>
            <a:cxnSpLocks/>
            <a:stCxn id="11" idx="1"/>
            <a:endCxn id="10" idx="3"/>
          </p:cNvCxnSpPr>
          <p:nvPr/>
        </p:nvCxnSpPr>
        <p:spPr>
          <a:xfrm flipH="1" flipV="1">
            <a:off x="8084771" y="2220687"/>
            <a:ext cx="1008584" cy="13609"/>
          </a:xfrm>
          <a:prstGeom prst="straightConnector1">
            <a:avLst/>
          </a:prstGeom>
          <a:ln>
            <a:solidFill>
              <a:schemeClr val="tx2">
                <a:lumMod val="90000"/>
                <a:lumOff val="1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ector de Seta Reta 16">
            <a:extLst>
              <a:ext uri="{FF2B5EF4-FFF2-40B4-BE49-F238E27FC236}">
                <a16:creationId xmlns:a16="http://schemas.microsoft.com/office/drawing/2014/main" id="{6F2A046C-011B-C34E-4E6E-95FAA8792570}"/>
              </a:ext>
            </a:extLst>
          </p:cNvPr>
          <p:cNvCxnSpPr>
            <a:cxnSpLocks/>
            <a:stCxn id="3" idx="2"/>
            <a:endCxn id="10" idx="0"/>
          </p:cNvCxnSpPr>
          <p:nvPr/>
        </p:nvCxnSpPr>
        <p:spPr>
          <a:xfrm>
            <a:off x="5802085" y="1496787"/>
            <a:ext cx="0" cy="283028"/>
          </a:xfrm>
          <a:prstGeom prst="straightConnector1">
            <a:avLst/>
          </a:prstGeom>
          <a:ln>
            <a:solidFill>
              <a:schemeClr val="tx2">
                <a:lumMod val="90000"/>
                <a:lumOff val="1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29249F0A-4331-C15E-48DB-518EF9D8AF30}"/>
              </a:ext>
            </a:extLst>
          </p:cNvPr>
          <p:cNvSpPr/>
          <p:nvPr/>
        </p:nvSpPr>
        <p:spPr>
          <a:xfrm>
            <a:off x="880796" y="2960914"/>
            <a:ext cx="1630018" cy="881744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2. Triagem</a:t>
            </a:r>
          </a:p>
        </p:txBody>
      </p:sp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C402D7CE-3D8B-6D50-EBC5-1750F01D5CF8}"/>
              </a:ext>
            </a:extLst>
          </p:cNvPr>
          <p:cNvSpPr/>
          <p:nvPr/>
        </p:nvSpPr>
        <p:spPr>
          <a:xfrm>
            <a:off x="3519398" y="2944586"/>
            <a:ext cx="4565373" cy="881744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Artigos selecionados para triagem de resumos (n= )</a:t>
            </a:r>
          </a:p>
        </p:txBody>
      </p:sp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96B2F14A-C8B4-58F8-4704-DC79DCB6054C}"/>
              </a:ext>
            </a:extLst>
          </p:cNvPr>
          <p:cNvSpPr/>
          <p:nvPr/>
        </p:nvSpPr>
        <p:spPr>
          <a:xfrm>
            <a:off x="9172277" y="2944586"/>
            <a:ext cx="1630018" cy="881744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Duplicados removidos</a:t>
            </a:r>
          </a:p>
        </p:txBody>
      </p:sp>
      <p:cxnSp>
        <p:nvCxnSpPr>
          <p:cNvPr id="23" name="Conector de Seta Reta 22">
            <a:extLst>
              <a:ext uri="{FF2B5EF4-FFF2-40B4-BE49-F238E27FC236}">
                <a16:creationId xmlns:a16="http://schemas.microsoft.com/office/drawing/2014/main" id="{2976A488-BB4A-A4F2-558D-6E54C8C9E45C}"/>
              </a:ext>
            </a:extLst>
          </p:cNvPr>
          <p:cNvCxnSpPr>
            <a:cxnSpLocks/>
            <a:stCxn id="22" idx="1"/>
          </p:cNvCxnSpPr>
          <p:nvPr/>
        </p:nvCxnSpPr>
        <p:spPr>
          <a:xfrm flipH="1">
            <a:off x="8242615" y="3385458"/>
            <a:ext cx="929662" cy="0"/>
          </a:xfrm>
          <a:prstGeom prst="straightConnector1">
            <a:avLst/>
          </a:prstGeom>
          <a:ln>
            <a:solidFill>
              <a:schemeClr val="tx2">
                <a:lumMod val="90000"/>
                <a:lumOff val="1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48752AC9-1EFF-644F-1430-281D29146D4F}"/>
              </a:ext>
            </a:extLst>
          </p:cNvPr>
          <p:cNvSpPr/>
          <p:nvPr/>
        </p:nvSpPr>
        <p:spPr>
          <a:xfrm>
            <a:off x="880796" y="4125685"/>
            <a:ext cx="1630018" cy="881744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3. Eligibilidade</a:t>
            </a:r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C9B3F532-4FAE-11A2-4749-49328AA1E632}"/>
              </a:ext>
            </a:extLst>
          </p:cNvPr>
          <p:cNvSpPr/>
          <p:nvPr/>
        </p:nvSpPr>
        <p:spPr>
          <a:xfrm>
            <a:off x="3519398" y="4125685"/>
            <a:ext cx="4565373" cy="881744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Artigos de texto completo avaliados para elegibilidade (n= )</a:t>
            </a:r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F9EF43DD-005E-54BF-84C0-3FD447102B32}"/>
              </a:ext>
            </a:extLst>
          </p:cNvPr>
          <p:cNvSpPr/>
          <p:nvPr/>
        </p:nvSpPr>
        <p:spPr>
          <a:xfrm>
            <a:off x="9172277" y="4125685"/>
            <a:ext cx="1630018" cy="881744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Artigos excluídos: não atenderam aos critérios de inclusão (#3, 4 e 5)</a:t>
            </a:r>
          </a:p>
        </p:txBody>
      </p:sp>
      <p:cxnSp>
        <p:nvCxnSpPr>
          <p:cNvPr id="28" name="Conector de Seta Reta 27">
            <a:extLst>
              <a:ext uri="{FF2B5EF4-FFF2-40B4-BE49-F238E27FC236}">
                <a16:creationId xmlns:a16="http://schemas.microsoft.com/office/drawing/2014/main" id="{01E4EBD7-52F5-C7B3-CC1B-7F4F305BC494}"/>
              </a:ext>
            </a:extLst>
          </p:cNvPr>
          <p:cNvCxnSpPr>
            <a:cxnSpLocks/>
            <a:stCxn id="10" idx="2"/>
            <a:endCxn id="21" idx="0"/>
          </p:cNvCxnSpPr>
          <p:nvPr/>
        </p:nvCxnSpPr>
        <p:spPr>
          <a:xfrm>
            <a:off x="5802085" y="2661559"/>
            <a:ext cx="0" cy="283027"/>
          </a:xfrm>
          <a:prstGeom prst="straightConnector1">
            <a:avLst/>
          </a:prstGeom>
          <a:ln>
            <a:solidFill>
              <a:schemeClr val="tx2">
                <a:lumMod val="90000"/>
                <a:lumOff val="1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ector de Seta Reta 30">
            <a:extLst>
              <a:ext uri="{FF2B5EF4-FFF2-40B4-BE49-F238E27FC236}">
                <a16:creationId xmlns:a16="http://schemas.microsoft.com/office/drawing/2014/main" id="{4C6F9E7B-278E-EC7F-0259-231ED8217010}"/>
              </a:ext>
            </a:extLst>
          </p:cNvPr>
          <p:cNvCxnSpPr>
            <a:cxnSpLocks/>
            <a:stCxn id="21" idx="2"/>
            <a:endCxn id="26" idx="0"/>
          </p:cNvCxnSpPr>
          <p:nvPr/>
        </p:nvCxnSpPr>
        <p:spPr>
          <a:xfrm>
            <a:off x="5802085" y="3826330"/>
            <a:ext cx="0" cy="299355"/>
          </a:xfrm>
          <a:prstGeom prst="straightConnector1">
            <a:avLst/>
          </a:prstGeom>
          <a:ln>
            <a:solidFill>
              <a:schemeClr val="tx2">
                <a:lumMod val="90000"/>
                <a:lumOff val="1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ector de Seta Reta 34">
            <a:extLst>
              <a:ext uri="{FF2B5EF4-FFF2-40B4-BE49-F238E27FC236}">
                <a16:creationId xmlns:a16="http://schemas.microsoft.com/office/drawing/2014/main" id="{269D0BAB-A3ED-BAEE-B2BE-A40F01B772AA}"/>
              </a:ext>
            </a:extLst>
          </p:cNvPr>
          <p:cNvCxnSpPr>
            <a:cxnSpLocks/>
            <a:stCxn id="27" idx="1"/>
            <a:endCxn id="26" idx="3"/>
          </p:cNvCxnSpPr>
          <p:nvPr/>
        </p:nvCxnSpPr>
        <p:spPr>
          <a:xfrm flipH="1">
            <a:off x="8084771" y="4566557"/>
            <a:ext cx="1087506" cy="0"/>
          </a:xfrm>
          <a:prstGeom prst="straightConnector1">
            <a:avLst/>
          </a:prstGeom>
          <a:ln>
            <a:solidFill>
              <a:schemeClr val="tx2">
                <a:lumMod val="90000"/>
                <a:lumOff val="1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tângulo: Cantos Arredondados 37">
            <a:extLst>
              <a:ext uri="{FF2B5EF4-FFF2-40B4-BE49-F238E27FC236}">
                <a16:creationId xmlns:a16="http://schemas.microsoft.com/office/drawing/2014/main" id="{13B59E7E-6D6E-4C1E-C083-E0655AB6DF9F}"/>
              </a:ext>
            </a:extLst>
          </p:cNvPr>
          <p:cNvSpPr/>
          <p:nvPr/>
        </p:nvSpPr>
        <p:spPr>
          <a:xfrm>
            <a:off x="880796" y="5306784"/>
            <a:ext cx="1630018" cy="881744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4. Incluídos</a:t>
            </a:r>
          </a:p>
        </p:txBody>
      </p:sp>
      <p:sp>
        <p:nvSpPr>
          <p:cNvPr id="39" name="Retângulo: Cantos Arredondados 38">
            <a:extLst>
              <a:ext uri="{FF2B5EF4-FFF2-40B4-BE49-F238E27FC236}">
                <a16:creationId xmlns:a16="http://schemas.microsoft.com/office/drawing/2014/main" id="{02DB279C-DA3F-81C6-D407-C6F2DA79A9F6}"/>
              </a:ext>
            </a:extLst>
          </p:cNvPr>
          <p:cNvSpPr/>
          <p:nvPr/>
        </p:nvSpPr>
        <p:spPr>
          <a:xfrm>
            <a:off x="3519398" y="5306784"/>
            <a:ext cx="4565373" cy="881744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Estudos elegíveis incluídos na revisão final (n= )</a:t>
            </a:r>
          </a:p>
        </p:txBody>
      </p:sp>
    </p:spTree>
    <p:extLst>
      <p:ext uri="{BB962C8B-B14F-4D97-AF65-F5344CB8AC3E}">
        <p14:creationId xmlns:p14="http://schemas.microsoft.com/office/powerpoint/2010/main" val="20332686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650D97BE-A3BE-DFAB-0BFA-E03C4446064F}"/>
              </a:ext>
            </a:extLst>
          </p:cNvPr>
          <p:cNvSpPr/>
          <p:nvPr/>
        </p:nvSpPr>
        <p:spPr>
          <a:xfrm>
            <a:off x="801750" y="1452796"/>
            <a:ext cx="11131167" cy="4737370"/>
          </a:xfrm>
          <a:prstGeom prst="rect">
            <a:avLst/>
          </a:prstGeom>
          <a:noFill/>
          <a:ln w="28575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4" name="Conector reto 3">
            <a:extLst>
              <a:ext uri="{FF2B5EF4-FFF2-40B4-BE49-F238E27FC236}">
                <a16:creationId xmlns:a16="http://schemas.microsoft.com/office/drawing/2014/main" id="{91A92EA1-33DF-B7DC-B14C-259A804F4A1F}"/>
              </a:ext>
            </a:extLst>
          </p:cNvPr>
          <p:cNvCxnSpPr>
            <a:cxnSpLocks/>
          </p:cNvCxnSpPr>
          <p:nvPr/>
        </p:nvCxnSpPr>
        <p:spPr>
          <a:xfrm>
            <a:off x="801750" y="1997545"/>
            <a:ext cx="11131167" cy="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C7935336-D13B-A17A-08F0-BA63E9B9F054}"/>
              </a:ext>
            </a:extLst>
          </p:cNvPr>
          <p:cNvCxnSpPr>
            <a:cxnSpLocks/>
          </p:cNvCxnSpPr>
          <p:nvPr/>
        </p:nvCxnSpPr>
        <p:spPr>
          <a:xfrm>
            <a:off x="3155843" y="1452796"/>
            <a:ext cx="0" cy="473737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to 10">
            <a:extLst>
              <a:ext uri="{FF2B5EF4-FFF2-40B4-BE49-F238E27FC236}">
                <a16:creationId xmlns:a16="http://schemas.microsoft.com/office/drawing/2014/main" id="{A20DBF4D-828E-04EC-E110-D1EC6A9B321F}"/>
              </a:ext>
            </a:extLst>
          </p:cNvPr>
          <p:cNvCxnSpPr>
            <a:cxnSpLocks/>
          </p:cNvCxnSpPr>
          <p:nvPr/>
        </p:nvCxnSpPr>
        <p:spPr>
          <a:xfrm>
            <a:off x="5334700" y="1474989"/>
            <a:ext cx="0" cy="473737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reto 14">
            <a:extLst>
              <a:ext uri="{FF2B5EF4-FFF2-40B4-BE49-F238E27FC236}">
                <a16:creationId xmlns:a16="http://schemas.microsoft.com/office/drawing/2014/main" id="{9356BE1D-8240-3DC3-6438-C43317951797}"/>
              </a:ext>
            </a:extLst>
          </p:cNvPr>
          <p:cNvCxnSpPr>
            <a:cxnSpLocks/>
          </p:cNvCxnSpPr>
          <p:nvPr/>
        </p:nvCxnSpPr>
        <p:spPr>
          <a:xfrm>
            <a:off x="782292" y="1452796"/>
            <a:ext cx="2383280" cy="54474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to 20">
            <a:extLst>
              <a:ext uri="{FF2B5EF4-FFF2-40B4-BE49-F238E27FC236}">
                <a16:creationId xmlns:a16="http://schemas.microsoft.com/office/drawing/2014/main" id="{6E20EDF2-A62A-1F18-AEF9-7482B9A3620A}"/>
              </a:ext>
            </a:extLst>
          </p:cNvPr>
          <p:cNvCxnSpPr>
            <a:cxnSpLocks/>
          </p:cNvCxnSpPr>
          <p:nvPr/>
        </p:nvCxnSpPr>
        <p:spPr>
          <a:xfrm>
            <a:off x="801750" y="2500141"/>
            <a:ext cx="11131167" cy="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reto 21">
            <a:extLst>
              <a:ext uri="{FF2B5EF4-FFF2-40B4-BE49-F238E27FC236}">
                <a16:creationId xmlns:a16="http://schemas.microsoft.com/office/drawing/2014/main" id="{7B3348F7-6597-0EB3-512F-8A3E834C4A85}"/>
              </a:ext>
            </a:extLst>
          </p:cNvPr>
          <p:cNvCxnSpPr>
            <a:cxnSpLocks/>
          </p:cNvCxnSpPr>
          <p:nvPr/>
        </p:nvCxnSpPr>
        <p:spPr>
          <a:xfrm>
            <a:off x="801750" y="3059482"/>
            <a:ext cx="11131167" cy="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ector reto 22">
            <a:extLst>
              <a:ext uri="{FF2B5EF4-FFF2-40B4-BE49-F238E27FC236}">
                <a16:creationId xmlns:a16="http://schemas.microsoft.com/office/drawing/2014/main" id="{D31DE727-605E-C112-970F-CFC16578EA84}"/>
              </a:ext>
            </a:extLst>
          </p:cNvPr>
          <p:cNvCxnSpPr>
            <a:cxnSpLocks/>
          </p:cNvCxnSpPr>
          <p:nvPr/>
        </p:nvCxnSpPr>
        <p:spPr>
          <a:xfrm>
            <a:off x="821202" y="3651248"/>
            <a:ext cx="11111715" cy="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ector reto 23">
            <a:extLst>
              <a:ext uri="{FF2B5EF4-FFF2-40B4-BE49-F238E27FC236}">
                <a16:creationId xmlns:a16="http://schemas.microsoft.com/office/drawing/2014/main" id="{51FC4F62-F800-2045-A4D2-C3131C48AD80}"/>
              </a:ext>
            </a:extLst>
          </p:cNvPr>
          <p:cNvCxnSpPr>
            <a:cxnSpLocks/>
          </p:cNvCxnSpPr>
          <p:nvPr/>
        </p:nvCxnSpPr>
        <p:spPr>
          <a:xfrm>
            <a:off x="811478" y="4290031"/>
            <a:ext cx="11121439" cy="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ector reto 24">
            <a:extLst>
              <a:ext uri="{FF2B5EF4-FFF2-40B4-BE49-F238E27FC236}">
                <a16:creationId xmlns:a16="http://schemas.microsoft.com/office/drawing/2014/main" id="{BB959348-E38F-249E-2362-2A34C82C3608}"/>
              </a:ext>
            </a:extLst>
          </p:cNvPr>
          <p:cNvCxnSpPr>
            <a:cxnSpLocks/>
          </p:cNvCxnSpPr>
          <p:nvPr/>
        </p:nvCxnSpPr>
        <p:spPr>
          <a:xfrm>
            <a:off x="811478" y="4909358"/>
            <a:ext cx="11121439" cy="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16DD5D62-2EFB-8DB0-04C8-05BBF580AF3F}"/>
              </a:ext>
            </a:extLst>
          </p:cNvPr>
          <p:cNvSpPr txBox="1"/>
          <p:nvPr/>
        </p:nvSpPr>
        <p:spPr>
          <a:xfrm>
            <a:off x="3488909" y="1623187"/>
            <a:ext cx="15466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accent1">
                    <a:lumMod val="75000"/>
                  </a:schemeClr>
                </a:solidFill>
              </a:rPr>
              <a:t>Trabalho Correlato 1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C0D8A34C-171D-4139-F286-CA80748C147B}"/>
              </a:ext>
            </a:extLst>
          </p:cNvPr>
          <p:cNvSpPr txBox="1"/>
          <p:nvPr/>
        </p:nvSpPr>
        <p:spPr>
          <a:xfrm>
            <a:off x="5664213" y="1621631"/>
            <a:ext cx="15466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accent1">
                    <a:lumMod val="75000"/>
                  </a:schemeClr>
                </a:solidFill>
              </a:rPr>
              <a:t>Trabalho Correlato 2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659F99B9-B138-D1A7-670D-B415040336C0}"/>
              </a:ext>
            </a:extLst>
          </p:cNvPr>
          <p:cNvSpPr txBox="1"/>
          <p:nvPr/>
        </p:nvSpPr>
        <p:spPr>
          <a:xfrm>
            <a:off x="7915874" y="1633631"/>
            <a:ext cx="15466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accent1">
                    <a:lumMod val="75000"/>
                  </a:schemeClr>
                </a:solidFill>
              </a:rPr>
              <a:t>Trabalho Correlato 3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C3998C8F-BAF5-0DD6-3FD7-AFA79201E892}"/>
              </a:ext>
            </a:extLst>
          </p:cNvPr>
          <p:cNvSpPr txBox="1"/>
          <p:nvPr/>
        </p:nvSpPr>
        <p:spPr>
          <a:xfrm>
            <a:off x="10088548" y="1621630"/>
            <a:ext cx="15466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accent1">
                    <a:lumMod val="75000"/>
                  </a:schemeClr>
                </a:solidFill>
              </a:rPr>
              <a:t>Trabalho Correlato 4</a:t>
            </a:r>
          </a:p>
        </p:txBody>
      </p:sp>
      <p:cxnSp>
        <p:nvCxnSpPr>
          <p:cNvPr id="49" name="Conector reto 48">
            <a:extLst>
              <a:ext uri="{FF2B5EF4-FFF2-40B4-BE49-F238E27FC236}">
                <a16:creationId xmlns:a16="http://schemas.microsoft.com/office/drawing/2014/main" id="{9FC8479E-A8C1-98A1-EF2A-F066D92D8B8A}"/>
              </a:ext>
            </a:extLst>
          </p:cNvPr>
          <p:cNvCxnSpPr>
            <a:cxnSpLocks/>
          </p:cNvCxnSpPr>
          <p:nvPr/>
        </p:nvCxnSpPr>
        <p:spPr>
          <a:xfrm flipV="1">
            <a:off x="833769" y="5480738"/>
            <a:ext cx="11099148" cy="3822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CaixaDeTexto 51">
            <a:extLst>
              <a:ext uri="{FF2B5EF4-FFF2-40B4-BE49-F238E27FC236}">
                <a16:creationId xmlns:a16="http://schemas.microsoft.com/office/drawing/2014/main" id="{C2E8CE33-DCE7-B05F-A08B-1302C9906B63}"/>
              </a:ext>
            </a:extLst>
          </p:cNvPr>
          <p:cNvSpPr txBox="1"/>
          <p:nvPr/>
        </p:nvSpPr>
        <p:spPr>
          <a:xfrm>
            <a:off x="1729931" y="1495428"/>
            <a:ext cx="15466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>
                <a:solidFill>
                  <a:schemeClr val="accent1">
                    <a:lumMod val="75000"/>
                  </a:schemeClr>
                </a:solidFill>
              </a:rPr>
              <a:t>ARTIGOS</a:t>
            </a:r>
          </a:p>
        </p:txBody>
      </p:sp>
      <p:sp>
        <p:nvSpPr>
          <p:cNvPr id="53" name="CaixaDeTexto 52">
            <a:extLst>
              <a:ext uri="{FF2B5EF4-FFF2-40B4-BE49-F238E27FC236}">
                <a16:creationId xmlns:a16="http://schemas.microsoft.com/office/drawing/2014/main" id="{64F57D04-3D07-5D19-A63C-67C7976B19B0}"/>
              </a:ext>
            </a:extLst>
          </p:cNvPr>
          <p:cNvSpPr txBox="1"/>
          <p:nvPr/>
        </p:nvSpPr>
        <p:spPr>
          <a:xfrm>
            <a:off x="671235" y="1671908"/>
            <a:ext cx="15466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>
                <a:solidFill>
                  <a:schemeClr val="accent1">
                    <a:lumMod val="75000"/>
                  </a:schemeClr>
                </a:solidFill>
              </a:rPr>
              <a:t>PARÂMETROS</a:t>
            </a:r>
          </a:p>
        </p:txBody>
      </p:sp>
      <p:sp>
        <p:nvSpPr>
          <p:cNvPr id="54" name="CaixaDeTexto 53">
            <a:extLst>
              <a:ext uri="{FF2B5EF4-FFF2-40B4-BE49-F238E27FC236}">
                <a16:creationId xmlns:a16="http://schemas.microsoft.com/office/drawing/2014/main" id="{8BB5DE5D-120D-32F1-B899-3A382B38721F}"/>
              </a:ext>
            </a:extLst>
          </p:cNvPr>
          <p:cNvSpPr txBox="1"/>
          <p:nvPr/>
        </p:nvSpPr>
        <p:spPr>
          <a:xfrm>
            <a:off x="810931" y="2144735"/>
            <a:ext cx="19031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 dirty="0">
                <a:solidFill>
                  <a:schemeClr val="accent1">
                    <a:lumMod val="75000"/>
                  </a:schemeClr>
                </a:solidFill>
              </a:rPr>
              <a:t>Identificação do artigo</a:t>
            </a:r>
          </a:p>
        </p:txBody>
      </p:sp>
      <p:sp>
        <p:nvSpPr>
          <p:cNvPr id="55" name="CaixaDeTexto 54">
            <a:extLst>
              <a:ext uri="{FF2B5EF4-FFF2-40B4-BE49-F238E27FC236}">
                <a16:creationId xmlns:a16="http://schemas.microsoft.com/office/drawing/2014/main" id="{16CCD3D3-0DE3-FAD8-06F7-5607CEB6229C}"/>
              </a:ext>
            </a:extLst>
          </p:cNvPr>
          <p:cNvSpPr txBox="1"/>
          <p:nvPr/>
        </p:nvSpPr>
        <p:spPr>
          <a:xfrm>
            <a:off x="802154" y="2635293"/>
            <a:ext cx="18693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 dirty="0">
                <a:solidFill>
                  <a:schemeClr val="accent1">
                    <a:lumMod val="75000"/>
                  </a:schemeClr>
                </a:solidFill>
              </a:rPr>
              <a:t>Problema de pesquisa</a:t>
            </a:r>
          </a:p>
        </p:txBody>
      </p:sp>
      <p:sp>
        <p:nvSpPr>
          <p:cNvPr id="56" name="CaixaDeTexto 55">
            <a:extLst>
              <a:ext uri="{FF2B5EF4-FFF2-40B4-BE49-F238E27FC236}">
                <a16:creationId xmlns:a16="http://schemas.microsoft.com/office/drawing/2014/main" id="{53252FE9-8B2A-CDAB-14C5-2F5DE6A604E6}"/>
              </a:ext>
            </a:extLst>
          </p:cNvPr>
          <p:cNvSpPr txBox="1"/>
          <p:nvPr/>
        </p:nvSpPr>
        <p:spPr>
          <a:xfrm>
            <a:off x="839850" y="3258433"/>
            <a:ext cx="23865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>
                <a:solidFill>
                  <a:schemeClr val="accent1">
                    <a:lumMod val="75000"/>
                  </a:schemeClr>
                </a:solidFill>
              </a:rPr>
              <a:t>Objeto empírico</a:t>
            </a:r>
          </a:p>
        </p:txBody>
      </p:sp>
      <p:sp>
        <p:nvSpPr>
          <p:cNvPr id="57" name="CaixaDeTexto 56">
            <a:extLst>
              <a:ext uri="{FF2B5EF4-FFF2-40B4-BE49-F238E27FC236}">
                <a16:creationId xmlns:a16="http://schemas.microsoft.com/office/drawing/2014/main" id="{3ECA3BA9-9896-7C70-2DD9-F47CF7ABB646}"/>
              </a:ext>
            </a:extLst>
          </p:cNvPr>
          <p:cNvSpPr txBox="1"/>
          <p:nvPr/>
        </p:nvSpPr>
        <p:spPr>
          <a:xfrm>
            <a:off x="839849" y="3823928"/>
            <a:ext cx="23865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>
                <a:solidFill>
                  <a:schemeClr val="accent1">
                    <a:lumMod val="75000"/>
                  </a:schemeClr>
                </a:solidFill>
              </a:rPr>
              <a:t>Método/Ferramenta</a:t>
            </a:r>
          </a:p>
        </p:txBody>
      </p:sp>
      <p:sp>
        <p:nvSpPr>
          <p:cNvPr id="58" name="CaixaDeTexto 57">
            <a:extLst>
              <a:ext uri="{FF2B5EF4-FFF2-40B4-BE49-F238E27FC236}">
                <a16:creationId xmlns:a16="http://schemas.microsoft.com/office/drawing/2014/main" id="{4B1D5208-7C2B-1AA3-642E-851F9C508FBC}"/>
              </a:ext>
            </a:extLst>
          </p:cNvPr>
          <p:cNvSpPr txBox="1"/>
          <p:nvPr/>
        </p:nvSpPr>
        <p:spPr>
          <a:xfrm>
            <a:off x="909569" y="4479135"/>
            <a:ext cx="15511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>
                <a:solidFill>
                  <a:schemeClr val="accent1">
                    <a:lumMod val="75000"/>
                  </a:schemeClr>
                </a:solidFill>
              </a:rPr>
              <a:t>Variáveis</a:t>
            </a:r>
          </a:p>
        </p:txBody>
      </p: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1A532251-488D-712D-88F0-6182095C08AC}"/>
              </a:ext>
            </a:extLst>
          </p:cNvPr>
          <p:cNvSpPr txBox="1"/>
          <p:nvPr/>
        </p:nvSpPr>
        <p:spPr>
          <a:xfrm>
            <a:off x="904782" y="5073798"/>
            <a:ext cx="21285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>
                <a:solidFill>
                  <a:schemeClr val="accent1">
                    <a:lumMod val="75000"/>
                  </a:schemeClr>
                </a:solidFill>
              </a:rPr>
              <a:t>Resultados</a:t>
            </a:r>
          </a:p>
        </p:txBody>
      </p:sp>
      <p:sp>
        <p:nvSpPr>
          <p:cNvPr id="60" name="CaixaDeTexto 59">
            <a:extLst>
              <a:ext uri="{FF2B5EF4-FFF2-40B4-BE49-F238E27FC236}">
                <a16:creationId xmlns:a16="http://schemas.microsoft.com/office/drawing/2014/main" id="{1AF039B3-A564-0CFD-FDBD-82B9AA9C3FB8}"/>
              </a:ext>
            </a:extLst>
          </p:cNvPr>
          <p:cNvSpPr txBox="1"/>
          <p:nvPr/>
        </p:nvSpPr>
        <p:spPr>
          <a:xfrm>
            <a:off x="868731" y="5729005"/>
            <a:ext cx="189102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>
                <a:solidFill>
                  <a:schemeClr val="accent1">
                    <a:lumMod val="75000"/>
                  </a:schemeClr>
                </a:solidFill>
              </a:rPr>
              <a:t>Contribuição</a:t>
            </a:r>
          </a:p>
        </p:txBody>
      </p:sp>
      <p:sp>
        <p:nvSpPr>
          <p:cNvPr id="61" name="Chave Esquerda 60">
            <a:extLst>
              <a:ext uri="{FF2B5EF4-FFF2-40B4-BE49-F238E27FC236}">
                <a16:creationId xmlns:a16="http://schemas.microsoft.com/office/drawing/2014/main" id="{7D800B8A-4780-D0FB-5D3B-ADEF21910B93}"/>
              </a:ext>
            </a:extLst>
          </p:cNvPr>
          <p:cNvSpPr/>
          <p:nvPr/>
        </p:nvSpPr>
        <p:spPr>
          <a:xfrm rot="5400000">
            <a:off x="6802932" y="-2572500"/>
            <a:ext cx="400400" cy="7694577"/>
          </a:xfrm>
          <a:prstGeom prst="leftBrace">
            <a:avLst>
              <a:gd name="adj1" fmla="val 29797"/>
              <a:gd name="adj2" fmla="val 50000"/>
            </a:avLst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2" name="CaixaDeTexto 61">
            <a:extLst>
              <a:ext uri="{FF2B5EF4-FFF2-40B4-BE49-F238E27FC236}">
                <a16:creationId xmlns:a16="http://schemas.microsoft.com/office/drawing/2014/main" id="{F5730249-D8A2-31E6-C574-CB29CA6EF170}"/>
              </a:ext>
            </a:extLst>
          </p:cNvPr>
          <p:cNvSpPr txBox="1"/>
          <p:nvPr/>
        </p:nvSpPr>
        <p:spPr>
          <a:xfrm>
            <a:off x="5084694" y="676365"/>
            <a:ext cx="373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chemeClr val="accent1">
                    <a:lumMod val="75000"/>
                  </a:schemeClr>
                </a:solidFill>
              </a:rPr>
              <a:t>Referências Bibliográficas</a:t>
            </a:r>
          </a:p>
        </p:txBody>
      </p:sp>
      <p:sp>
        <p:nvSpPr>
          <p:cNvPr id="63" name="Chave Esquerda 62">
            <a:extLst>
              <a:ext uri="{FF2B5EF4-FFF2-40B4-BE49-F238E27FC236}">
                <a16:creationId xmlns:a16="http://schemas.microsoft.com/office/drawing/2014/main" id="{9E018E8D-BF4F-4265-F646-07683F99666E}"/>
              </a:ext>
            </a:extLst>
          </p:cNvPr>
          <p:cNvSpPr/>
          <p:nvPr/>
        </p:nvSpPr>
        <p:spPr>
          <a:xfrm>
            <a:off x="398511" y="1997545"/>
            <a:ext cx="400400" cy="4192621"/>
          </a:xfrm>
          <a:prstGeom prst="leftBrace">
            <a:avLst>
              <a:gd name="adj1" fmla="val 29797"/>
              <a:gd name="adj2" fmla="val 50000"/>
            </a:avLst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4" name="CaixaDeTexto 63">
            <a:extLst>
              <a:ext uri="{FF2B5EF4-FFF2-40B4-BE49-F238E27FC236}">
                <a16:creationId xmlns:a16="http://schemas.microsoft.com/office/drawing/2014/main" id="{0259CCF2-53E8-63E9-C68B-5CBDC3A20CE3}"/>
              </a:ext>
            </a:extLst>
          </p:cNvPr>
          <p:cNvSpPr txBox="1"/>
          <p:nvPr/>
        </p:nvSpPr>
        <p:spPr>
          <a:xfrm rot="16200000">
            <a:off x="-1162614" y="3948791"/>
            <a:ext cx="2694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>
                <a:solidFill>
                  <a:schemeClr val="accent1">
                    <a:lumMod val="75000"/>
                  </a:schemeClr>
                </a:solidFill>
              </a:rPr>
              <a:t>Critérios de análise</a:t>
            </a:r>
          </a:p>
        </p:txBody>
      </p:sp>
      <p:sp>
        <p:nvSpPr>
          <p:cNvPr id="66" name="CaixaDeTexto 65">
            <a:extLst>
              <a:ext uri="{FF2B5EF4-FFF2-40B4-BE49-F238E27FC236}">
                <a16:creationId xmlns:a16="http://schemas.microsoft.com/office/drawing/2014/main" id="{AE4FBCD2-A8B2-6C19-A18D-2DE719DD4F6A}"/>
              </a:ext>
            </a:extLst>
          </p:cNvPr>
          <p:cNvSpPr txBox="1"/>
          <p:nvPr/>
        </p:nvSpPr>
        <p:spPr>
          <a:xfrm>
            <a:off x="423151" y="503049"/>
            <a:ext cx="44163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accent1">
                    <a:lumMod val="75000"/>
                  </a:schemeClr>
                </a:solidFill>
              </a:rPr>
              <a:t>11.2.2.2. Matriz de Extração</a:t>
            </a:r>
          </a:p>
        </p:txBody>
      </p: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92C624E6-9905-2569-0B3E-A0A5694C8A06}"/>
              </a:ext>
            </a:extLst>
          </p:cNvPr>
          <p:cNvSpPr txBox="1"/>
          <p:nvPr/>
        </p:nvSpPr>
        <p:spPr>
          <a:xfrm>
            <a:off x="3192660" y="1963468"/>
            <a:ext cx="21301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accent1">
                    <a:lumMod val="75000"/>
                  </a:schemeClr>
                </a:solidFill>
              </a:rPr>
              <a:t>Ding et al. (2024). Reliability Engineering and System Safety, v.244.</a:t>
            </a:r>
            <a:endParaRPr lang="pt-BR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45" name="Conector reto 44">
            <a:extLst>
              <a:ext uri="{FF2B5EF4-FFF2-40B4-BE49-F238E27FC236}">
                <a16:creationId xmlns:a16="http://schemas.microsoft.com/office/drawing/2014/main" id="{497529B9-CAEF-8445-20D9-3268DD7BAA04}"/>
              </a:ext>
            </a:extLst>
          </p:cNvPr>
          <p:cNvCxnSpPr>
            <a:cxnSpLocks/>
          </p:cNvCxnSpPr>
          <p:nvPr/>
        </p:nvCxnSpPr>
        <p:spPr>
          <a:xfrm>
            <a:off x="7544500" y="1495428"/>
            <a:ext cx="16620" cy="469473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ector reto 46">
            <a:extLst>
              <a:ext uri="{FF2B5EF4-FFF2-40B4-BE49-F238E27FC236}">
                <a16:creationId xmlns:a16="http://schemas.microsoft.com/office/drawing/2014/main" id="{48F97927-4692-267F-3DC5-88D19EC8343B}"/>
              </a:ext>
            </a:extLst>
          </p:cNvPr>
          <p:cNvCxnSpPr>
            <a:cxnSpLocks/>
          </p:cNvCxnSpPr>
          <p:nvPr/>
        </p:nvCxnSpPr>
        <p:spPr>
          <a:xfrm>
            <a:off x="9790876" y="1558144"/>
            <a:ext cx="0" cy="463202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CaixaDeTexto 77">
            <a:extLst>
              <a:ext uri="{FF2B5EF4-FFF2-40B4-BE49-F238E27FC236}">
                <a16:creationId xmlns:a16="http://schemas.microsoft.com/office/drawing/2014/main" id="{6941D547-4BAC-3757-2D96-1381582F1895}"/>
              </a:ext>
            </a:extLst>
          </p:cNvPr>
          <p:cNvSpPr txBox="1"/>
          <p:nvPr/>
        </p:nvSpPr>
        <p:spPr>
          <a:xfrm>
            <a:off x="3167730" y="2517523"/>
            <a:ext cx="21301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Sistema BIM em tempo real para otimizar rotas de evacuação em grandes infraestruturas.</a:t>
            </a:r>
          </a:p>
        </p:txBody>
      </p:sp>
      <p:sp>
        <p:nvSpPr>
          <p:cNvPr id="79" name="CaixaDeTexto 78">
            <a:extLst>
              <a:ext uri="{FF2B5EF4-FFF2-40B4-BE49-F238E27FC236}">
                <a16:creationId xmlns:a16="http://schemas.microsoft.com/office/drawing/2014/main" id="{9262B352-D535-CF31-9D88-6441AA7A2FA0}"/>
              </a:ext>
            </a:extLst>
          </p:cNvPr>
          <p:cNvSpPr txBox="1"/>
          <p:nvPr/>
        </p:nvSpPr>
        <p:spPr>
          <a:xfrm>
            <a:off x="3146436" y="3080826"/>
            <a:ext cx="21301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Estação de metrô </a:t>
            </a:r>
            <a:r>
              <a:rPr lang="pt-BR" sz="1000" dirty="0" err="1">
                <a:solidFill>
                  <a:schemeClr val="accent1">
                    <a:lumMod val="75000"/>
                  </a:schemeClr>
                </a:solidFill>
              </a:rPr>
              <a:t>Chegongmiao</a:t>
            </a:r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 (Shenzhen, China). 1.200 ocupantes, 4 saídas, 2 pavimentos.</a:t>
            </a:r>
          </a:p>
        </p:txBody>
      </p:sp>
      <p:sp>
        <p:nvSpPr>
          <p:cNvPr id="80" name="CaixaDeTexto 79">
            <a:extLst>
              <a:ext uri="{FF2B5EF4-FFF2-40B4-BE49-F238E27FC236}">
                <a16:creationId xmlns:a16="http://schemas.microsoft.com/office/drawing/2014/main" id="{C4BB46E9-0DE1-A4DE-65B5-D3A77E0CAD62}"/>
              </a:ext>
            </a:extLst>
          </p:cNvPr>
          <p:cNvSpPr txBox="1"/>
          <p:nvPr/>
        </p:nvSpPr>
        <p:spPr>
          <a:xfrm>
            <a:off x="3158683" y="3674541"/>
            <a:ext cx="21301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 err="1">
                <a:solidFill>
                  <a:schemeClr val="accent1">
                    <a:lumMod val="75000"/>
                  </a:schemeClr>
                </a:solidFill>
              </a:rPr>
              <a:t>Revit</a:t>
            </a:r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 (BIM) + </a:t>
            </a:r>
            <a:r>
              <a:rPr lang="pt-BR" sz="1000" dirty="0" err="1">
                <a:solidFill>
                  <a:schemeClr val="accent1">
                    <a:lumMod val="75000"/>
                  </a:schemeClr>
                </a:solidFill>
              </a:rPr>
              <a:t>PyroSim</a:t>
            </a:r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 (FDS) + </a:t>
            </a:r>
            <a:r>
              <a:rPr lang="pt-BR" sz="1000" dirty="0" err="1">
                <a:solidFill>
                  <a:schemeClr val="accent1">
                    <a:lumMod val="75000"/>
                  </a:schemeClr>
                </a:solidFill>
              </a:rPr>
              <a:t>AnyLogic</a:t>
            </a:r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 (ABM + força social) + algoritmo de otimização.</a:t>
            </a:r>
          </a:p>
        </p:txBody>
      </p:sp>
      <p:sp>
        <p:nvSpPr>
          <p:cNvPr id="81" name="CaixaDeTexto 80">
            <a:extLst>
              <a:ext uri="{FF2B5EF4-FFF2-40B4-BE49-F238E27FC236}">
                <a16:creationId xmlns:a16="http://schemas.microsoft.com/office/drawing/2014/main" id="{C18BCE4E-F359-C495-F7D1-E25EEFA5A7DD}"/>
              </a:ext>
            </a:extLst>
          </p:cNvPr>
          <p:cNvSpPr txBox="1"/>
          <p:nvPr/>
        </p:nvSpPr>
        <p:spPr>
          <a:xfrm>
            <a:off x="3146436" y="4337979"/>
            <a:ext cx="21301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Temperatura, altura/densidade de fumaça, gênero, idade, velocidade por local (escada/</a:t>
            </a:r>
            <a:r>
              <a:rPr lang="pt-BR" sz="1000" dirty="0" err="1">
                <a:solidFill>
                  <a:schemeClr val="accent1">
                    <a:lumMod val="75000"/>
                  </a:schemeClr>
                </a:solidFill>
              </a:rPr>
              <a:t>aisle</a:t>
            </a:r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/solo).</a:t>
            </a:r>
          </a:p>
        </p:txBody>
      </p:sp>
      <p:sp>
        <p:nvSpPr>
          <p:cNvPr id="82" name="CaixaDeTexto 81">
            <a:extLst>
              <a:ext uri="{FF2B5EF4-FFF2-40B4-BE49-F238E27FC236}">
                <a16:creationId xmlns:a16="http://schemas.microsoft.com/office/drawing/2014/main" id="{452C9EF6-B655-26D8-631F-88DD3989D854}"/>
              </a:ext>
            </a:extLst>
          </p:cNvPr>
          <p:cNvSpPr txBox="1"/>
          <p:nvPr/>
        </p:nvSpPr>
        <p:spPr>
          <a:xfrm>
            <a:off x="3097384" y="4926482"/>
            <a:ext cx="21301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Otimização equilibrou uso das 4 saídas e reduziu tempo total em 12,87% (443s→386s).</a:t>
            </a:r>
          </a:p>
        </p:txBody>
      </p:sp>
      <p:sp>
        <p:nvSpPr>
          <p:cNvPr id="83" name="CaixaDeTexto 82">
            <a:extLst>
              <a:ext uri="{FF2B5EF4-FFF2-40B4-BE49-F238E27FC236}">
                <a16:creationId xmlns:a16="http://schemas.microsoft.com/office/drawing/2014/main" id="{AFCAAB0E-E883-A192-D1DB-6043E575D2FB}"/>
              </a:ext>
            </a:extLst>
          </p:cNvPr>
          <p:cNvSpPr txBox="1"/>
          <p:nvPr/>
        </p:nvSpPr>
        <p:spPr>
          <a:xfrm>
            <a:off x="3179669" y="5556311"/>
            <a:ext cx="21301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Velocidades diferenciadas por idade/gênero e por tipo de via; lógica de saturação de saídas.</a:t>
            </a:r>
          </a:p>
        </p:txBody>
      </p:sp>
      <p:sp>
        <p:nvSpPr>
          <p:cNvPr id="84" name="CaixaDeTexto 83">
            <a:extLst>
              <a:ext uri="{FF2B5EF4-FFF2-40B4-BE49-F238E27FC236}">
                <a16:creationId xmlns:a16="http://schemas.microsoft.com/office/drawing/2014/main" id="{61697A09-2A1D-53E2-96E7-2554F8F8866D}"/>
              </a:ext>
            </a:extLst>
          </p:cNvPr>
          <p:cNvSpPr txBox="1"/>
          <p:nvPr/>
        </p:nvSpPr>
        <p:spPr>
          <a:xfrm>
            <a:off x="5410853" y="2064307"/>
            <a:ext cx="21301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1000" dirty="0">
                <a:solidFill>
                  <a:schemeClr val="accent1">
                    <a:lumMod val="75000"/>
                  </a:schemeClr>
                </a:solidFill>
              </a:rPr>
              <a:t>Sun &amp; Turkan (2020). Adv. Eng. Informatics, v.44.</a:t>
            </a:r>
            <a:endParaRPr lang="pt-BR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5" name="CaixaDeTexto 84">
            <a:extLst>
              <a:ext uri="{FF2B5EF4-FFF2-40B4-BE49-F238E27FC236}">
                <a16:creationId xmlns:a16="http://schemas.microsoft.com/office/drawing/2014/main" id="{C66A5DE8-1C39-39F2-76A4-0FB86D0A6654}"/>
              </a:ext>
            </a:extLst>
          </p:cNvPr>
          <p:cNvSpPr txBox="1"/>
          <p:nvPr/>
        </p:nvSpPr>
        <p:spPr>
          <a:xfrm>
            <a:off x="5296952" y="2530685"/>
            <a:ext cx="21301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Integrar BIM + FDS + ABM para prever evacuação e otimizar projeto.</a:t>
            </a:r>
          </a:p>
        </p:txBody>
      </p:sp>
      <p:sp>
        <p:nvSpPr>
          <p:cNvPr id="86" name="CaixaDeTexto 85">
            <a:extLst>
              <a:ext uri="{FF2B5EF4-FFF2-40B4-BE49-F238E27FC236}">
                <a16:creationId xmlns:a16="http://schemas.microsoft.com/office/drawing/2014/main" id="{A8ED71C5-A648-31C3-9A81-F4915DFED1A2}"/>
              </a:ext>
            </a:extLst>
          </p:cNvPr>
          <p:cNvSpPr txBox="1"/>
          <p:nvPr/>
        </p:nvSpPr>
        <p:spPr>
          <a:xfrm>
            <a:off x="5328582" y="3097121"/>
            <a:ext cx="21301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Incêndio da boate </a:t>
            </a:r>
            <a:r>
              <a:rPr lang="pt-BR" sz="1000" dirty="0" err="1">
                <a:solidFill>
                  <a:schemeClr val="accent1">
                    <a:lumMod val="75000"/>
                  </a:schemeClr>
                </a:solidFill>
              </a:rPr>
              <a:t>Station</a:t>
            </a:r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 (EUA, 2003). 462 ocupantes, 1 pavimento.</a:t>
            </a:r>
          </a:p>
        </p:txBody>
      </p:sp>
      <p:sp>
        <p:nvSpPr>
          <p:cNvPr id="87" name="CaixaDeTexto 86">
            <a:extLst>
              <a:ext uri="{FF2B5EF4-FFF2-40B4-BE49-F238E27FC236}">
                <a16:creationId xmlns:a16="http://schemas.microsoft.com/office/drawing/2014/main" id="{8C7B5B06-8525-C0AA-1B58-3B17ABE2C292}"/>
              </a:ext>
            </a:extLst>
          </p:cNvPr>
          <p:cNvSpPr txBox="1"/>
          <p:nvPr/>
        </p:nvSpPr>
        <p:spPr>
          <a:xfrm>
            <a:off x="5373675" y="3759964"/>
            <a:ext cx="21301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accent1">
                    <a:lumMod val="75000"/>
                  </a:schemeClr>
                </a:solidFill>
              </a:rPr>
              <a:t>Revit + </a:t>
            </a:r>
            <a:r>
              <a:rPr lang="en-US" sz="1000" dirty="0" err="1">
                <a:solidFill>
                  <a:schemeClr val="accent1">
                    <a:lumMod val="75000"/>
                  </a:schemeClr>
                </a:solidFill>
              </a:rPr>
              <a:t>PyroSim</a:t>
            </a:r>
            <a:r>
              <a:rPr lang="en-US" sz="1000" dirty="0">
                <a:solidFill>
                  <a:schemeClr val="accent1">
                    <a:lumMod val="75000"/>
                  </a:schemeClr>
                </a:solidFill>
              </a:rPr>
              <a:t> (FDS) + </a:t>
            </a:r>
            <a:r>
              <a:rPr lang="en-US" sz="1000" dirty="0" err="1">
                <a:solidFill>
                  <a:schemeClr val="accent1">
                    <a:lumMod val="75000"/>
                  </a:schemeClr>
                </a:solidFill>
              </a:rPr>
              <a:t>AnyLogic</a:t>
            </a:r>
            <a:r>
              <a:rPr lang="en-US" sz="1000" dirty="0">
                <a:solidFill>
                  <a:schemeClr val="accent1">
                    <a:lumMod val="75000"/>
                  </a:schemeClr>
                </a:solidFill>
              </a:rPr>
              <a:t> (ABM).</a:t>
            </a:r>
            <a:endParaRPr lang="pt-BR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8" name="CaixaDeTexto 87">
            <a:extLst>
              <a:ext uri="{FF2B5EF4-FFF2-40B4-BE49-F238E27FC236}">
                <a16:creationId xmlns:a16="http://schemas.microsoft.com/office/drawing/2014/main" id="{E1F764FA-9173-85CD-25A4-08FF41DB3193}"/>
              </a:ext>
            </a:extLst>
          </p:cNvPr>
          <p:cNvSpPr txBox="1"/>
          <p:nvPr/>
        </p:nvSpPr>
        <p:spPr>
          <a:xfrm>
            <a:off x="5331642" y="4333014"/>
            <a:ext cx="21301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ASET/RSET, nº saídas, largura, ocupação, fumaça, temperatura, velocidade.</a:t>
            </a:r>
          </a:p>
        </p:txBody>
      </p:sp>
      <p:sp>
        <p:nvSpPr>
          <p:cNvPr id="90" name="CaixaDeTexto 89">
            <a:extLst>
              <a:ext uri="{FF2B5EF4-FFF2-40B4-BE49-F238E27FC236}">
                <a16:creationId xmlns:a16="http://schemas.microsoft.com/office/drawing/2014/main" id="{07F42018-A44D-516A-43A7-ABA8A8767C7D}"/>
              </a:ext>
            </a:extLst>
          </p:cNvPr>
          <p:cNvSpPr txBox="1"/>
          <p:nvPr/>
        </p:nvSpPr>
        <p:spPr>
          <a:xfrm>
            <a:off x="5271886" y="4898337"/>
            <a:ext cx="21301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RSET = f(saídas, largura, ocupação). Reduzir ocupação de 462→323 otimiza evacuação.</a:t>
            </a:r>
          </a:p>
        </p:txBody>
      </p:sp>
      <p:sp>
        <p:nvSpPr>
          <p:cNvPr id="91" name="CaixaDeTexto 90">
            <a:extLst>
              <a:ext uri="{FF2B5EF4-FFF2-40B4-BE49-F238E27FC236}">
                <a16:creationId xmlns:a16="http://schemas.microsoft.com/office/drawing/2014/main" id="{26C42CE0-FF82-7CA6-653F-C61E82A42028}"/>
              </a:ext>
            </a:extLst>
          </p:cNvPr>
          <p:cNvSpPr txBox="1"/>
          <p:nvPr/>
        </p:nvSpPr>
        <p:spPr>
          <a:xfrm>
            <a:off x="5354159" y="5553544"/>
            <a:ext cx="21301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Fatores críticos (humano/edifício/fogo) e ciclo de 4 fases (</a:t>
            </a:r>
            <a:r>
              <a:rPr lang="pt-BR" sz="1000" dirty="0" err="1">
                <a:solidFill>
                  <a:schemeClr val="accent1">
                    <a:lumMod val="75000"/>
                  </a:schemeClr>
                </a:solidFill>
              </a:rPr>
              <a:t>pré-alarme→evacuação</a:t>
            </a:r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).</a:t>
            </a:r>
          </a:p>
        </p:txBody>
      </p:sp>
      <p:sp>
        <p:nvSpPr>
          <p:cNvPr id="92" name="CaixaDeTexto 91">
            <a:extLst>
              <a:ext uri="{FF2B5EF4-FFF2-40B4-BE49-F238E27FC236}">
                <a16:creationId xmlns:a16="http://schemas.microsoft.com/office/drawing/2014/main" id="{D72F2B4C-5E68-0506-4813-35E93554A6FA}"/>
              </a:ext>
            </a:extLst>
          </p:cNvPr>
          <p:cNvSpPr txBox="1"/>
          <p:nvPr/>
        </p:nvSpPr>
        <p:spPr>
          <a:xfrm>
            <a:off x="7611659" y="2029957"/>
            <a:ext cx="21301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accent1">
                    <a:lumMod val="75000"/>
                  </a:schemeClr>
                </a:solidFill>
              </a:rPr>
              <a:t>Lu &amp; Li (2025). </a:t>
            </a:r>
            <a:r>
              <a:rPr lang="en-US" sz="1000" dirty="0" err="1">
                <a:solidFill>
                  <a:schemeClr val="accent1">
                    <a:lumMod val="75000"/>
                  </a:schemeClr>
                </a:solidFill>
              </a:rPr>
              <a:t>Reliab</a:t>
            </a:r>
            <a:r>
              <a:rPr lang="en-US" sz="1000" dirty="0">
                <a:solidFill>
                  <a:schemeClr val="accent1">
                    <a:lumMod val="75000"/>
                  </a:schemeClr>
                </a:solidFill>
              </a:rPr>
              <a:t>. Eng. Syst. Safety, v.260.</a:t>
            </a:r>
            <a:endParaRPr lang="pt-BR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93" name="CaixaDeTexto 92">
            <a:extLst>
              <a:ext uri="{FF2B5EF4-FFF2-40B4-BE49-F238E27FC236}">
                <a16:creationId xmlns:a16="http://schemas.microsoft.com/office/drawing/2014/main" id="{81BF039C-43F2-AF59-ADBF-554EECD32D71}"/>
              </a:ext>
            </a:extLst>
          </p:cNvPr>
          <p:cNvSpPr txBox="1"/>
          <p:nvPr/>
        </p:nvSpPr>
        <p:spPr>
          <a:xfrm>
            <a:off x="7563959" y="2530685"/>
            <a:ext cx="21301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Acoplar FDS + ABM com aprendizagem social para otimizar evacuação.</a:t>
            </a:r>
          </a:p>
        </p:txBody>
      </p:sp>
      <p:sp>
        <p:nvSpPr>
          <p:cNvPr id="94" name="CaixaDeTexto 93">
            <a:extLst>
              <a:ext uri="{FF2B5EF4-FFF2-40B4-BE49-F238E27FC236}">
                <a16:creationId xmlns:a16="http://schemas.microsoft.com/office/drawing/2014/main" id="{9FAE47CC-8613-3B30-6140-F6EFC510F077}"/>
              </a:ext>
            </a:extLst>
          </p:cNvPr>
          <p:cNvSpPr txBox="1"/>
          <p:nvPr/>
        </p:nvSpPr>
        <p:spPr>
          <a:xfrm>
            <a:off x="7600326" y="3057152"/>
            <a:ext cx="21301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Incêndio da boate Ala (Taiwan, 2011). ~200 ocupantes, 2 pavimentos.</a:t>
            </a:r>
          </a:p>
        </p:txBody>
      </p:sp>
      <p:sp>
        <p:nvSpPr>
          <p:cNvPr id="95" name="CaixaDeTexto 94">
            <a:extLst>
              <a:ext uri="{FF2B5EF4-FFF2-40B4-BE49-F238E27FC236}">
                <a16:creationId xmlns:a16="http://schemas.microsoft.com/office/drawing/2014/main" id="{41E836F9-92B7-E9D6-BAF6-521351E5D828}"/>
              </a:ext>
            </a:extLst>
          </p:cNvPr>
          <p:cNvSpPr txBox="1"/>
          <p:nvPr/>
        </p:nvSpPr>
        <p:spPr>
          <a:xfrm>
            <a:off x="7620650" y="3795353"/>
            <a:ext cx="21301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 err="1">
                <a:solidFill>
                  <a:schemeClr val="accent1">
                    <a:lumMod val="75000"/>
                  </a:schemeClr>
                </a:solidFill>
              </a:rPr>
              <a:t>PyroSim</a:t>
            </a:r>
            <a:r>
              <a:rPr lang="en-US" sz="1000" dirty="0">
                <a:solidFill>
                  <a:schemeClr val="accent1">
                    <a:lumMod val="75000"/>
                  </a:schemeClr>
                </a:solidFill>
              </a:rPr>
              <a:t> (FDS) + </a:t>
            </a:r>
            <a:r>
              <a:rPr lang="en-US" sz="1000" dirty="0" err="1">
                <a:solidFill>
                  <a:schemeClr val="accent1">
                    <a:lumMod val="75000"/>
                  </a:schemeClr>
                </a:solidFill>
              </a:rPr>
              <a:t>NetLogo</a:t>
            </a:r>
            <a:r>
              <a:rPr lang="en-US" sz="1000" dirty="0">
                <a:solidFill>
                  <a:schemeClr val="accent1">
                    <a:lumMod val="75000"/>
                  </a:schemeClr>
                </a:solidFill>
              </a:rPr>
              <a:t> (ABM) + Random Forest + PSO-GA.</a:t>
            </a:r>
            <a:endParaRPr lang="pt-BR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96" name="CaixaDeTexto 95">
            <a:extLst>
              <a:ext uri="{FF2B5EF4-FFF2-40B4-BE49-F238E27FC236}">
                <a16:creationId xmlns:a16="http://schemas.microsoft.com/office/drawing/2014/main" id="{C52C4703-6B38-E346-C14C-BCD39FE1403F}"/>
              </a:ext>
            </a:extLst>
          </p:cNvPr>
          <p:cNvSpPr txBox="1"/>
          <p:nvPr/>
        </p:nvSpPr>
        <p:spPr>
          <a:xfrm>
            <a:off x="7624146" y="4330113"/>
            <a:ext cx="21301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Tempo, mortos, feridos, pisoteamento, saúde, CO, temperatura, </a:t>
            </a:r>
            <a:r>
              <a:rPr lang="pt-BR" sz="1000" dirty="0" err="1">
                <a:solidFill>
                  <a:schemeClr val="accent1">
                    <a:lumMod val="75000"/>
                  </a:schemeClr>
                </a:solidFill>
              </a:rPr>
              <a:t>k_p</a:t>
            </a:r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, </a:t>
            </a:r>
            <a:r>
              <a:rPr lang="pt-BR" sz="1000" dirty="0" err="1">
                <a:solidFill>
                  <a:schemeClr val="accent1">
                    <a:lumMod val="75000"/>
                  </a:schemeClr>
                </a:solidFill>
              </a:rPr>
              <a:t>k_t</a:t>
            </a:r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97" name="CaixaDeTexto 96">
            <a:extLst>
              <a:ext uri="{FF2B5EF4-FFF2-40B4-BE49-F238E27FC236}">
                <a16:creationId xmlns:a16="http://schemas.microsoft.com/office/drawing/2014/main" id="{1DF6E05A-CA11-1CE4-A505-A5E70D95607C}"/>
              </a:ext>
            </a:extLst>
          </p:cNvPr>
          <p:cNvSpPr txBox="1"/>
          <p:nvPr/>
        </p:nvSpPr>
        <p:spPr>
          <a:xfrm>
            <a:off x="7600326" y="4902851"/>
            <a:ext cx="21301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Validação &gt;98%. Saída 2º andar aberta: −22,47% tempo. Plano ótimo: −6,77% pisoteamento.</a:t>
            </a:r>
          </a:p>
        </p:txBody>
      </p:sp>
      <p:sp>
        <p:nvSpPr>
          <p:cNvPr id="98" name="CaixaDeTexto 97">
            <a:extLst>
              <a:ext uri="{FF2B5EF4-FFF2-40B4-BE49-F238E27FC236}">
                <a16:creationId xmlns:a16="http://schemas.microsoft.com/office/drawing/2014/main" id="{405111DA-B455-CFF4-B69B-F4DCA2C5AC4D}"/>
              </a:ext>
            </a:extLst>
          </p:cNvPr>
          <p:cNvSpPr txBox="1"/>
          <p:nvPr/>
        </p:nvSpPr>
        <p:spPr>
          <a:xfrm>
            <a:off x="7561120" y="5586790"/>
            <a:ext cx="21301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Grid 0,4m, vizinhança de Moore, </a:t>
            </a:r>
            <a:r>
              <a:rPr lang="pt-BR" sz="1000" dirty="0" err="1">
                <a:solidFill>
                  <a:schemeClr val="accent1">
                    <a:lumMod val="75000"/>
                  </a:schemeClr>
                </a:solidFill>
              </a:rPr>
              <a:t>Dijkstra</a:t>
            </a:r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, coeficientes calibrados, evacuação faseada.</a:t>
            </a:r>
          </a:p>
        </p:txBody>
      </p:sp>
      <p:sp>
        <p:nvSpPr>
          <p:cNvPr id="99" name="CaixaDeTexto 98">
            <a:extLst>
              <a:ext uri="{FF2B5EF4-FFF2-40B4-BE49-F238E27FC236}">
                <a16:creationId xmlns:a16="http://schemas.microsoft.com/office/drawing/2014/main" id="{FA1920C6-E0DA-35F0-4FA6-BF2F6E5E6937}"/>
              </a:ext>
            </a:extLst>
          </p:cNvPr>
          <p:cNvSpPr txBox="1"/>
          <p:nvPr/>
        </p:nvSpPr>
        <p:spPr>
          <a:xfrm>
            <a:off x="9837370" y="2048156"/>
            <a:ext cx="21301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accent1">
                    <a:lumMod val="75000"/>
                  </a:schemeClr>
                </a:solidFill>
              </a:rPr>
              <a:t>Tan, Hu &amp; Lin (2015). Information Sciences, v.295.</a:t>
            </a:r>
            <a:endParaRPr lang="pt-BR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0" name="CaixaDeTexto 99">
            <a:extLst>
              <a:ext uri="{FF2B5EF4-FFF2-40B4-BE49-F238E27FC236}">
                <a16:creationId xmlns:a16="http://schemas.microsoft.com/office/drawing/2014/main" id="{500246CA-03B7-FC7F-C06E-EC78F500760C}"/>
              </a:ext>
            </a:extLst>
          </p:cNvPr>
          <p:cNvSpPr txBox="1"/>
          <p:nvPr/>
        </p:nvSpPr>
        <p:spPr>
          <a:xfrm>
            <a:off x="9713570" y="2472445"/>
            <a:ext cx="22539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900" dirty="0">
                <a:solidFill>
                  <a:schemeClr val="accent1">
                    <a:lumMod val="75000"/>
                  </a:schemeClr>
                </a:solidFill>
              </a:rPr>
              <a:t>Combinar comportamento humano com mudança previsível de acessibilidade por dispositivos de segurança contra incêndio.</a:t>
            </a:r>
          </a:p>
        </p:txBody>
      </p:sp>
      <p:sp>
        <p:nvSpPr>
          <p:cNvPr id="101" name="CaixaDeTexto 100">
            <a:extLst>
              <a:ext uri="{FF2B5EF4-FFF2-40B4-BE49-F238E27FC236}">
                <a16:creationId xmlns:a16="http://schemas.microsoft.com/office/drawing/2014/main" id="{B398EE01-3E16-0F61-FA22-916284F3AD92}"/>
              </a:ext>
            </a:extLst>
          </p:cNvPr>
          <p:cNvSpPr txBox="1"/>
          <p:nvPr/>
        </p:nvSpPr>
        <p:spPr>
          <a:xfrm>
            <a:off x="9783889" y="3108786"/>
            <a:ext cx="21301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2º andar de prédio universitário (CUHK, Hong Kong). 680 ocupantes, 8 saídas.</a:t>
            </a:r>
          </a:p>
        </p:txBody>
      </p:sp>
      <p:sp>
        <p:nvSpPr>
          <p:cNvPr id="102" name="CaixaDeTexto 101">
            <a:extLst>
              <a:ext uri="{FF2B5EF4-FFF2-40B4-BE49-F238E27FC236}">
                <a16:creationId xmlns:a16="http://schemas.microsoft.com/office/drawing/2014/main" id="{AAE2918C-0F5C-6314-4BFF-C302DBF7C883}"/>
              </a:ext>
            </a:extLst>
          </p:cNvPr>
          <p:cNvSpPr txBox="1"/>
          <p:nvPr/>
        </p:nvSpPr>
        <p:spPr>
          <a:xfrm>
            <a:off x="9730480" y="3727508"/>
            <a:ext cx="21301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 err="1">
                <a:solidFill>
                  <a:schemeClr val="accent1">
                    <a:lumMod val="75000"/>
                  </a:schemeClr>
                </a:solidFill>
              </a:rPr>
              <a:t>ArcGIS</a:t>
            </a:r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 + Agent </a:t>
            </a:r>
            <a:r>
              <a:rPr lang="pt-BR" sz="1000" dirty="0" err="1">
                <a:solidFill>
                  <a:schemeClr val="accent1">
                    <a:lumMod val="75000"/>
                  </a:schemeClr>
                </a:solidFill>
              </a:rPr>
              <a:t>Analyst</a:t>
            </a:r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 (ABM) + ontologia semântica BIM + grid.</a:t>
            </a:r>
          </a:p>
        </p:txBody>
      </p:sp>
      <p:sp>
        <p:nvSpPr>
          <p:cNvPr id="103" name="CaixaDeTexto 102">
            <a:extLst>
              <a:ext uri="{FF2B5EF4-FFF2-40B4-BE49-F238E27FC236}">
                <a16:creationId xmlns:a16="http://schemas.microsoft.com/office/drawing/2014/main" id="{774998C5-952C-6734-9813-B9DE4ABE1E89}"/>
              </a:ext>
            </a:extLst>
          </p:cNvPr>
          <p:cNvSpPr txBox="1"/>
          <p:nvPr/>
        </p:nvSpPr>
        <p:spPr>
          <a:xfrm>
            <a:off x="9773533" y="4275620"/>
            <a:ext cx="21301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900" dirty="0">
                <a:solidFill>
                  <a:schemeClr val="accent1">
                    <a:lumMod val="75000"/>
                  </a:schemeClr>
                </a:solidFill>
              </a:rPr>
              <a:t>Conhecimento espacial/do evento, visibilidade, distância, repulsão, congestionamento, estresse, estado do dispositivo.</a:t>
            </a:r>
          </a:p>
        </p:txBody>
      </p:sp>
      <p:sp>
        <p:nvSpPr>
          <p:cNvPr id="104" name="CaixaDeTexto 103">
            <a:extLst>
              <a:ext uri="{FF2B5EF4-FFF2-40B4-BE49-F238E27FC236}">
                <a16:creationId xmlns:a16="http://schemas.microsoft.com/office/drawing/2014/main" id="{B16A3CDF-E758-F8AC-F66B-FAB8B78BDF75}"/>
              </a:ext>
            </a:extLst>
          </p:cNvPr>
          <p:cNvSpPr txBox="1"/>
          <p:nvPr/>
        </p:nvSpPr>
        <p:spPr>
          <a:xfrm>
            <a:off x="9760488" y="4888993"/>
            <a:ext cx="215222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Falta de conhecimento prévio aumenta tempo; mudança espacial pode equilibrar uso das saídas.</a:t>
            </a:r>
          </a:p>
        </p:txBody>
      </p:sp>
      <p:sp>
        <p:nvSpPr>
          <p:cNvPr id="105" name="CaixaDeTexto 104">
            <a:extLst>
              <a:ext uri="{FF2B5EF4-FFF2-40B4-BE49-F238E27FC236}">
                <a16:creationId xmlns:a16="http://schemas.microsoft.com/office/drawing/2014/main" id="{0E4EC975-C097-39C1-DDCB-7243AC1C6642}"/>
              </a:ext>
            </a:extLst>
          </p:cNvPr>
          <p:cNvSpPr txBox="1"/>
          <p:nvPr/>
        </p:nvSpPr>
        <p:spPr>
          <a:xfrm>
            <a:off x="9763327" y="5589032"/>
            <a:ext cx="21301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accent1">
                    <a:lumMod val="75000"/>
                  </a:schemeClr>
                </a:solidFill>
              </a:rPr>
              <a:t>Grid 40×40cm, sensor visual ray tracing (170°/10m), 5 </a:t>
            </a:r>
            <a:r>
              <a:rPr lang="en-US" sz="1000" dirty="0" err="1">
                <a:solidFill>
                  <a:schemeClr val="accent1">
                    <a:lumMod val="75000"/>
                  </a:schemeClr>
                </a:solidFill>
              </a:rPr>
              <a:t>tipos</a:t>
            </a:r>
            <a:r>
              <a:rPr lang="en-US" sz="1000" dirty="0">
                <a:solidFill>
                  <a:schemeClr val="accent1">
                    <a:lumMod val="75000"/>
                  </a:schemeClr>
                </a:solidFill>
              </a:rPr>
              <a:t> de </a:t>
            </a:r>
            <a:r>
              <a:rPr lang="en-US" sz="1000" dirty="0" err="1">
                <a:solidFill>
                  <a:schemeClr val="accent1">
                    <a:lumMod val="75000"/>
                  </a:schemeClr>
                </a:solidFill>
              </a:rPr>
              <a:t>agentes</a:t>
            </a:r>
            <a:r>
              <a:rPr lang="en-US" sz="100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sz="1000" dirty="0" err="1">
                <a:solidFill>
                  <a:schemeClr val="accent1">
                    <a:lumMod val="75000"/>
                  </a:schemeClr>
                </a:solidFill>
              </a:rPr>
              <a:t>por</a:t>
            </a:r>
            <a:r>
              <a:rPr lang="en-US" sz="100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sz="1000" dirty="0" err="1">
                <a:solidFill>
                  <a:schemeClr val="accent1">
                    <a:lumMod val="75000"/>
                  </a:schemeClr>
                </a:solidFill>
              </a:rPr>
              <a:t>conhecimento</a:t>
            </a:r>
            <a:r>
              <a:rPr lang="en-US" sz="1000" dirty="0">
                <a:solidFill>
                  <a:schemeClr val="accent1">
                    <a:lumMod val="75000"/>
                  </a:schemeClr>
                </a:solidFill>
              </a:rPr>
              <a:t>.</a:t>
            </a:r>
            <a:endParaRPr lang="pt-BR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24725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6D5928-B6C2-F50B-C070-52AC9DAED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5104688A-FBAE-91D7-B5A8-031EA62A793F}"/>
              </a:ext>
            </a:extLst>
          </p:cNvPr>
          <p:cNvSpPr/>
          <p:nvPr/>
        </p:nvSpPr>
        <p:spPr>
          <a:xfrm>
            <a:off x="801750" y="1452796"/>
            <a:ext cx="11131167" cy="4737370"/>
          </a:xfrm>
          <a:prstGeom prst="rect">
            <a:avLst/>
          </a:prstGeom>
          <a:noFill/>
          <a:ln w="28575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4" name="Conector reto 3">
            <a:extLst>
              <a:ext uri="{FF2B5EF4-FFF2-40B4-BE49-F238E27FC236}">
                <a16:creationId xmlns:a16="http://schemas.microsoft.com/office/drawing/2014/main" id="{19E3F8EC-54C0-08AB-D73D-D31EC9F4124F}"/>
              </a:ext>
            </a:extLst>
          </p:cNvPr>
          <p:cNvCxnSpPr>
            <a:cxnSpLocks/>
          </p:cNvCxnSpPr>
          <p:nvPr/>
        </p:nvCxnSpPr>
        <p:spPr>
          <a:xfrm>
            <a:off x="801750" y="1997545"/>
            <a:ext cx="11131167" cy="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D5F9E50E-A477-CF62-B6DB-AF90E291F54A}"/>
              </a:ext>
            </a:extLst>
          </p:cNvPr>
          <p:cNvCxnSpPr>
            <a:cxnSpLocks/>
          </p:cNvCxnSpPr>
          <p:nvPr/>
        </p:nvCxnSpPr>
        <p:spPr>
          <a:xfrm>
            <a:off x="3155843" y="1452796"/>
            <a:ext cx="0" cy="473737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to 10">
            <a:extLst>
              <a:ext uri="{FF2B5EF4-FFF2-40B4-BE49-F238E27FC236}">
                <a16:creationId xmlns:a16="http://schemas.microsoft.com/office/drawing/2014/main" id="{182F2230-C4BE-F363-D179-9DB74EA1798D}"/>
              </a:ext>
            </a:extLst>
          </p:cNvPr>
          <p:cNvCxnSpPr>
            <a:cxnSpLocks/>
          </p:cNvCxnSpPr>
          <p:nvPr/>
        </p:nvCxnSpPr>
        <p:spPr>
          <a:xfrm>
            <a:off x="5334700" y="1474989"/>
            <a:ext cx="0" cy="473737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reto 14">
            <a:extLst>
              <a:ext uri="{FF2B5EF4-FFF2-40B4-BE49-F238E27FC236}">
                <a16:creationId xmlns:a16="http://schemas.microsoft.com/office/drawing/2014/main" id="{94969A6F-8501-C8CB-C78C-6B6DADBCD66E}"/>
              </a:ext>
            </a:extLst>
          </p:cNvPr>
          <p:cNvCxnSpPr>
            <a:cxnSpLocks/>
          </p:cNvCxnSpPr>
          <p:nvPr/>
        </p:nvCxnSpPr>
        <p:spPr>
          <a:xfrm>
            <a:off x="782292" y="1452796"/>
            <a:ext cx="2383280" cy="544749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to 20">
            <a:extLst>
              <a:ext uri="{FF2B5EF4-FFF2-40B4-BE49-F238E27FC236}">
                <a16:creationId xmlns:a16="http://schemas.microsoft.com/office/drawing/2014/main" id="{EE6E3DC2-7D98-D566-5929-04C66B58C353}"/>
              </a:ext>
            </a:extLst>
          </p:cNvPr>
          <p:cNvCxnSpPr>
            <a:cxnSpLocks/>
          </p:cNvCxnSpPr>
          <p:nvPr/>
        </p:nvCxnSpPr>
        <p:spPr>
          <a:xfrm>
            <a:off x="801750" y="2500141"/>
            <a:ext cx="11131167" cy="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reto 21">
            <a:extLst>
              <a:ext uri="{FF2B5EF4-FFF2-40B4-BE49-F238E27FC236}">
                <a16:creationId xmlns:a16="http://schemas.microsoft.com/office/drawing/2014/main" id="{4058DB18-2199-E89A-0B45-6C10D44D5E6C}"/>
              </a:ext>
            </a:extLst>
          </p:cNvPr>
          <p:cNvCxnSpPr>
            <a:cxnSpLocks/>
          </p:cNvCxnSpPr>
          <p:nvPr/>
        </p:nvCxnSpPr>
        <p:spPr>
          <a:xfrm>
            <a:off x="801750" y="3059482"/>
            <a:ext cx="11131167" cy="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ector reto 22">
            <a:extLst>
              <a:ext uri="{FF2B5EF4-FFF2-40B4-BE49-F238E27FC236}">
                <a16:creationId xmlns:a16="http://schemas.microsoft.com/office/drawing/2014/main" id="{5725AE9F-E25F-E4CA-B30C-3F33331108D2}"/>
              </a:ext>
            </a:extLst>
          </p:cNvPr>
          <p:cNvCxnSpPr>
            <a:cxnSpLocks/>
          </p:cNvCxnSpPr>
          <p:nvPr/>
        </p:nvCxnSpPr>
        <p:spPr>
          <a:xfrm>
            <a:off x="821202" y="3651248"/>
            <a:ext cx="11111715" cy="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ector reto 23">
            <a:extLst>
              <a:ext uri="{FF2B5EF4-FFF2-40B4-BE49-F238E27FC236}">
                <a16:creationId xmlns:a16="http://schemas.microsoft.com/office/drawing/2014/main" id="{F37C66E9-48E5-A52E-9206-12AE834EA204}"/>
              </a:ext>
            </a:extLst>
          </p:cNvPr>
          <p:cNvCxnSpPr>
            <a:cxnSpLocks/>
          </p:cNvCxnSpPr>
          <p:nvPr/>
        </p:nvCxnSpPr>
        <p:spPr>
          <a:xfrm>
            <a:off x="811478" y="4290031"/>
            <a:ext cx="11121439" cy="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ector reto 24">
            <a:extLst>
              <a:ext uri="{FF2B5EF4-FFF2-40B4-BE49-F238E27FC236}">
                <a16:creationId xmlns:a16="http://schemas.microsoft.com/office/drawing/2014/main" id="{8FC6D1FD-71AA-A816-EF27-8B93FAAE2E47}"/>
              </a:ext>
            </a:extLst>
          </p:cNvPr>
          <p:cNvCxnSpPr>
            <a:cxnSpLocks/>
          </p:cNvCxnSpPr>
          <p:nvPr/>
        </p:nvCxnSpPr>
        <p:spPr>
          <a:xfrm>
            <a:off x="811478" y="4909358"/>
            <a:ext cx="11121439" cy="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9BB7A983-ED3B-56AF-B679-FB36360DA0D8}"/>
              </a:ext>
            </a:extLst>
          </p:cNvPr>
          <p:cNvSpPr txBox="1"/>
          <p:nvPr/>
        </p:nvSpPr>
        <p:spPr>
          <a:xfrm>
            <a:off x="3488909" y="1623187"/>
            <a:ext cx="15466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accent1">
                    <a:lumMod val="75000"/>
                  </a:schemeClr>
                </a:solidFill>
              </a:rPr>
              <a:t>Trabalho Correlato 5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6B674144-D28D-9357-EA86-EF3539EAAAE6}"/>
              </a:ext>
            </a:extLst>
          </p:cNvPr>
          <p:cNvSpPr txBox="1"/>
          <p:nvPr/>
        </p:nvSpPr>
        <p:spPr>
          <a:xfrm>
            <a:off x="5664213" y="1621631"/>
            <a:ext cx="15466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accent1">
                    <a:lumMod val="75000"/>
                  </a:schemeClr>
                </a:solidFill>
              </a:rPr>
              <a:t>Trabalho Correlato 6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C019D6A2-F1A6-B319-472F-561ACFD9DBD8}"/>
              </a:ext>
            </a:extLst>
          </p:cNvPr>
          <p:cNvSpPr txBox="1"/>
          <p:nvPr/>
        </p:nvSpPr>
        <p:spPr>
          <a:xfrm>
            <a:off x="7915874" y="1633631"/>
            <a:ext cx="15466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accent1">
                    <a:lumMod val="75000"/>
                  </a:schemeClr>
                </a:solidFill>
              </a:rPr>
              <a:t>Trabalho Correlato 7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1FDE3FC3-2001-9D53-7B7A-2D5E2E6FF884}"/>
              </a:ext>
            </a:extLst>
          </p:cNvPr>
          <p:cNvSpPr txBox="1"/>
          <p:nvPr/>
        </p:nvSpPr>
        <p:spPr>
          <a:xfrm>
            <a:off x="10088548" y="1621630"/>
            <a:ext cx="15466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accent1">
                    <a:lumMod val="75000"/>
                  </a:schemeClr>
                </a:solidFill>
              </a:rPr>
              <a:t>Trabalho Correlato 8</a:t>
            </a:r>
          </a:p>
        </p:txBody>
      </p:sp>
      <p:cxnSp>
        <p:nvCxnSpPr>
          <p:cNvPr id="49" name="Conector reto 48">
            <a:extLst>
              <a:ext uri="{FF2B5EF4-FFF2-40B4-BE49-F238E27FC236}">
                <a16:creationId xmlns:a16="http://schemas.microsoft.com/office/drawing/2014/main" id="{89C10B5B-6FE2-FD24-580F-D3467798BA9D}"/>
              </a:ext>
            </a:extLst>
          </p:cNvPr>
          <p:cNvCxnSpPr>
            <a:cxnSpLocks/>
          </p:cNvCxnSpPr>
          <p:nvPr/>
        </p:nvCxnSpPr>
        <p:spPr>
          <a:xfrm flipV="1">
            <a:off x="833769" y="5480738"/>
            <a:ext cx="11099148" cy="3822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CaixaDeTexto 51">
            <a:extLst>
              <a:ext uri="{FF2B5EF4-FFF2-40B4-BE49-F238E27FC236}">
                <a16:creationId xmlns:a16="http://schemas.microsoft.com/office/drawing/2014/main" id="{AD26858A-DE39-B304-42D2-AA40AA84EE35}"/>
              </a:ext>
            </a:extLst>
          </p:cNvPr>
          <p:cNvSpPr txBox="1"/>
          <p:nvPr/>
        </p:nvSpPr>
        <p:spPr>
          <a:xfrm>
            <a:off x="1729931" y="1495428"/>
            <a:ext cx="15466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>
                <a:solidFill>
                  <a:schemeClr val="accent1">
                    <a:lumMod val="75000"/>
                  </a:schemeClr>
                </a:solidFill>
              </a:rPr>
              <a:t>ARTIGOS</a:t>
            </a:r>
          </a:p>
        </p:txBody>
      </p:sp>
      <p:sp>
        <p:nvSpPr>
          <p:cNvPr id="53" name="CaixaDeTexto 52">
            <a:extLst>
              <a:ext uri="{FF2B5EF4-FFF2-40B4-BE49-F238E27FC236}">
                <a16:creationId xmlns:a16="http://schemas.microsoft.com/office/drawing/2014/main" id="{37089F00-F1AE-7EB1-4F71-65591C49958E}"/>
              </a:ext>
            </a:extLst>
          </p:cNvPr>
          <p:cNvSpPr txBox="1"/>
          <p:nvPr/>
        </p:nvSpPr>
        <p:spPr>
          <a:xfrm>
            <a:off x="671235" y="1671908"/>
            <a:ext cx="15466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>
                <a:solidFill>
                  <a:schemeClr val="accent1">
                    <a:lumMod val="75000"/>
                  </a:schemeClr>
                </a:solidFill>
              </a:rPr>
              <a:t>PARÂMETROS</a:t>
            </a:r>
          </a:p>
        </p:txBody>
      </p:sp>
      <p:sp>
        <p:nvSpPr>
          <p:cNvPr id="54" name="CaixaDeTexto 53">
            <a:extLst>
              <a:ext uri="{FF2B5EF4-FFF2-40B4-BE49-F238E27FC236}">
                <a16:creationId xmlns:a16="http://schemas.microsoft.com/office/drawing/2014/main" id="{BC5C54AD-B0DF-84AF-89FF-D5477B7455DF}"/>
              </a:ext>
            </a:extLst>
          </p:cNvPr>
          <p:cNvSpPr txBox="1"/>
          <p:nvPr/>
        </p:nvSpPr>
        <p:spPr>
          <a:xfrm>
            <a:off x="810931" y="2144735"/>
            <a:ext cx="19031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 dirty="0">
                <a:solidFill>
                  <a:schemeClr val="accent1">
                    <a:lumMod val="75000"/>
                  </a:schemeClr>
                </a:solidFill>
              </a:rPr>
              <a:t>Identificação do artigo</a:t>
            </a:r>
          </a:p>
        </p:txBody>
      </p:sp>
      <p:sp>
        <p:nvSpPr>
          <p:cNvPr id="55" name="CaixaDeTexto 54">
            <a:extLst>
              <a:ext uri="{FF2B5EF4-FFF2-40B4-BE49-F238E27FC236}">
                <a16:creationId xmlns:a16="http://schemas.microsoft.com/office/drawing/2014/main" id="{5FDDEBBF-8F4A-3ABB-441D-58DB17E838CB}"/>
              </a:ext>
            </a:extLst>
          </p:cNvPr>
          <p:cNvSpPr txBox="1"/>
          <p:nvPr/>
        </p:nvSpPr>
        <p:spPr>
          <a:xfrm>
            <a:off x="802154" y="2635293"/>
            <a:ext cx="18693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 dirty="0">
                <a:solidFill>
                  <a:schemeClr val="accent1">
                    <a:lumMod val="75000"/>
                  </a:schemeClr>
                </a:solidFill>
              </a:rPr>
              <a:t>Problema de pesquisa</a:t>
            </a:r>
          </a:p>
        </p:txBody>
      </p:sp>
      <p:sp>
        <p:nvSpPr>
          <p:cNvPr id="56" name="CaixaDeTexto 55">
            <a:extLst>
              <a:ext uri="{FF2B5EF4-FFF2-40B4-BE49-F238E27FC236}">
                <a16:creationId xmlns:a16="http://schemas.microsoft.com/office/drawing/2014/main" id="{0A000838-3F7F-6D11-210F-0D388653649A}"/>
              </a:ext>
            </a:extLst>
          </p:cNvPr>
          <p:cNvSpPr txBox="1"/>
          <p:nvPr/>
        </p:nvSpPr>
        <p:spPr>
          <a:xfrm>
            <a:off x="839850" y="3258433"/>
            <a:ext cx="23865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>
                <a:solidFill>
                  <a:schemeClr val="accent1">
                    <a:lumMod val="75000"/>
                  </a:schemeClr>
                </a:solidFill>
              </a:rPr>
              <a:t>Objeto empírico</a:t>
            </a:r>
          </a:p>
        </p:txBody>
      </p:sp>
      <p:sp>
        <p:nvSpPr>
          <p:cNvPr id="57" name="CaixaDeTexto 56">
            <a:extLst>
              <a:ext uri="{FF2B5EF4-FFF2-40B4-BE49-F238E27FC236}">
                <a16:creationId xmlns:a16="http://schemas.microsoft.com/office/drawing/2014/main" id="{87A88A4E-9ED1-39C0-1E21-ED423CCF4E76}"/>
              </a:ext>
            </a:extLst>
          </p:cNvPr>
          <p:cNvSpPr txBox="1"/>
          <p:nvPr/>
        </p:nvSpPr>
        <p:spPr>
          <a:xfrm>
            <a:off x="839849" y="3823928"/>
            <a:ext cx="23865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>
                <a:solidFill>
                  <a:schemeClr val="accent1">
                    <a:lumMod val="75000"/>
                  </a:schemeClr>
                </a:solidFill>
              </a:rPr>
              <a:t>Método/Ferramenta</a:t>
            </a:r>
          </a:p>
        </p:txBody>
      </p:sp>
      <p:sp>
        <p:nvSpPr>
          <p:cNvPr id="58" name="CaixaDeTexto 57">
            <a:extLst>
              <a:ext uri="{FF2B5EF4-FFF2-40B4-BE49-F238E27FC236}">
                <a16:creationId xmlns:a16="http://schemas.microsoft.com/office/drawing/2014/main" id="{288519DA-7966-A70D-D341-21ABA1FE06D4}"/>
              </a:ext>
            </a:extLst>
          </p:cNvPr>
          <p:cNvSpPr txBox="1"/>
          <p:nvPr/>
        </p:nvSpPr>
        <p:spPr>
          <a:xfrm>
            <a:off x="909569" y="4479135"/>
            <a:ext cx="15511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>
                <a:solidFill>
                  <a:schemeClr val="accent1">
                    <a:lumMod val="75000"/>
                  </a:schemeClr>
                </a:solidFill>
              </a:rPr>
              <a:t>Variáveis</a:t>
            </a:r>
          </a:p>
        </p:txBody>
      </p: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8F06D9AA-2F0A-B8CB-B5BD-42C5D0608460}"/>
              </a:ext>
            </a:extLst>
          </p:cNvPr>
          <p:cNvSpPr txBox="1"/>
          <p:nvPr/>
        </p:nvSpPr>
        <p:spPr>
          <a:xfrm>
            <a:off x="904782" y="5073798"/>
            <a:ext cx="21285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>
                <a:solidFill>
                  <a:schemeClr val="accent1">
                    <a:lumMod val="75000"/>
                  </a:schemeClr>
                </a:solidFill>
              </a:rPr>
              <a:t>Resultados</a:t>
            </a:r>
          </a:p>
        </p:txBody>
      </p:sp>
      <p:sp>
        <p:nvSpPr>
          <p:cNvPr id="60" name="CaixaDeTexto 59">
            <a:extLst>
              <a:ext uri="{FF2B5EF4-FFF2-40B4-BE49-F238E27FC236}">
                <a16:creationId xmlns:a16="http://schemas.microsoft.com/office/drawing/2014/main" id="{0829B2BD-8C92-B0E5-4624-1B8251636334}"/>
              </a:ext>
            </a:extLst>
          </p:cNvPr>
          <p:cNvSpPr txBox="1"/>
          <p:nvPr/>
        </p:nvSpPr>
        <p:spPr>
          <a:xfrm>
            <a:off x="868731" y="5729005"/>
            <a:ext cx="189102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>
                <a:solidFill>
                  <a:schemeClr val="accent1">
                    <a:lumMod val="75000"/>
                  </a:schemeClr>
                </a:solidFill>
              </a:rPr>
              <a:t>Contribuição</a:t>
            </a:r>
          </a:p>
        </p:txBody>
      </p:sp>
      <p:sp>
        <p:nvSpPr>
          <p:cNvPr id="61" name="Chave Esquerda 60">
            <a:extLst>
              <a:ext uri="{FF2B5EF4-FFF2-40B4-BE49-F238E27FC236}">
                <a16:creationId xmlns:a16="http://schemas.microsoft.com/office/drawing/2014/main" id="{090DEE2A-4308-2954-C3D8-A1E94667A47A}"/>
              </a:ext>
            </a:extLst>
          </p:cNvPr>
          <p:cNvSpPr/>
          <p:nvPr/>
        </p:nvSpPr>
        <p:spPr>
          <a:xfrm rot="5400000">
            <a:off x="6802932" y="-2572500"/>
            <a:ext cx="400400" cy="7694577"/>
          </a:xfrm>
          <a:prstGeom prst="leftBrace">
            <a:avLst>
              <a:gd name="adj1" fmla="val 29797"/>
              <a:gd name="adj2" fmla="val 50000"/>
            </a:avLst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2" name="CaixaDeTexto 61">
            <a:extLst>
              <a:ext uri="{FF2B5EF4-FFF2-40B4-BE49-F238E27FC236}">
                <a16:creationId xmlns:a16="http://schemas.microsoft.com/office/drawing/2014/main" id="{99EB64E3-8FD4-0BF1-69B4-17F807542905}"/>
              </a:ext>
            </a:extLst>
          </p:cNvPr>
          <p:cNvSpPr txBox="1"/>
          <p:nvPr/>
        </p:nvSpPr>
        <p:spPr>
          <a:xfrm>
            <a:off x="5084694" y="676365"/>
            <a:ext cx="373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chemeClr val="accent1">
                    <a:lumMod val="75000"/>
                  </a:schemeClr>
                </a:solidFill>
              </a:rPr>
              <a:t>Referências Bibliográficas</a:t>
            </a:r>
          </a:p>
        </p:txBody>
      </p:sp>
      <p:sp>
        <p:nvSpPr>
          <p:cNvPr id="63" name="Chave Esquerda 62">
            <a:extLst>
              <a:ext uri="{FF2B5EF4-FFF2-40B4-BE49-F238E27FC236}">
                <a16:creationId xmlns:a16="http://schemas.microsoft.com/office/drawing/2014/main" id="{6C92AE0B-69B7-170C-D2FA-B020F1ED6352}"/>
              </a:ext>
            </a:extLst>
          </p:cNvPr>
          <p:cNvSpPr/>
          <p:nvPr/>
        </p:nvSpPr>
        <p:spPr>
          <a:xfrm>
            <a:off x="398511" y="1997545"/>
            <a:ext cx="400400" cy="4192621"/>
          </a:xfrm>
          <a:prstGeom prst="leftBrace">
            <a:avLst>
              <a:gd name="adj1" fmla="val 29797"/>
              <a:gd name="adj2" fmla="val 50000"/>
            </a:avLst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4" name="CaixaDeTexto 63">
            <a:extLst>
              <a:ext uri="{FF2B5EF4-FFF2-40B4-BE49-F238E27FC236}">
                <a16:creationId xmlns:a16="http://schemas.microsoft.com/office/drawing/2014/main" id="{16FF8DCF-0234-EFD8-1679-A4B2C641CDB2}"/>
              </a:ext>
            </a:extLst>
          </p:cNvPr>
          <p:cNvSpPr txBox="1"/>
          <p:nvPr/>
        </p:nvSpPr>
        <p:spPr>
          <a:xfrm rot="16200000">
            <a:off x="-1162614" y="3948791"/>
            <a:ext cx="2694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>
                <a:solidFill>
                  <a:schemeClr val="accent1">
                    <a:lumMod val="75000"/>
                  </a:schemeClr>
                </a:solidFill>
              </a:rPr>
              <a:t>Critérios de análise</a:t>
            </a:r>
          </a:p>
        </p:txBody>
      </p:sp>
      <p:sp>
        <p:nvSpPr>
          <p:cNvPr id="66" name="CaixaDeTexto 65">
            <a:extLst>
              <a:ext uri="{FF2B5EF4-FFF2-40B4-BE49-F238E27FC236}">
                <a16:creationId xmlns:a16="http://schemas.microsoft.com/office/drawing/2014/main" id="{70307875-953F-AAEF-1935-63E5B9BC9CA9}"/>
              </a:ext>
            </a:extLst>
          </p:cNvPr>
          <p:cNvSpPr txBox="1"/>
          <p:nvPr/>
        </p:nvSpPr>
        <p:spPr>
          <a:xfrm>
            <a:off x="423151" y="503049"/>
            <a:ext cx="44163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accent1">
                    <a:lumMod val="75000"/>
                  </a:schemeClr>
                </a:solidFill>
              </a:rPr>
              <a:t>11.2.2.2. Matriz de Extração</a:t>
            </a:r>
          </a:p>
        </p:txBody>
      </p: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870AFC2D-93A3-F4F1-CAD4-BAB20B09555D}"/>
              </a:ext>
            </a:extLst>
          </p:cNvPr>
          <p:cNvSpPr txBox="1"/>
          <p:nvPr/>
        </p:nvSpPr>
        <p:spPr>
          <a:xfrm>
            <a:off x="3190772" y="2008698"/>
            <a:ext cx="21301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 err="1">
                <a:solidFill>
                  <a:schemeClr val="accent1">
                    <a:lumMod val="75000"/>
                  </a:schemeClr>
                </a:solidFill>
              </a:rPr>
              <a:t>Pelechano</a:t>
            </a:r>
            <a:r>
              <a:rPr lang="en-US" sz="1000" dirty="0">
                <a:solidFill>
                  <a:schemeClr val="accent1">
                    <a:lumMod val="75000"/>
                  </a:schemeClr>
                </a:solidFill>
              </a:rPr>
              <a:t> &amp; </a:t>
            </a:r>
            <a:r>
              <a:rPr lang="en-US" sz="1000" dirty="0" err="1">
                <a:solidFill>
                  <a:schemeClr val="accent1">
                    <a:lumMod val="75000"/>
                  </a:schemeClr>
                </a:solidFill>
              </a:rPr>
              <a:t>Malkawi</a:t>
            </a:r>
            <a:r>
              <a:rPr lang="en-US" sz="1000" dirty="0">
                <a:solidFill>
                  <a:schemeClr val="accent1">
                    <a:lumMod val="75000"/>
                  </a:schemeClr>
                </a:solidFill>
              </a:rPr>
              <a:t> (2008). Automation in Construction, v.17.</a:t>
            </a:r>
            <a:endParaRPr lang="pt-BR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45" name="Conector reto 44">
            <a:extLst>
              <a:ext uri="{FF2B5EF4-FFF2-40B4-BE49-F238E27FC236}">
                <a16:creationId xmlns:a16="http://schemas.microsoft.com/office/drawing/2014/main" id="{2006C25E-6180-369E-BB27-9E890F0D4332}"/>
              </a:ext>
            </a:extLst>
          </p:cNvPr>
          <p:cNvCxnSpPr>
            <a:cxnSpLocks/>
          </p:cNvCxnSpPr>
          <p:nvPr/>
        </p:nvCxnSpPr>
        <p:spPr>
          <a:xfrm>
            <a:off x="7544500" y="1495428"/>
            <a:ext cx="16620" cy="469473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ector reto 46">
            <a:extLst>
              <a:ext uri="{FF2B5EF4-FFF2-40B4-BE49-F238E27FC236}">
                <a16:creationId xmlns:a16="http://schemas.microsoft.com/office/drawing/2014/main" id="{12C6F6A2-43F3-F3E8-499B-541233DDDD55}"/>
              </a:ext>
            </a:extLst>
          </p:cNvPr>
          <p:cNvCxnSpPr>
            <a:cxnSpLocks/>
          </p:cNvCxnSpPr>
          <p:nvPr/>
        </p:nvCxnSpPr>
        <p:spPr>
          <a:xfrm>
            <a:off x="9790876" y="1558144"/>
            <a:ext cx="0" cy="463202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CaixaDeTexto 77">
            <a:extLst>
              <a:ext uri="{FF2B5EF4-FFF2-40B4-BE49-F238E27FC236}">
                <a16:creationId xmlns:a16="http://schemas.microsoft.com/office/drawing/2014/main" id="{9C3A4811-1EF7-A879-54A9-990B2470665A}"/>
              </a:ext>
            </a:extLst>
          </p:cNvPr>
          <p:cNvSpPr txBox="1"/>
          <p:nvPr/>
        </p:nvSpPr>
        <p:spPr>
          <a:xfrm>
            <a:off x="3167729" y="2517523"/>
            <a:ext cx="2205945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900" dirty="0">
                <a:solidFill>
                  <a:schemeClr val="accent1">
                    <a:lumMod val="75000"/>
                  </a:schemeClr>
                </a:solidFill>
              </a:rPr>
              <a:t>Avaliar limitações de modelos de autômatos celulares (CA) na simulação de evacuação de edifícios altos.</a:t>
            </a:r>
          </a:p>
        </p:txBody>
      </p:sp>
      <p:sp>
        <p:nvSpPr>
          <p:cNvPr id="79" name="CaixaDeTexto 78">
            <a:extLst>
              <a:ext uri="{FF2B5EF4-FFF2-40B4-BE49-F238E27FC236}">
                <a16:creationId xmlns:a16="http://schemas.microsoft.com/office/drawing/2014/main" id="{6A8E52AC-97AB-E384-1E95-DA3724643DD3}"/>
              </a:ext>
            </a:extLst>
          </p:cNvPr>
          <p:cNvSpPr txBox="1"/>
          <p:nvPr/>
        </p:nvSpPr>
        <p:spPr>
          <a:xfrm>
            <a:off x="3146436" y="3080826"/>
            <a:ext cx="21301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Revisão crítica de softwares (STEPS, EXODUS); dados do World Trade Center (11/09/2001).</a:t>
            </a:r>
          </a:p>
        </p:txBody>
      </p:sp>
      <p:sp>
        <p:nvSpPr>
          <p:cNvPr id="80" name="CaixaDeTexto 79">
            <a:extLst>
              <a:ext uri="{FF2B5EF4-FFF2-40B4-BE49-F238E27FC236}">
                <a16:creationId xmlns:a16="http://schemas.microsoft.com/office/drawing/2014/main" id="{F2FA271D-3CFD-958C-9C54-2029438DC3CB}"/>
              </a:ext>
            </a:extLst>
          </p:cNvPr>
          <p:cNvSpPr txBox="1"/>
          <p:nvPr/>
        </p:nvSpPr>
        <p:spPr>
          <a:xfrm>
            <a:off x="3158683" y="3674541"/>
            <a:ext cx="21301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Análise comparativa de CA (STEPS, EXODUS), forças sociais, regras (</a:t>
            </a:r>
            <a:r>
              <a:rPr lang="pt-BR" sz="1000" dirty="0" err="1">
                <a:solidFill>
                  <a:schemeClr val="accent1">
                    <a:lumMod val="75000"/>
                  </a:schemeClr>
                </a:solidFill>
              </a:rPr>
              <a:t>boids</a:t>
            </a:r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), filas.</a:t>
            </a:r>
          </a:p>
        </p:txBody>
      </p:sp>
      <p:sp>
        <p:nvSpPr>
          <p:cNvPr id="81" name="CaixaDeTexto 80">
            <a:extLst>
              <a:ext uri="{FF2B5EF4-FFF2-40B4-BE49-F238E27FC236}">
                <a16:creationId xmlns:a16="http://schemas.microsoft.com/office/drawing/2014/main" id="{3666A15D-1FB5-A0E3-5A8F-C7E03BBA63C9}"/>
              </a:ext>
            </a:extLst>
          </p:cNvPr>
          <p:cNvSpPr txBox="1"/>
          <p:nvPr/>
        </p:nvSpPr>
        <p:spPr>
          <a:xfrm>
            <a:off x="3146436" y="4337979"/>
            <a:ext cx="21301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Tamanho da célula, fadiga, contrafluxo, rota, densidade, fluxo, comunicação, papéis.</a:t>
            </a:r>
          </a:p>
        </p:txBody>
      </p:sp>
      <p:sp>
        <p:nvSpPr>
          <p:cNvPr id="82" name="CaixaDeTexto 81">
            <a:extLst>
              <a:ext uri="{FF2B5EF4-FFF2-40B4-BE49-F238E27FC236}">
                <a16:creationId xmlns:a16="http://schemas.microsoft.com/office/drawing/2014/main" id="{08EE5E90-6F6F-760F-A210-4703551B4BCF}"/>
              </a:ext>
            </a:extLst>
          </p:cNvPr>
          <p:cNvSpPr txBox="1"/>
          <p:nvPr/>
        </p:nvSpPr>
        <p:spPr>
          <a:xfrm>
            <a:off x="3097384" y="4926482"/>
            <a:ext cx="21301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CA distorce densidades, fluxos e rotas (45°); fadiga e contrafluxo subestimam tempo real.</a:t>
            </a:r>
          </a:p>
        </p:txBody>
      </p:sp>
      <p:sp>
        <p:nvSpPr>
          <p:cNvPr id="83" name="CaixaDeTexto 82">
            <a:extLst>
              <a:ext uri="{FF2B5EF4-FFF2-40B4-BE49-F238E27FC236}">
                <a16:creationId xmlns:a16="http://schemas.microsoft.com/office/drawing/2014/main" id="{AFF35568-9886-471F-B521-210DDE622F78}"/>
              </a:ext>
            </a:extLst>
          </p:cNvPr>
          <p:cNvSpPr txBox="1"/>
          <p:nvPr/>
        </p:nvSpPr>
        <p:spPr>
          <a:xfrm>
            <a:off x="3179669" y="5556311"/>
            <a:ext cx="21301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Alerta sobre artefatos do grid; recomenda fadiga, comunicação, papéis, escolha dinâmica.</a:t>
            </a:r>
          </a:p>
        </p:txBody>
      </p:sp>
      <p:sp>
        <p:nvSpPr>
          <p:cNvPr id="84" name="CaixaDeTexto 83">
            <a:extLst>
              <a:ext uri="{FF2B5EF4-FFF2-40B4-BE49-F238E27FC236}">
                <a16:creationId xmlns:a16="http://schemas.microsoft.com/office/drawing/2014/main" id="{8801FC1D-99AD-DDE7-15D1-415F87DDEBB1}"/>
              </a:ext>
            </a:extLst>
          </p:cNvPr>
          <p:cNvSpPr txBox="1"/>
          <p:nvPr/>
        </p:nvSpPr>
        <p:spPr>
          <a:xfrm>
            <a:off x="5410853" y="2064307"/>
            <a:ext cx="21301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1000" dirty="0">
                <a:solidFill>
                  <a:schemeClr val="accent1">
                    <a:lumMod val="75000"/>
                  </a:schemeClr>
                </a:solidFill>
              </a:rPr>
              <a:t>Zhao et al. (2022). Safety Science, v.145.</a:t>
            </a:r>
            <a:endParaRPr lang="pt-BR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5" name="CaixaDeTexto 84">
            <a:extLst>
              <a:ext uri="{FF2B5EF4-FFF2-40B4-BE49-F238E27FC236}">
                <a16:creationId xmlns:a16="http://schemas.microsoft.com/office/drawing/2014/main" id="{24722265-5130-392F-B98B-15ECFD96E792}"/>
              </a:ext>
            </a:extLst>
          </p:cNvPr>
          <p:cNvSpPr txBox="1"/>
          <p:nvPr/>
        </p:nvSpPr>
        <p:spPr>
          <a:xfrm>
            <a:off x="5369308" y="2530685"/>
            <a:ext cx="21301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Avaliar sinalização adaptativa centralizada </a:t>
            </a:r>
            <a:r>
              <a:rPr lang="pt-BR" sz="1000" dirty="0" err="1">
                <a:solidFill>
                  <a:schemeClr val="accent1">
                    <a:lumMod val="75000"/>
                  </a:schemeClr>
                </a:solidFill>
              </a:rPr>
              <a:t>vs</a:t>
            </a:r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 descentralizada para evacuação de incêndio.</a:t>
            </a:r>
          </a:p>
        </p:txBody>
      </p:sp>
      <p:sp>
        <p:nvSpPr>
          <p:cNvPr id="86" name="CaixaDeTexto 85">
            <a:extLst>
              <a:ext uri="{FF2B5EF4-FFF2-40B4-BE49-F238E27FC236}">
                <a16:creationId xmlns:a16="http://schemas.microsoft.com/office/drawing/2014/main" id="{25B082BE-74D9-1E65-28C0-98DF771E0932}"/>
              </a:ext>
            </a:extLst>
          </p:cNvPr>
          <p:cNvSpPr txBox="1"/>
          <p:nvPr/>
        </p:nvSpPr>
        <p:spPr>
          <a:xfrm>
            <a:off x="5328582" y="3097121"/>
            <a:ext cx="21301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Museu virtual Cooper Hewitt (3 andares); 85 participantes em VR + agentes simulados.</a:t>
            </a:r>
          </a:p>
        </p:txBody>
      </p:sp>
      <p:sp>
        <p:nvSpPr>
          <p:cNvPr id="87" name="CaixaDeTexto 86">
            <a:extLst>
              <a:ext uri="{FF2B5EF4-FFF2-40B4-BE49-F238E27FC236}">
                <a16:creationId xmlns:a16="http://schemas.microsoft.com/office/drawing/2014/main" id="{93E02651-B401-DC0C-7D68-D0EE5347D5FA}"/>
              </a:ext>
            </a:extLst>
          </p:cNvPr>
          <p:cNvSpPr txBox="1"/>
          <p:nvPr/>
        </p:nvSpPr>
        <p:spPr>
          <a:xfrm>
            <a:off x="5373675" y="3759964"/>
            <a:ext cx="21301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accent1">
                    <a:lumMod val="75000"/>
                  </a:schemeClr>
                </a:solidFill>
              </a:rPr>
              <a:t>VR (Unity) + </a:t>
            </a:r>
            <a:r>
              <a:rPr lang="en-US" sz="1000" dirty="0" err="1">
                <a:solidFill>
                  <a:schemeClr val="accent1">
                    <a:lumMod val="75000"/>
                  </a:schemeClr>
                </a:solidFill>
              </a:rPr>
              <a:t>experimento</a:t>
            </a:r>
            <a:r>
              <a:rPr lang="en-US" sz="100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sz="1000" dirty="0" err="1">
                <a:solidFill>
                  <a:schemeClr val="accent1">
                    <a:lumMod val="75000"/>
                  </a:schemeClr>
                </a:solidFill>
              </a:rPr>
              <a:t>humano</a:t>
            </a:r>
            <a:r>
              <a:rPr lang="en-US" sz="1000" dirty="0">
                <a:solidFill>
                  <a:schemeClr val="accent1">
                    <a:lumMod val="75000"/>
                  </a:schemeClr>
                </a:solidFill>
              </a:rPr>
              <a:t> + ABM + </a:t>
            </a:r>
            <a:r>
              <a:rPr lang="en-US" sz="1000" dirty="0" err="1">
                <a:solidFill>
                  <a:schemeClr val="accent1">
                    <a:lumMod val="75000"/>
                  </a:schemeClr>
                </a:solidFill>
              </a:rPr>
              <a:t>grafo</a:t>
            </a:r>
            <a:r>
              <a:rPr lang="en-US" sz="100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sz="1000" dirty="0" err="1">
                <a:solidFill>
                  <a:schemeClr val="accent1">
                    <a:lumMod val="75000"/>
                  </a:schemeClr>
                </a:solidFill>
              </a:rPr>
              <a:t>direcionado</a:t>
            </a:r>
            <a:r>
              <a:rPr lang="en-US" sz="1000" dirty="0">
                <a:solidFill>
                  <a:schemeClr val="accent1">
                    <a:lumMod val="75000"/>
                  </a:schemeClr>
                </a:solidFill>
              </a:rPr>
              <a:t> de </a:t>
            </a:r>
            <a:r>
              <a:rPr lang="en-US" sz="1000" dirty="0" err="1">
                <a:solidFill>
                  <a:schemeClr val="accent1">
                    <a:lumMod val="75000"/>
                  </a:schemeClr>
                </a:solidFill>
              </a:rPr>
              <a:t>sinais</a:t>
            </a:r>
            <a:r>
              <a:rPr lang="en-US" sz="1000" dirty="0">
                <a:solidFill>
                  <a:schemeClr val="accent1">
                    <a:lumMod val="75000"/>
                  </a:schemeClr>
                </a:solidFill>
              </a:rPr>
              <a:t>.</a:t>
            </a:r>
            <a:endParaRPr lang="pt-BR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8" name="CaixaDeTexto 87">
            <a:extLst>
              <a:ext uri="{FF2B5EF4-FFF2-40B4-BE49-F238E27FC236}">
                <a16:creationId xmlns:a16="http://schemas.microsoft.com/office/drawing/2014/main" id="{94AF80BE-AEC5-3FE8-43CF-FDCE5198E425}"/>
              </a:ext>
            </a:extLst>
          </p:cNvPr>
          <p:cNvSpPr txBox="1"/>
          <p:nvPr/>
        </p:nvSpPr>
        <p:spPr>
          <a:xfrm>
            <a:off x="5331642" y="4333014"/>
            <a:ext cx="21301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Direção do sinal, localização do fogo, tempo, distância, dano, estresse, EDA, HRV.</a:t>
            </a:r>
          </a:p>
        </p:txBody>
      </p:sp>
      <p:sp>
        <p:nvSpPr>
          <p:cNvPr id="90" name="CaixaDeTexto 89">
            <a:extLst>
              <a:ext uri="{FF2B5EF4-FFF2-40B4-BE49-F238E27FC236}">
                <a16:creationId xmlns:a16="http://schemas.microsoft.com/office/drawing/2014/main" id="{F7ECD588-77D6-859F-8464-E7C6ABDC9964}"/>
              </a:ext>
            </a:extLst>
          </p:cNvPr>
          <p:cNvSpPr txBox="1"/>
          <p:nvPr/>
        </p:nvSpPr>
        <p:spPr>
          <a:xfrm>
            <a:off x="5364545" y="4897015"/>
            <a:ext cx="21301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Sinais adaptativos: sobrevivência 94% </a:t>
            </a:r>
            <a:r>
              <a:rPr lang="pt-BR" sz="1000" dirty="0" err="1">
                <a:solidFill>
                  <a:schemeClr val="accent1">
                    <a:lumMod val="75000"/>
                  </a:schemeClr>
                </a:solidFill>
              </a:rPr>
              <a:t>vs</a:t>
            </a:r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 45%; menos </a:t>
            </a:r>
            <a:r>
              <a:rPr lang="pt-BR" sz="1000" dirty="0" err="1">
                <a:solidFill>
                  <a:schemeClr val="accent1">
                    <a:lumMod val="75000"/>
                  </a:schemeClr>
                </a:solidFill>
              </a:rPr>
              <a:t>distresse</a:t>
            </a:r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, dano e tempo.</a:t>
            </a:r>
          </a:p>
        </p:txBody>
      </p:sp>
      <p:sp>
        <p:nvSpPr>
          <p:cNvPr id="91" name="CaixaDeTexto 90">
            <a:extLst>
              <a:ext uri="{FF2B5EF4-FFF2-40B4-BE49-F238E27FC236}">
                <a16:creationId xmlns:a16="http://schemas.microsoft.com/office/drawing/2014/main" id="{8DFAD811-ED7A-7FFF-393B-F5925D2747A4}"/>
              </a:ext>
            </a:extLst>
          </p:cNvPr>
          <p:cNvSpPr txBox="1"/>
          <p:nvPr/>
        </p:nvSpPr>
        <p:spPr>
          <a:xfrm>
            <a:off x="5354159" y="5553544"/>
            <a:ext cx="21301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Lógica de agentes com memória, modos exploração/seguir-sinal, cone visual de 120°.</a:t>
            </a:r>
          </a:p>
        </p:txBody>
      </p:sp>
      <p:sp>
        <p:nvSpPr>
          <p:cNvPr id="92" name="CaixaDeTexto 91">
            <a:extLst>
              <a:ext uri="{FF2B5EF4-FFF2-40B4-BE49-F238E27FC236}">
                <a16:creationId xmlns:a16="http://schemas.microsoft.com/office/drawing/2014/main" id="{5FFA478F-9DEC-825D-F176-3E2EC2B4C6E8}"/>
              </a:ext>
            </a:extLst>
          </p:cNvPr>
          <p:cNvSpPr txBox="1"/>
          <p:nvPr/>
        </p:nvSpPr>
        <p:spPr>
          <a:xfrm>
            <a:off x="7611659" y="2029957"/>
            <a:ext cx="21301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accent1">
                    <a:lumMod val="75000"/>
                  </a:schemeClr>
                </a:solidFill>
              </a:rPr>
              <a:t>Haghani &amp; Sarvi (2016). Fire Safety Journal, v.85.</a:t>
            </a:r>
            <a:endParaRPr lang="pt-BR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93" name="CaixaDeTexto 92">
            <a:extLst>
              <a:ext uri="{FF2B5EF4-FFF2-40B4-BE49-F238E27FC236}">
                <a16:creationId xmlns:a16="http://schemas.microsoft.com/office/drawing/2014/main" id="{8085AE70-3D4A-C989-2AC6-30B267DCAFBF}"/>
              </a:ext>
            </a:extLst>
          </p:cNvPr>
          <p:cNvSpPr txBox="1"/>
          <p:nvPr/>
        </p:nvSpPr>
        <p:spPr>
          <a:xfrm>
            <a:off x="7556972" y="2500141"/>
            <a:ext cx="2226917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900" dirty="0">
                <a:solidFill>
                  <a:schemeClr val="accent1">
                    <a:lumMod val="75000"/>
                  </a:schemeClr>
                </a:solidFill>
              </a:rPr>
              <a:t>Quantificar diferenças comportamentais na escolha de saída entre egresso normal e emergência.</a:t>
            </a:r>
          </a:p>
        </p:txBody>
      </p:sp>
      <p:sp>
        <p:nvSpPr>
          <p:cNvPr id="94" name="CaixaDeTexto 93">
            <a:extLst>
              <a:ext uri="{FF2B5EF4-FFF2-40B4-BE49-F238E27FC236}">
                <a16:creationId xmlns:a16="http://schemas.microsoft.com/office/drawing/2014/main" id="{3DE3FBDB-9279-2893-6A18-BA76C0E0CD02}"/>
              </a:ext>
            </a:extLst>
          </p:cNvPr>
          <p:cNvSpPr txBox="1"/>
          <p:nvPr/>
        </p:nvSpPr>
        <p:spPr>
          <a:xfrm>
            <a:off x="7534069" y="3057152"/>
            <a:ext cx="226379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Estação </a:t>
            </a:r>
            <a:r>
              <a:rPr lang="pt-BR" sz="1000" dirty="0" err="1">
                <a:solidFill>
                  <a:schemeClr val="accent1">
                    <a:lumMod val="75000"/>
                  </a:schemeClr>
                </a:solidFill>
              </a:rPr>
              <a:t>Flinders</a:t>
            </a:r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 Street (Melbourne, Austrália). 105 passageiros entrevistados, 6 saídas.</a:t>
            </a:r>
          </a:p>
        </p:txBody>
      </p:sp>
      <p:sp>
        <p:nvSpPr>
          <p:cNvPr id="95" name="CaixaDeTexto 94">
            <a:extLst>
              <a:ext uri="{FF2B5EF4-FFF2-40B4-BE49-F238E27FC236}">
                <a16:creationId xmlns:a16="http://schemas.microsoft.com/office/drawing/2014/main" id="{9FF8ACDC-471C-E347-4C7A-F2F65D2AB0F4}"/>
              </a:ext>
            </a:extLst>
          </p:cNvPr>
          <p:cNvSpPr txBox="1"/>
          <p:nvPr/>
        </p:nvSpPr>
        <p:spPr>
          <a:xfrm>
            <a:off x="7595727" y="3694565"/>
            <a:ext cx="21301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 err="1">
                <a:solidFill>
                  <a:schemeClr val="accent1">
                    <a:lumMod val="75000"/>
                  </a:schemeClr>
                </a:solidFill>
              </a:rPr>
              <a:t>Stated-choice</a:t>
            </a:r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pt-BR" sz="1000" dirty="0" err="1">
                <a:solidFill>
                  <a:schemeClr val="accent1">
                    <a:lumMod val="75000"/>
                  </a:schemeClr>
                </a:solidFill>
              </a:rPr>
              <a:t>survey</a:t>
            </a:r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 + modelo </a:t>
            </a:r>
            <a:r>
              <a:rPr lang="pt-BR" sz="1000" dirty="0" err="1">
                <a:solidFill>
                  <a:schemeClr val="accent1">
                    <a:lumMod val="75000"/>
                  </a:schemeClr>
                </a:solidFill>
              </a:rPr>
              <a:t>logit</a:t>
            </a:r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 misto </a:t>
            </a:r>
            <a:r>
              <a:rPr lang="pt-BR" sz="1000" dirty="0" err="1">
                <a:solidFill>
                  <a:schemeClr val="accent1">
                    <a:lumMod val="75000"/>
                  </a:schemeClr>
                </a:solidFill>
              </a:rPr>
              <a:t>multinomial</a:t>
            </a:r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 com componentes de erro.</a:t>
            </a:r>
          </a:p>
        </p:txBody>
      </p:sp>
      <p:sp>
        <p:nvSpPr>
          <p:cNvPr id="96" name="CaixaDeTexto 95">
            <a:extLst>
              <a:ext uri="{FF2B5EF4-FFF2-40B4-BE49-F238E27FC236}">
                <a16:creationId xmlns:a16="http://schemas.microsoft.com/office/drawing/2014/main" id="{E6E1C1FC-FA06-82B2-C57A-7CF1016ED47E}"/>
              </a:ext>
            </a:extLst>
          </p:cNvPr>
          <p:cNvSpPr txBox="1"/>
          <p:nvPr/>
        </p:nvSpPr>
        <p:spPr>
          <a:xfrm>
            <a:off x="7541007" y="4330113"/>
            <a:ext cx="224288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Distância, aglomeração, fluxo direcional, visibilidade, proximidade do destino, distribuição.</a:t>
            </a:r>
          </a:p>
        </p:txBody>
      </p:sp>
      <p:sp>
        <p:nvSpPr>
          <p:cNvPr id="97" name="CaixaDeTexto 96">
            <a:extLst>
              <a:ext uri="{FF2B5EF4-FFF2-40B4-BE49-F238E27FC236}">
                <a16:creationId xmlns:a16="http://schemas.microsoft.com/office/drawing/2014/main" id="{02B3C16A-5D56-6E26-A7B7-E3DC58F3EE84}"/>
              </a:ext>
            </a:extLst>
          </p:cNvPr>
          <p:cNvSpPr txBox="1"/>
          <p:nvPr/>
        </p:nvSpPr>
        <p:spPr>
          <a:xfrm>
            <a:off x="7600326" y="4902851"/>
            <a:ext cx="21301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Em emergência: aglomeração pesa mais; maioria evita seguir fluxos; visibilidade modera "</a:t>
            </a:r>
            <a:r>
              <a:rPr lang="pt-BR" sz="1000" dirty="0" err="1">
                <a:solidFill>
                  <a:schemeClr val="accent1">
                    <a:lumMod val="75000"/>
                  </a:schemeClr>
                </a:solidFill>
              </a:rPr>
              <a:t>herding</a:t>
            </a:r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".</a:t>
            </a:r>
          </a:p>
        </p:txBody>
      </p:sp>
      <p:sp>
        <p:nvSpPr>
          <p:cNvPr id="98" name="CaixaDeTexto 97">
            <a:extLst>
              <a:ext uri="{FF2B5EF4-FFF2-40B4-BE49-F238E27FC236}">
                <a16:creationId xmlns:a16="http://schemas.microsoft.com/office/drawing/2014/main" id="{E71E22FF-73A9-E87B-04D9-383624284102}"/>
              </a:ext>
            </a:extLst>
          </p:cNvPr>
          <p:cNvSpPr txBox="1"/>
          <p:nvPr/>
        </p:nvSpPr>
        <p:spPr>
          <a:xfrm>
            <a:off x="7561120" y="5540004"/>
            <a:ext cx="222975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Coeficientes de utilidade calibrados para regra de escolha de saída por agente heterogêneo.</a:t>
            </a:r>
          </a:p>
        </p:txBody>
      </p:sp>
      <p:sp>
        <p:nvSpPr>
          <p:cNvPr id="99" name="CaixaDeTexto 98">
            <a:extLst>
              <a:ext uri="{FF2B5EF4-FFF2-40B4-BE49-F238E27FC236}">
                <a16:creationId xmlns:a16="http://schemas.microsoft.com/office/drawing/2014/main" id="{44976299-D645-AB80-5A9B-108D2E959D0C}"/>
              </a:ext>
            </a:extLst>
          </p:cNvPr>
          <p:cNvSpPr txBox="1"/>
          <p:nvPr/>
        </p:nvSpPr>
        <p:spPr>
          <a:xfrm>
            <a:off x="9837370" y="2048156"/>
            <a:ext cx="21301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accent1">
                    <a:lumMod val="75000"/>
                  </a:schemeClr>
                </a:solidFill>
              </a:rPr>
              <a:t>Mirahadi, McCabe &amp; Shahi (2019). Automation in Construction, v.101.</a:t>
            </a:r>
            <a:endParaRPr lang="pt-BR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0" name="CaixaDeTexto 99">
            <a:extLst>
              <a:ext uri="{FF2B5EF4-FFF2-40B4-BE49-F238E27FC236}">
                <a16:creationId xmlns:a16="http://schemas.microsoft.com/office/drawing/2014/main" id="{597DB57D-61E6-CC3C-13B5-D20D263BCCF9}"/>
              </a:ext>
            </a:extLst>
          </p:cNvPr>
          <p:cNvSpPr txBox="1"/>
          <p:nvPr/>
        </p:nvSpPr>
        <p:spPr>
          <a:xfrm>
            <a:off x="9668580" y="2516566"/>
            <a:ext cx="2253953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900" dirty="0">
                <a:solidFill>
                  <a:schemeClr val="accent1">
                    <a:lumMod val="75000"/>
                  </a:schemeClr>
                </a:solidFill>
              </a:rPr>
              <a:t>Integrar BIM (IFC) + FDS + ABM com índices de risco espaço-temporais (RRI/CRI).</a:t>
            </a:r>
          </a:p>
        </p:txBody>
      </p:sp>
      <p:sp>
        <p:nvSpPr>
          <p:cNvPr id="101" name="CaixaDeTexto 100">
            <a:extLst>
              <a:ext uri="{FF2B5EF4-FFF2-40B4-BE49-F238E27FC236}">
                <a16:creationId xmlns:a16="http://schemas.microsoft.com/office/drawing/2014/main" id="{BD765AD6-8CB9-EF7B-4238-CBDA22BAB1CE}"/>
              </a:ext>
            </a:extLst>
          </p:cNvPr>
          <p:cNvSpPr txBox="1"/>
          <p:nvPr/>
        </p:nvSpPr>
        <p:spPr>
          <a:xfrm>
            <a:off x="9783888" y="3080929"/>
            <a:ext cx="21301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Edifício de escritórios de 2 andares, 59 compartimentos, 400 agentes simulados.</a:t>
            </a:r>
          </a:p>
        </p:txBody>
      </p:sp>
      <p:sp>
        <p:nvSpPr>
          <p:cNvPr id="102" name="CaixaDeTexto 101">
            <a:extLst>
              <a:ext uri="{FF2B5EF4-FFF2-40B4-BE49-F238E27FC236}">
                <a16:creationId xmlns:a16="http://schemas.microsoft.com/office/drawing/2014/main" id="{5FEC406D-0B12-CD49-1357-660FE2783F95}"/>
              </a:ext>
            </a:extLst>
          </p:cNvPr>
          <p:cNvSpPr txBox="1"/>
          <p:nvPr/>
        </p:nvSpPr>
        <p:spPr>
          <a:xfrm>
            <a:off x="9741813" y="3672594"/>
            <a:ext cx="21301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>
                <a:solidFill>
                  <a:schemeClr val="accent1">
                    <a:lumMod val="75000"/>
                  </a:schemeClr>
                </a:solidFill>
              </a:rPr>
              <a:t>BIM/IFC + CYPECAD MEP (FDS) + MassMotion (ABM) + MATLAB (grafo).</a:t>
            </a:r>
            <a:endParaRPr lang="pt-BR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3" name="CaixaDeTexto 102">
            <a:extLst>
              <a:ext uri="{FF2B5EF4-FFF2-40B4-BE49-F238E27FC236}">
                <a16:creationId xmlns:a16="http://schemas.microsoft.com/office/drawing/2014/main" id="{C15F3D05-52DC-44A0-6EFF-0380CFD48733}"/>
              </a:ext>
            </a:extLst>
          </p:cNvPr>
          <p:cNvSpPr txBox="1"/>
          <p:nvPr/>
        </p:nvSpPr>
        <p:spPr>
          <a:xfrm>
            <a:off x="9782560" y="4331453"/>
            <a:ext cx="2130154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900" dirty="0">
                <a:solidFill>
                  <a:schemeClr val="accent1">
                    <a:lumMod val="75000"/>
                  </a:schemeClr>
                </a:solidFill>
              </a:rPr>
              <a:t>ALET, RRI, CRI, tempo, distância, fumaça, temperatura, congestionamento, </a:t>
            </a:r>
            <a:r>
              <a:rPr lang="pt-BR" sz="900" dirty="0" err="1">
                <a:solidFill>
                  <a:schemeClr val="accent1">
                    <a:lumMod val="75000"/>
                  </a:schemeClr>
                </a:solidFill>
              </a:rPr>
              <a:t>tenabilidade</a:t>
            </a:r>
            <a:r>
              <a:rPr lang="pt-BR" sz="900" dirty="0">
                <a:solidFill>
                  <a:schemeClr val="accent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104" name="CaixaDeTexto 103">
            <a:extLst>
              <a:ext uri="{FF2B5EF4-FFF2-40B4-BE49-F238E27FC236}">
                <a16:creationId xmlns:a16="http://schemas.microsoft.com/office/drawing/2014/main" id="{C19C6131-DE7F-E720-F360-36D8384D90E2}"/>
              </a:ext>
            </a:extLst>
          </p:cNvPr>
          <p:cNvSpPr txBox="1"/>
          <p:nvPr/>
        </p:nvSpPr>
        <p:spPr>
          <a:xfrm>
            <a:off x="9760488" y="4888993"/>
            <a:ext cx="215222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Rota mais curta nem sempre é mais segura; RRI detecta rotas bloqueadas e zonas críticas.</a:t>
            </a:r>
          </a:p>
        </p:txBody>
      </p:sp>
      <p:sp>
        <p:nvSpPr>
          <p:cNvPr id="105" name="CaixaDeTexto 104">
            <a:extLst>
              <a:ext uri="{FF2B5EF4-FFF2-40B4-BE49-F238E27FC236}">
                <a16:creationId xmlns:a16="http://schemas.microsoft.com/office/drawing/2014/main" id="{7CA9987F-81C4-3AB1-D050-2BB44ED33102}"/>
              </a:ext>
            </a:extLst>
          </p:cNvPr>
          <p:cNvSpPr txBox="1"/>
          <p:nvPr/>
        </p:nvSpPr>
        <p:spPr>
          <a:xfrm>
            <a:off x="9782560" y="5561050"/>
            <a:ext cx="213015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Índices RRI/CRI por compartimento e rota; agentes "obedientes" </a:t>
            </a:r>
            <a:r>
              <a:rPr lang="pt-BR" sz="1000" dirty="0" err="1">
                <a:solidFill>
                  <a:schemeClr val="accent1">
                    <a:lumMod val="75000"/>
                  </a:schemeClr>
                </a:solidFill>
              </a:rPr>
              <a:t>vs</a:t>
            </a:r>
            <a:r>
              <a:rPr lang="pt-BR" sz="1000" dirty="0">
                <a:solidFill>
                  <a:schemeClr val="accent1">
                    <a:lumMod val="75000"/>
                  </a:schemeClr>
                </a:solidFill>
              </a:rPr>
              <a:t> "livres" para validação.</a:t>
            </a:r>
          </a:p>
        </p:txBody>
      </p:sp>
    </p:spTree>
    <p:extLst>
      <p:ext uri="{BB962C8B-B14F-4D97-AF65-F5344CB8AC3E}">
        <p14:creationId xmlns:p14="http://schemas.microsoft.com/office/powerpoint/2010/main" val="24554405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76B335-C9B1-D1E8-12B3-F624D19DA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>
            <a:extLst>
              <a:ext uri="{FF2B5EF4-FFF2-40B4-BE49-F238E27FC236}">
                <a16:creationId xmlns:a16="http://schemas.microsoft.com/office/drawing/2014/main" id="{74832CA3-17A7-896C-9577-427EEFDD3672}"/>
              </a:ext>
            </a:extLst>
          </p:cNvPr>
          <p:cNvSpPr txBox="1"/>
          <p:nvPr/>
        </p:nvSpPr>
        <p:spPr>
          <a:xfrm>
            <a:off x="322910" y="538000"/>
            <a:ext cx="11200000" cy="5232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 i="0" dirty="0">
                <a:solidFill>
                  <a:srgbClr val="156082"/>
                </a:solidFill>
                <a:latin typeface="+mj-lt"/>
              </a:rPr>
              <a:t>3.1 Modelo Formal</a:t>
            </a:r>
          </a:p>
        </p:txBody>
      </p:sp>
      <p:sp>
        <p:nvSpPr>
          <p:cNvPr id="5" name="TextBox 2">
            <a:extLst>
              <a:ext uri="{FF2B5EF4-FFF2-40B4-BE49-F238E27FC236}">
                <a16:creationId xmlns:a16="http://schemas.microsoft.com/office/drawing/2014/main" id="{DEABDB75-D169-6791-5F82-FF48ECD6759F}"/>
              </a:ext>
            </a:extLst>
          </p:cNvPr>
          <p:cNvSpPr txBox="1"/>
          <p:nvPr/>
        </p:nvSpPr>
        <p:spPr>
          <a:xfrm>
            <a:off x="322910" y="1218000"/>
            <a:ext cx="11200000" cy="32316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500" b="0" i="0" dirty="0">
                <a:solidFill>
                  <a:srgbClr val="1F1F1F"/>
                </a:solidFill>
                <a:latin typeface="+mj-lt"/>
              </a:rPr>
              <a:t>Seja o </a:t>
            </a:r>
            <a:r>
              <a:rPr sz="1500" b="0" i="0" dirty="0" err="1">
                <a:solidFill>
                  <a:srgbClr val="1F1F1F"/>
                </a:solidFill>
                <a:latin typeface="+mj-lt"/>
              </a:rPr>
              <a:t>sistema</a:t>
            </a:r>
            <a:r>
              <a:rPr sz="1500" b="0" i="0" dirty="0">
                <a:solidFill>
                  <a:srgbClr val="1F1F1F"/>
                </a:solidFill>
                <a:latin typeface="+mj-lt"/>
              </a:rPr>
              <a:t>:</a:t>
            </a:r>
          </a:p>
        </p:txBody>
      </p:sp>
      <p:sp>
        <p:nvSpPr>
          <p:cNvPr id="7" name="TextBox 3">
            <a:extLst>
              <a:ext uri="{FF2B5EF4-FFF2-40B4-BE49-F238E27FC236}">
                <a16:creationId xmlns:a16="http://schemas.microsoft.com/office/drawing/2014/main" id="{9A780BBB-3E30-C26D-75D0-3EE31C9147F2}"/>
              </a:ext>
            </a:extLst>
          </p:cNvPr>
          <p:cNvSpPr txBox="1"/>
          <p:nvPr/>
        </p:nvSpPr>
        <p:spPr>
          <a:xfrm>
            <a:off x="4326264" y="1638000"/>
            <a:ext cx="3200000" cy="52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mbria"/>
              </a:rPr>
              <a:t>S = ⟨ A, E, R, F, T, I, D, O ⟩</a:t>
            </a:r>
          </a:p>
        </p:txBody>
      </p:sp>
      <p:graphicFrame>
        <p:nvGraphicFramePr>
          <p:cNvPr id="8" name="Table 4">
            <a:extLst>
              <a:ext uri="{FF2B5EF4-FFF2-40B4-BE49-F238E27FC236}">
                <a16:creationId xmlns:a16="http://schemas.microsoft.com/office/drawing/2014/main" id="{F6B05FA0-8315-CDDC-4926-749B1906FB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6611755"/>
              </p:ext>
            </p:extLst>
          </p:nvPr>
        </p:nvGraphicFramePr>
        <p:xfrm>
          <a:off x="322910" y="2408000"/>
          <a:ext cx="5400000" cy="40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+mj-lt"/>
                        </a:rPr>
                        <a:t>Símbolo</a:t>
                      </a:r>
                    </a:p>
                  </a:txBody>
                  <a:tcPr anchor="ctr"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C0392B"/>
                          </a:solidFill>
                          <a:latin typeface="+mj-lt"/>
                        </a:rPr>
                        <a:t>Significado</a:t>
                      </a:r>
                      <a:endParaRPr sz="1400" b="1" dirty="0">
                        <a:solidFill>
                          <a:srgbClr val="C0392B"/>
                        </a:solidFill>
                        <a:latin typeface="+mj-lt"/>
                      </a:endParaRPr>
                    </a:p>
                  </a:txBody>
                  <a:tcPr anchor="ctr"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E2841"/>
                          </a:solidFill>
                          <a:latin typeface="Calibri"/>
                        </a:rPr>
                        <a:t>(A)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+mj-lt"/>
                        </a:rPr>
                        <a:t>ocupantes ∪ brigadistas (heterogêneos)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E2841"/>
                          </a:solidFill>
                          <a:latin typeface="Calibri"/>
                        </a:rPr>
                        <a:t>(E)</a:t>
                      </a:r>
                    </a:p>
                  </a:txBody>
                  <a:tcPr anchor="ctr"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1F1F1F"/>
                          </a:solidFill>
                          <a:latin typeface="+mj-lt"/>
                        </a:rPr>
                        <a:t>edifício: 30 andares × grade 20×20 (2D por andar)</a:t>
                      </a:r>
                    </a:p>
                  </a:txBody>
                  <a:tcPr anchor="ctr"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0E2841"/>
                          </a:solidFill>
                          <a:latin typeface="Calibri"/>
                        </a:rPr>
                        <a:t>(R)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1F1F1F"/>
                          </a:solidFill>
                          <a:latin typeface="+mj-lt"/>
                        </a:rPr>
                        <a:t>conjunto de </a:t>
                      </a:r>
                      <a:r>
                        <a:rPr sz="1200" b="0" dirty="0" err="1">
                          <a:solidFill>
                            <a:srgbClr val="1F1F1F"/>
                          </a:solidFill>
                          <a:latin typeface="+mj-lt"/>
                        </a:rPr>
                        <a:t>rotas</a:t>
                      </a:r>
                      <a:r>
                        <a:rPr sz="1200" b="0" dirty="0">
                          <a:solidFill>
                            <a:srgbClr val="1F1F1F"/>
                          </a:solidFill>
                          <a:latin typeface="+mj-lt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F1F1F"/>
                          </a:solidFill>
                          <a:latin typeface="+mj-lt"/>
                        </a:rPr>
                        <a:t>possíveis</a:t>
                      </a:r>
                      <a:endParaRPr sz="1200" b="0" dirty="0">
                        <a:solidFill>
                          <a:srgbClr val="1F1F1F"/>
                        </a:solidFill>
                        <a:latin typeface="+mj-lt"/>
                      </a:endParaRP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0E2841"/>
                          </a:solidFill>
                          <a:latin typeface="Calibri"/>
                        </a:rPr>
                        <a:t>(F)</a:t>
                      </a:r>
                    </a:p>
                  </a:txBody>
                  <a:tcPr anchor="ctr"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+mj-lt"/>
                        </a:rPr>
                        <a:t>dinâmica do fogo e da fumaça</a:t>
                      </a:r>
                    </a:p>
                  </a:txBody>
                  <a:tcPr anchor="ctr"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E2841"/>
                          </a:solidFill>
                          <a:latin typeface="Calibri"/>
                        </a:rPr>
                        <a:t>(T)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+mj-lt"/>
                        </a:rPr>
                        <a:t>tempo discreto: t ∈ {0, 1, ..., T_max} (tick)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0E2841"/>
                          </a:solidFill>
                          <a:latin typeface="Calibri"/>
                        </a:rPr>
                        <a:t>(I)</a:t>
                      </a:r>
                    </a:p>
                  </a:txBody>
                  <a:tcPr anchor="ctr"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+mj-lt"/>
                        </a:rPr>
                        <a:t>informação disponível aos agentes</a:t>
                      </a:r>
                    </a:p>
                  </a:txBody>
                  <a:tcPr anchor="ctr"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0E2841"/>
                          </a:solidFill>
                          <a:latin typeface="Calibri"/>
                        </a:rPr>
                        <a:t>(D)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+mj-lt"/>
                        </a:rPr>
                        <a:t>regras de decisão dos agentes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0E2841"/>
                          </a:solidFill>
                          <a:latin typeface="Calibri"/>
                        </a:rPr>
                        <a:t>(O)</a:t>
                      </a:r>
                    </a:p>
                  </a:txBody>
                  <a:tcPr anchor="ctr"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1F1F1F"/>
                          </a:solidFill>
                          <a:latin typeface="+mj-lt"/>
                        </a:rPr>
                        <a:t>T_evac, vítimas, mapa de calor, gargalos</a:t>
                      </a:r>
                    </a:p>
                  </a:txBody>
                  <a:tcPr anchor="ctr"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TextBox 5">
            <a:extLst>
              <a:ext uri="{FF2B5EF4-FFF2-40B4-BE49-F238E27FC236}">
                <a16:creationId xmlns:a16="http://schemas.microsoft.com/office/drawing/2014/main" id="{49DD0001-B95B-6068-8160-E29F47E1DDA1}"/>
              </a:ext>
            </a:extLst>
          </p:cNvPr>
          <p:cNvSpPr txBox="1"/>
          <p:nvPr/>
        </p:nvSpPr>
        <p:spPr>
          <a:xfrm>
            <a:off x="6126264" y="2408000"/>
            <a:ext cx="5400000" cy="32316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500" b="0" i="0" dirty="0" err="1">
                <a:solidFill>
                  <a:srgbClr val="1F1F1F"/>
                </a:solidFill>
                <a:latin typeface="+mj-lt"/>
              </a:rPr>
              <a:t>Regras</a:t>
            </a:r>
            <a:r>
              <a:rPr sz="1500" b="0" i="0" dirty="0">
                <a:solidFill>
                  <a:srgbClr val="1F1F1F"/>
                </a:solidFill>
                <a:latin typeface="+mj-lt"/>
              </a:rPr>
              <a:t> </a:t>
            </a:r>
            <a:r>
              <a:rPr sz="1500" b="0" i="0" dirty="0" err="1">
                <a:solidFill>
                  <a:srgbClr val="1F1F1F"/>
                </a:solidFill>
                <a:latin typeface="+mj-lt"/>
              </a:rPr>
              <a:t>formais</a:t>
            </a:r>
            <a:r>
              <a:rPr sz="1500" b="0" i="0" dirty="0">
                <a:solidFill>
                  <a:srgbClr val="1F1F1F"/>
                </a:solidFill>
                <a:latin typeface="+mj-lt"/>
              </a:rPr>
              <a:t> </a:t>
            </a:r>
            <a:r>
              <a:rPr sz="1500" b="0" i="0" dirty="0" err="1">
                <a:solidFill>
                  <a:srgbClr val="1F1F1F"/>
                </a:solidFill>
                <a:latin typeface="+mj-lt"/>
              </a:rPr>
              <a:t>básicas</a:t>
            </a:r>
            <a:r>
              <a:rPr sz="1500" b="0" i="0" dirty="0">
                <a:solidFill>
                  <a:srgbClr val="1F1F1F"/>
                </a:solidFill>
                <a:latin typeface="+mj-lt"/>
              </a:rPr>
              <a:t>:</a:t>
            </a:r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BD9D4DA1-DEED-2210-E089-F0DC840769EE}"/>
              </a:ext>
            </a:extLst>
          </p:cNvPr>
          <p:cNvSpPr txBox="1"/>
          <p:nvPr/>
        </p:nvSpPr>
        <p:spPr>
          <a:xfrm>
            <a:off x="6126264" y="2858000"/>
            <a:ext cx="5400000" cy="284180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Bef>
                <a:spcPts val="800"/>
              </a:spcBef>
            </a:pPr>
            <a:r>
              <a:rPr sz="1200" b="0" i="0" dirty="0">
                <a:solidFill>
                  <a:srgbClr val="1F1F1F"/>
                </a:solidFill>
                <a:latin typeface="+mj-lt"/>
              </a:rPr>
              <a:t>1. Todo </a:t>
            </a:r>
            <a:r>
              <a:rPr sz="1200" b="0" i="0" dirty="0" err="1">
                <a:solidFill>
                  <a:srgbClr val="1F1F1F"/>
                </a:solidFill>
                <a:latin typeface="+mj-lt"/>
              </a:rPr>
              <a:t>agente</a:t>
            </a:r>
            <a:r>
              <a:rPr sz="1200" b="0" i="0" dirty="0">
                <a:solidFill>
                  <a:srgbClr val="1F1F1F"/>
                </a:solidFill>
                <a:latin typeface="+mj-lt"/>
              </a:rPr>
              <a:t> </a:t>
            </a:r>
            <a:r>
              <a:rPr sz="1200" b="0" i="0" dirty="0" err="1">
                <a:solidFill>
                  <a:srgbClr val="1F1F1F"/>
                </a:solidFill>
                <a:latin typeface="+mj-lt"/>
              </a:rPr>
              <a:t>possui</a:t>
            </a:r>
            <a:r>
              <a:rPr sz="1200" b="0" i="0" dirty="0">
                <a:solidFill>
                  <a:srgbClr val="1F1F1F"/>
                </a:solidFill>
                <a:latin typeface="+mj-lt"/>
              </a:rPr>
              <a:t> </a:t>
            </a:r>
            <a:r>
              <a:rPr sz="1200" b="0" i="0" dirty="0" err="1">
                <a:solidFill>
                  <a:srgbClr val="1F1F1F"/>
                </a:solidFill>
                <a:latin typeface="+mj-lt"/>
              </a:rPr>
              <a:t>posição</a:t>
            </a:r>
            <a:r>
              <a:rPr sz="1200" b="0" i="0" dirty="0">
                <a:solidFill>
                  <a:srgbClr val="1F1F1F"/>
                </a:solidFill>
                <a:latin typeface="+mj-lt"/>
              </a:rPr>
              <a:t>:</a:t>
            </a:r>
          </a:p>
          <a:p>
            <a:pPr algn="l">
              <a:spcBef>
                <a:spcPts val="200"/>
              </a:spcBef>
            </a:pPr>
            <a:r>
              <a:rPr sz="1300" b="0" i="1" dirty="0">
                <a:solidFill>
                  <a:srgbClr val="1F1F1F"/>
                </a:solidFill>
                <a:latin typeface="Cambria"/>
              </a:rPr>
              <a:t>         xᵢ(t) ∈ E</a:t>
            </a:r>
          </a:p>
          <a:p>
            <a:pPr algn="l">
              <a:spcBef>
                <a:spcPts val="1000"/>
              </a:spcBef>
            </a:pPr>
            <a:r>
              <a:rPr sz="1200" b="0" i="0" dirty="0">
                <a:solidFill>
                  <a:srgbClr val="1F1F1F"/>
                </a:solidFill>
                <a:latin typeface="+mj-lt"/>
              </a:rPr>
              <a:t>2. Todo </a:t>
            </a:r>
            <a:r>
              <a:rPr sz="1200" b="0" i="0" dirty="0" err="1">
                <a:solidFill>
                  <a:srgbClr val="1F1F1F"/>
                </a:solidFill>
                <a:latin typeface="+mj-lt"/>
              </a:rPr>
              <a:t>agente</a:t>
            </a:r>
            <a:r>
              <a:rPr sz="1200" b="0" i="0" dirty="0">
                <a:solidFill>
                  <a:srgbClr val="1F1F1F"/>
                </a:solidFill>
                <a:latin typeface="+mj-lt"/>
              </a:rPr>
              <a:t> </a:t>
            </a:r>
            <a:r>
              <a:rPr sz="1200" b="0" i="0" dirty="0" err="1">
                <a:solidFill>
                  <a:srgbClr val="1F1F1F"/>
                </a:solidFill>
                <a:latin typeface="+mj-lt"/>
              </a:rPr>
              <a:t>escolhe</a:t>
            </a:r>
            <a:r>
              <a:rPr sz="1200" b="0" i="0" dirty="0">
                <a:solidFill>
                  <a:srgbClr val="1F1F1F"/>
                </a:solidFill>
                <a:latin typeface="+mj-lt"/>
              </a:rPr>
              <a:t> </a:t>
            </a:r>
            <a:r>
              <a:rPr sz="1200" b="0" i="0" dirty="0" err="1">
                <a:solidFill>
                  <a:srgbClr val="1F1F1F"/>
                </a:solidFill>
                <a:latin typeface="+mj-lt"/>
              </a:rPr>
              <a:t>uma</a:t>
            </a:r>
            <a:r>
              <a:rPr sz="1200" b="0" i="0" dirty="0">
                <a:solidFill>
                  <a:srgbClr val="1F1F1F"/>
                </a:solidFill>
                <a:latin typeface="+mj-lt"/>
              </a:rPr>
              <a:t> </a:t>
            </a:r>
            <a:r>
              <a:rPr sz="1200" b="0" i="0" dirty="0" err="1">
                <a:solidFill>
                  <a:srgbClr val="1F1F1F"/>
                </a:solidFill>
                <a:latin typeface="+mj-lt"/>
              </a:rPr>
              <a:t>rota</a:t>
            </a:r>
            <a:r>
              <a:rPr sz="1200" b="0" i="0" dirty="0">
                <a:solidFill>
                  <a:srgbClr val="1F1F1F"/>
                </a:solidFill>
                <a:latin typeface="+mj-lt"/>
              </a:rPr>
              <a:t>:</a:t>
            </a:r>
          </a:p>
          <a:p>
            <a:pPr algn="l">
              <a:spcBef>
                <a:spcPts val="200"/>
              </a:spcBef>
            </a:pPr>
            <a:r>
              <a:rPr sz="1300" b="0" i="1" dirty="0">
                <a:solidFill>
                  <a:srgbClr val="1F1F1F"/>
                </a:solidFill>
                <a:latin typeface="Cambria"/>
              </a:rPr>
              <a:t>         rᵢ(t) ∈ R</a:t>
            </a:r>
          </a:p>
          <a:p>
            <a:pPr algn="l">
              <a:spcBef>
                <a:spcPts val="1000"/>
              </a:spcBef>
            </a:pPr>
            <a:r>
              <a:rPr sz="1200" b="0" i="0" dirty="0">
                <a:solidFill>
                  <a:srgbClr val="1F1F1F"/>
                </a:solidFill>
                <a:latin typeface="+mj-lt"/>
              </a:rPr>
              <a:t>3. A </a:t>
            </a:r>
            <a:r>
              <a:rPr sz="1200" b="0" i="0" dirty="0" err="1">
                <a:solidFill>
                  <a:srgbClr val="1F1F1F"/>
                </a:solidFill>
                <a:latin typeface="+mj-lt"/>
              </a:rPr>
              <a:t>escolha</a:t>
            </a:r>
            <a:r>
              <a:rPr sz="1200" b="0" i="0" dirty="0">
                <a:solidFill>
                  <a:srgbClr val="1F1F1F"/>
                </a:solidFill>
                <a:latin typeface="+mj-lt"/>
              </a:rPr>
              <a:t> da </a:t>
            </a:r>
            <a:r>
              <a:rPr sz="1200" b="0" i="0" dirty="0" err="1">
                <a:solidFill>
                  <a:srgbClr val="1F1F1F"/>
                </a:solidFill>
                <a:latin typeface="+mj-lt"/>
              </a:rPr>
              <a:t>rota</a:t>
            </a:r>
            <a:r>
              <a:rPr sz="1200" b="0" i="0" dirty="0">
                <a:solidFill>
                  <a:srgbClr val="1F1F1F"/>
                </a:solidFill>
                <a:latin typeface="+mj-lt"/>
              </a:rPr>
              <a:t> </a:t>
            </a:r>
            <a:r>
              <a:rPr sz="1200" b="0" i="0" dirty="0" err="1">
                <a:solidFill>
                  <a:srgbClr val="1F1F1F"/>
                </a:solidFill>
                <a:latin typeface="+mj-lt"/>
              </a:rPr>
              <a:t>depende</a:t>
            </a:r>
            <a:r>
              <a:rPr sz="1200" b="0" i="0" dirty="0">
                <a:solidFill>
                  <a:srgbClr val="1F1F1F"/>
                </a:solidFill>
                <a:latin typeface="+mj-lt"/>
              </a:rPr>
              <a:t> de </a:t>
            </a:r>
            <a:r>
              <a:rPr sz="1200" b="0" i="0" dirty="0" err="1">
                <a:solidFill>
                  <a:srgbClr val="1F1F1F"/>
                </a:solidFill>
                <a:latin typeface="+mj-lt"/>
              </a:rPr>
              <a:t>visibilidade</a:t>
            </a:r>
            <a:r>
              <a:rPr sz="1200" b="0" i="0" dirty="0">
                <a:solidFill>
                  <a:srgbClr val="1F1F1F"/>
                </a:solidFill>
                <a:latin typeface="+mj-lt"/>
              </a:rPr>
              <a:t>,</a:t>
            </a:r>
          </a:p>
          <a:p>
            <a:pPr algn="l">
              <a:spcBef>
                <a:spcPts val="0"/>
              </a:spcBef>
            </a:pPr>
            <a:r>
              <a:rPr sz="1200" b="0" i="0" dirty="0">
                <a:solidFill>
                  <a:srgbClr val="1F1F1F"/>
                </a:solidFill>
                <a:latin typeface="+mj-lt"/>
              </a:rPr>
              <a:t>     </a:t>
            </a:r>
            <a:r>
              <a:rPr sz="1200" b="0" i="0" dirty="0" err="1">
                <a:solidFill>
                  <a:srgbClr val="1F1F1F"/>
                </a:solidFill>
                <a:latin typeface="+mj-lt"/>
              </a:rPr>
              <a:t>distância</a:t>
            </a:r>
            <a:r>
              <a:rPr sz="1200" b="0" i="0" dirty="0">
                <a:solidFill>
                  <a:srgbClr val="1F1F1F"/>
                </a:solidFill>
                <a:latin typeface="+mj-lt"/>
              </a:rPr>
              <a:t>, </a:t>
            </a:r>
            <a:r>
              <a:rPr sz="1200" b="0" i="0" dirty="0" err="1">
                <a:solidFill>
                  <a:srgbClr val="1F1F1F"/>
                </a:solidFill>
                <a:latin typeface="+mj-lt"/>
              </a:rPr>
              <a:t>congestionamento</a:t>
            </a:r>
            <a:r>
              <a:rPr sz="1200" b="0" i="0" dirty="0">
                <a:solidFill>
                  <a:srgbClr val="1F1F1F"/>
                </a:solidFill>
                <a:latin typeface="+mj-lt"/>
              </a:rPr>
              <a:t> e </a:t>
            </a:r>
            <a:r>
              <a:rPr sz="1200" b="0" i="0" dirty="0" err="1">
                <a:solidFill>
                  <a:srgbClr val="1F1F1F"/>
                </a:solidFill>
                <a:latin typeface="+mj-lt"/>
              </a:rPr>
              <a:t>risco</a:t>
            </a:r>
            <a:r>
              <a:rPr sz="1200" b="0" i="0" dirty="0">
                <a:solidFill>
                  <a:srgbClr val="1F1F1F"/>
                </a:solidFill>
                <a:latin typeface="+mj-lt"/>
              </a:rPr>
              <a:t>:</a:t>
            </a:r>
          </a:p>
          <a:p>
            <a:pPr algn="l">
              <a:spcBef>
                <a:spcPts val="200"/>
              </a:spcBef>
            </a:pPr>
            <a:r>
              <a:rPr sz="1300" b="0" i="1" dirty="0">
                <a:solidFill>
                  <a:srgbClr val="1F1F1F"/>
                </a:solidFill>
                <a:latin typeface="Cambria"/>
              </a:rPr>
              <a:t>         rᵢ(t) = Dᵢ(VIS, DIST, CONG, RISCO, INFO)</a:t>
            </a:r>
          </a:p>
          <a:p>
            <a:pPr algn="l">
              <a:spcBef>
                <a:spcPts val="1000"/>
              </a:spcBef>
            </a:pPr>
            <a:r>
              <a:rPr sz="1200" b="0" i="0" dirty="0">
                <a:solidFill>
                  <a:srgbClr val="1F1F1F"/>
                </a:solidFill>
                <a:latin typeface="+mj-lt"/>
              </a:rPr>
              <a:t>4. A </a:t>
            </a:r>
            <a:r>
              <a:rPr sz="1200" b="0" i="0" dirty="0" err="1">
                <a:solidFill>
                  <a:srgbClr val="1F1F1F"/>
                </a:solidFill>
                <a:latin typeface="+mj-lt"/>
              </a:rPr>
              <a:t>velocidade</a:t>
            </a:r>
            <a:r>
              <a:rPr sz="1200" b="0" i="0" dirty="0">
                <a:solidFill>
                  <a:srgbClr val="1F1F1F"/>
                </a:solidFill>
                <a:latin typeface="+mj-lt"/>
              </a:rPr>
              <a:t> do </a:t>
            </a:r>
            <a:r>
              <a:rPr sz="1200" b="0" i="0" dirty="0" err="1">
                <a:solidFill>
                  <a:srgbClr val="1F1F1F"/>
                </a:solidFill>
                <a:latin typeface="+mj-lt"/>
              </a:rPr>
              <a:t>agente</a:t>
            </a:r>
            <a:r>
              <a:rPr sz="1200" b="0" i="0" dirty="0">
                <a:solidFill>
                  <a:srgbClr val="1F1F1F"/>
                </a:solidFill>
                <a:latin typeface="+mj-lt"/>
              </a:rPr>
              <a:t> </a:t>
            </a:r>
            <a:r>
              <a:rPr sz="1200" b="0" i="0" dirty="0" err="1">
                <a:solidFill>
                  <a:srgbClr val="1F1F1F"/>
                </a:solidFill>
                <a:latin typeface="+mj-lt"/>
              </a:rPr>
              <a:t>diminui</a:t>
            </a:r>
            <a:r>
              <a:rPr sz="1200" b="0" i="0" dirty="0">
                <a:solidFill>
                  <a:srgbClr val="1F1F1F"/>
                </a:solidFill>
                <a:latin typeface="+mj-lt"/>
              </a:rPr>
              <a:t> com </a:t>
            </a:r>
            <a:r>
              <a:rPr sz="1200" b="0" i="0" dirty="0" err="1">
                <a:solidFill>
                  <a:srgbClr val="1F1F1F"/>
                </a:solidFill>
                <a:latin typeface="+mj-lt"/>
              </a:rPr>
              <a:t>densidade</a:t>
            </a:r>
            <a:r>
              <a:rPr sz="1200" b="0" i="0" dirty="0">
                <a:solidFill>
                  <a:srgbClr val="1F1F1F"/>
                </a:solidFill>
                <a:latin typeface="+mj-lt"/>
              </a:rPr>
              <a:t> e </a:t>
            </a:r>
            <a:r>
              <a:rPr sz="1200" b="0" i="0" dirty="0" err="1">
                <a:solidFill>
                  <a:srgbClr val="1F1F1F"/>
                </a:solidFill>
                <a:latin typeface="+mj-lt"/>
              </a:rPr>
              <a:t>fumaça</a:t>
            </a:r>
            <a:r>
              <a:rPr sz="1200" b="0" i="0" dirty="0">
                <a:solidFill>
                  <a:srgbClr val="1F1F1F"/>
                </a:solidFill>
                <a:latin typeface="+mj-lt"/>
              </a:rPr>
              <a:t>:</a:t>
            </a:r>
          </a:p>
          <a:p>
            <a:pPr algn="l">
              <a:spcBef>
                <a:spcPts val="200"/>
              </a:spcBef>
            </a:pPr>
            <a:r>
              <a:rPr sz="1300" b="0" i="1" dirty="0">
                <a:solidFill>
                  <a:srgbClr val="1F1F1F"/>
                </a:solidFill>
                <a:latin typeface="Cambria"/>
              </a:rPr>
              <a:t>         vᵢ(t) = f(</a:t>
            </a:r>
            <a:r>
              <a:rPr sz="1300" b="0" i="1" dirty="0" err="1">
                <a:solidFill>
                  <a:srgbClr val="1F1F1F"/>
                </a:solidFill>
                <a:latin typeface="Cambria"/>
              </a:rPr>
              <a:t>v_max</a:t>
            </a:r>
            <a:r>
              <a:rPr sz="1300" b="0" i="1" dirty="0">
                <a:solidFill>
                  <a:srgbClr val="1F1F1F"/>
                </a:solidFill>
                <a:latin typeface="Cambria"/>
              </a:rPr>
              <a:t>, ρ, Φ)</a:t>
            </a:r>
          </a:p>
          <a:p>
            <a:pPr algn="l">
              <a:spcBef>
                <a:spcPts val="1000"/>
              </a:spcBef>
            </a:pPr>
            <a:r>
              <a:rPr sz="1200" b="0" i="0" dirty="0">
                <a:solidFill>
                  <a:srgbClr val="1F1F1F"/>
                </a:solidFill>
                <a:latin typeface="+mj-lt"/>
              </a:rPr>
              <a:t>5. O </a:t>
            </a:r>
            <a:r>
              <a:rPr sz="1200" b="0" i="0" dirty="0" err="1">
                <a:solidFill>
                  <a:srgbClr val="1F1F1F"/>
                </a:solidFill>
                <a:latin typeface="+mj-lt"/>
              </a:rPr>
              <a:t>agente</a:t>
            </a:r>
            <a:r>
              <a:rPr sz="1200" b="0" i="0" dirty="0">
                <a:solidFill>
                  <a:srgbClr val="1F1F1F"/>
                </a:solidFill>
                <a:latin typeface="+mj-lt"/>
              </a:rPr>
              <a:t> </a:t>
            </a:r>
            <a:r>
              <a:rPr sz="1200" b="0" i="0" dirty="0" err="1">
                <a:solidFill>
                  <a:srgbClr val="1F1F1F"/>
                </a:solidFill>
                <a:latin typeface="+mj-lt"/>
              </a:rPr>
              <a:t>evacua</a:t>
            </a:r>
            <a:r>
              <a:rPr sz="1200" b="0" i="0" dirty="0">
                <a:solidFill>
                  <a:srgbClr val="1F1F1F"/>
                </a:solidFill>
                <a:latin typeface="+mj-lt"/>
              </a:rPr>
              <a:t> </a:t>
            </a:r>
            <a:r>
              <a:rPr sz="1200" b="0" i="0" dirty="0" err="1">
                <a:solidFill>
                  <a:srgbClr val="1F1F1F"/>
                </a:solidFill>
                <a:latin typeface="+mj-lt"/>
              </a:rPr>
              <a:t>quando</a:t>
            </a:r>
            <a:r>
              <a:rPr sz="1200" b="0" i="0" dirty="0">
                <a:solidFill>
                  <a:srgbClr val="1F1F1F"/>
                </a:solidFill>
                <a:latin typeface="+mj-lt"/>
              </a:rPr>
              <a:t> </a:t>
            </a:r>
            <a:r>
              <a:rPr sz="1200" b="0" i="0" dirty="0" err="1">
                <a:solidFill>
                  <a:srgbClr val="1F1F1F"/>
                </a:solidFill>
                <a:latin typeface="+mj-lt"/>
              </a:rPr>
              <a:t>alcança</a:t>
            </a:r>
            <a:r>
              <a:rPr sz="1200" b="0" i="0" dirty="0">
                <a:solidFill>
                  <a:srgbClr val="1F1F1F"/>
                </a:solidFill>
                <a:latin typeface="+mj-lt"/>
              </a:rPr>
              <a:t> </a:t>
            </a:r>
            <a:r>
              <a:rPr sz="1200" b="0" i="0" dirty="0" err="1">
                <a:solidFill>
                  <a:srgbClr val="1F1F1F"/>
                </a:solidFill>
                <a:latin typeface="+mj-lt"/>
              </a:rPr>
              <a:t>uma</a:t>
            </a:r>
            <a:r>
              <a:rPr sz="1200" b="0" i="0" dirty="0">
                <a:solidFill>
                  <a:srgbClr val="1F1F1F"/>
                </a:solidFill>
                <a:latin typeface="+mj-lt"/>
              </a:rPr>
              <a:t> </a:t>
            </a:r>
            <a:r>
              <a:rPr sz="1200" b="0" i="0" dirty="0" err="1">
                <a:solidFill>
                  <a:srgbClr val="1F1F1F"/>
                </a:solidFill>
                <a:latin typeface="+mj-lt"/>
              </a:rPr>
              <a:t>saída</a:t>
            </a:r>
            <a:r>
              <a:rPr sz="1200" b="0" i="0" dirty="0">
                <a:solidFill>
                  <a:srgbClr val="1F1F1F"/>
                </a:solidFill>
                <a:latin typeface="+mj-lt"/>
              </a:rPr>
              <a:t>:</a:t>
            </a:r>
          </a:p>
          <a:p>
            <a:pPr algn="l">
              <a:spcBef>
                <a:spcPts val="200"/>
              </a:spcBef>
            </a:pPr>
            <a:r>
              <a:rPr sz="1300" b="0" i="1" dirty="0">
                <a:solidFill>
                  <a:srgbClr val="1F1F1F"/>
                </a:solidFill>
                <a:latin typeface="Cambria"/>
              </a:rPr>
              <a:t>         xᵢ(t) ∈ Saídas  ⇒  evac(aᵢ) = 1</a:t>
            </a:r>
          </a:p>
        </p:txBody>
      </p:sp>
    </p:spTree>
    <p:extLst>
      <p:ext uri="{BB962C8B-B14F-4D97-AF65-F5344CB8AC3E}">
        <p14:creationId xmlns:p14="http://schemas.microsoft.com/office/powerpoint/2010/main" val="8331665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CD7087-51D5-1E20-9136-BE1936B7C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CECC3B8-33C0-ED3B-B742-45F6D9979F9E}"/>
              </a:ext>
            </a:extLst>
          </p:cNvPr>
          <p:cNvSpPr txBox="1"/>
          <p:nvPr/>
        </p:nvSpPr>
        <p:spPr>
          <a:xfrm>
            <a:off x="200990" y="540000"/>
            <a:ext cx="11200000" cy="56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 i="0" dirty="0">
                <a:solidFill>
                  <a:srgbClr val="156082"/>
                </a:solidFill>
                <a:latin typeface="Calibri"/>
              </a:rPr>
              <a:t>3.2 </a:t>
            </a:r>
            <a:r>
              <a:rPr sz="2800" b="1" i="0" dirty="0" err="1">
                <a:solidFill>
                  <a:srgbClr val="156082"/>
                </a:solidFill>
                <a:latin typeface="Calibri"/>
              </a:rPr>
              <a:t>Variáveis</a:t>
            </a:r>
            <a:r>
              <a:rPr sz="2800" b="1" i="0" dirty="0">
                <a:solidFill>
                  <a:srgbClr val="156082"/>
                </a:solidFill>
                <a:latin typeface="Calibri"/>
              </a:rPr>
              <a:t> </a:t>
            </a:r>
            <a:r>
              <a:rPr sz="2800" b="1" i="0" dirty="0" err="1">
                <a:solidFill>
                  <a:srgbClr val="156082"/>
                </a:solidFill>
                <a:latin typeface="Calibri"/>
              </a:rPr>
              <a:t>Principais</a:t>
            </a:r>
            <a:endParaRPr sz="2800" b="1" i="0" dirty="0">
              <a:solidFill>
                <a:srgbClr val="156082"/>
              </a:solidFill>
              <a:latin typeface="Calibri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2394090-D35B-CB59-273A-70890A6D8B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3466945"/>
              </p:ext>
            </p:extLst>
          </p:nvPr>
        </p:nvGraphicFramePr>
        <p:xfrm>
          <a:off x="2642304" y="1100000"/>
          <a:ext cx="7200000" cy="558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0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+mj-lt"/>
                        </a:rPr>
                        <a:t>Variável</a:t>
                      </a:r>
                    </a:p>
                  </a:txBody>
                  <a:tcPr anchor="ctr"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C0392B"/>
                          </a:solidFill>
                          <a:latin typeface="+mj-lt"/>
                        </a:rPr>
                        <a:t>Significado</a:t>
                      </a:r>
                      <a:endParaRPr sz="1400" b="1" dirty="0">
                        <a:solidFill>
                          <a:srgbClr val="C0392B"/>
                        </a:solidFill>
                        <a:latin typeface="+mj-lt"/>
                      </a:endParaRPr>
                    </a:p>
                  </a:txBody>
                  <a:tcPr anchor="ctr"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6000"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0E2841"/>
                          </a:solidFill>
                          <a:latin typeface="Cambria"/>
                        </a:rPr>
                        <a:t>(N)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1F1F1F"/>
                          </a:solidFill>
                          <a:latin typeface="+mj-lt"/>
                        </a:rPr>
                        <a:t>número total de ocupantes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6000"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0E2841"/>
                          </a:solidFill>
                          <a:latin typeface="Cambria"/>
                        </a:rPr>
                        <a:t>(aᵢ)</a:t>
                      </a:r>
                    </a:p>
                  </a:txBody>
                  <a:tcPr anchor="ctr"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1F1F1F"/>
                          </a:solidFill>
                          <a:latin typeface="+mj-lt"/>
                        </a:rPr>
                        <a:t>agente i, com i ∈ {1, ..., N}</a:t>
                      </a:r>
                    </a:p>
                  </a:txBody>
                  <a:tcPr anchor="ctr"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6000"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0E2841"/>
                          </a:solidFill>
                          <a:latin typeface="Cambria"/>
                        </a:rPr>
                        <a:t>(tipo(aᵢ))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1F1F1F"/>
                          </a:solidFill>
                          <a:latin typeface="+mj-lt"/>
                        </a:rPr>
                        <a:t>tipo do agente ∈ {adulto, idoso, PcD, brigadista}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6000"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0E2841"/>
                          </a:solidFill>
                          <a:latin typeface="Cambria"/>
                        </a:rPr>
                        <a:t>(xᵢ(t))</a:t>
                      </a:r>
                    </a:p>
                  </a:txBody>
                  <a:tcPr anchor="ctr"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1F1F1F"/>
                          </a:solidFill>
                          <a:latin typeface="+mj-lt"/>
                        </a:rPr>
                        <a:t>posição do agente no tempo t</a:t>
                      </a:r>
                    </a:p>
                  </a:txBody>
                  <a:tcPr anchor="ctr"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6000"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0E2841"/>
                          </a:solidFill>
                          <a:latin typeface="Cambria"/>
                        </a:rPr>
                        <a:t>(vᵢ(t))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1F1F1F"/>
                          </a:solidFill>
                          <a:latin typeface="+mj-lt"/>
                        </a:rPr>
                        <a:t>velocidade do agente no tempo t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6000"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0E2841"/>
                          </a:solidFill>
                          <a:latin typeface="Cambria"/>
                        </a:rPr>
                        <a:t>(v_max)</a:t>
                      </a:r>
                    </a:p>
                  </a:txBody>
                  <a:tcPr anchor="ctr"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1F1F1F"/>
                          </a:solidFill>
                          <a:latin typeface="+mj-lt"/>
                        </a:rPr>
                        <a:t>velocidade máxima por tipo (1.0 / 0.6 / 0.4 / 1.5)</a:t>
                      </a:r>
                    </a:p>
                  </a:txBody>
                  <a:tcPr anchor="ctr"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6000"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0E2841"/>
                          </a:solidFill>
                          <a:latin typeface="Cambria"/>
                        </a:rPr>
                        <a:t>(ρ(x, t))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1F1F1F"/>
                          </a:solidFill>
                          <a:latin typeface="+mj-lt"/>
                        </a:rPr>
                        <a:t>densidade local de agentes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6000"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0E2841"/>
                          </a:solidFill>
                          <a:latin typeface="Cambria"/>
                        </a:rPr>
                        <a:t>(Φ(x, t))</a:t>
                      </a:r>
                    </a:p>
                  </a:txBody>
                  <a:tcPr anchor="ctr"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1F1F1F"/>
                          </a:solidFill>
                          <a:latin typeface="+mj-lt"/>
                        </a:rPr>
                        <a:t>intensidade da fumaça</a:t>
                      </a:r>
                    </a:p>
                  </a:txBody>
                  <a:tcPr anchor="ctr"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6000"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0E2841"/>
                          </a:solidFill>
                          <a:latin typeface="Cambria"/>
                        </a:rPr>
                        <a:t>(V(x, t))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1F1F1F"/>
                          </a:solidFill>
                          <a:latin typeface="+mj-lt"/>
                        </a:rPr>
                        <a:t>visibilidade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6000"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0E2841"/>
                          </a:solidFill>
                          <a:latin typeface="Cambria"/>
                        </a:rPr>
                        <a:t>(Cₑ)</a:t>
                      </a:r>
                    </a:p>
                  </a:txBody>
                  <a:tcPr anchor="ctr"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1F1F1F"/>
                          </a:solidFill>
                          <a:latin typeface="+mj-lt"/>
                        </a:rPr>
                        <a:t>capacidade de fluxo da escada</a:t>
                      </a:r>
                    </a:p>
                  </a:txBody>
                  <a:tcPr anchor="ctr"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6000"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0E2841"/>
                          </a:solidFill>
                          <a:latin typeface="Cambria"/>
                        </a:rPr>
                        <a:t>(estado(aᵢ,t))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1F1F1F"/>
                          </a:solidFill>
                          <a:latin typeface="+mj-lt"/>
                        </a:rPr>
                        <a:t>estado ∈ {ativo, evacuado, ferido, morto}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6000"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0E2841"/>
                          </a:solidFill>
                          <a:latin typeface="Cambria"/>
                        </a:rPr>
                        <a:t>(pânico(aᵢ,t))</a:t>
                      </a:r>
                    </a:p>
                  </a:txBody>
                  <a:tcPr anchor="ctr"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1F1F1F"/>
                          </a:solidFill>
                          <a:latin typeface="+mj-lt"/>
                        </a:rPr>
                        <a:t>nível de pânico ∈ [0, 1]</a:t>
                      </a:r>
                    </a:p>
                  </a:txBody>
                  <a:tcPr anchor="ctr"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66000"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0E2841"/>
                          </a:solidFill>
                          <a:latin typeface="Cambria"/>
                        </a:rPr>
                        <a:t>(T_react,i)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1F1F1F"/>
                          </a:solidFill>
                          <a:latin typeface="+mj-lt"/>
                        </a:rPr>
                        <a:t>tempo de reação do agente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66000"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0E2841"/>
                          </a:solidFill>
                          <a:latin typeface="Cambria"/>
                        </a:rPr>
                        <a:t>(T_evac)</a:t>
                      </a:r>
                    </a:p>
                  </a:txBody>
                  <a:tcPr anchor="ctr"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1F1F1F"/>
                          </a:solidFill>
                          <a:latin typeface="+mj-lt"/>
                        </a:rPr>
                        <a:t>tempo total de evacuação</a:t>
                      </a:r>
                    </a:p>
                  </a:txBody>
                  <a:tcPr anchor="ctr"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080658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A6C9F-62B3-9027-CE87-419B0ACD6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01C5FA92-C48F-00BD-8AF8-56DD40B18358}"/>
              </a:ext>
            </a:extLst>
          </p:cNvPr>
          <p:cNvSpPr txBox="1"/>
          <p:nvPr/>
        </p:nvSpPr>
        <p:spPr>
          <a:xfrm>
            <a:off x="2480387" y="2957805"/>
            <a:ext cx="72312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4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3. Formalismo</a:t>
            </a:r>
          </a:p>
        </p:txBody>
      </p:sp>
    </p:spTree>
    <p:extLst>
      <p:ext uri="{BB962C8B-B14F-4D97-AF65-F5344CB8AC3E}">
        <p14:creationId xmlns:p14="http://schemas.microsoft.com/office/powerpoint/2010/main" val="30621119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FE23C-3C29-AB43-CC1C-29FC59C61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76E588AE-613D-0F01-5119-F2764DFE15B7}"/>
              </a:ext>
            </a:extLst>
          </p:cNvPr>
          <p:cNvSpPr txBox="1"/>
          <p:nvPr/>
        </p:nvSpPr>
        <p:spPr>
          <a:xfrm>
            <a:off x="2480387" y="2957805"/>
            <a:ext cx="72312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4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4. Computador</a:t>
            </a:r>
          </a:p>
        </p:txBody>
      </p:sp>
    </p:spTree>
    <p:extLst>
      <p:ext uri="{BB962C8B-B14F-4D97-AF65-F5344CB8AC3E}">
        <p14:creationId xmlns:p14="http://schemas.microsoft.com/office/powerpoint/2010/main" val="1380434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FBE59-FE81-33A7-70E3-E0CBC48DF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3832CDFC-286D-70E6-7117-22E38D31685C}"/>
              </a:ext>
            </a:extLst>
          </p:cNvPr>
          <p:cNvSpPr txBox="1"/>
          <p:nvPr/>
        </p:nvSpPr>
        <p:spPr>
          <a:xfrm>
            <a:off x="2480387" y="2957805"/>
            <a:ext cx="72312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4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5. Execução</a:t>
            </a:r>
          </a:p>
        </p:txBody>
      </p:sp>
    </p:spTree>
    <p:extLst>
      <p:ext uri="{BB962C8B-B14F-4D97-AF65-F5344CB8AC3E}">
        <p14:creationId xmlns:p14="http://schemas.microsoft.com/office/powerpoint/2010/main" val="37432399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0B3F0-BC85-C350-CE74-951AA51A8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5168FC49-E03F-BACA-EC63-7EF8D148230E}"/>
              </a:ext>
            </a:extLst>
          </p:cNvPr>
          <p:cNvSpPr txBox="1"/>
          <p:nvPr/>
        </p:nvSpPr>
        <p:spPr>
          <a:xfrm>
            <a:off x="2480387" y="2957805"/>
            <a:ext cx="72312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4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6. Observação</a:t>
            </a:r>
          </a:p>
        </p:txBody>
      </p:sp>
    </p:spTree>
    <p:extLst>
      <p:ext uri="{BB962C8B-B14F-4D97-AF65-F5344CB8AC3E}">
        <p14:creationId xmlns:p14="http://schemas.microsoft.com/office/powerpoint/2010/main" val="310118389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1988</Words>
  <Application>Microsoft Office PowerPoint</Application>
  <PresentationFormat>Widescreen</PresentationFormat>
  <Paragraphs>253</Paragraphs>
  <Slides>15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20" baseType="lpstr">
      <vt:lpstr>Aptos</vt:lpstr>
      <vt:lpstr>Arial</vt:lpstr>
      <vt:lpstr>Calibri</vt:lpstr>
      <vt:lpstr>Cambria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Marcos Mattedi</dc:creator>
  <cp:lastModifiedBy>Lucas Fritzke</cp:lastModifiedBy>
  <cp:revision>6</cp:revision>
  <dcterms:created xsi:type="dcterms:W3CDTF">2026-04-13T15:47:06Z</dcterms:created>
  <dcterms:modified xsi:type="dcterms:W3CDTF">2026-05-09T01:44:04Z</dcterms:modified>
</cp:coreProperties>
</file>