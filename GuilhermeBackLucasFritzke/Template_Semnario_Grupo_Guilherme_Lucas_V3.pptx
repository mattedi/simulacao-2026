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7418CCC-2AA5-49BB-A94F-B6807BF9F57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B91D42F-850C-470F-B581-CCC902D0E261}" type="slidenum"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"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1520" cy="23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12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tângulo 8"/>
          <p:cNvSpPr/>
          <p:nvPr/>
        </p:nvSpPr>
        <p:spPr>
          <a:xfrm>
            <a:off x="0" y="96840"/>
            <a:ext cx="12191760" cy="31788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5" name="Imagem 9" descr="Interface gráfica do usuário, Texto&#10;&#10;O conteúdo gerado por IA pode estar incorreto."/>
          <p:cNvPicPr/>
          <p:nvPr/>
        </p:nvPicPr>
        <p:blipFill>
          <a:blip r:embed="rId4"/>
          <a:srcRect l="0" t="16862" r="0" b="42005"/>
          <a:stretch/>
        </p:blipFill>
        <p:spPr>
          <a:xfrm>
            <a:off x="5840280" y="77400"/>
            <a:ext cx="511200" cy="262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1520" cy="23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12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Retângulo 8"/>
          <p:cNvSpPr/>
          <p:nvPr/>
        </p:nvSpPr>
        <p:spPr>
          <a:xfrm>
            <a:off x="0" y="96840"/>
            <a:ext cx="12191760" cy="31788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11" name="Imagem 9" descr="Interface gráfica do usuário, Texto&#10;&#10;O conteúdo gerado por IA pode estar incorreto."/>
          <p:cNvPicPr/>
          <p:nvPr/>
        </p:nvPicPr>
        <p:blipFill>
          <a:blip r:embed="rId4"/>
          <a:srcRect l="0" t="16862" r="0" b="42005"/>
          <a:stretch/>
        </p:blipFill>
        <p:spPr>
          <a:xfrm>
            <a:off x="5840280" y="77400"/>
            <a:ext cx="511200" cy="262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aixaDeTexto 3"/>
          <p:cNvSpPr/>
          <p:nvPr/>
        </p:nvSpPr>
        <p:spPr>
          <a:xfrm>
            <a:off x="2793960" y="2455560"/>
            <a:ext cx="703044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Título: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CaixaDeTexto 5"/>
          <p:cNvSpPr/>
          <p:nvPr/>
        </p:nvSpPr>
        <p:spPr>
          <a:xfrm>
            <a:off x="2086560" y="864360"/>
            <a:ext cx="77378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650"/>
              </a:spcBef>
              <a:spcAft>
                <a:spcPts val="825"/>
              </a:spcAft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MÓDULO V - SEMINÁRIO DE APRESETNTAÇÃO DOS RESULTADOS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CaixaDeTexto 6"/>
          <p:cNvSpPr/>
          <p:nvPr/>
        </p:nvSpPr>
        <p:spPr>
          <a:xfrm>
            <a:off x="7630560" y="3993840"/>
            <a:ext cx="34920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Autores: Guilherme W. Back e Lucas Fritzke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aixaDeTexto 7"/>
          <p:cNvSpPr/>
          <p:nvPr/>
        </p:nvSpPr>
        <p:spPr>
          <a:xfrm>
            <a:off x="4719240" y="5993640"/>
            <a:ext cx="2608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Junho 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ixaDeTexto 1"/>
          <p:cNvSpPr/>
          <p:nvPr/>
        </p:nvSpPr>
        <p:spPr>
          <a:xfrm>
            <a:off x="2528640" y="905040"/>
            <a:ext cx="58964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Estrutura da Apresentação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" name="Tabela 2"/>
          <p:cNvGraphicFramePr/>
          <p:nvPr/>
        </p:nvGraphicFramePr>
        <p:xfrm>
          <a:off x="1259640" y="1447920"/>
          <a:ext cx="9376920" cy="4353120"/>
        </p:xfrm>
        <a:graphic>
          <a:graphicData uri="http://schemas.openxmlformats.org/drawingml/2006/table">
            <a:tbl>
              <a:tblPr/>
              <a:tblGrid>
                <a:gridCol w="858240"/>
                <a:gridCol w="2211120"/>
                <a:gridCol w="6307200"/>
              </a:tblGrid>
              <a:tr h="29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Etapa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Nome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Descrição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Sistema de Referência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Define o problema real a ser estudado (ex: evacuação de um prédio).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Modelagem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Representação simplificada do sistema real (regras, agentes, ambiente).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Formalismo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Tradução do modelo para linguagem formal/matemática ou lógica.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Computador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Implementação do modelo em código (programação da simulação).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24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Execução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Rodar a simulação com diferentes parâmetros e cenários.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24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Observação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Análise dos resultados obtidos (gráficos, métricas, conclusões).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aixaDeTexto 1"/>
          <p:cNvSpPr/>
          <p:nvPr/>
        </p:nvSpPr>
        <p:spPr>
          <a:xfrm>
            <a:off x="2480400" y="2957760"/>
            <a:ext cx="723096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 Sistema de Referência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aixaDeTexto 1"/>
          <p:cNvSpPr/>
          <p:nvPr/>
        </p:nvSpPr>
        <p:spPr>
          <a:xfrm>
            <a:off x="496800" y="1146600"/>
            <a:ext cx="1064736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1.1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Delimitação do Sistema de Referência (S)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CaixaDeTexto 3"/>
          <p:cNvSpPr/>
          <p:nvPr/>
        </p:nvSpPr>
        <p:spPr>
          <a:xfrm>
            <a:off x="496800" y="1762200"/>
            <a:ext cx="105678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Fenômeno: Evacuação emergencial de edifício de 30 andares em situação de incêndio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ela 4"/>
          <p:cNvGraphicFramePr/>
          <p:nvPr/>
        </p:nvGraphicFramePr>
        <p:xfrm>
          <a:off x="609480" y="2316600"/>
          <a:ext cx="11297520" cy="4287240"/>
        </p:xfrm>
        <a:graphic>
          <a:graphicData uri="http://schemas.openxmlformats.org/drawingml/2006/table">
            <a:tbl>
              <a:tblPr/>
              <a:tblGrid>
                <a:gridCol w="2824200"/>
                <a:gridCol w="8473320"/>
              </a:tblGrid>
              <a:tr h="37944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Critério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Definição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Tipo Ontológico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Físico — causalidade energética (propagação do fogo/fumaça) e mecânica (movimentação dos agentes)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9616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Espacial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Edifício de 30 andares (0 a 29); cada andar representado como grade 2D de 20×20 células com corredores, salas, escadas e saídas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Temporal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Início do incêndio até evacuação total ou término da simulação; granularidade discreta por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Funcional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Propagação de fogo, dispersão de fumaça, movimentação de ocupantes e ação de brigadistas dentro do edifício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Escala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Espacial: meso (edifício, resolução por célula); Temporal: evento (minutos); Ontológica: elementar (agentes individuais)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9616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Entidades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Ocupantes (adultos vel. 1.0, idosos vel. 0.6, PcD vel. 0.4), brigadistas (vel. 1.5), fogo, fumaça, escadas (fluxo limitado), corredores, saídas de emergência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de Observação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Instrumentado e automatizado: coleta de métricas a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aixaDeTexto 1"/>
          <p:cNvSpPr/>
          <p:nvPr/>
        </p:nvSpPr>
        <p:spPr>
          <a:xfrm>
            <a:off x="793080" y="1161720"/>
            <a:ext cx="1064736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1.2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Observáveis Prioritários e Exclusões Conscientes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793080" y="2081880"/>
            <a:ext cx="4680000" cy="491040"/>
          </a:xfrm>
          <a:prstGeom prst="rect">
            <a:avLst/>
          </a:prstGeom>
          <a:solidFill>
            <a:srgbClr val="1560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Text 2"/>
          <p:cNvSpPr/>
          <p:nvPr/>
        </p:nvSpPr>
        <p:spPr>
          <a:xfrm>
            <a:off x="793080" y="2107440"/>
            <a:ext cx="468000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Observáveis Prioritários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" name="Table 0"/>
          <p:cNvGraphicFramePr/>
          <p:nvPr/>
        </p:nvGraphicFramePr>
        <p:xfrm>
          <a:off x="793080" y="2624400"/>
          <a:ext cx="4680000" cy="3145320"/>
        </p:xfrm>
        <a:graphic>
          <a:graphicData uri="http://schemas.openxmlformats.org/drawingml/2006/table">
            <a:tbl>
              <a:tblPr/>
              <a:tblGrid>
                <a:gridCol w="1738440"/>
                <a:gridCol w="2941920"/>
              </a:tblGrid>
              <a:tr h="34380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Observável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Descrição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Taxa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 / total ao término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Tempo médio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Média e σ de steps por andar e total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Nº de vítimas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Mortos + feridos por rodada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Mapa de calor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Densidade acumulada por célula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Gargalos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Top-5 células com maior congestionamento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Evolução temporal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Evacuados, mortos e área em chamas por step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34" name="Shape 3"/>
          <p:cNvSpPr/>
          <p:nvPr/>
        </p:nvSpPr>
        <p:spPr>
          <a:xfrm>
            <a:off x="6462360" y="2081880"/>
            <a:ext cx="4748040" cy="491040"/>
          </a:xfrm>
          <a:prstGeom prst="rect">
            <a:avLst/>
          </a:prstGeom>
          <a:solidFill>
            <a:srgbClr val="E97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Text 4"/>
          <p:cNvSpPr/>
          <p:nvPr/>
        </p:nvSpPr>
        <p:spPr>
          <a:xfrm>
            <a:off x="6645600" y="2106000"/>
            <a:ext cx="4381920" cy="47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Exclusões Conscientes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" name="Table 1"/>
          <p:cNvGraphicFramePr/>
          <p:nvPr/>
        </p:nvGraphicFramePr>
        <p:xfrm>
          <a:off x="6462360" y="2624400"/>
          <a:ext cx="4748040" cy="3119760"/>
        </p:xfrm>
        <a:graphic>
          <a:graphicData uri="http://schemas.openxmlformats.org/drawingml/2006/table">
            <a:tbl>
              <a:tblPr/>
              <a:tblGrid>
                <a:gridCol w="1773360"/>
                <a:gridCol w="2974680"/>
              </a:tblGrid>
              <a:tr h="3319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Elemento Excluído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Justificativa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Estados psicológicos profundos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Inobserváveis; pânico é operacionalizado como variável [0,1]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Condições climáticas externas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Foco no interior do edifício; vento e chuva não modelados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335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Políticas públicas / fiscalização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causal institucional incompatível com ontologia física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Dimensões simbólicas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Percepção cultural de risco, crenças — não formalizáveis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Combate direto ao incêndio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Brigadistas orientam evacuação, não combatem o fogo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Elevadores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Bloqueados conforme ABNT NBR 9077 — não participam da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CaixaDeTexto 1"/>
          <p:cNvSpPr/>
          <p:nvPr/>
        </p:nvSpPr>
        <p:spPr>
          <a:xfrm>
            <a:off x="2480400" y="2957760"/>
            <a:ext cx="723096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Modelagem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tângulo: Cantos Arredondados 1"/>
          <p:cNvSpPr/>
          <p:nvPr/>
        </p:nvSpPr>
        <p:spPr>
          <a:xfrm>
            <a:off x="880920" y="631800"/>
            <a:ext cx="1629000" cy="8154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1. Identificação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Retângulo: Cantos Arredondados 2"/>
          <p:cNvSpPr/>
          <p:nvPr/>
        </p:nvSpPr>
        <p:spPr>
          <a:xfrm>
            <a:off x="3519360" y="615240"/>
            <a:ext cx="4564440" cy="88056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Artigos identificados por meio de busca em banco de dados: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 Web of Science 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Retângulo: Cantos Arredondados 3"/>
          <p:cNvSpPr/>
          <p:nvPr/>
        </p:nvSpPr>
        <p:spPr>
          <a:xfrm>
            <a:off x="9093240" y="615240"/>
            <a:ext cx="1629000" cy="88056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pesquisa 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1" name="Conector de Seta Reta 5"/>
          <p:cNvCxnSpPr>
            <a:stCxn id="40" idx="1"/>
            <a:endCxn id="39" idx="3"/>
          </p:cNvCxnSpPr>
          <p:nvPr/>
        </p:nvCxnSpPr>
        <p:spPr>
          <a:xfrm flipH="1">
            <a:off x="8083800" y="1055520"/>
            <a:ext cx="1009800" cy="36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42" name="Retângulo: Cantos Arredondados 9"/>
          <p:cNvSpPr/>
          <p:nvPr/>
        </p:nvSpPr>
        <p:spPr>
          <a:xfrm>
            <a:off x="3519360" y="1780200"/>
            <a:ext cx="4564440" cy="88056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  Web of Science 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Retângulo: Cantos Arredondados 10"/>
          <p:cNvSpPr/>
          <p:nvPr/>
        </p:nvSpPr>
        <p:spPr>
          <a:xfrm>
            <a:off x="9093240" y="1801800"/>
            <a:ext cx="1629000" cy="86436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pesquisa 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(#1 &amp; 2)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4" name="Conector de Seta Reta 13"/>
          <p:cNvCxnSpPr>
            <a:stCxn id="43" idx="1"/>
            <a:endCxn id="42" idx="3"/>
          </p:cNvCxnSpPr>
          <p:nvPr/>
        </p:nvCxnSpPr>
        <p:spPr>
          <a:xfrm flipH="1" flipV="1">
            <a:off x="8083800" y="2220480"/>
            <a:ext cx="1009800" cy="1404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45" name="Conector de Seta Reta 16"/>
          <p:cNvCxnSpPr>
            <a:stCxn id="39" idx="2"/>
            <a:endCxn id="42" idx="0"/>
          </p:cNvCxnSpPr>
          <p:nvPr/>
        </p:nvCxnSpPr>
        <p:spPr>
          <a:xfrm>
            <a:off x="5801760" y="1495800"/>
            <a:ext cx="360" cy="28476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46" name="Retângulo: Cantos Arredondados 19"/>
          <p:cNvSpPr/>
          <p:nvPr/>
        </p:nvSpPr>
        <p:spPr>
          <a:xfrm>
            <a:off x="880920" y="2961360"/>
            <a:ext cx="1629000" cy="88056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Triagem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Retângulo: Cantos Arredondados 20"/>
          <p:cNvSpPr/>
          <p:nvPr/>
        </p:nvSpPr>
        <p:spPr>
          <a:xfrm>
            <a:off x="3519360" y="2944800"/>
            <a:ext cx="4564440" cy="88056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selecionados para triagem de resumos (n=1909)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Retângulo: Cantos Arredondados 21"/>
          <p:cNvSpPr/>
          <p:nvPr/>
        </p:nvSpPr>
        <p:spPr>
          <a:xfrm>
            <a:off x="9172440" y="2944800"/>
            <a:ext cx="1629000" cy="88056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Duplicados removidos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9" name="Conector de Seta Reta 22"/>
          <p:cNvCxnSpPr>
            <a:stCxn id="48" idx="1"/>
          </p:cNvCxnSpPr>
          <p:nvPr/>
        </p:nvCxnSpPr>
        <p:spPr>
          <a:xfrm flipH="1">
            <a:off x="8242560" y="3385080"/>
            <a:ext cx="930240" cy="180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50" name="Retângulo: Cantos Arredondados 23"/>
          <p:cNvSpPr/>
          <p:nvPr/>
        </p:nvSpPr>
        <p:spPr>
          <a:xfrm>
            <a:off x="880920" y="4125960"/>
            <a:ext cx="1629000" cy="88056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Eligibilidade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Retângulo: Cantos Arredondados 25"/>
          <p:cNvSpPr/>
          <p:nvPr/>
        </p:nvSpPr>
        <p:spPr>
          <a:xfrm>
            <a:off x="3519360" y="4125960"/>
            <a:ext cx="4564440" cy="88056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de texto completo avaliados para elegibilidade (n=15)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Retângulo: Cantos Arredondados 26"/>
          <p:cNvSpPr/>
          <p:nvPr/>
        </p:nvSpPr>
        <p:spPr>
          <a:xfrm>
            <a:off x="9144000" y="4115160"/>
            <a:ext cx="1799640" cy="113148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excluídos: Aqueles focados em IOT ou em Temas com outro foco principal.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3" name="Conector de Seta Reta 27"/>
          <p:cNvCxnSpPr>
            <a:stCxn id="42" idx="2"/>
            <a:endCxn id="47" idx="0"/>
          </p:cNvCxnSpPr>
          <p:nvPr/>
        </p:nvCxnSpPr>
        <p:spPr>
          <a:xfrm>
            <a:off x="5801760" y="2660760"/>
            <a:ext cx="360" cy="28440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54" name="Conector de Seta Reta 30"/>
          <p:cNvCxnSpPr>
            <a:stCxn id="47" idx="2"/>
            <a:endCxn id="51" idx="0"/>
          </p:cNvCxnSpPr>
          <p:nvPr/>
        </p:nvCxnSpPr>
        <p:spPr>
          <a:xfrm>
            <a:off x="5801760" y="3825360"/>
            <a:ext cx="360" cy="30096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55" name="Conector de Seta Reta 34"/>
          <p:cNvCxnSpPr>
            <a:stCxn id="52" idx="1"/>
            <a:endCxn id="51" idx="3"/>
          </p:cNvCxnSpPr>
          <p:nvPr/>
        </p:nvCxnSpPr>
        <p:spPr>
          <a:xfrm flipH="1" flipV="1">
            <a:off x="8083800" y="4566240"/>
            <a:ext cx="1060560" cy="11520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56" name="Retângulo: Cantos Arredondados 37"/>
          <p:cNvSpPr/>
          <p:nvPr/>
        </p:nvSpPr>
        <p:spPr>
          <a:xfrm>
            <a:off x="880920" y="5307120"/>
            <a:ext cx="1629000" cy="88056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Incluídos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Retângulo: Cantos Arredondados 38"/>
          <p:cNvSpPr/>
          <p:nvPr/>
        </p:nvSpPr>
        <p:spPr>
          <a:xfrm>
            <a:off x="3519360" y="5307120"/>
            <a:ext cx="4564440" cy="88056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Estudos elegíveis incluídos na revisão final (n=8)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tângulo 1"/>
          <p:cNvSpPr/>
          <p:nvPr/>
        </p:nvSpPr>
        <p:spPr>
          <a:xfrm>
            <a:off x="801720" y="1452960"/>
            <a:ext cx="11130840" cy="4736880"/>
          </a:xfrm>
          <a:prstGeom prst="rect">
            <a:avLst/>
          </a:prstGeom>
          <a:noFill/>
          <a:ln w="28575">
            <a:solidFill>
              <a:srgbClr val="156082">
                <a:lumMod val="75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59" name="Conector reto 3"/>
          <p:cNvCxnSpPr/>
          <p:nvPr/>
        </p:nvCxnSpPr>
        <p:spPr>
          <a:xfrm>
            <a:off x="801720" y="1997280"/>
            <a:ext cx="1113120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cxnSp>
        <p:nvCxnSpPr>
          <p:cNvPr id="60" name="Conector reto 5"/>
          <p:cNvCxnSpPr/>
          <p:nvPr/>
        </p:nvCxnSpPr>
        <p:spPr>
          <a:xfrm>
            <a:off x="3155760" y="1452600"/>
            <a:ext cx="360" cy="4737600"/>
          </a:xfrm>
          <a:prstGeom prst="straightConnector1">
            <a:avLst/>
          </a:prstGeom>
          <a:ln w="19050">
            <a:solidFill>
              <a:srgbClr val="156082"/>
            </a:solidFill>
          </a:ln>
        </p:spPr>
      </p:cxnSp>
      <p:cxnSp>
        <p:nvCxnSpPr>
          <p:cNvPr id="61" name="Conector reto 10"/>
          <p:cNvCxnSpPr/>
          <p:nvPr/>
        </p:nvCxnSpPr>
        <p:spPr>
          <a:xfrm>
            <a:off x="5334480" y="1474920"/>
            <a:ext cx="360" cy="4737600"/>
          </a:xfrm>
          <a:prstGeom prst="straightConnector1">
            <a:avLst/>
          </a:prstGeom>
          <a:ln w="19050">
            <a:solidFill>
              <a:srgbClr val="156082"/>
            </a:solidFill>
          </a:ln>
        </p:spPr>
      </p:cxnSp>
      <p:cxnSp>
        <p:nvCxnSpPr>
          <p:cNvPr id="62" name="Conector reto 14"/>
          <p:cNvCxnSpPr/>
          <p:nvPr/>
        </p:nvCxnSpPr>
        <p:spPr>
          <a:xfrm>
            <a:off x="782280" y="1452600"/>
            <a:ext cx="2383560" cy="545040"/>
          </a:xfrm>
          <a:prstGeom prst="straightConnector1">
            <a:avLst/>
          </a:prstGeom>
          <a:ln w="19050">
            <a:solidFill>
              <a:srgbClr val="156082"/>
            </a:solidFill>
          </a:ln>
        </p:spPr>
      </p:cxnSp>
      <p:cxnSp>
        <p:nvCxnSpPr>
          <p:cNvPr id="63" name="Conector reto 20"/>
          <p:cNvCxnSpPr/>
          <p:nvPr/>
        </p:nvCxnSpPr>
        <p:spPr>
          <a:xfrm>
            <a:off x="801720" y="2499840"/>
            <a:ext cx="1113120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cxnSp>
        <p:nvCxnSpPr>
          <p:cNvPr id="64" name="Conector reto 21"/>
          <p:cNvCxnSpPr/>
          <p:nvPr/>
        </p:nvCxnSpPr>
        <p:spPr>
          <a:xfrm>
            <a:off x="801720" y="3059280"/>
            <a:ext cx="1113120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cxnSp>
        <p:nvCxnSpPr>
          <p:cNvPr id="65" name="Conector reto 22"/>
          <p:cNvCxnSpPr/>
          <p:nvPr/>
        </p:nvCxnSpPr>
        <p:spPr>
          <a:xfrm>
            <a:off x="821160" y="3651120"/>
            <a:ext cx="1111176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cxnSp>
        <p:nvCxnSpPr>
          <p:cNvPr id="66" name="Conector reto 23"/>
          <p:cNvCxnSpPr/>
          <p:nvPr/>
        </p:nvCxnSpPr>
        <p:spPr>
          <a:xfrm>
            <a:off x="811440" y="4289760"/>
            <a:ext cx="1112148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cxnSp>
        <p:nvCxnSpPr>
          <p:cNvPr id="67" name="Conector reto 24"/>
          <p:cNvCxnSpPr/>
          <p:nvPr/>
        </p:nvCxnSpPr>
        <p:spPr>
          <a:xfrm>
            <a:off x="811440" y="4909320"/>
            <a:ext cx="1112148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sp>
        <p:nvSpPr>
          <p:cNvPr id="68" name="CaixaDeTexto 25"/>
          <p:cNvSpPr/>
          <p:nvPr/>
        </p:nvSpPr>
        <p:spPr>
          <a:xfrm>
            <a:off x="3488760" y="1623240"/>
            <a:ext cx="15462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CaixaDeTexto 26"/>
          <p:cNvSpPr/>
          <p:nvPr/>
        </p:nvSpPr>
        <p:spPr>
          <a:xfrm>
            <a:off x="5664240" y="1621800"/>
            <a:ext cx="15462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CaixaDeTexto 27"/>
          <p:cNvSpPr/>
          <p:nvPr/>
        </p:nvSpPr>
        <p:spPr>
          <a:xfrm>
            <a:off x="7916040" y="1633680"/>
            <a:ext cx="15462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CaixaDeTexto 28"/>
          <p:cNvSpPr/>
          <p:nvPr/>
        </p:nvSpPr>
        <p:spPr>
          <a:xfrm>
            <a:off x="10088640" y="1621800"/>
            <a:ext cx="15462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" name="Conector reto 48"/>
          <p:cNvCxnSpPr/>
          <p:nvPr/>
        </p:nvCxnSpPr>
        <p:spPr>
          <a:xfrm flipV="1">
            <a:off x="833760" y="5480640"/>
            <a:ext cx="11099160" cy="3852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sp>
        <p:nvSpPr>
          <p:cNvPr id="73" name="CaixaDeTexto 51"/>
          <p:cNvSpPr/>
          <p:nvPr/>
        </p:nvSpPr>
        <p:spPr>
          <a:xfrm>
            <a:off x="1729800" y="1495440"/>
            <a:ext cx="154620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CaixaDeTexto 52"/>
          <p:cNvSpPr/>
          <p:nvPr/>
        </p:nvSpPr>
        <p:spPr>
          <a:xfrm>
            <a:off x="671400" y="1671840"/>
            <a:ext cx="154620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CaixaDeTexto 53"/>
          <p:cNvSpPr/>
          <p:nvPr/>
        </p:nvSpPr>
        <p:spPr>
          <a:xfrm>
            <a:off x="811080" y="2144880"/>
            <a:ext cx="190296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CaixaDeTexto 54"/>
          <p:cNvSpPr/>
          <p:nvPr/>
        </p:nvSpPr>
        <p:spPr>
          <a:xfrm>
            <a:off x="802080" y="2635200"/>
            <a:ext cx="186912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aixaDeTexto 55"/>
          <p:cNvSpPr/>
          <p:nvPr/>
        </p:nvSpPr>
        <p:spPr>
          <a:xfrm>
            <a:off x="839880" y="3258360"/>
            <a:ext cx="23860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aixaDeTexto 56"/>
          <p:cNvSpPr/>
          <p:nvPr/>
        </p:nvSpPr>
        <p:spPr>
          <a:xfrm>
            <a:off x="839880" y="3823920"/>
            <a:ext cx="23860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aixaDeTexto 57"/>
          <p:cNvSpPr/>
          <p:nvPr/>
        </p:nvSpPr>
        <p:spPr>
          <a:xfrm>
            <a:off x="909720" y="4479120"/>
            <a:ext cx="15508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CaixaDeTexto 58"/>
          <p:cNvSpPr/>
          <p:nvPr/>
        </p:nvSpPr>
        <p:spPr>
          <a:xfrm>
            <a:off x="904680" y="5073840"/>
            <a:ext cx="212832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CaixaDeTexto 59"/>
          <p:cNvSpPr/>
          <p:nvPr/>
        </p:nvSpPr>
        <p:spPr>
          <a:xfrm>
            <a:off x="868680" y="5729040"/>
            <a:ext cx="189072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Chave Esquerda 60"/>
          <p:cNvSpPr/>
          <p:nvPr/>
        </p:nvSpPr>
        <p:spPr>
          <a:xfrm rot="5400000">
            <a:off x="6803280" y="-2572560"/>
            <a:ext cx="399960" cy="769428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56082">
                <a:lumMod val="7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3" name="CaixaDeTexto 61"/>
          <p:cNvSpPr/>
          <p:nvPr/>
        </p:nvSpPr>
        <p:spPr>
          <a:xfrm>
            <a:off x="5084640" y="676440"/>
            <a:ext cx="37360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have Esquerda 62"/>
          <p:cNvSpPr/>
          <p:nvPr/>
        </p:nvSpPr>
        <p:spPr>
          <a:xfrm>
            <a:off x="398520" y="1997640"/>
            <a:ext cx="399960" cy="419220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56082">
                <a:lumMod val="7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5" name="CaixaDeTexto 63"/>
          <p:cNvSpPr/>
          <p:nvPr/>
        </p:nvSpPr>
        <p:spPr>
          <a:xfrm rot="16200000">
            <a:off x="-1162440" y="3948840"/>
            <a:ext cx="26942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CaixaDeTexto 65"/>
          <p:cNvSpPr/>
          <p:nvPr/>
        </p:nvSpPr>
        <p:spPr>
          <a:xfrm>
            <a:off x="423000" y="502920"/>
            <a:ext cx="4416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11.2.2.2.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aixaDeTexto 42"/>
          <p:cNvSpPr/>
          <p:nvPr/>
        </p:nvSpPr>
        <p:spPr>
          <a:xfrm>
            <a:off x="3192840" y="196344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Ding et al. (2024). Reliability Engineering and System Safety, v.244.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" name="Conector reto 44"/>
          <p:cNvCxnSpPr/>
          <p:nvPr/>
        </p:nvCxnSpPr>
        <p:spPr>
          <a:xfrm>
            <a:off x="7544160" y="1495080"/>
            <a:ext cx="17280" cy="4695120"/>
          </a:xfrm>
          <a:prstGeom prst="straightConnector1">
            <a:avLst/>
          </a:prstGeom>
          <a:ln w="19050">
            <a:solidFill>
              <a:srgbClr val="156082"/>
            </a:solidFill>
          </a:ln>
        </p:spPr>
      </p:cxnSp>
      <p:cxnSp>
        <p:nvCxnSpPr>
          <p:cNvPr id="89" name="Conector reto 46"/>
          <p:cNvCxnSpPr/>
          <p:nvPr/>
        </p:nvCxnSpPr>
        <p:spPr>
          <a:xfrm>
            <a:off x="9790560" y="1558080"/>
            <a:ext cx="360" cy="4632120"/>
          </a:xfrm>
          <a:prstGeom prst="straightConnector1">
            <a:avLst/>
          </a:prstGeom>
          <a:ln w="19050">
            <a:solidFill>
              <a:srgbClr val="156082"/>
            </a:solidFill>
          </a:ln>
        </p:spPr>
      </p:cxnSp>
      <p:sp>
        <p:nvSpPr>
          <p:cNvPr id="90" name="CaixaDeTexto 77"/>
          <p:cNvSpPr/>
          <p:nvPr/>
        </p:nvSpPr>
        <p:spPr>
          <a:xfrm>
            <a:off x="3167640" y="251748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Sistema BIM em tempo real para otimizar rotas de evacuação em grandes infraestruturas.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CaixaDeTexto 78"/>
          <p:cNvSpPr/>
          <p:nvPr/>
        </p:nvSpPr>
        <p:spPr>
          <a:xfrm>
            <a:off x="3146400" y="308088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de metrô Chegongmiao (Shenzhen, China). 1.200 ocupantes, 4 saídas,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aixaDeTexto 79"/>
          <p:cNvSpPr/>
          <p:nvPr/>
        </p:nvSpPr>
        <p:spPr>
          <a:xfrm>
            <a:off x="3158640" y="367452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(BIM) + PyroSim (FDS) + AnyLogic (ABM + força social) + algoritmo de otimização.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CaixaDeTexto 80"/>
          <p:cNvSpPr/>
          <p:nvPr/>
        </p:nvSpPr>
        <p:spPr>
          <a:xfrm>
            <a:off x="3146400" y="433800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Temperatura, altura/densidade de fumaça, gênero, idade, velocidade por local (escada/aisle/solo).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CaixaDeTexto 81"/>
          <p:cNvSpPr/>
          <p:nvPr/>
        </p:nvSpPr>
        <p:spPr>
          <a:xfrm>
            <a:off x="3097440" y="492660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Otimização equilibrou uso das 4 saídas e reduziu tempo total em 12,87% (443s→386s).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aixaDeTexto 82"/>
          <p:cNvSpPr/>
          <p:nvPr/>
        </p:nvSpPr>
        <p:spPr>
          <a:xfrm>
            <a:off x="3179520" y="555624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Velocidades diferenciadas por idade/gênero e por tipo de via; lógica de saturação de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CaixaDeTexto 83"/>
          <p:cNvSpPr/>
          <p:nvPr/>
        </p:nvSpPr>
        <p:spPr>
          <a:xfrm>
            <a:off x="5410800" y="2064240"/>
            <a:ext cx="212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Sun &amp; Turkan (2020). Adv. Eng. Informatics, v.44.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CaixaDeTexto 84"/>
          <p:cNvSpPr/>
          <p:nvPr/>
        </p:nvSpPr>
        <p:spPr>
          <a:xfrm>
            <a:off x="5297040" y="253080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+ FDS + ABM para prever evacuação e otimizar projeto.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aixaDeTexto 85"/>
          <p:cNvSpPr/>
          <p:nvPr/>
        </p:nvSpPr>
        <p:spPr>
          <a:xfrm>
            <a:off x="5328720" y="309708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Station (EUA, 2003). 462 ocupantes, 1 pavimento.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aixaDeTexto 86"/>
          <p:cNvSpPr/>
          <p:nvPr/>
        </p:nvSpPr>
        <p:spPr>
          <a:xfrm>
            <a:off x="5373720" y="3759840"/>
            <a:ext cx="212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+ PyroSim (FDS) + AnyLogic (ABM).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aixaDeTexto 87"/>
          <p:cNvSpPr/>
          <p:nvPr/>
        </p:nvSpPr>
        <p:spPr>
          <a:xfrm>
            <a:off x="5331600" y="433296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ASET/RSET, nº saídas, largura, ocupação, fumaça, temperatura, velocidade.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CaixaDeTexto 89"/>
          <p:cNvSpPr/>
          <p:nvPr/>
        </p:nvSpPr>
        <p:spPr>
          <a:xfrm>
            <a:off x="5271840" y="489816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RSET = f(saídas, largura, ocupação). Reduzir ocupação de 462→323 otimiza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aixaDeTexto 90"/>
          <p:cNvSpPr/>
          <p:nvPr/>
        </p:nvSpPr>
        <p:spPr>
          <a:xfrm>
            <a:off x="5354280" y="555372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Fatores críticos (humano/edifício/fogo) e ciclo de 4 fases (pré-alarme→evacuação).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CaixaDeTexto 91"/>
          <p:cNvSpPr/>
          <p:nvPr/>
        </p:nvSpPr>
        <p:spPr>
          <a:xfrm>
            <a:off x="7611480" y="2030040"/>
            <a:ext cx="212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Lu &amp; Li (2025). Reliab. Eng. Syst. Safety, v.260.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CaixaDeTexto 92"/>
          <p:cNvSpPr/>
          <p:nvPr/>
        </p:nvSpPr>
        <p:spPr>
          <a:xfrm>
            <a:off x="7563960" y="253080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Acoplar FDS + ABM com aprendizagem social para otimizar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aixaDeTexto 93"/>
          <p:cNvSpPr/>
          <p:nvPr/>
        </p:nvSpPr>
        <p:spPr>
          <a:xfrm>
            <a:off x="7600320" y="305712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Ala (Taiwan, 2011). ~200 ocupantes,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aixaDeTexto 94"/>
          <p:cNvSpPr/>
          <p:nvPr/>
        </p:nvSpPr>
        <p:spPr>
          <a:xfrm>
            <a:off x="7620480" y="3795480"/>
            <a:ext cx="212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PyroSim (FDS) + NetLogo (ABM) + Random Forest + PSO-GA.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aixaDeTexto 95"/>
          <p:cNvSpPr/>
          <p:nvPr/>
        </p:nvSpPr>
        <p:spPr>
          <a:xfrm>
            <a:off x="7624080" y="433008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Tempo, mortos, feridos, pisoteamento, saúde, CO, temperatura, k_p, k_t.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CaixaDeTexto 96"/>
          <p:cNvSpPr/>
          <p:nvPr/>
        </p:nvSpPr>
        <p:spPr>
          <a:xfrm>
            <a:off x="7600320" y="490284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Validação &gt;98%. Saída 2º andar aberta: −22,47% tempo. Plano ótimo: −6,77% pisoteamento.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CaixaDeTexto 97"/>
          <p:cNvSpPr/>
          <p:nvPr/>
        </p:nvSpPr>
        <p:spPr>
          <a:xfrm>
            <a:off x="7561080" y="558684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0,4m, vizinhança de Moore, Dijkstra, coeficientes calibrados, evacuação faseada.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CaixaDeTexto 98"/>
          <p:cNvSpPr/>
          <p:nvPr/>
        </p:nvSpPr>
        <p:spPr>
          <a:xfrm>
            <a:off x="9837360" y="2048040"/>
            <a:ext cx="212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Tan, Hu &amp; Lin (2015). Information Sciences, v.295.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aixaDeTexto 99"/>
          <p:cNvSpPr/>
          <p:nvPr/>
        </p:nvSpPr>
        <p:spPr>
          <a:xfrm>
            <a:off x="9713520" y="2472480"/>
            <a:ext cx="22536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Combinar comportamento humano com mudança previsível de acessibilidade por dispositivos de segurança contra incêndio.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CaixaDeTexto 100"/>
          <p:cNvSpPr/>
          <p:nvPr/>
        </p:nvSpPr>
        <p:spPr>
          <a:xfrm>
            <a:off x="9783720" y="310896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2º andar de prédio universitário (CUHK, Hong Kong). 680 ocupantes, 8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aixaDeTexto 101"/>
          <p:cNvSpPr/>
          <p:nvPr/>
        </p:nvSpPr>
        <p:spPr>
          <a:xfrm>
            <a:off x="9730440" y="3727440"/>
            <a:ext cx="212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ArcGIS + Agent Analyst (ABM) + ontologia semântica BIM + grid.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aixaDeTexto 102"/>
          <p:cNvSpPr/>
          <p:nvPr/>
        </p:nvSpPr>
        <p:spPr>
          <a:xfrm>
            <a:off x="9773640" y="4275720"/>
            <a:ext cx="21297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Conhecimento espacial/do evento, visibilidade, distância, repulsão, congestionamento, estresse, estado do dispositivo.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aixaDeTexto 103"/>
          <p:cNvSpPr/>
          <p:nvPr/>
        </p:nvSpPr>
        <p:spPr>
          <a:xfrm>
            <a:off x="9760320" y="4889160"/>
            <a:ext cx="215172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Falta de conhecimento prévio aumenta tempo; mudança espacial pode equilibrar uso das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CaixaDeTexto 104"/>
          <p:cNvSpPr/>
          <p:nvPr/>
        </p:nvSpPr>
        <p:spPr>
          <a:xfrm>
            <a:off x="9763200" y="558900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40×40cm, sensor visual ray tracing (170°/10m), 5 tipos de agentes por conhecimento.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tângulo 1"/>
          <p:cNvSpPr/>
          <p:nvPr/>
        </p:nvSpPr>
        <p:spPr>
          <a:xfrm>
            <a:off x="801720" y="1452960"/>
            <a:ext cx="11130840" cy="4736880"/>
          </a:xfrm>
          <a:prstGeom prst="rect">
            <a:avLst/>
          </a:prstGeom>
          <a:noFill/>
          <a:ln w="28575">
            <a:solidFill>
              <a:srgbClr val="156082">
                <a:lumMod val="75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118" name="Conector reto 3"/>
          <p:cNvCxnSpPr/>
          <p:nvPr/>
        </p:nvCxnSpPr>
        <p:spPr>
          <a:xfrm>
            <a:off x="801720" y="1997280"/>
            <a:ext cx="1113120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cxnSp>
        <p:nvCxnSpPr>
          <p:cNvPr id="119" name="Conector reto 5"/>
          <p:cNvCxnSpPr/>
          <p:nvPr/>
        </p:nvCxnSpPr>
        <p:spPr>
          <a:xfrm>
            <a:off x="3155760" y="1452600"/>
            <a:ext cx="360" cy="4737600"/>
          </a:xfrm>
          <a:prstGeom prst="straightConnector1">
            <a:avLst/>
          </a:prstGeom>
          <a:ln w="19050">
            <a:solidFill>
              <a:srgbClr val="156082"/>
            </a:solidFill>
          </a:ln>
        </p:spPr>
      </p:cxnSp>
      <p:cxnSp>
        <p:nvCxnSpPr>
          <p:cNvPr id="120" name="Conector reto 10"/>
          <p:cNvCxnSpPr/>
          <p:nvPr/>
        </p:nvCxnSpPr>
        <p:spPr>
          <a:xfrm>
            <a:off x="5334480" y="1474920"/>
            <a:ext cx="360" cy="4737600"/>
          </a:xfrm>
          <a:prstGeom prst="straightConnector1">
            <a:avLst/>
          </a:prstGeom>
          <a:ln w="19050">
            <a:solidFill>
              <a:srgbClr val="156082"/>
            </a:solidFill>
          </a:ln>
        </p:spPr>
      </p:cxnSp>
      <p:cxnSp>
        <p:nvCxnSpPr>
          <p:cNvPr id="121" name="Conector reto 14"/>
          <p:cNvCxnSpPr/>
          <p:nvPr/>
        </p:nvCxnSpPr>
        <p:spPr>
          <a:xfrm>
            <a:off x="782280" y="1452600"/>
            <a:ext cx="2383560" cy="545040"/>
          </a:xfrm>
          <a:prstGeom prst="straightConnector1">
            <a:avLst/>
          </a:prstGeom>
          <a:ln w="19050">
            <a:solidFill>
              <a:srgbClr val="156082"/>
            </a:solidFill>
          </a:ln>
        </p:spPr>
      </p:cxnSp>
      <p:cxnSp>
        <p:nvCxnSpPr>
          <p:cNvPr id="122" name="Conector reto 20"/>
          <p:cNvCxnSpPr/>
          <p:nvPr/>
        </p:nvCxnSpPr>
        <p:spPr>
          <a:xfrm>
            <a:off x="801720" y="2499840"/>
            <a:ext cx="1113120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cxnSp>
        <p:nvCxnSpPr>
          <p:cNvPr id="123" name="Conector reto 21"/>
          <p:cNvCxnSpPr/>
          <p:nvPr/>
        </p:nvCxnSpPr>
        <p:spPr>
          <a:xfrm>
            <a:off x="801720" y="3059280"/>
            <a:ext cx="1113120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cxnSp>
        <p:nvCxnSpPr>
          <p:cNvPr id="124" name="Conector reto 22"/>
          <p:cNvCxnSpPr/>
          <p:nvPr/>
        </p:nvCxnSpPr>
        <p:spPr>
          <a:xfrm>
            <a:off x="821160" y="3651120"/>
            <a:ext cx="1111176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cxnSp>
        <p:nvCxnSpPr>
          <p:cNvPr id="125" name="Conector reto 23"/>
          <p:cNvCxnSpPr/>
          <p:nvPr/>
        </p:nvCxnSpPr>
        <p:spPr>
          <a:xfrm>
            <a:off x="811440" y="4289760"/>
            <a:ext cx="1112148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cxnSp>
        <p:nvCxnSpPr>
          <p:cNvPr id="126" name="Conector reto 24"/>
          <p:cNvCxnSpPr/>
          <p:nvPr/>
        </p:nvCxnSpPr>
        <p:spPr>
          <a:xfrm>
            <a:off x="811440" y="4909320"/>
            <a:ext cx="11121480" cy="36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sp>
        <p:nvSpPr>
          <p:cNvPr id="127" name="CaixaDeTexto 25"/>
          <p:cNvSpPr/>
          <p:nvPr/>
        </p:nvSpPr>
        <p:spPr>
          <a:xfrm>
            <a:off x="3488760" y="1623240"/>
            <a:ext cx="15462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CaixaDeTexto 26"/>
          <p:cNvSpPr/>
          <p:nvPr/>
        </p:nvSpPr>
        <p:spPr>
          <a:xfrm>
            <a:off x="5664240" y="1621800"/>
            <a:ext cx="15462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CaixaDeTexto 27"/>
          <p:cNvSpPr/>
          <p:nvPr/>
        </p:nvSpPr>
        <p:spPr>
          <a:xfrm>
            <a:off x="7916040" y="1633680"/>
            <a:ext cx="15462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CaixaDeTexto 28"/>
          <p:cNvSpPr/>
          <p:nvPr/>
        </p:nvSpPr>
        <p:spPr>
          <a:xfrm>
            <a:off x="10088640" y="1621800"/>
            <a:ext cx="15462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Conector reto 48"/>
          <p:cNvCxnSpPr/>
          <p:nvPr/>
        </p:nvCxnSpPr>
        <p:spPr>
          <a:xfrm flipV="1">
            <a:off x="833760" y="5480640"/>
            <a:ext cx="11099160" cy="38520"/>
          </a:xfrm>
          <a:prstGeom prst="straightConnector1">
            <a:avLst/>
          </a:prstGeom>
          <a:ln w="19050">
            <a:solidFill>
              <a:srgbClr val="156082">
                <a:lumMod val="75000"/>
              </a:srgbClr>
            </a:solidFill>
          </a:ln>
        </p:spPr>
      </p:cxnSp>
      <p:sp>
        <p:nvSpPr>
          <p:cNvPr id="132" name="CaixaDeTexto 51"/>
          <p:cNvSpPr/>
          <p:nvPr/>
        </p:nvSpPr>
        <p:spPr>
          <a:xfrm>
            <a:off x="1729800" y="1495440"/>
            <a:ext cx="154620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aixaDeTexto 52"/>
          <p:cNvSpPr/>
          <p:nvPr/>
        </p:nvSpPr>
        <p:spPr>
          <a:xfrm>
            <a:off x="671400" y="1671840"/>
            <a:ext cx="154620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aixaDeTexto 53"/>
          <p:cNvSpPr/>
          <p:nvPr/>
        </p:nvSpPr>
        <p:spPr>
          <a:xfrm>
            <a:off x="811080" y="2144880"/>
            <a:ext cx="190296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CaixaDeTexto 54"/>
          <p:cNvSpPr/>
          <p:nvPr/>
        </p:nvSpPr>
        <p:spPr>
          <a:xfrm>
            <a:off x="802080" y="2635200"/>
            <a:ext cx="186912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CaixaDeTexto 55"/>
          <p:cNvSpPr/>
          <p:nvPr/>
        </p:nvSpPr>
        <p:spPr>
          <a:xfrm>
            <a:off x="839880" y="3258360"/>
            <a:ext cx="23860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CaixaDeTexto 56"/>
          <p:cNvSpPr/>
          <p:nvPr/>
        </p:nvSpPr>
        <p:spPr>
          <a:xfrm>
            <a:off x="839880" y="3823920"/>
            <a:ext cx="23860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CaixaDeTexto 57"/>
          <p:cNvSpPr/>
          <p:nvPr/>
        </p:nvSpPr>
        <p:spPr>
          <a:xfrm>
            <a:off x="909720" y="4479120"/>
            <a:ext cx="15508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CaixaDeTexto 58"/>
          <p:cNvSpPr/>
          <p:nvPr/>
        </p:nvSpPr>
        <p:spPr>
          <a:xfrm>
            <a:off x="904680" y="5073840"/>
            <a:ext cx="212832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CaixaDeTexto 59"/>
          <p:cNvSpPr/>
          <p:nvPr/>
        </p:nvSpPr>
        <p:spPr>
          <a:xfrm>
            <a:off x="868680" y="5729040"/>
            <a:ext cx="189072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have Esquerda 60"/>
          <p:cNvSpPr/>
          <p:nvPr/>
        </p:nvSpPr>
        <p:spPr>
          <a:xfrm rot="5400000">
            <a:off x="6803280" y="-2572560"/>
            <a:ext cx="399960" cy="769428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56082">
                <a:lumMod val="7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2" name="CaixaDeTexto 61"/>
          <p:cNvSpPr/>
          <p:nvPr/>
        </p:nvSpPr>
        <p:spPr>
          <a:xfrm>
            <a:off x="5084640" y="676440"/>
            <a:ext cx="37360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Chave Esquerda 62"/>
          <p:cNvSpPr/>
          <p:nvPr/>
        </p:nvSpPr>
        <p:spPr>
          <a:xfrm>
            <a:off x="398520" y="1997640"/>
            <a:ext cx="399960" cy="419220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56082">
                <a:lumMod val="7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4" name="CaixaDeTexto 63"/>
          <p:cNvSpPr/>
          <p:nvPr/>
        </p:nvSpPr>
        <p:spPr>
          <a:xfrm rot="16200000">
            <a:off x="-1162440" y="3948840"/>
            <a:ext cx="26942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aixaDeTexto 65"/>
          <p:cNvSpPr/>
          <p:nvPr/>
        </p:nvSpPr>
        <p:spPr>
          <a:xfrm>
            <a:off x="423000" y="502920"/>
            <a:ext cx="4416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11.2.2.2.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aixaDeTexto 42"/>
          <p:cNvSpPr/>
          <p:nvPr/>
        </p:nvSpPr>
        <p:spPr>
          <a:xfrm>
            <a:off x="3190680" y="2008800"/>
            <a:ext cx="212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Pelechano &amp; Malkawi (2008). Automation in Construction, v.17.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7" name="Conector reto 44"/>
          <p:cNvCxnSpPr/>
          <p:nvPr/>
        </p:nvCxnSpPr>
        <p:spPr>
          <a:xfrm>
            <a:off x="7544160" y="1495080"/>
            <a:ext cx="17280" cy="4695120"/>
          </a:xfrm>
          <a:prstGeom prst="straightConnector1">
            <a:avLst/>
          </a:prstGeom>
          <a:ln w="19050">
            <a:solidFill>
              <a:srgbClr val="156082"/>
            </a:solidFill>
          </a:ln>
        </p:spPr>
      </p:cxnSp>
      <p:cxnSp>
        <p:nvCxnSpPr>
          <p:cNvPr id="148" name="Conector reto 46"/>
          <p:cNvCxnSpPr/>
          <p:nvPr/>
        </p:nvCxnSpPr>
        <p:spPr>
          <a:xfrm>
            <a:off x="9790560" y="1558080"/>
            <a:ext cx="360" cy="4632120"/>
          </a:xfrm>
          <a:prstGeom prst="straightConnector1">
            <a:avLst/>
          </a:prstGeom>
          <a:ln w="19050">
            <a:solidFill>
              <a:srgbClr val="156082"/>
            </a:solidFill>
          </a:ln>
        </p:spPr>
      </p:cxnSp>
      <p:sp>
        <p:nvSpPr>
          <p:cNvPr id="149" name="CaixaDeTexto 77"/>
          <p:cNvSpPr/>
          <p:nvPr/>
        </p:nvSpPr>
        <p:spPr>
          <a:xfrm>
            <a:off x="3167640" y="2517480"/>
            <a:ext cx="220572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limitações de modelos de autômatos celulares (CA) na simulação de evacuação de edifícios altos.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CaixaDeTexto 78"/>
          <p:cNvSpPr/>
          <p:nvPr/>
        </p:nvSpPr>
        <p:spPr>
          <a:xfrm>
            <a:off x="3146400" y="308088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Revisão crítica de softwares (STEPS, EXODUS); dados do World Trade Center (11/09/2001).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CaixaDeTexto 79"/>
          <p:cNvSpPr/>
          <p:nvPr/>
        </p:nvSpPr>
        <p:spPr>
          <a:xfrm>
            <a:off x="3158640" y="367452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Análise comparativa de CA (STEPS, EXODUS), forças sociais, regras (boids), filas.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CaixaDeTexto 80"/>
          <p:cNvSpPr/>
          <p:nvPr/>
        </p:nvSpPr>
        <p:spPr>
          <a:xfrm>
            <a:off x="3146400" y="433800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Tamanho da célula, fadiga, contrafluxo, rota, densidade, fluxo, comunicação, papéis.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CaixaDeTexto 81"/>
          <p:cNvSpPr/>
          <p:nvPr/>
        </p:nvSpPr>
        <p:spPr>
          <a:xfrm>
            <a:off x="3097440" y="492660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CA distorce densidades, fluxos e rotas (45°); fadiga e contrafluxo subestimam tempo real.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CaixaDeTexto 82"/>
          <p:cNvSpPr/>
          <p:nvPr/>
        </p:nvSpPr>
        <p:spPr>
          <a:xfrm>
            <a:off x="3179520" y="555624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Alerta sobre artefatos do grid; recomenda fadiga, comunicação, papéis, escolha dinâmica.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CaixaDeTexto 83"/>
          <p:cNvSpPr/>
          <p:nvPr/>
        </p:nvSpPr>
        <p:spPr>
          <a:xfrm>
            <a:off x="5410800" y="2064240"/>
            <a:ext cx="212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Zhao et al. (2022). Safety Science, v.145.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aixaDeTexto 84"/>
          <p:cNvSpPr/>
          <p:nvPr/>
        </p:nvSpPr>
        <p:spPr>
          <a:xfrm>
            <a:off x="5369400" y="253080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sinalização adaptativa centralizada vs descentralizada para evacuação de incêndio.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aixaDeTexto 85"/>
          <p:cNvSpPr/>
          <p:nvPr/>
        </p:nvSpPr>
        <p:spPr>
          <a:xfrm>
            <a:off x="5328720" y="309708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Museu virtual Cooper Hewitt (3 andares); 85 participantes em VR +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aixaDeTexto 86"/>
          <p:cNvSpPr/>
          <p:nvPr/>
        </p:nvSpPr>
        <p:spPr>
          <a:xfrm>
            <a:off x="5373720" y="3759840"/>
            <a:ext cx="212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VR (Unity) + experimento humano + ABM + grafo direcionado de sinais.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CaixaDeTexto 87"/>
          <p:cNvSpPr/>
          <p:nvPr/>
        </p:nvSpPr>
        <p:spPr>
          <a:xfrm>
            <a:off x="5331600" y="433296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Direção do sinal, localização do fogo, tempo, distância, dano, estresse, EDA, HRV.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CaixaDeTexto 89"/>
          <p:cNvSpPr/>
          <p:nvPr/>
        </p:nvSpPr>
        <p:spPr>
          <a:xfrm>
            <a:off x="5364720" y="489708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Sinais adaptativos: sobrevivência 94% vs 45%; menos distresse, dano e tempo.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CaixaDeTexto 90"/>
          <p:cNvSpPr/>
          <p:nvPr/>
        </p:nvSpPr>
        <p:spPr>
          <a:xfrm>
            <a:off x="5354280" y="555372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Lógica de agentes com memória, modos exploração/seguir-sinal, cone visual de 120°.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CaixaDeTexto 91"/>
          <p:cNvSpPr/>
          <p:nvPr/>
        </p:nvSpPr>
        <p:spPr>
          <a:xfrm>
            <a:off x="7611480" y="2030040"/>
            <a:ext cx="212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Haghani &amp; Sarvi (2016). Fire Safety Journal, v.85.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aixaDeTexto 92"/>
          <p:cNvSpPr/>
          <p:nvPr/>
        </p:nvSpPr>
        <p:spPr>
          <a:xfrm>
            <a:off x="7557120" y="2500200"/>
            <a:ext cx="222660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Quantificar diferenças comportamentais na escolha de saída entre egresso normal e emergência.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aixaDeTexto 93"/>
          <p:cNvSpPr/>
          <p:nvPr/>
        </p:nvSpPr>
        <p:spPr>
          <a:xfrm>
            <a:off x="7534080" y="3057120"/>
            <a:ext cx="226332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Flinders Street (Melbourne, Austrália). 105 passageiros entrevistados, 6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CaixaDeTexto 94"/>
          <p:cNvSpPr/>
          <p:nvPr/>
        </p:nvSpPr>
        <p:spPr>
          <a:xfrm>
            <a:off x="7595640" y="369468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Stated-choice survey + modelo logit misto multinomial com componentes de erro.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aixaDeTexto 95"/>
          <p:cNvSpPr/>
          <p:nvPr/>
        </p:nvSpPr>
        <p:spPr>
          <a:xfrm>
            <a:off x="7540920" y="4330080"/>
            <a:ext cx="224244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Distância, aglomeração, fluxo direcional, visibilidade, proximidade do destino, distribuição.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aixaDeTexto 96"/>
          <p:cNvSpPr/>
          <p:nvPr/>
        </p:nvSpPr>
        <p:spPr>
          <a:xfrm>
            <a:off x="7600320" y="490284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Em emergência: aglomeração pesa mais; maioria evita seguir fluxos; visibilidade modera "herding".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CaixaDeTexto 97"/>
          <p:cNvSpPr/>
          <p:nvPr/>
        </p:nvSpPr>
        <p:spPr>
          <a:xfrm>
            <a:off x="7561080" y="5540040"/>
            <a:ext cx="222948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Coeficientes de utilidade calibrados para regra de escolha de saída por agente heterogêneo.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CaixaDeTexto 98"/>
          <p:cNvSpPr/>
          <p:nvPr/>
        </p:nvSpPr>
        <p:spPr>
          <a:xfrm>
            <a:off x="9837360" y="2048040"/>
            <a:ext cx="212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Mirahadi, McCabe &amp; Shahi (2019). Automation in Construction, v.101.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CaixaDeTexto 99"/>
          <p:cNvSpPr/>
          <p:nvPr/>
        </p:nvSpPr>
        <p:spPr>
          <a:xfrm>
            <a:off x="9668520" y="2516400"/>
            <a:ext cx="225360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(IFC) + FDS + ABM com índices de risco espaço-temporais (RRI/CRI).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CaixaDeTexto 100"/>
          <p:cNvSpPr/>
          <p:nvPr/>
        </p:nvSpPr>
        <p:spPr>
          <a:xfrm>
            <a:off x="9783720" y="308088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Edifício de escritórios de 2 andares, 59 compartimentos, 400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aixaDeTexto 101"/>
          <p:cNvSpPr/>
          <p:nvPr/>
        </p:nvSpPr>
        <p:spPr>
          <a:xfrm>
            <a:off x="9741960" y="367272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BIM/IFC + CYPECAD MEP (FDS) + MassMotion (ABM) + MATLAB (grafo).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CaixaDeTexto 102"/>
          <p:cNvSpPr/>
          <p:nvPr/>
        </p:nvSpPr>
        <p:spPr>
          <a:xfrm>
            <a:off x="9782640" y="4331520"/>
            <a:ext cx="21297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ALET, RRI, CRI, tempo, distância, fumaça, temperatura, congestionamento, tenabilidade.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aixaDeTexto 103"/>
          <p:cNvSpPr/>
          <p:nvPr/>
        </p:nvSpPr>
        <p:spPr>
          <a:xfrm>
            <a:off x="9760320" y="4889160"/>
            <a:ext cx="215172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Rota mais curta nem sempre é mais segura; RRI detecta rotas bloqueadas e zonas críticas.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CaixaDeTexto 104"/>
          <p:cNvSpPr/>
          <p:nvPr/>
        </p:nvSpPr>
        <p:spPr>
          <a:xfrm>
            <a:off x="9782640" y="5560920"/>
            <a:ext cx="21297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Índices RRI/CRI por compartimento e rota; agentes "obedientes" vs "livres" para validação.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Box 1"/>
          <p:cNvSpPr/>
          <p:nvPr/>
        </p:nvSpPr>
        <p:spPr>
          <a:xfrm>
            <a:off x="322920" y="537840"/>
            <a:ext cx="111996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3.1 Modelo Formal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2"/>
          <p:cNvSpPr/>
          <p:nvPr/>
        </p:nvSpPr>
        <p:spPr>
          <a:xfrm>
            <a:off x="322920" y="1217880"/>
            <a:ext cx="111996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Seja o sistema: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3"/>
          <p:cNvSpPr/>
          <p:nvPr/>
        </p:nvSpPr>
        <p:spPr>
          <a:xfrm>
            <a:off x="4326120" y="1638000"/>
            <a:ext cx="319968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C0392B"/>
                </a:solidFill>
                <a:effectLst/>
                <a:uFillTx/>
                <a:latin typeface="Cambria"/>
              </a:rPr>
              <a:t>S = ⟨ A, E, R, F, T, I, D, O ⟩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9" name="Table 4"/>
          <p:cNvGraphicFramePr/>
          <p:nvPr/>
        </p:nvGraphicFramePr>
        <p:xfrm>
          <a:off x="322920" y="2408040"/>
          <a:ext cx="5399640" cy="4039920"/>
        </p:xfrm>
        <a:graphic>
          <a:graphicData uri="http://schemas.openxmlformats.org/drawingml/2006/table">
            <a:tbl>
              <a:tblPr/>
              <a:tblGrid>
                <a:gridCol w="1299960"/>
                <a:gridCol w="4099680"/>
              </a:tblGrid>
              <a:tr h="4399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Símbolo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(A)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ocupantes ∪ brigadistas (heterogêneos)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edifício: 30 andares × grade 20×20 (2D por andar)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(R)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conjunto de rotas possíveis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(F)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dinâmica do fogo 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(T)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discreto: t ∈ {0, 1, ..., T_max} (tick)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(I)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informação disponível aos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(D)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regras de decisão dos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(O)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T_evac, vítimas, mapa de calor, gargalos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180" name="TextBox 5"/>
          <p:cNvSpPr/>
          <p:nvPr/>
        </p:nvSpPr>
        <p:spPr>
          <a:xfrm>
            <a:off x="6126120" y="2408040"/>
            <a:ext cx="53996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Regras formais básicas: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6"/>
          <p:cNvSpPr/>
          <p:nvPr/>
        </p:nvSpPr>
        <p:spPr>
          <a:xfrm>
            <a:off x="6126120" y="2858040"/>
            <a:ext cx="5399640" cy="284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1. Todo agente possui posição: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2. Todo agente escolhe uma rota: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∈ 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3. A escolha da rota depende de visibilidade,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     distância, congestionamento e risco: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= Dᵢ(VIS, DIST, CONG, RISCO, INFO)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4. A velocidade do agente diminui com densidade e fumaça: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vᵢ(t) = f(v_max, ρ, Φ)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5. O agente evacua quando alcança uma saída: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Saídas  ⇒  evac(aᵢ)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Box 1"/>
          <p:cNvSpPr/>
          <p:nvPr/>
        </p:nvSpPr>
        <p:spPr>
          <a:xfrm>
            <a:off x="200880" y="540000"/>
            <a:ext cx="11199600" cy="55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156082"/>
                </a:solidFill>
                <a:effectLst/>
                <a:uFillTx/>
                <a:latin typeface="Calibri"/>
              </a:rPr>
              <a:t>3.2 Variáveis Principais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3" name="Table 2"/>
          <p:cNvGraphicFramePr/>
          <p:nvPr/>
        </p:nvGraphicFramePr>
        <p:xfrm>
          <a:off x="2642400" y="1100160"/>
          <a:ext cx="7199640" cy="5583600"/>
        </p:xfrm>
        <a:graphic>
          <a:graphicData uri="http://schemas.openxmlformats.org/drawingml/2006/table">
            <a:tbl>
              <a:tblPr/>
              <a:tblGrid>
                <a:gridCol w="2199960"/>
                <a:gridCol w="4999680"/>
              </a:tblGrid>
              <a:tr h="4597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Variável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(N)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número total de ocupantes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(aᵢ)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agente i, com i ∈ {1, ..., N}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(tipo(aᵢ))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tipo do agente ∈ {adulto, idoso, PcD, brigadista}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(xᵢ(t))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posição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(v_max)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máxima por tipo (1.0 / 0.6 / 0.4 / 1.5)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(ρ(x,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densidade local de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(Φ(x,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intensidade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visibilidade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(Cₑ)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capacidade de fluxo da escada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(estado(aᵢ,t))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estado ∈ {ativo, evacuado, ferido, morto}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(pânico(aᵢ,t))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nível de pânico ∈ [0, 1]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(T_react,i)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de reação do agente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(T_evac)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total de evacuação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CaixaDeTexto 1"/>
          <p:cNvSpPr/>
          <p:nvPr/>
        </p:nvSpPr>
        <p:spPr>
          <a:xfrm>
            <a:off x="2480400" y="2957760"/>
            <a:ext cx="723096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Formalismo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CaixaDeTexto 1"/>
          <p:cNvSpPr/>
          <p:nvPr/>
        </p:nvSpPr>
        <p:spPr>
          <a:xfrm>
            <a:off x="2480400" y="2957760"/>
            <a:ext cx="723096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Computador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CaixaDeTexto 1"/>
          <p:cNvSpPr/>
          <p:nvPr/>
        </p:nvSpPr>
        <p:spPr>
          <a:xfrm>
            <a:off x="2480400" y="2957760"/>
            <a:ext cx="723096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5. Execução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CaixaDeTexto 1"/>
          <p:cNvSpPr/>
          <p:nvPr/>
        </p:nvSpPr>
        <p:spPr>
          <a:xfrm>
            <a:off x="2480400" y="2957760"/>
            <a:ext cx="723096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6. Observação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</TotalTime>
  <Application>LibreOffice/26.2.3.2$Linux_X86_64 LibreOffice_project/a31940f583db492bb69b3a601caf6d1b0ecf61f1</Application>
  <AppVersion>15.0000</AppVersion>
  <Words>1988</Words>
  <Paragraphs>253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2026-04-13T15:47:06Z</dcterms:created>
  <dc:creator>Marcos Mattedi</dc:creator>
  <dc:description/>
  <dc:language>en-US</dc:language>
  <cp:lastModifiedBy/>
  <dcterms:modified xsi:type="dcterms:W3CDTF">2026-05-08T22:49:33Z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15</vt:i4>
  </property>
</Properties>
</file>