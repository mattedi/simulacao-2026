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F61702-7288-4FBD-92C5-DC0133218CF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1DA289-770C-4BA0-8C44-1519C9B71BB0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de Título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5" name="Imagem 9" descr="Interface gráfica do usuário, Texto&#10;&#10;O conteúdo gerado por IA pode estar incorreto."/>
          <p:cNvPicPr/>
          <p:nvPr/>
        </p:nvPicPr>
        <p:blipFill>
          <a:blip r:embed="rId4"/>
          <a:srcRect t="16865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11" name="Imagem 9" descr="Interface gráfica do usuário, Texto&#10;&#10;O conteúdo gerado por IA pode estar incorreto."/>
          <p:cNvPicPr/>
          <p:nvPr/>
        </p:nvPicPr>
        <p:blipFill>
          <a:blip r:embed="rId4"/>
          <a:srcRect t="16865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ixaDeTexto 3"/>
          <p:cNvSpPr/>
          <p:nvPr/>
        </p:nvSpPr>
        <p:spPr>
          <a:xfrm>
            <a:off x="2793960" y="2455560"/>
            <a:ext cx="70300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5"/>
          <p:cNvSpPr/>
          <p:nvPr/>
        </p:nvSpPr>
        <p:spPr>
          <a:xfrm>
            <a:off x="2086560" y="864360"/>
            <a:ext cx="77374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V - SEMINÁRIO DE APRESENTAÇÃO DOS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aixaDeTexto 6"/>
          <p:cNvSpPr/>
          <p:nvPr/>
        </p:nvSpPr>
        <p:spPr>
          <a:xfrm>
            <a:off x="7630560" y="3993840"/>
            <a:ext cx="349164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Guilherme W. Back e Lucas Fritzke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aixaDeTexto 7"/>
          <p:cNvSpPr/>
          <p:nvPr/>
        </p:nvSpPr>
        <p:spPr>
          <a:xfrm>
            <a:off x="4719240" y="5993640"/>
            <a:ext cx="260784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528640" y="905040"/>
            <a:ext cx="58960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Apresentação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" name="Tabela 2"/>
          <p:cNvGraphicFramePr/>
          <p:nvPr/>
        </p:nvGraphicFramePr>
        <p:xfrm>
          <a:off x="1259640" y="1447920"/>
          <a:ext cx="9376200" cy="4353120"/>
        </p:xfrm>
        <a:graphic>
          <a:graphicData uri="http://schemas.openxmlformats.org/drawingml/2006/table">
            <a:tbl>
              <a:tblPr/>
              <a:tblGrid>
                <a:gridCol w="858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4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Sistema de Referência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aixaDeTexto 1"/>
          <p:cNvSpPr/>
          <p:nvPr/>
        </p:nvSpPr>
        <p:spPr>
          <a:xfrm>
            <a:off x="496800" y="1146600"/>
            <a:ext cx="10647000" cy="52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1.1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Delimitação do Sistema de Referência (S)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ixaDeTexto 3"/>
          <p:cNvSpPr/>
          <p:nvPr/>
        </p:nvSpPr>
        <p:spPr>
          <a:xfrm>
            <a:off x="496800" y="1762200"/>
            <a:ext cx="1056744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Fenômeno: Evacuação emergencial de edifício de 30 andares em situação de incêndio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ela 4"/>
          <p:cNvGraphicFramePr/>
          <p:nvPr/>
        </p:nvGraphicFramePr>
        <p:xfrm>
          <a:off x="609480" y="2316600"/>
          <a:ext cx="11297160" cy="4286160"/>
        </p:xfrm>
        <a:graphic>
          <a:graphicData uri="http://schemas.openxmlformats.org/drawingml/2006/table">
            <a:tbl>
              <a:tblPr/>
              <a:tblGrid>
                <a:gridCol w="28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94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Critério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Definição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Tipo Ontológico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Físico — causalidade energética (propagação do fogo/fumaça) e mecânica (movimentação dos agentes)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1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Espacial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Temporal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Início do incêndio até evacuação total ou término da simulação; granularidade discreta por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Funcional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Propagação de fogo, dispersão de fumaça, movimentação de ocupantes e ação de brigadistas dentro do edifício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Escala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Espacial: meso (edifício, resolução por célula); Temporal: evento (minutos); Ontológica: elementar (agentes individuais)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61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Entidades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de Observação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Instrumentado e automatizado: coleta de métricas a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aixaDeTexto 1"/>
          <p:cNvSpPr/>
          <p:nvPr/>
        </p:nvSpPr>
        <p:spPr>
          <a:xfrm>
            <a:off x="793080" y="1161720"/>
            <a:ext cx="10647000" cy="52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1.2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Observáveis Prioritários e Exclusões Conscientes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793080" y="2081880"/>
            <a:ext cx="4679640" cy="490680"/>
          </a:xfrm>
          <a:prstGeom prst="rect">
            <a:avLst/>
          </a:prstGeom>
          <a:solidFill>
            <a:srgbClr val="1560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93080" y="2107440"/>
            <a:ext cx="4679640" cy="49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Observáveis Prioritários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793080" y="2624400"/>
          <a:ext cx="4680000" cy="3143160"/>
        </p:xfrm>
        <a:graphic>
          <a:graphicData uri="http://schemas.openxmlformats.org/drawingml/2006/table">
            <a:tbl>
              <a:tblPr/>
              <a:tblGrid>
                <a:gridCol w="1738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Observável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Descrição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Taxa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 / total ao término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Tempo médio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Média e σ de steps por andar e total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Nº de vítimas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Mortos + feridos por rodada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Mapa de calor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Densidade acumulada por célula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Gargalos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Top-5 células com maior congestionamento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Evolução temporal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Evacuados, mortos e área em chamas por 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Shape 3"/>
          <p:cNvSpPr/>
          <p:nvPr/>
        </p:nvSpPr>
        <p:spPr>
          <a:xfrm>
            <a:off x="6462360" y="2081880"/>
            <a:ext cx="4747680" cy="490680"/>
          </a:xfrm>
          <a:prstGeom prst="rect">
            <a:avLst/>
          </a:prstGeom>
          <a:solidFill>
            <a:srgbClr val="E97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Text 4"/>
          <p:cNvSpPr/>
          <p:nvPr/>
        </p:nvSpPr>
        <p:spPr>
          <a:xfrm>
            <a:off x="6645600" y="2106000"/>
            <a:ext cx="4381560" cy="47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Exclusões Conscientes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1"/>
          <p:cNvGraphicFramePr/>
          <p:nvPr/>
        </p:nvGraphicFramePr>
        <p:xfrm>
          <a:off x="6462360" y="2624400"/>
          <a:ext cx="4747680" cy="3119040"/>
        </p:xfrm>
        <a:graphic>
          <a:graphicData uri="http://schemas.openxmlformats.org/drawingml/2006/table">
            <a:tbl>
              <a:tblPr/>
              <a:tblGrid>
                <a:gridCol w="177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Elemento Excluído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Justificativa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Estados psicológicos profundos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Inobserváveis; pânico é operacionalizado como variável [0,1]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Condições climáticas externas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Foco no interior do edifício; vento e chuva não modelados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Políticas públicas / fiscalização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causal institucional incompatível com ontologia física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Dimensões simbólicas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Percepção cultural de risco, crenças — não formalizáveis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Combate direto ao incêndio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Brigadistas orientam evacuação, não combatem o fogo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Elevadores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Bloqueados conforme ABNT NBR 9077 — não participam da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aixaDeTexto 3"/>
          <p:cNvSpPr/>
          <p:nvPr/>
        </p:nvSpPr>
        <p:spPr>
          <a:xfrm>
            <a:off x="599040" y="788400"/>
            <a:ext cx="37623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2.1. Bases de dados consultadas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m 5"/>
          <p:cNvPicPr/>
          <p:nvPr/>
        </p:nvPicPr>
        <p:blipFill>
          <a:blip r:embed="rId2"/>
          <a:stretch/>
        </p:blipFill>
        <p:spPr>
          <a:xfrm>
            <a:off x="135792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7"/>
          <p:cNvPicPr/>
          <p:nvPr/>
        </p:nvPicPr>
        <p:blipFill>
          <a:blip r:embed="rId3"/>
          <a:stretch/>
        </p:blipFill>
        <p:spPr>
          <a:xfrm>
            <a:off x="529164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Imagem 9"/>
          <p:cNvPicPr/>
          <p:nvPr/>
        </p:nvPicPr>
        <p:blipFill>
          <a:blip r:embed="rId4"/>
          <a:stretch/>
        </p:blipFill>
        <p:spPr>
          <a:xfrm>
            <a:off x="888768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have Esquerda 10"/>
          <p:cNvSpPr/>
          <p:nvPr/>
        </p:nvSpPr>
        <p:spPr>
          <a:xfrm>
            <a:off x="1837440" y="4176360"/>
            <a:ext cx="536040" cy="137988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Chave Esquerda 12"/>
          <p:cNvSpPr/>
          <p:nvPr/>
        </p:nvSpPr>
        <p:spPr>
          <a:xfrm rot="16200000">
            <a:off x="5864400" y="-1665720"/>
            <a:ext cx="856800" cy="10326240"/>
          </a:xfrm>
          <a:prstGeom prst="leftBrace">
            <a:avLst>
              <a:gd name="adj1" fmla="val 0"/>
              <a:gd name="adj2" fmla="val 50000"/>
            </a:avLst>
          </a:prstGeom>
          <a:noFill/>
          <a:ln w="28575">
            <a:solidFill>
              <a:srgbClr val="0F9ED5">
                <a:lumMod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4" name="Imagem 14"/>
          <p:cNvPicPr/>
          <p:nvPr/>
        </p:nvPicPr>
        <p:blipFill>
          <a:blip r:embed="rId5"/>
          <a:stretch/>
        </p:blipFill>
        <p:spPr>
          <a:xfrm>
            <a:off x="5197680" y="3936600"/>
            <a:ext cx="2190240" cy="2085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1"/>
          <p:cNvSpPr/>
          <p:nvPr/>
        </p:nvSpPr>
        <p:spPr>
          <a:xfrm>
            <a:off x="889560" y="948240"/>
            <a:ext cx="1628640" cy="8150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1. Identificação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etângulo: Cantos Arredondados 2"/>
          <p:cNvSpPr/>
          <p:nvPr/>
        </p:nvSpPr>
        <p:spPr>
          <a:xfrm>
            <a:off x="3528000" y="93168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Artigos identificados por meio de busca em banco de dados: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Retângulo: Cantos Arredondados 3"/>
          <p:cNvSpPr/>
          <p:nvPr/>
        </p:nvSpPr>
        <p:spPr>
          <a:xfrm>
            <a:off x="9101880" y="93168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8" name="Conector de Seta Reta 5"/>
          <p:cNvCxnSpPr>
            <a:stCxn id="47" idx="1"/>
            <a:endCxn id="46" idx="3"/>
          </p:cNvCxnSpPr>
          <p:nvPr/>
        </p:nvCxnSpPr>
        <p:spPr>
          <a:xfrm flipH="1">
            <a:off x="8092080" y="1371960"/>
            <a:ext cx="1010160" cy="3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49" name="Retângulo: Cantos Arredondados 9"/>
          <p:cNvSpPr/>
          <p:nvPr/>
        </p:nvSpPr>
        <p:spPr>
          <a:xfrm>
            <a:off x="3528000" y="20966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 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tângulo: Cantos Arredondados 10"/>
          <p:cNvSpPr/>
          <p:nvPr/>
        </p:nvSpPr>
        <p:spPr>
          <a:xfrm>
            <a:off x="9101880" y="2118240"/>
            <a:ext cx="1628640" cy="8640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(#1 &amp; 2)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Conector de Seta Reta 13"/>
          <p:cNvCxnSpPr>
            <a:stCxn id="50" idx="1"/>
            <a:endCxn id="49" idx="3"/>
          </p:cNvCxnSpPr>
          <p:nvPr/>
        </p:nvCxnSpPr>
        <p:spPr>
          <a:xfrm flipH="1" flipV="1">
            <a:off x="8092080" y="2536920"/>
            <a:ext cx="1010160" cy="1368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cxnSp>
        <p:nvCxnSpPr>
          <p:cNvPr id="52" name="Conector de Seta Reta 16"/>
          <p:cNvCxnSpPr>
            <a:stCxn id="46" idx="2"/>
            <a:endCxn id="49" idx="0"/>
          </p:cNvCxnSpPr>
          <p:nvPr/>
        </p:nvCxnSpPr>
        <p:spPr>
          <a:xfrm>
            <a:off x="5810040" y="1811880"/>
            <a:ext cx="360" cy="28512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53" name="Retângulo: Cantos Arredondados 19"/>
          <p:cNvSpPr/>
          <p:nvPr/>
        </p:nvSpPr>
        <p:spPr>
          <a:xfrm>
            <a:off x="889560" y="32778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Triagem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etângulo: Cantos Arredondados 20"/>
          <p:cNvSpPr/>
          <p:nvPr/>
        </p:nvSpPr>
        <p:spPr>
          <a:xfrm>
            <a:off x="3528000" y="32612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selecionados para triagem de resumos (n=1909)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etângulo: Cantos Arredondados 21"/>
          <p:cNvSpPr/>
          <p:nvPr/>
        </p:nvSpPr>
        <p:spPr>
          <a:xfrm>
            <a:off x="9181080" y="326124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Duplicados removidos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" name="Conector de Seta Reta 22"/>
          <p:cNvCxnSpPr>
            <a:stCxn id="55" idx="1"/>
          </p:cNvCxnSpPr>
          <p:nvPr/>
        </p:nvCxnSpPr>
        <p:spPr>
          <a:xfrm flipH="1">
            <a:off x="8251200" y="3701520"/>
            <a:ext cx="930240" cy="21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57" name="Retângulo: Cantos Arredondados 23"/>
          <p:cNvSpPr/>
          <p:nvPr/>
        </p:nvSpPr>
        <p:spPr>
          <a:xfrm>
            <a:off x="889560" y="44424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Eligibilidade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etângulo: Cantos Arredondados 25"/>
          <p:cNvSpPr/>
          <p:nvPr/>
        </p:nvSpPr>
        <p:spPr>
          <a:xfrm>
            <a:off x="3528000" y="444240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de texto completo avaliados para elegibilidade (n=15)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Retângulo: Cantos Arredondados 26"/>
          <p:cNvSpPr/>
          <p:nvPr/>
        </p:nvSpPr>
        <p:spPr>
          <a:xfrm>
            <a:off x="9181080" y="4317120"/>
            <a:ext cx="1799280" cy="113112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excluídos: Aqueles focados em IOT ou em Temas com outro foco principal.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0" name="Conector de Seta Reta 27"/>
          <p:cNvCxnSpPr>
            <a:stCxn id="49" idx="2"/>
            <a:endCxn id="54" idx="0"/>
          </p:cNvCxnSpPr>
          <p:nvPr/>
        </p:nvCxnSpPr>
        <p:spPr>
          <a:xfrm>
            <a:off x="5810040" y="2976840"/>
            <a:ext cx="360" cy="2847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cxnSp>
        <p:nvCxnSpPr>
          <p:cNvPr id="61" name="Conector de Seta Reta 30"/>
          <p:cNvCxnSpPr>
            <a:stCxn id="54" idx="2"/>
            <a:endCxn id="58" idx="0"/>
          </p:cNvCxnSpPr>
          <p:nvPr/>
        </p:nvCxnSpPr>
        <p:spPr>
          <a:xfrm>
            <a:off x="5810040" y="4141440"/>
            <a:ext cx="360" cy="30132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cxnSp>
        <p:nvCxnSpPr>
          <p:cNvPr id="62" name="Conector de Seta Reta 34"/>
          <p:cNvCxnSpPr>
            <a:stCxn id="59" idx="1"/>
            <a:endCxn id="58" idx="3"/>
          </p:cNvCxnSpPr>
          <p:nvPr/>
        </p:nvCxnSpPr>
        <p:spPr>
          <a:xfrm flipH="1">
            <a:off x="8092080" y="4882680"/>
            <a:ext cx="1089360" cy="3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63" name="Retângulo: Cantos Arredondados 37"/>
          <p:cNvSpPr/>
          <p:nvPr/>
        </p:nvSpPr>
        <p:spPr>
          <a:xfrm>
            <a:off x="889560" y="562356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Incluídos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tângulo: Cantos Arredondados 38"/>
          <p:cNvSpPr/>
          <p:nvPr/>
        </p:nvSpPr>
        <p:spPr>
          <a:xfrm>
            <a:off x="3528000" y="562356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Estudos elegíveis incluídos na revisão final (n=8)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369360" y="562320"/>
            <a:ext cx="511668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2.2. Mecanismos de inclusão e exclusão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tângulo 1"/>
          <p:cNvSpPr/>
          <p:nvPr/>
        </p:nvSpPr>
        <p:spPr>
          <a:xfrm>
            <a:off x="801720" y="1452960"/>
            <a:ext cx="11130480" cy="473652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67" name="Conector reto 3"/>
          <p:cNvCxnSpPr/>
          <p:nvPr/>
        </p:nvCxnSpPr>
        <p:spPr>
          <a:xfrm>
            <a:off x="801720" y="1997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68" name="Conector reto 5"/>
          <p:cNvCxnSpPr/>
          <p:nvPr/>
        </p:nvCxnSpPr>
        <p:spPr>
          <a:xfrm>
            <a:off x="3155760" y="145260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69" name="Conector reto 10"/>
          <p:cNvCxnSpPr/>
          <p:nvPr/>
        </p:nvCxnSpPr>
        <p:spPr>
          <a:xfrm>
            <a:off x="5334480" y="147492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0" name="Conector reto 14"/>
          <p:cNvCxnSpPr/>
          <p:nvPr/>
        </p:nvCxnSpPr>
        <p:spPr>
          <a:xfrm>
            <a:off x="782280" y="1452600"/>
            <a:ext cx="2383920" cy="5454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1" name="Conector reto 20"/>
          <p:cNvCxnSpPr/>
          <p:nvPr/>
        </p:nvCxnSpPr>
        <p:spPr>
          <a:xfrm>
            <a:off x="801720" y="249984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2" name="Conector reto 21"/>
          <p:cNvCxnSpPr/>
          <p:nvPr/>
        </p:nvCxnSpPr>
        <p:spPr>
          <a:xfrm>
            <a:off x="801720" y="3059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3" name="Conector reto 22"/>
          <p:cNvCxnSpPr/>
          <p:nvPr/>
        </p:nvCxnSpPr>
        <p:spPr>
          <a:xfrm>
            <a:off x="821160" y="3651120"/>
            <a:ext cx="1111212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4" name="Conector reto 23"/>
          <p:cNvCxnSpPr/>
          <p:nvPr/>
        </p:nvCxnSpPr>
        <p:spPr>
          <a:xfrm>
            <a:off x="811440" y="428976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5" name="Conector reto 24"/>
          <p:cNvCxnSpPr/>
          <p:nvPr/>
        </p:nvCxnSpPr>
        <p:spPr>
          <a:xfrm>
            <a:off x="811440" y="490932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76" name="CaixaDeTexto 25"/>
          <p:cNvSpPr/>
          <p:nvPr/>
        </p:nvSpPr>
        <p:spPr>
          <a:xfrm>
            <a:off x="3488760" y="162324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aixaDeTexto 26"/>
          <p:cNvSpPr/>
          <p:nvPr/>
        </p:nvSpPr>
        <p:spPr>
          <a:xfrm>
            <a:off x="56642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ixaDeTexto 27"/>
          <p:cNvSpPr/>
          <p:nvPr/>
        </p:nvSpPr>
        <p:spPr>
          <a:xfrm>
            <a:off x="7916040" y="163368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ixaDeTexto 28"/>
          <p:cNvSpPr/>
          <p:nvPr/>
        </p:nvSpPr>
        <p:spPr>
          <a:xfrm>
            <a:off x="100886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ector reto 48"/>
          <p:cNvCxnSpPr/>
          <p:nvPr/>
        </p:nvCxnSpPr>
        <p:spPr>
          <a:xfrm flipV="1">
            <a:off x="833760" y="5480640"/>
            <a:ext cx="11099520" cy="388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81" name="CaixaDeTexto 51"/>
          <p:cNvSpPr/>
          <p:nvPr/>
        </p:nvSpPr>
        <p:spPr>
          <a:xfrm>
            <a:off x="1729800" y="14954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aixaDeTexto 52"/>
          <p:cNvSpPr/>
          <p:nvPr/>
        </p:nvSpPr>
        <p:spPr>
          <a:xfrm>
            <a:off x="671400" y="16718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aixaDeTexto 53"/>
          <p:cNvSpPr/>
          <p:nvPr/>
        </p:nvSpPr>
        <p:spPr>
          <a:xfrm>
            <a:off x="811080" y="2144880"/>
            <a:ext cx="190260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aixaDeTexto 54"/>
          <p:cNvSpPr/>
          <p:nvPr/>
        </p:nvSpPr>
        <p:spPr>
          <a:xfrm>
            <a:off x="802080" y="2635200"/>
            <a:ext cx="18687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aixaDeTexto 55"/>
          <p:cNvSpPr/>
          <p:nvPr/>
        </p:nvSpPr>
        <p:spPr>
          <a:xfrm>
            <a:off x="839880" y="325836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aixaDeTexto 56"/>
          <p:cNvSpPr/>
          <p:nvPr/>
        </p:nvSpPr>
        <p:spPr>
          <a:xfrm>
            <a:off x="839880" y="382392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aixaDeTexto 57"/>
          <p:cNvSpPr/>
          <p:nvPr/>
        </p:nvSpPr>
        <p:spPr>
          <a:xfrm>
            <a:off x="909720" y="4479120"/>
            <a:ext cx="15505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aixaDeTexto 58"/>
          <p:cNvSpPr/>
          <p:nvPr/>
        </p:nvSpPr>
        <p:spPr>
          <a:xfrm>
            <a:off x="904680" y="5073840"/>
            <a:ext cx="21279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CaixaDeTexto 59"/>
          <p:cNvSpPr/>
          <p:nvPr/>
        </p:nvSpPr>
        <p:spPr>
          <a:xfrm>
            <a:off x="868680" y="5729040"/>
            <a:ext cx="18903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have Esquerda 60"/>
          <p:cNvSpPr/>
          <p:nvPr/>
        </p:nvSpPr>
        <p:spPr>
          <a:xfrm rot="5400000">
            <a:off x="6803640" y="-2572560"/>
            <a:ext cx="399600" cy="76939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" name="CaixaDeTexto 61"/>
          <p:cNvSpPr/>
          <p:nvPr/>
        </p:nvSpPr>
        <p:spPr>
          <a:xfrm>
            <a:off x="5084640" y="676440"/>
            <a:ext cx="373572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have Esquerda 62"/>
          <p:cNvSpPr/>
          <p:nvPr/>
        </p:nvSpPr>
        <p:spPr>
          <a:xfrm>
            <a:off x="398520" y="1997640"/>
            <a:ext cx="399600" cy="419184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63"/>
          <p:cNvSpPr/>
          <p:nvPr/>
        </p:nvSpPr>
        <p:spPr>
          <a:xfrm rot="16200000">
            <a:off x="-1162080" y="3949200"/>
            <a:ext cx="26938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aixaDeTexto 65"/>
          <p:cNvSpPr/>
          <p:nvPr/>
        </p:nvSpPr>
        <p:spPr>
          <a:xfrm>
            <a:off x="423000" y="502920"/>
            <a:ext cx="441576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2.2.1.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aixaDeTexto 42"/>
          <p:cNvSpPr/>
          <p:nvPr/>
        </p:nvSpPr>
        <p:spPr>
          <a:xfrm>
            <a:off x="3192840" y="19634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Ding et al. (2024). Reliability Engineering and System Safety, v.244.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ector reto 44"/>
          <p:cNvCxnSpPr/>
          <p:nvPr/>
        </p:nvCxnSpPr>
        <p:spPr>
          <a:xfrm>
            <a:off x="7544160" y="1495080"/>
            <a:ext cx="17640" cy="4695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97" name="Conector reto 46"/>
          <p:cNvCxnSpPr/>
          <p:nvPr/>
        </p:nvCxnSpPr>
        <p:spPr>
          <a:xfrm>
            <a:off x="9790560" y="1558080"/>
            <a:ext cx="720" cy="4632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98" name="CaixaDeTexto 77"/>
          <p:cNvSpPr/>
          <p:nvPr/>
        </p:nvSpPr>
        <p:spPr>
          <a:xfrm>
            <a:off x="3167640" y="25174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Sistema BIM em tempo real para otimizar rotas de evacuação em grandes infraestruturas.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aixaDeTexto 78"/>
          <p:cNvSpPr/>
          <p:nvPr/>
        </p:nvSpPr>
        <p:spPr>
          <a:xfrm>
            <a:off x="314640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de metrô Chegongmiao (Shenzhen, China). 1.200 ocupantes, 4 saídas,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aixaDeTexto 79"/>
          <p:cNvSpPr/>
          <p:nvPr/>
        </p:nvSpPr>
        <p:spPr>
          <a:xfrm>
            <a:off x="3158640" y="36745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(BIM) + PyroSim (FDS) + AnyLogic (ABM + força social) + algoritmo de otimização.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aixaDeTexto 80"/>
          <p:cNvSpPr/>
          <p:nvPr/>
        </p:nvSpPr>
        <p:spPr>
          <a:xfrm>
            <a:off x="3146400" y="4338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Temperatura, altura/densidade de fumaça, gênero, idade, velocidade por local (escada/aisle/solo).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aixaDeTexto 81"/>
          <p:cNvSpPr/>
          <p:nvPr/>
        </p:nvSpPr>
        <p:spPr>
          <a:xfrm>
            <a:off x="3097440" y="49266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Otimização equilibrou uso das 4 saídas e reduziu tempo total em 12,87% (443s→386s).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aixaDeTexto 82"/>
          <p:cNvSpPr/>
          <p:nvPr/>
        </p:nvSpPr>
        <p:spPr>
          <a:xfrm>
            <a:off x="3179520" y="55562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Velocidades diferenciadas por idade/gênero e por tipo de via; lógica de saturação de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ixaDeTexto 83"/>
          <p:cNvSpPr/>
          <p:nvPr/>
        </p:nvSpPr>
        <p:spPr>
          <a:xfrm>
            <a:off x="5410800" y="20642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Sun &amp; Turkan (2020). Adv. Eng. Informatics, v.44.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aixaDeTexto 84"/>
          <p:cNvSpPr/>
          <p:nvPr/>
        </p:nvSpPr>
        <p:spPr>
          <a:xfrm>
            <a:off x="529704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+ FDS + ABM para prever evacuação e otimizar projeto.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ixaDeTexto 85"/>
          <p:cNvSpPr/>
          <p:nvPr/>
        </p:nvSpPr>
        <p:spPr>
          <a:xfrm>
            <a:off x="5328720" y="30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Station (EUA, 2003). 462 ocupantes, 1 pavimento.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aixaDeTexto 86"/>
          <p:cNvSpPr/>
          <p:nvPr/>
        </p:nvSpPr>
        <p:spPr>
          <a:xfrm>
            <a:off x="5373720" y="37598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+ PyroSim (FDS) + AnyLogic (ABM).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CaixaDeTexto 87"/>
          <p:cNvSpPr/>
          <p:nvPr/>
        </p:nvSpPr>
        <p:spPr>
          <a:xfrm>
            <a:off x="5331600" y="4332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ASET/RSET, nº saídas, largura, ocupação, fumaça, temperatura, velocidade.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aixaDeTexto 89"/>
          <p:cNvSpPr/>
          <p:nvPr/>
        </p:nvSpPr>
        <p:spPr>
          <a:xfrm>
            <a:off x="5271840" y="48981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RSET = f(saídas, largura, ocupação). Reduzir ocupação de 462→323 otimiza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aixaDeTexto 90"/>
          <p:cNvSpPr/>
          <p:nvPr/>
        </p:nvSpPr>
        <p:spPr>
          <a:xfrm>
            <a:off x="5354280" y="5553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Fatores críticos (humano/edifício/fogo) e ciclo de 4 fases (pré-alarme→evacuação).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ixaDeTexto 91"/>
          <p:cNvSpPr/>
          <p:nvPr/>
        </p:nvSpPr>
        <p:spPr>
          <a:xfrm>
            <a:off x="7611480" y="2030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Lu &amp; Li (2025). Reliab. Eng. Syst. Safety, v.260.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aixaDeTexto 92"/>
          <p:cNvSpPr/>
          <p:nvPr/>
        </p:nvSpPr>
        <p:spPr>
          <a:xfrm>
            <a:off x="756396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Acoplar FDS + ABM com aprendizagem social para otimizar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93"/>
          <p:cNvSpPr/>
          <p:nvPr/>
        </p:nvSpPr>
        <p:spPr>
          <a:xfrm>
            <a:off x="7600320" y="30571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Ala (Taiwan, 2011). ~200 ocupantes,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ixaDeTexto 94"/>
          <p:cNvSpPr/>
          <p:nvPr/>
        </p:nvSpPr>
        <p:spPr>
          <a:xfrm>
            <a:off x="7620480" y="379548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PyroSim (FDS) + NetLogo (ABM) + Random Forest + PSO-GA.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aixaDeTexto 95"/>
          <p:cNvSpPr/>
          <p:nvPr/>
        </p:nvSpPr>
        <p:spPr>
          <a:xfrm>
            <a:off x="7624080" y="4330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Tempo, mortos, feridos, pisoteamento, saúde, CO, temperatura, k_p, k_t.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CaixaDeTexto 96"/>
          <p:cNvSpPr/>
          <p:nvPr/>
        </p:nvSpPr>
        <p:spPr>
          <a:xfrm>
            <a:off x="7600320" y="4902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Validação &gt;98%. Saída 2º andar aberta: −22,47% tempo. Plano ótimo: −6,77% pisoteamento.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aixaDeTexto 97"/>
          <p:cNvSpPr/>
          <p:nvPr/>
        </p:nvSpPr>
        <p:spPr>
          <a:xfrm>
            <a:off x="7561080" y="5586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0,4m, vizinhança de Moore, Dijkstra, coeficientes calibrados, evacuação faseada.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aixaDeTexto 98"/>
          <p:cNvSpPr/>
          <p:nvPr/>
        </p:nvSpPr>
        <p:spPr>
          <a:xfrm>
            <a:off x="9837360" y="2048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Tan, Hu &amp; Lin (2015). Information Sciences, v.295.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aixaDeTexto 99"/>
          <p:cNvSpPr/>
          <p:nvPr/>
        </p:nvSpPr>
        <p:spPr>
          <a:xfrm>
            <a:off x="9713520" y="2472480"/>
            <a:ext cx="225324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Combinar comportamento humano com mudança previsível de acessibilidade por dispositivos de segurança contra incêndio.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ixaDeTexto 100"/>
          <p:cNvSpPr/>
          <p:nvPr/>
        </p:nvSpPr>
        <p:spPr>
          <a:xfrm>
            <a:off x="9783720" y="3108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2º andar de prédio universitário (CUHK, Hong Kong). 680 ocupantes, 8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aixaDeTexto 101"/>
          <p:cNvSpPr/>
          <p:nvPr/>
        </p:nvSpPr>
        <p:spPr>
          <a:xfrm>
            <a:off x="9730440" y="37274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ArcGIS + Agent Analyst (ABM) + ontologia semântica BIM +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CaixaDeTexto 102"/>
          <p:cNvSpPr/>
          <p:nvPr/>
        </p:nvSpPr>
        <p:spPr>
          <a:xfrm>
            <a:off x="9773640" y="4275720"/>
            <a:ext cx="212940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Conhecimento espacial/do evento, visibilidade, distância, repulsão, congestionamento, estresse, estado do dispositivo.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CaixaDeTexto 103"/>
          <p:cNvSpPr/>
          <p:nvPr/>
        </p:nvSpPr>
        <p:spPr>
          <a:xfrm>
            <a:off x="9760320" y="4889160"/>
            <a:ext cx="215136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Falta de conhecimento prévio aumenta tempo; mudança espacial pode equilibrar uso das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aixaDeTexto 104"/>
          <p:cNvSpPr/>
          <p:nvPr/>
        </p:nvSpPr>
        <p:spPr>
          <a:xfrm>
            <a:off x="9763200" y="5589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40×40cm, sensor visual ray tracing (170°/10m), 5 tipos de agentes por conhecimento.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tângulo 1"/>
          <p:cNvSpPr/>
          <p:nvPr/>
        </p:nvSpPr>
        <p:spPr>
          <a:xfrm>
            <a:off x="801720" y="1452960"/>
            <a:ext cx="11130480" cy="473652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26" name="Conector reto 3"/>
          <p:cNvCxnSpPr/>
          <p:nvPr/>
        </p:nvCxnSpPr>
        <p:spPr>
          <a:xfrm>
            <a:off x="801720" y="1997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27" name="Conector reto 5"/>
          <p:cNvCxnSpPr/>
          <p:nvPr/>
        </p:nvCxnSpPr>
        <p:spPr>
          <a:xfrm>
            <a:off x="3155760" y="145260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8" name="Conector reto 10"/>
          <p:cNvCxnSpPr/>
          <p:nvPr/>
        </p:nvCxnSpPr>
        <p:spPr>
          <a:xfrm>
            <a:off x="5334480" y="147492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9" name="Conector reto 14"/>
          <p:cNvCxnSpPr/>
          <p:nvPr/>
        </p:nvCxnSpPr>
        <p:spPr>
          <a:xfrm>
            <a:off x="782280" y="1452600"/>
            <a:ext cx="2383920" cy="5454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30" name="Conector reto 20"/>
          <p:cNvCxnSpPr/>
          <p:nvPr/>
        </p:nvCxnSpPr>
        <p:spPr>
          <a:xfrm>
            <a:off x="801720" y="249984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1" name="Conector reto 21"/>
          <p:cNvCxnSpPr/>
          <p:nvPr/>
        </p:nvCxnSpPr>
        <p:spPr>
          <a:xfrm>
            <a:off x="801720" y="3059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2" name="Conector reto 22"/>
          <p:cNvCxnSpPr/>
          <p:nvPr/>
        </p:nvCxnSpPr>
        <p:spPr>
          <a:xfrm>
            <a:off x="821160" y="3651120"/>
            <a:ext cx="1111212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3" name="Conector reto 23"/>
          <p:cNvCxnSpPr/>
          <p:nvPr/>
        </p:nvCxnSpPr>
        <p:spPr>
          <a:xfrm>
            <a:off x="811440" y="428976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4" name="Conector reto 24"/>
          <p:cNvCxnSpPr/>
          <p:nvPr/>
        </p:nvCxnSpPr>
        <p:spPr>
          <a:xfrm>
            <a:off x="811440" y="490932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35" name="CaixaDeTexto 25"/>
          <p:cNvSpPr/>
          <p:nvPr/>
        </p:nvSpPr>
        <p:spPr>
          <a:xfrm>
            <a:off x="3488760" y="162324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aixaDeTexto 26"/>
          <p:cNvSpPr/>
          <p:nvPr/>
        </p:nvSpPr>
        <p:spPr>
          <a:xfrm>
            <a:off x="56642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ixaDeTexto 27"/>
          <p:cNvSpPr/>
          <p:nvPr/>
        </p:nvSpPr>
        <p:spPr>
          <a:xfrm>
            <a:off x="7916040" y="163368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aixaDeTexto 28"/>
          <p:cNvSpPr/>
          <p:nvPr/>
        </p:nvSpPr>
        <p:spPr>
          <a:xfrm>
            <a:off x="100886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Conector reto 48"/>
          <p:cNvCxnSpPr/>
          <p:nvPr/>
        </p:nvCxnSpPr>
        <p:spPr>
          <a:xfrm flipV="1">
            <a:off x="833760" y="5480640"/>
            <a:ext cx="11099520" cy="388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40" name="CaixaDeTexto 51"/>
          <p:cNvSpPr/>
          <p:nvPr/>
        </p:nvSpPr>
        <p:spPr>
          <a:xfrm>
            <a:off x="1729800" y="14954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aixaDeTexto 52"/>
          <p:cNvSpPr/>
          <p:nvPr/>
        </p:nvSpPr>
        <p:spPr>
          <a:xfrm>
            <a:off x="671400" y="16718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CaixaDeTexto 53"/>
          <p:cNvSpPr/>
          <p:nvPr/>
        </p:nvSpPr>
        <p:spPr>
          <a:xfrm>
            <a:off x="811080" y="2144880"/>
            <a:ext cx="190260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ixaDeTexto 54"/>
          <p:cNvSpPr/>
          <p:nvPr/>
        </p:nvSpPr>
        <p:spPr>
          <a:xfrm>
            <a:off x="802080" y="2635200"/>
            <a:ext cx="18687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aixaDeTexto 55"/>
          <p:cNvSpPr/>
          <p:nvPr/>
        </p:nvSpPr>
        <p:spPr>
          <a:xfrm>
            <a:off x="839880" y="325836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56"/>
          <p:cNvSpPr/>
          <p:nvPr/>
        </p:nvSpPr>
        <p:spPr>
          <a:xfrm>
            <a:off x="839880" y="382392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57"/>
          <p:cNvSpPr/>
          <p:nvPr/>
        </p:nvSpPr>
        <p:spPr>
          <a:xfrm>
            <a:off x="909720" y="4479120"/>
            <a:ext cx="15505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ixaDeTexto 58"/>
          <p:cNvSpPr/>
          <p:nvPr/>
        </p:nvSpPr>
        <p:spPr>
          <a:xfrm>
            <a:off x="904680" y="5073840"/>
            <a:ext cx="21279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aixaDeTexto 59"/>
          <p:cNvSpPr/>
          <p:nvPr/>
        </p:nvSpPr>
        <p:spPr>
          <a:xfrm>
            <a:off x="868680" y="5729040"/>
            <a:ext cx="18903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have Esquerda 60"/>
          <p:cNvSpPr/>
          <p:nvPr/>
        </p:nvSpPr>
        <p:spPr>
          <a:xfrm rot="5400000">
            <a:off x="6803640" y="-2572560"/>
            <a:ext cx="399600" cy="76939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61"/>
          <p:cNvSpPr/>
          <p:nvPr/>
        </p:nvSpPr>
        <p:spPr>
          <a:xfrm>
            <a:off x="5084640" y="676440"/>
            <a:ext cx="373572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have Esquerda 62"/>
          <p:cNvSpPr/>
          <p:nvPr/>
        </p:nvSpPr>
        <p:spPr>
          <a:xfrm>
            <a:off x="398520" y="1997640"/>
            <a:ext cx="399600" cy="419184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63"/>
          <p:cNvSpPr/>
          <p:nvPr/>
        </p:nvSpPr>
        <p:spPr>
          <a:xfrm rot="16200000">
            <a:off x="-1162080" y="3949200"/>
            <a:ext cx="26938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CaixaDeTexto 65"/>
          <p:cNvSpPr/>
          <p:nvPr/>
        </p:nvSpPr>
        <p:spPr>
          <a:xfrm>
            <a:off x="423000" y="502920"/>
            <a:ext cx="441576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ixaDeTexto 42"/>
          <p:cNvSpPr/>
          <p:nvPr/>
        </p:nvSpPr>
        <p:spPr>
          <a:xfrm>
            <a:off x="3190680" y="200880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Pelechano &amp; Malkawi (2008). Automation in Construction, v.17.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Conector reto 44"/>
          <p:cNvCxnSpPr/>
          <p:nvPr/>
        </p:nvCxnSpPr>
        <p:spPr>
          <a:xfrm>
            <a:off x="7544160" y="1495080"/>
            <a:ext cx="17640" cy="4695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56" name="Conector reto 46"/>
          <p:cNvCxnSpPr/>
          <p:nvPr/>
        </p:nvCxnSpPr>
        <p:spPr>
          <a:xfrm>
            <a:off x="9790560" y="1558080"/>
            <a:ext cx="720" cy="4632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157" name="CaixaDeTexto 77"/>
          <p:cNvSpPr/>
          <p:nvPr/>
        </p:nvSpPr>
        <p:spPr>
          <a:xfrm>
            <a:off x="3167640" y="2517480"/>
            <a:ext cx="220536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limitações de modelos de autômatos celulares (CA) na simulação de evacuação de edifícios altos.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ixaDeTexto 78"/>
          <p:cNvSpPr/>
          <p:nvPr/>
        </p:nvSpPr>
        <p:spPr>
          <a:xfrm>
            <a:off x="314640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Revisão crítica de softwares (STEPS, EXODUS); dados do World Trade Center (11/09/2001).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CaixaDeTexto 79"/>
          <p:cNvSpPr/>
          <p:nvPr/>
        </p:nvSpPr>
        <p:spPr>
          <a:xfrm>
            <a:off x="3158640" y="36745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Análise comparativa de CA (STEPS, EXODUS), forças sociais, regras (boids), filas.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aixaDeTexto 80"/>
          <p:cNvSpPr/>
          <p:nvPr/>
        </p:nvSpPr>
        <p:spPr>
          <a:xfrm>
            <a:off x="3146400" y="4338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Tamanho da célula, fadiga, contrafluxo, rota, densidade, fluxo, comunicação, papéis.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aixaDeTexto 81"/>
          <p:cNvSpPr/>
          <p:nvPr/>
        </p:nvSpPr>
        <p:spPr>
          <a:xfrm>
            <a:off x="3097440" y="49266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CA distorce densidades, fluxos e rotas (45°); fadiga e contrafluxo subestimam tempo real.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ixaDeTexto 82"/>
          <p:cNvSpPr/>
          <p:nvPr/>
        </p:nvSpPr>
        <p:spPr>
          <a:xfrm>
            <a:off x="3179520" y="55562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Alerta sobre artefatos do grid; recomenda fadiga, comunicação, papéis, escolha dinâmica.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aixaDeTexto 83"/>
          <p:cNvSpPr/>
          <p:nvPr/>
        </p:nvSpPr>
        <p:spPr>
          <a:xfrm>
            <a:off x="5410800" y="20642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Zhao et al. (2022). Safety Science, v.145.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aixaDeTexto 84"/>
          <p:cNvSpPr/>
          <p:nvPr/>
        </p:nvSpPr>
        <p:spPr>
          <a:xfrm>
            <a:off x="536940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sinalização adaptativa centralizada vs descentralizada para evacuação de incêndio.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ixaDeTexto 85"/>
          <p:cNvSpPr/>
          <p:nvPr/>
        </p:nvSpPr>
        <p:spPr>
          <a:xfrm>
            <a:off x="5328720" y="30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Museu virtual Cooper Hewitt (3 andares); 85 participantes em VR +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ixaDeTexto 86"/>
          <p:cNvSpPr/>
          <p:nvPr/>
        </p:nvSpPr>
        <p:spPr>
          <a:xfrm>
            <a:off x="5373720" y="37598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VR (Unity) + experimento humano + ABM + grafo direcionado de sinais.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ixaDeTexto 87"/>
          <p:cNvSpPr/>
          <p:nvPr/>
        </p:nvSpPr>
        <p:spPr>
          <a:xfrm>
            <a:off x="5331600" y="4332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Direção do sinal, localização do fogo, tempo, distância, dano, estresse, EDA, HRV.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aixaDeTexto 89"/>
          <p:cNvSpPr/>
          <p:nvPr/>
        </p:nvSpPr>
        <p:spPr>
          <a:xfrm>
            <a:off x="5364720" y="48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Sinais adaptativos: sobrevivência 94% vs 45%; menos distresse, dano e tempo.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aixaDeTexto 90"/>
          <p:cNvSpPr/>
          <p:nvPr/>
        </p:nvSpPr>
        <p:spPr>
          <a:xfrm>
            <a:off x="5354280" y="5553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Lógica de agentes com memória, modos exploração/seguir-sinal, cone visual de 120°.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aixaDeTexto 91"/>
          <p:cNvSpPr/>
          <p:nvPr/>
        </p:nvSpPr>
        <p:spPr>
          <a:xfrm>
            <a:off x="7611480" y="2030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Haghani &amp; Sarvi (2016). Fire Safety Journal, v.85.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aixaDeTexto 92"/>
          <p:cNvSpPr/>
          <p:nvPr/>
        </p:nvSpPr>
        <p:spPr>
          <a:xfrm>
            <a:off x="7557120" y="2500200"/>
            <a:ext cx="222624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Quantificar diferenças comportamentais na escolha de saída entre egresso normal e emergência.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aixaDeTexto 93"/>
          <p:cNvSpPr/>
          <p:nvPr/>
        </p:nvSpPr>
        <p:spPr>
          <a:xfrm>
            <a:off x="7534080" y="3057120"/>
            <a:ext cx="226296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Flinders Street (Melbourne, Austrália). 105 passageiros entrevistados, 6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aixaDeTexto 94"/>
          <p:cNvSpPr/>
          <p:nvPr/>
        </p:nvSpPr>
        <p:spPr>
          <a:xfrm>
            <a:off x="7595640" y="36946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Stated-choice survey + modelo logit misto multinomial com componentes de erro.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aixaDeTexto 95"/>
          <p:cNvSpPr/>
          <p:nvPr/>
        </p:nvSpPr>
        <p:spPr>
          <a:xfrm>
            <a:off x="7540920" y="4330080"/>
            <a:ext cx="224208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Distância, aglomeração, fluxo direcional, visibilidade, proximidade do destino, distribuição.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aixaDeTexto 96"/>
          <p:cNvSpPr/>
          <p:nvPr/>
        </p:nvSpPr>
        <p:spPr>
          <a:xfrm>
            <a:off x="7600320" y="4902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Em emergência: aglomeração pesa mais; maioria evita seguir fluxos; visibilidade modera "herding".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aixaDeTexto 97"/>
          <p:cNvSpPr/>
          <p:nvPr/>
        </p:nvSpPr>
        <p:spPr>
          <a:xfrm>
            <a:off x="7561080" y="5540040"/>
            <a:ext cx="222912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Coeficientes de utilidade calibrados para regra de escolha de saída por agente heterogêneo.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aixaDeTexto 98"/>
          <p:cNvSpPr/>
          <p:nvPr/>
        </p:nvSpPr>
        <p:spPr>
          <a:xfrm>
            <a:off x="9837360" y="2048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Mirahadi, McCabe &amp; Shahi (2019). Automation in Construction, v.101.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aixaDeTexto 99"/>
          <p:cNvSpPr/>
          <p:nvPr/>
        </p:nvSpPr>
        <p:spPr>
          <a:xfrm>
            <a:off x="9668520" y="2516400"/>
            <a:ext cx="225324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(IFC) + FDS + ABM com índices de risco espaço-temporais (RRI/CRI).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aixaDeTexto 100"/>
          <p:cNvSpPr/>
          <p:nvPr/>
        </p:nvSpPr>
        <p:spPr>
          <a:xfrm>
            <a:off x="978372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Edifício de escritórios de 2 andares, 59 compartimentos, 400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aixaDeTexto 101"/>
          <p:cNvSpPr/>
          <p:nvPr/>
        </p:nvSpPr>
        <p:spPr>
          <a:xfrm>
            <a:off x="9741960" y="3672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BIM/IFC + CYPECAD MEP (FDS) + MassMotion (ABM) + MATLAB (grafo).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aixaDeTexto 102"/>
          <p:cNvSpPr/>
          <p:nvPr/>
        </p:nvSpPr>
        <p:spPr>
          <a:xfrm>
            <a:off x="9782640" y="4331520"/>
            <a:ext cx="212940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ALET, RRI, CRI, tempo, distância, fumaça, temperatura, congestionamento, tenabilidade.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aixaDeTexto 103"/>
          <p:cNvSpPr/>
          <p:nvPr/>
        </p:nvSpPr>
        <p:spPr>
          <a:xfrm>
            <a:off x="9760320" y="4889160"/>
            <a:ext cx="215136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Rota mais curta nem sempre é mais segura; RRI detecta rotas bloqueadas e zonas críticas.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aixaDeTexto 104"/>
          <p:cNvSpPr/>
          <p:nvPr/>
        </p:nvSpPr>
        <p:spPr>
          <a:xfrm>
            <a:off x="9782640" y="55609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Índices RRI/CRI por compartimento e rota; agentes "obedientes" vs "livres" para validação.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96080" y="569880"/>
            <a:ext cx="25455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2.3. Modelo Formal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322920" y="1217880"/>
            <a:ext cx="1119924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Seja o sistema: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4326120" y="1638000"/>
            <a:ext cx="319932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C0392B"/>
                </a:solidFill>
                <a:effectLst/>
                <a:uFillTx/>
                <a:latin typeface="Cambria"/>
              </a:rPr>
              <a:t>S = ⟨ A, E, R, F, T, I, D, O 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4"/>
          <p:cNvGraphicFramePr/>
          <p:nvPr/>
        </p:nvGraphicFramePr>
        <p:xfrm>
          <a:off x="322920" y="2408040"/>
          <a:ext cx="5399640" cy="4039920"/>
        </p:xfrm>
        <a:graphic>
          <a:graphicData uri="http://schemas.openxmlformats.org/drawingml/2006/table">
            <a:tbl>
              <a:tblPr/>
              <a:tblGrid>
                <a:gridCol w="1299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9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Símbolo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(A)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∪ brigadistas (heterogêneos)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edifício: 30 andares × grade 20×20 (2D por andar)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(R)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conjunto de rotas possíveis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(F)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dinâmica do fogo 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(T)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discreto: t ∈ {0, 1, ..., T_max} (tick)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(I)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informação disponível aos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(D)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regras de decisão dos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(O)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T_evac, vítimas, mapa de calor, gargalos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8" name="TextBox 5"/>
          <p:cNvSpPr/>
          <p:nvPr/>
        </p:nvSpPr>
        <p:spPr>
          <a:xfrm>
            <a:off x="6126120" y="2408040"/>
            <a:ext cx="5399280" cy="32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Regras formais básicas: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6126120" y="2858040"/>
            <a:ext cx="5399280" cy="284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1. Todo agente possui posição: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2. Todo agente escolhe uma rota: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∈ 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3. A escolha da rota depende de visibilidade,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     distância, congestionamento e risco: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= Dᵢ(VIS, DIST, CONG, RISCO, INFO)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4. A velocidade do agente diminui com densidade e fumaça: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vᵢ(t) = f(v_max, ρ, Φ)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5. O agente evacua quando alcança uma saída: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Saídas  ⇒  evac(aᵢ)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487440" y="515160"/>
            <a:ext cx="40755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Calibri"/>
              </a:rPr>
              <a:t>2.4. Variáveis Principais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2"/>
          <p:cNvGraphicFramePr/>
          <p:nvPr/>
        </p:nvGraphicFramePr>
        <p:xfrm>
          <a:off x="2642400" y="1100160"/>
          <a:ext cx="7199640" cy="5580360"/>
        </p:xfrm>
        <a:graphic>
          <a:graphicData uri="http://schemas.openxmlformats.org/drawingml/2006/table">
            <a:tbl>
              <a:tblPr/>
              <a:tblGrid>
                <a:gridCol w="2199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9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97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(N)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número total de ocupantes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(aᵢ)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agente i, com i ∈ {1, ..., N}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(tipo(aᵢ))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tipo do agente ∈ {adulto, idoso, PcD, brigadista}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(xᵢ(t))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posição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(v_max)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máxima por tipo (1.0 / 0.6 / 0.4 / 1.5)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(ρ(x,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densidade local de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(Φ(x,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intensidade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visibilidade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(Cₑ)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capacidade de fluxo da escada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(estado(aᵢ,t))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estado ∈ {ativo, evacuado, ferido, morto}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(pânico(aᵢ,t))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nível de pânico ∈ [0, 1]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(T_react,i)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de reação do agente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(T_evac)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aixaDeTexto 3"/>
          <p:cNvSpPr/>
          <p:nvPr/>
        </p:nvSpPr>
        <p:spPr>
          <a:xfrm>
            <a:off x="536040" y="735840"/>
            <a:ext cx="42289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 Agente Baseado em Modelo (ABM)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CaixaDeTexto 4"/>
          <p:cNvSpPr/>
          <p:nvPr/>
        </p:nvSpPr>
        <p:spPr>
          <a:xfrm>
            <a:off x="1233720" y="1494720"/>
            <a:ext cx="28339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3.1.1. Definição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aixaDeTexto 5"/>
          <p:cNvSpPr/>
          <p:nvPr/>
        </p:nvSpPr>
        <p:spPr>
          <a:xfrm>
            <a:off x="1233720" y="2979000"/>
            <a:ext cx="27327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3.1.2. Justificativa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aixaDeTexto 6"/>
          <p:cNvSpPr/>
          <p:nvPr/>
        </p:nvSpPr>
        <p:spPr>
          <a:xfrm>
            <a:off x="1284120" y="4624560"/>
            <a:ext cx="273276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3.1.3. Descrição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aixaDeTexto 196"/>
          <p:cNvSpPr txBox="1"/>
          <p:nvPr/>
        </p:nvSpPr>
        <p:spPr>
          <a:xfrm>
            <a:off x="1902600" y="1863720"/>
            <a:ext cx="5869800" cy="883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 método de modelagem computacional usado para simular as ações e interações de agentes dentro de um ambiente virtual, com o objetivo de entender como o comportamento deles afeta o sistema como um todo.</a:t>
            </a:r>
          </a:p>
        </p:txBody>
      </p:sp>
      <p:sp>
        <p:nvSpPr>
          <p:cNvPr id="198" name="CaixaDeTexto 197"/>
          <p:cNvSpPr txBox="1"/>
          <p:nvPr/>
        </p:nvSpPr>
        <p:spPr>
          <a:xfrm>
            <a:off x="1902600" y="3375720"/>
            <a:ext cx="5869800" cy="119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Permite que você trate a multidão de forma heterogênea: cada pessoa no seu prédio tem sua própria velocidade, seu próprio tempo de reação, toma suas próprias decisões de rota e entra em pânico de forma individualizada com base no que está acontecendo ao seu redor. Isso permite observar fenômenos reais de comportamento coletivo, como o surgimento de gargalos nas portas e o efeito manada.</a:t>
            </a:r>
          </a:p>
        </p:txBody>
      </p:sp>
      <p:sp>
        <p:nvSpPr>
          <p:cNvPr id="199" name="CaixaDeTexto 198"/>
          <p:cNvSpPr txBox="1"/>
          <p:nvPr/>
        </p:nvSpPr>
        <p:spPr>
          <a:xfrm>
            <a:off x="1902600" y="5433120"/>
            <a:ext cx="5869800" cy="1011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Uma técnica de simulação computacional onde você não tenta modelar o comportamento de um sistema inteiro de cima para baixo. Em vez disso, você cria os indivíduos (os agentes), define regras simples de comportamento para eles e os coloca para interagir em um ambiente. O comportamento do sistema global "emerge" dessas interações individuais.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aixaDeTexto 3"/>
          <p:cNvSpPr/>
          <p:nvPr/>
        </p:nvSpPr>
        <p:spPr>
          <a:xfrm>
            <a:off x="624600" y="814320"/>
            <a:ext cx="20278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3.2. Exemplo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aixaDeTexto 200"/>
          <p:cNvSpPr txBox="1"/>
          <p:nvPr/>
        </p:nvSpPr>
        <p:spPr>
          <a:xfrm>
            <a:off x="2137320" y="1828800"/>
            <a:ext cx="7235280" cy="3120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Mercado Financeiro: Agentes são investidores (compradores e vendedores). Regra: "Se a ação cair 5%, venda". O ABM ajuda a prever quebras repentinas na bolsa (flash crashes).</a:t>
            </a:r>
          </a:p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Epidemiologia: Agentes são pessoas (Saudáveis, Infectadas, Recuperadas). Regra: "Se passar perto de um infectado, há 15% de chance de contágio". Usado para testar o impacto de quarentenas e vacinação.</a:t>
            </a:r>
          </a:p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Tráfego Urbano: Agentes são motoristas. Regra: "Se o carro da frente frear, reduza a velocidade; se a pista do lado estiver livre e mais rápida, mude de faixa". Permite entender como surgem engarrafamentos do nada, sem que haja nenhum acidente na pista.</a:t>
            </a: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CaixaDeTexto 8"/>
          <p:cNvSpPr/>
          <p:nvPr/>
        </p:nvSpPr>
        <p:spPr>
          <a:xfrm>
            <a:off x="624960" y="685800"/>
            <a:ext cx="20278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3.3. SDD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3681168-D8DD-B247-5CBB-79C2388A7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1" y="576253"/>
            <a:ext cx="6315702" cy="62817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" name="Table 3"/>
          <p:cNvGraphicFramePr/>
          <p:nvPr/>
        </p:nvGraphicFramePr>
        <p:xfrm>
          <a:off x="1341000" y="703440"/>
          <a:ext cx="9399600" cy="5375280"/>
        </p:xfrm>
        <a:graphic>
          <a:graphicData uri="http://schemas.openxmlformats.org/drawingml/2006/table">
            <a:tbl>
              <a:tblPr/>
              <a:tblGrid>
                <a:gridCol w="2199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9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99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80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Plataforma de implementação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Netlogo.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Linguagem de programação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Netlogo.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Representação dos agentes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e Brigadistas como turtles.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Representação do ambiente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Andares, corredores, salas, escadas e saídas como patches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Dados de entrada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Andar de inicio do fogo, Ocupantes por andar, Taxa de propagação do fogo, Coeficiente de difusão fumaça.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Regras implementadas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Se o tempo de simulação atinge o limiar do alarme adicionado ao tempo de reação individual (t≥treacao​), o agente altera seu estado para ativo e inicia o protocolo de evacuação em direção ao seu alvo inicial; se o modelo detecta a presença de fogo, fumaça excessiva ou perda de visibilidade crítica na rota planejada, o agente invalida o destino atual e executa uma rotina de replanejamento para buscar um caminho alternativo seguro.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Algoritmos principais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Algoritmo de Difusão e Propagação (Fogo e Fumaça), Algoritmo de Perda de Visibilidade, Algoritmo de Escolha de Rota (Campo de Custo/Atração), Algoritmo de Detecção de Deadlock e Algoritmo de Dosimetria de Gases (Cálculo de FED).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Controle do tempo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Cada tick representa 1 segundo;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Dados de saída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evacuação, número de evacuados, mortos, feridos, ativos.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Visualização e validação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Mapa do prédio, agentes em movimento, gráficos.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</TotalTime>
  <Words>2572</Words>
  <Application>Microsoft Office PowerPoint</Application>
  <PresentationFormat>Widescreen</PresentationFormat>
  <Paragraphs>300</Paragraphs>
  <Slides>20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</vt:lpstr>
      <vt:lpstr>Symbol</vt:lpstr>
      <vt:lpstr>Times New Roman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Marcos Mattedi</dc:creator>
  <dc:description/>
  <cp:lastModifiedBy>Lucas Fritzke</cp:lastModifiedBy>
  <cp:revision>14</cp:revision>
  <dcterms:created xsi:type="dcterms:W3CDTF">2026-04-13T15:47:06Z</dcterms:created>
  <dcterms:modified xsi:type="dcterms:W3CDTF">2026-05-31T13:54:50Z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