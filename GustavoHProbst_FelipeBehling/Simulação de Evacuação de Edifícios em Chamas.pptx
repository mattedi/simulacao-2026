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DM Sans Medium"/>
      <p:regular r:id="rId20"/>
      <p:bold r:id="rId21"/>
      <p:italic r:id="rId22"/>
      <p:boldItalic r:id="rId23"/>
    </p:embeddedFont>
    <p:embeddedFont>
      <p:font typeface="Merriweather"/>
      <p:regular r:id="rId24"/>
      <p:bold r:id="rId25"/>
      <p:italic r:id="rId26"/>
      <p:boldItalic r:id="rId27"/>
    </p:embeddedFont>
    <p:embeddedFont>
      <p:font typeface="DM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9908A0A-36E0-4A4A-950B-E117C09EF45B}">
  <a:tblStyle styleId="{29908A0A-36E0-4A4A-950B-E117C09EF45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Medium-regular.fntdata"/><Relationship Id="rId22" Type="http://schemas.openxmlformats.org/officeDocument/2006/relationships/font" Target="fonts/DMSansMedium-italic.fntdata"/><Relationship Id="rId21" Type="http://schemas.openxmlformats.org/officeDocument/2006/relationships/font" Target="fonts/DMSansMedium-bold.fntdata"/><Relationship Id="rId24" Type="http://schemas.openxmlformats.org/officeDocument/2006/relationships/font" Target="fonts/Merriweather-regular.fntdata"/><Relationship Id="rId23" Type="http://schemas.openxmlformats.org/officeDocument/2006/relationships/font" Target="fonts/DMSansMedium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erriweather-italic.fntdata"/><Relationship Id="rId25" Type="http://schemas.openxmlformats.org/officeDocument/2006/relationships/font" Target="fonts/Merriweather-bold.fntdata"/><Relationship Id="rId28" Type="http://schemas.openxmlformats.org/officeDocument/2006/relationships/font" Target="fonts/DMSans-regular.fntdata"/><Relationship Id="rId27" Type="http://schemas.openxmlformats.org/officeDocument/2006/relationships/font" Target="fonts/Merriweather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DMSa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DMSans-boldItalic.fntdata"/><Relationship Id="rId30" Type="http://schemas.openxmlformats.org/officeDocument/2006/relationships/font" Target="fonts/DMSans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db8aff209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g3db8aff2095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995499" y="1603691"/>
            <a:ext cx="8201100" cy="13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Simulação de Evacuação de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0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Edifícios em Chamas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190750" y="3389858"/>
            <a:ext cx="781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MÓDULO V - SEMINÁRIO DE APRESENTAÇÃO DOS RESULTADOS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190750" y="4028033"/>
            <a:ext cx="78105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Autor</a:t>
            </a:r>
            <a:r>
              <a:rPr b="1" lang="en-US" sz="1275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es</a:t>
            </a:r>
            <a:r>
              <a:rPr b="1" i="0" lang="en-US" sz="12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b="0" i="0" lang="en-US" sz="12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75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Gustavo Henrique Probst e Felipe Behling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190750" y="4432845"/>
            <a:ext cx="78105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Maio </a:t>
            </a:r>
            <a:r>
              <a:rPr b="0" i="0" lang="en-US" sz="12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476250" y="476250"/>
            <a:ext cx="11715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Estrutura da Apresentação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476250" y="1019175"/>
            <a:ext cx="112395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476250" y="1333500"/>
            <a:ext cx="11239500" cy="2843212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7" name="Google Shape;97;p14"/>
          <p:cNvGraphicFramePr/>
          <p:nvPr/>
        </p:nvGraphicFramePr>
        <p:xfrm>
          <a:off x="476250" y="13335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{29908A0A-36E0-4A4A-950B-E117C09EF45B}</a:tableStyleId>
              </a:tblPr>
              <a:tblGrid>
                <a:gridCol w="1123950"/>
                <a:gridCol w="2809875"/>
                <a:gridCol w="7305675"/>
              </a:tblGrid>
              <a:tr h="406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FFFFF"/>
                          </a:solidFill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Etapa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FFFFF"/>
                          </a:solidFill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Nome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FFFFF"/>
                          </a:solidFill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Descrição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</a:tr>
              <a:tr h="406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Sistema de Referência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Caracterização do cenário real a ser transposto para o modelo (edificação, população e fenômeno).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Modelagem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Abstração do sistema através de regras de comportamento, agentes inteligentes e topologia do ambiente.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06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Formalismo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Sistematização lógica e matemática para tradução do modelo em uma linguagem rigorosa.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Computador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Desenvolvimento e arquitetura do código-fonte responsável pela execução da simulação.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06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Execução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Testagem de hipóteses em diferentes configurações e cenários de propagação de incêndio.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Observação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Monitoramento de métricas, extração de dados brutos e validação estatística dos resultados.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8" name="Google Shape;98;p14"/>
          <p:cNvSpPr/>
          <p:nvPr/>
        </p:nvSpPr>
        <p:spPr>
          <a:xfrm>
            <a:off x="476250" y="2162175"/>
            <a:ext cx="1123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1600200" y="2162175"/>
            <a:ext cx="2809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4410075" y="2162175"/>
            <a:ext cx="7305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476250" y="2562225"/>
            <a:ext cx="1123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1600200" y="2562225"/>
            <a:ext cx="2809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4410075" y="2562225"/>
            <a:ext cx="7305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476250" y="2962275"/>
            <a:ext cx="1123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1600200" y="2962275"/>
            <a:ext cx="2809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4410075" y="2962275"/>
            <a:ext cx="7305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476250" y="3362325"/>
            <a:ext cx="1123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1600200" y="3362325"/>
            <a:ext cx="2809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4410075" y="3362325"/>
            <a:ext cx="7305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476250" y="3762375"/>
            <a:ext cx="1123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1600200" y="3762375"/>
            <a:ext cx="2809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4410075" y="3762375"/>
            <a:ext cx="7305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476250" y="4162425"/>
            <a:ext cx="1123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1600200" y="4162425"/>
            <a:ext cx="2809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4410075" y="4162425"/>
            <a:ext cx="7305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333500"/>
            <a:ext cx="54292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476250" y="476250"/>
            <a:ext cx="11715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1. Sistema de Referência</a:t>
            </a:r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476250" y="1019175"/>
            <a:ext cx="112395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6250" y="1495425"/>
            <a:ext cx="5429250" cy="12144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 foco central deste estudo é a resiliência de </a:t>
            </a:r>
            <a:r>
              <a:rPr b="1" i="0" lang="en-US" sz="12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edifícios residenciais verticais</a:t>
            </a:r>
            <a:r>
              <a:rPr b="0" i="0" lang="en-US" sz="12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de 30 pavimentos frente a sinistros ígneos. A complexidade do sistema reside na alta densidade populacional distribuída em uma estrutura de 120 metros de altura, onde a evacuação vertical é a única rota de sobrevivência viável.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476250" y="2871787"/>
            <a:ext cx="542925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Fatores Críticos Expandidos: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6286500" y="4943475"/>
            <a:ext cx="5429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 sistema integra variáveis físicas do fogo e psicossociais dos ocupantes para garantir que a simulação reflita a incerteza de emergências reais.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714375" y="3276600"/>
            <a:ext cx="5191125" cy="728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Efeito Chaminé:</a:t>
            </a:r>
            <a:r>
              <a:rPr b="0" i="0" lang="en-US" sz="12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Propagação acelerada de gases quentes através de poços de elevador e escadarias, comprometendo a visibilidade e a respirabilidade em poucos minutos.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714375" y="4119562"/>
            <a:ext cx="5191125" cy="728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Paradigma ASET/RSET:</a:t>
            </a:r>
            <a:r>
              <a:rPr b="0" i="0" lang="en-US" sz="12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O tempo disponível para saída segura (ASET) é dinamicamente reduzido pela toxicidade do ambiente, desafiando o tempo necessário para escape (RSET).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714375" y="4962525"/>
            <a:ext cx="5191125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Mobilidade e Stress:</a:t>
            </a:r>
            <a:r>
              <a:rPr b="0" i="0" lang="en-US" sz="12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 população de 180 indivíduos apresenta perfis heterogêneos, incluindo grupos com mobilidade reduzida cujos tempos de reação são afetados pela barreira psicológica do pânico.</a:t>
            </a:r>
            <a:endParaRPr/>
          </a:p>
        </p:txBody>
      </p:sp>
      <p:pic>
        <p:nvPicPr>
          <p:cNvPr descr="image.png" id="130" name="Google Shape;13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05550" y="1352550"/>
            <a:ext cx="5391150" cy="3295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476250" y="3276600"/>
            <a:ext cx="666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476250" y="4119562"/>
            <a:ext cx="666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476250" y="4962525"/>
            <a:ext cx="666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955923"/>
            <a:ext cx="5429250" cy="5803552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476250" y="98673"/>
            <a:ext cx="11715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Infraestrutura do Sistema de Referência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476250" y="641598"/>
            <a:ext cx="112395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2" name="Google Shape;14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5300" y="974973"/>
            <a:ext cx="5391150" cy="576545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6286500" y="2252662"/>
            <a:ext cx="570071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Topologia do Andar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6286500" y="2852737"/>
            <a:ext cx="54292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 discretização espacial utiliza uma malha celular onde cada unidade de área (célula) representa as restrições físicas do pavimento.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6524625" y="3652837"/>
            <a:ext cx="51911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Áreas Privativas:</a:t>
            </a:r>
            <a:r>
              <a:rPr b="0" i="0" lang="en-US" sz="12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Apartamentos com layout fixo que atuam como pontos de origem dos agentes.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6524625" y="4252912"/>
            <a:ext cx="51911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Conectores Horizontais:</a:t>
            </a:r>
            <a:r>
              <a:rPr b="0" i="0" lang="en-US" sz="12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Corredores que afunilam o fluxo em direção à rota principal.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6524625" y="4852987"/>
            <a:ext cx="51911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Gargalo Vertical:</a:t>
            </a:r>
            <a:r>
              <a:rPr b="0" i="0" lang="en-US" sz="12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 escadaria de emergência, única via de egressão ativa, dada a inativação obrigatória dos elevadores.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6286500" y="3652837"/>
            <a:ext cx="666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6286500" y="4252912"/>
            <a:ext cx="666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6286500" y="4852987"/>
            <a:ext cx="666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476250" y="476250"/>
            <a:ext cx="11715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Parâmetros do Sistema de Referência</a:t>
            </a: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476250" y="1019175"/>
            <a:ext cx="112395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476250" y="1333500"/>
            <a:ext cx="11239500" cy="3643312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9" name="Google Shape;159;p17"/>
          <p:cNvGraphicFramePr/>
          <p:nvPr/>
        </p:nvGraphicFramePr>
        <p:xfrm>
          <a:off x="476250" y="13335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{29908A0A-36E0-4A4A-950B-E117C09EF45B}</a:tableStyleId>
              </a:tblPr>
              <a:tblGrid>
                <a:gridCol w="3371850"/>
                <a:gridCol w="7867650"/>
              </a:tblGrid>
              <a:tr h="4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FFFFF"/>
                          </a:solidFill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Caracterização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FFFFF"/>
                          </a:solidFill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Propriedades e Restrições do Sistema (S)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</a:tr>
              <a:tr h="4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Fenômeno Observado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Processo dinâmico de egressão emergencial em estrutura vertical sob ignição ativa.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Escala Espacial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30 níveis residenciais (120m); pavimentos de 400m² subdivididos em grades de 20x20.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Morfologia Interna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Subdivisões residenciais, corredores de acesso e núcleo de circulação vertical (escadas).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Logística de Escape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Escadas de incêndio pressurizadas; suspensão total do uso de meios mecânicos de elevação.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Dinâmica Populacional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180 agentes estratificados por idade, estado de saúde e competência de locomoção (adultos, idosos, crianças, PcD).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Variáveis do Sinistro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Localização da ignição parametrizável; taxa de liberação de calor (HRR) baseada em materiais típicos.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Fatores Obstrutivos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Acúmulo de monóxido de carbono e fuligem; redução da visibilidade afetando a tomada de decisão.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Função Científica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Atuar como ground truth para calibração, verificação e validação cruzada do simulador.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60" name="Google Shape;160;p17"/>
          <p:cNvSpPr/>
          <p:nvPr/>
        </p:nvSpPr>
        <p:spPr>
          <a:xfrm>
            <a:off x="476250" y="2162175"/>
            <a:ext cx="33718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3848100" y="2162175"/>
            <a:ext cx="78676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476250" y="2562225"/>
            <a:ext cx="33718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3848100" y="2562225"/>
            <a:ext cx="78676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476250" y="2962275"/>
            <a:ext cx="33718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3848100" y="2962275"/>
            <a:ext cx="78676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476250" y="3362325"/>
            <a:ext cx="33718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3848100" y="3362325"/>
            <a:ext cx="78676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476250" y="3762375"/>
            <a:ext cx="33718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3848100" y="3762375"/>
            <a:ext cx="78676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476250" y="4162425"/>
            <a:ext cx="33718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3848100" y="4162425"/>
            <a:ext cx="78676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476250" y="4562475"/>
            <a:ext cx="33718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3848100" y="4562475"/>
            <a:ext cx="78676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476250" y="4962525"/>
            <a:ext cx="33718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3848100" y="4962525"/>
            <a:ext cx="78676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476250" y="476250"/>
            <a:ext cx="11715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2. Modelagem: Revisão Bibliográfica (1/2)</a:t>
            </a:r>
            <a:endParaRPr/>
          </a:p>
        </p:txBody>
      </p:sp>
      <p:sp>
        <p:nvSpPr>
          <p:cNvPr id="182" name="Google Shape;182;p18"/>
          <p:cNvSpPr/>
          <p:nvPr/>
        </p:nvSpPr>
        <p:spPr>
          <a:xfrm>
            <a:off x="476250" y="1019175"/>
            <a:ext cx="112395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476250" y="1333500"/>
            <a:ext cx="11239500" cy="357187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4" name="Google Shape;184;p18"/>
          <p:cNvGraphicFramePr/>
          <p:nvPr/>
        </p:nvGraphicFramePr>
        <p:xfrm>
          <a:off x="476250" y="13335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{29908A0A-36E0-4A4A-950B-E117C09EF45B}</a:tableStyleId>
              </a:tblPr>
              <a:tblGrid>
                <a:gridCol w="962025"/>
                <a:gridCol w="2155175"/>
                <a:gridCol w="2017950"/>
                <a:gridCol w="2087325"/>
                <a:gridCol w="2053375"/>
                <a:gridCol w="1963650"/>
              </a:tblGrid>
              <a:tr h="59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FFFFFF"/>
                          </a:solidFill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Parâmetros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FFFFFF"/>
                          </a:solidFill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Artigo 1: Gwynne et al. (2021)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FFFFFF"/>
                          </a:solidFill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Artigo 2: Korhonen &amp; Hostikka (2020)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FFFFFF"/>
                          </a:solidFill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Artigo 3: Lovreglio et al. (2022)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FFFFFF"/>
                          </a:solidFill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Artigo 4: Wang et al. (2023)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FFFFFF"/>
                          </a:solidFill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Artigo 5: Pelechano (2020)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</a:tr>
              <a:tr h="59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Problema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Incerteza comportamental em prédios altos.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Integração de incêndio e evacuação em FDS.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Validação de modelos via Realidade Virtual.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Otimização de rotas em estruturas complexas.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Dinâmica de multidões em geometrias densas.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Critérios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Atraso de pre-movimento e stress.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Acoplamento térmico e visibilidade.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Fidelidade psicológica e decisão.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Cálculo de caminhos mínimos via BIM.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Velocidade, densidade e fluxos.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9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Objeto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Edifícios de grande porte.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Simulações de CFD e evacuação.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Experimentos imersivos controlados.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Infraestruturas inteligentes.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Ambientes urbanos confinados.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Conceitos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Human Behavior in Fire (HBiF).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FDS+Evac e acoplamento físico.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Teoria da Decisão Estocástica.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Building Information Modeling (BIM).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Social Forces Model (SFM).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95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Hipóteses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Comportamento social dita o tempo de escape.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Condições de fumaça ditam a escolha da rota.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Ambientes virtuais predizem o real com precisão.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Dados em tempo real reduzem o pânico local.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Interação entre agentes causa gargalos físicos.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5" name="Google Shape;185;p18"/>
          <p:cNvSpPr/>
          <p:nvPr/>
        </p:nvSpPr>
        <p:spPr>
          <a:xfrm>
            <a:off x="476250" y="2490787"/>
            <a:ext cx="9620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1438275" y="2490787"/>
            <a:ext cx="21551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3593455" y="2490787"/>
            <a:ext cx="20179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5611415" y="2490787"/>
            <a:ext cx="20873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7698730" y="2490787"/>
            <a:ext cx="205338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9752111" y="2490787"/>
            <a:ext cx="196363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476250" y="3090862"/>
            <a:ext cx="9620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1438275" y="3090862"/>
            <a:ext cx="21551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3593455" y="3090862"/>
            <a:ext cx="20179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5611415" y="3090862"/>
            <a:ext cx="20873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7698730" y="3090862"/>
            <a:ext cx="205338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9752111" y="3090862"/>
            <a:ext cx="196363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476250" y="3690937"/>
            <a:ext cx="9620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1438275" y="3690937"/>
            <a:ext cx="21551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3593455" y="3690937"/>
            <a:ext cx="20179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5611415" y="3690937"/>
            <a:ext cx="20873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7698730" y="3690937"/>
            <a:ext cx="205338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9752111" y="3690937"/>
            <a:ext cx="196363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476250" y="4291012"/>
            <a:ext cx="9620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1438275" y="4291012"/>
            <a:ext cx="21551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3593455" y="4291012"/>
            <a:ext cx="20179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5611415" y="4291012"/>
            <a:ext cx="20873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7698730" y="4291012"/>
            <a:ext cx="205338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9752111" y="4291012"/>
            <a:ext cx="196363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476250" y="4891087"/>
            <a:ext cx="9620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8"/>
          <p:cNvSpPr/>
          <p:nvPr/>
        </p:nvSpPr>
        <p:spPr>
          <a:xfrm>
            <a:off x="1438275" y="4891087"/>
            <a:ext cx="21551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8"/>
          <p:cNvSpPr/>
          <p:nvPr/>
        </p:nvSpPr>
        <p:spPr>
          <a:xfrm>
            <a:off x="3593455" y="4891087"/>
            <a:ext cx="20179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8"/>
          <p:cNvSpPr/>
          <p:nvPr/>
        </p:nvSpPr>
        <p:spPr>
          <a:xfrm>
            <a:off x="5611415" y="4891087"/>
            <a:ext cx="20873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7698730" y="4891087"/>
            <a:ext cx="205338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8"/>
          <p:cNvSpPr/>
          <p:nvPr/>
        </p:nvSpPr>
        <p:spPr>
          <a:xfrm>
            <a:off x="9752111" y="4891087"/>
            <a:ext cx="196363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9" name="Google Shape;21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9"/>
          <p:cNvSpPr txBox="1"/>
          <p:nvPr/>
        </p:nvSpPr>
        <p:spPr>
          <a:xfrm>
            <a:off x="476250" y="476250"/>
            <a:ext cx="11715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2. Modelagem: Revisão Bibliográfica (2/2)</a:t>
            </a:r>
            <a:endParaRPr/>
          </a:p>
        </p:txBody>
      </p:sp>
      <p:sp>
        <p:nvSpPr>
          <p:cNvPr id="221" name="Google Shape;221;p19"/>
          <p:cNvSpPr/>
          <p:nvPr/>
        </p:nvSpPr>
        <p:spPr>
          <a:xfrm>
            <a:off x="476250" y="1019175"/>
            <a:ext cx="112395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9"/>
          <p:cNvSpPr/>
          <p:nvPr/>
        </p:nvSpPr>
        <p:spPr>
          <a:xfrm>
            <a:off x="476250" y="1333500"/>
            <a:ext cx="11239500" cy="340042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3" name="Google Shape;223;p19"/>
          <p:cNvGraphicFramePr/>
          <p:nvPr/>
        </p:nvGraphicFramePr>
        <p:xfrm>
          <a:off x="476250" y="13335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{29908A0A-36E0-4A4A-950B-E117C09EF45B}</a:tableStyleId>
              </a:tblPr>
              <a:tblGrid>
                <a:gridCol w="962025"/>
                <a:gridCol w="2029125"/>
                <a:gridCol w="1967350"/>
                <a:gridCol w="2287500"/>
                <a:gridCol w="1982700"/>
                <a:gridCol w="2010825"/>
              </a:tblGrid>
              <a:tr h="56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FFFFFF"/>
                          </a:solidFill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Parâmetros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FFFFFF"/>
                          </a:solidFill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Artigo 6: Zheng (2021)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FFFFFF"/>
                          </a:solidFill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Artigo 7: Chen et al. (2023)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FFFFFF"/>
                          </a:solidFill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Artigo 8: Al Sadoon (2025)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FFFFFF"/>
                          </a:solidFill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Artigo 9: Starbuck (2024)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FFFFFF"/>
                          </a:solidFill>
                          <a:latin typeface="DM Sans Medium"/>
                          <a:ea typeface="DM Sans Medium"/>
                          <a:cs typeface="DM Sans Medium"/>
                          <a:sym typeface="DM Sans Medium"/>
                        </a:rPr>
                        <a:t>Artigo 10: Hui (2024)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</a:tr>
              <a:tr h="56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Problema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Dinâmica de Autômatos Celulares em escadas.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Modelagem interdisciplinar de resiliência.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BIM dinâmico para treino e planejamento.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Gestão de resposta em desastres massivos.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Algoritmos de propagação acoplados a CA.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Critérios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Fricção de fluxo e largura de degraus.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Interação social e ambiente construído.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Modelos interativos de treinamento.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Coordenação de recursos e salvamento.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Eficiência temporal e acurácia espacial.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6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Objeto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Egressão vertical em escadarias.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Sistemas socio-tecnológicos complexos.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Gêmeos Digitais (Digital Twins).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Cenários de catástrofe urbana.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Simulações de propagação de incêndio.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Conceitos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Cellular Automata (CA) discretizado.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Agent-Based Evacuation (ABM).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Modelagem dinâmica 4D de incêndio.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Sistemas de Suporte à Decisão (DSS).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Coupled Fire-Simulation Algorithms.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6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Hipóteses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Regras locais explicam padrões globais.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Resiliência depende da preparação social.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Simulações dinâmicas melhoram o tempo de resposta.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Coordenação centralizada salva mais vidas.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 acoplamento aumenta a precisão preditiva.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4" name="Google Shape;224;p19"/>
          <p:cNvSpPr/>
          <p:nvPr/>
        </p:nvSpPr>
        <p:spPr>
          <a:xfrm>
            <a:off x="476250" y="2319337"/>
            <a:ext cx="9620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9"/>
          <p:cNvSpPr/>
          <p:nvPr/>
        </p:nvSpPr>
        <p:spPr>
          <a:xfrm>
            <a:off x="1438275" y="2319337"/>
            <a:ext cx="20291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9"/>
          <p:cNvSpPr/>
          <p:nvPr/>
        </p:nvSpPr>
        <p:spPr>
          <a:xfrm>
            <a:off x="3467397" y="2319337"/>
            <a:ext cx="19673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9"/>
          <p:cNvSpPr/>
          <p:nvPr/>
        </p:nvSpPr>
        <p:spPr>
          <a:xfrm>
            <a:off x="5434756" y="2319337"/>
            <a:ext cx="22874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9"/>
          <p:cNvSpPr/>
          <p:nvPr/>
        </p:nvSpPr>
        <p:spPr>
          <a:xfrm>
            <a:off x="7722244" y="2319337"/>
            <a:ext cx="19826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9"/>
          <p:cNvSpPr/>
          <p:nvPr/>
        </p:nvSpPr>
        <p:spPr>
          <a:xfrm>
            <a:off x="9704933" y="2319337"/>
            <a:ext cx="20108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9"/>
          <p:cNvSpPr/>
          <p:nvPr/>
        </p:nvSpPr>
        <p:spPr>
          <a:xfrm>
            <a:off x="476250" y="2919412"/>
            <a:ext cx="9620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9"/>
          <p:cNvSpPr/>
          <p:nvPr/>
        </p:nvSpPr>
        <p:spPr>
          <a:xfrm>
            <a:off x="1438275" y="2919412"/>
            <a:ext cx="20291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3467397" y="2919412"/>
            <a:ext cx="19673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9"/>
          <p:cNvSpPr/>
          <p:nvPr/>
        </p:nvSpPr>
        <p:spPr>
          <a:xfrm>
            <a:off x="5434756" y="2919412"/>
            <a:ext cx="22874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9"/>
          <p:cNvSpPr/>
          <p:nvPr/>
        </p:nvSpPr>
        <p:spPr>
          <a:xfrm>
            <a:off x="7722244" y="2919412"/>
            <a:ext cx="19826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9"/>
          <p:cNvSpPr/>
          <p:nvPr/>
        </p:nvSpPr>
        <p:spPr>
          <a:xfrm>
            <a:off x="9704933" y="2919412"/>
            <a:ext cx="20108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9"/>
          <p:cNvSpPr/>
          <p:nvPr/>
        </p:nvSpPr>
        <p:spPr>
          <a:xfrm>
            <a:off x="476250" y="3519487"/>
            <a:ext cx="9620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9"/>
          <p:cNvSpPr/>
          <p:nvPr/>
        </p:nvSpPr>
        <p:spPr>
          <a:xfrm>
            <a:off x="1438275" y="3519487"/>
            <a:ext cx="20291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9"/>
          <p:cNvSpPr/>
          <p:nvPr/>
        </p:nvSpPr>
        <p:spPr>
          <a:xfrm>
            <a:off x="3467397" y="3519487"/>
            <a:ext cx="19673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9"/>
          <p:cNvSpPr/>
          <p:nvPr/>
        </p:nvSpPr>
        <p:spPr>
          <a:xfrm>
            <a:off x="5434756" y="3519487"/>
            <a:ext cx="22874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9"/>
          <p:cNvSpPr/>
          <p:nvPr/>
        </p:nvSpPr>
        <p:spPr>
          <a:xfrm>
            <a:off x="7722244" y="3519487"/>
            <a:ext cx="19826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9"/>
          <p:cNvSpPr/>
          <p:nvPr/>
        </p:nvSpPr>
        <p:spPr>
          <a:xfrm>
            <a:off x="9704933" y="3519487"/>
            <a:ext cx="20108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9"/>
          <p:cNvSpPr/>
          <p:nvPr/>
        </p:nvSpPr>
        <p:spPr>
          <a:xfrm>
            <a:off x="476250" y="4119562"/>
            <a:ext cx="9620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1438275" y="4119562"/>
            <a:ext cx="20291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9"/>
          <p:cNvSpPr/>
          <p:nvPr/>
        </p:nvSpPr>
        <p:spPr>
          <a:xfrm>
            <a:off x="3467397" y="4119562"/>
            <a:ext cx="19673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5434756" y="4119562"/>
            <a:ext cx="22874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9"/>
          <p:cNvSpPr/>
          <p:nvPr/>
        </p:nvSpPr>
        <p:spPr>
          <a:xfrm>
            <a:off x="7722244" y="4119562"/>
            <a:ext cx="19826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9"/>
          <p:cNvSpPr/>
          <p:nvPr/>
        </p:nvSpPr>
        <p:spPr>
          <a:xfrm>
            <a:off x="9704933" y="4119562"/>
            <a:ext cx="20108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476250" y="4719637"/>
            <a:ext cx="9620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9"/>
          <p:cNvSpPr/>
          <p:nvPr/>
        </p:nvSpPr>
        <p:spPr>
          <a:xfrm>
            <a:off x="1438275" y="4719637"/>
            <a:ext cx="20291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3467397" y="4719637"/>
            <a:ext cx="19673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9"/>
          <p:cNvSpPr/>
          <p:nvPr/>
        </p:nvSpPr>
        <p:spPr>
          <a:xfrm>
            <a:off x="5434756" y="4719637"/>
            <a:ext cx="22874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9"/>
          <p:cNvSpPr/>
          <p:nvPr/>
        </p:nvSpPr>
        <p:spPr>
          <a:xfrm>
            <a:off x="7722244" y="4719637"/>
            <a:ext cx="19826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9"/>
          <p:cNvSpPr/>
          <p:nvPr/>
        </p:nvSpPr>
        <p:spPr>
          <a:xfrm>
            <a:off x="9704933" y="4719637"/>
            <a:ext cx="20108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8" name="Google Shape;25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0"/>
          <p:cNvSpPr txBox="1"/>
          <p:nvPr/>
        </p:nvSpPr>
        <p:spPr>
          <a:xfrm>
            <a:off x="476250" y="476250"/>
            <a:ext cx="11715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3. Formalismo</a:t>
            </a:r>
            <a:endParaRPr/>
          </a:p>
        </p:txBody>
      </p:sp>
      <p:sp>
        <p:nvSpPr>
          <p:cNvPr id="260" name="Google Shape;260;p20"/>
          <p:cNvSpPr/>
          <p:nvPr/>
        </p:nvSpPr>
        <p:spPr>
          <a:xfrm>
            <a:off x="476250" y="1019175"/>
            <a:ext cx="112395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0"/>
          <p:cNvSpPr txBox="1"/>
          <p:nvPr/>
        </p:nvSpPr>
        <p:spPr>
          <a:xfrm>
            <a:off x="4471987" y="3736181"/>
            <a:ext cx="3248025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[Espaço Reservado para Desenvolvimento]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6" name="Google Shape;26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1"/>
          <p:cNvSpPr txBox="1"/>
          <p:nvPr/>
        </p:nvSpPr>
        <p:spPr>
          <a:xfrm>
            <a:off x="476250" y="476250"/>
            <a:ext cx="11715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4. Computador</a:t>
            </a:r>
            <a:endParaRPr/>
          </a:p>
        </p:txBody>
      </p:sp>
      <p:sp>
        <p:nvSpPr>
          <p:cNvPr id="268" name="Google Shape;268;p21"/>
          <p:cNvSpPr/>
          <p:nvPr/>
        </p:nvSpPr>
        <p:spPr>
          <a:xfrm>
            <a:off x="476250" y="1019175"/>
            <a:ext cx="112395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1"/>
          <p:cNvSpPr txBox="1"/>
          <p:nvPr/>
        </p:nvSpPr>
        <p:spPr>
          <a:xfrm>
            <a:off x="4471987" y="3736181"/>
            <a:ext cx="3248025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[Espaço Reservado para Desenvolvimento]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4" name="Google Shape;27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2"/>
          <p:cNvSpPr txBox="1"/>
          <p:nvPr/>
        </p:nvSpPr>
        <p:spPr>
          <a:xfrm>
            <a:off x="476250" y="476250"/>
            <a:ext cx="11715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5. Execução</a:t>
            </a:r>
            <a:endParaRPr/>
          </a:p>
        </p:txBody>
      </p:sp>
      <p:sp>
        <p:nvSpPr>
          <p:cNvPr id="276" name="Google Shape;276;p22"/>
          <p:cNvSpPr/>
          <p:nvPr/>
        </p:nvSpPr>
        <p:spPr>
          <a:xfrm>
            <a:off x="476250" y="1019175"/>
            <a:ext cx="112395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2"/>
          <p:cNvSpPr txBox="1"/>
          <p:nvPr/>
        </p:nvSpPr>
        <p:spPr>
          <a:xfrm>
            <a:off x="4471987" y="3736181"/>
            <a:ext cx="3248025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[Espaço Reservado para Desenvolvimento]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2" name="Google Shape;28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3"/>
          <p:cNvSpPr txBox="1"/>
          <p:nvPr/>
        </p:nvSpPr>
        <p:spPr>
          <a:xfrm>
            <a:off x="476250" y="476250"/>
            <a:ext cx="11715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6. Observação</a:t>
            </a:r>
            <a:endParaRPr/>
          </a:p>
        </p:txBody>
      </p:sp>
      <p:sp>
        <p:nvSpPr>
          <p:cNvPr id="284" name="Google Shape;284;p23"/>
          <p:cNvSpPr/>
          <p:nvPr/>
        </p:nvSpPr>
        <p:spPr>
          <a:xfrm>
            <a:off x="476250" y="1019175"/>
            <a:ext cx="112395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3"/>
          <p:cNvSpPr txBox="1"/>
          <p:nvPr/>
        </p:nvSpPr>
        <p:spPr>
          <a:xfrm>
            <a:off x="4471987" y="3736181"/>
            <a:ext cx="3248025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[Espaço Reservado para Desenvolvimento]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0" name="Google Shape;29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4"/>
          <p:cNvSpPr txBox="1"/>
          <p:nvPr/>
        </p:nvSpPr>
        <p:spPr>
          <a:xfrm>
            <a:off x="476250" y="476250"/>
            <a:ext cx="11715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Fontes</a:t>
            </a:r>
            <a:endParaRPr/>
          </a:p>
        </p:txBody>
      </p:sp>
      <p:sp>
        <p:nvSpPr>
          <p:cNvPr id="292" name="Google Shape;292;p24"/>
          <p:cNvSpPr/>
          <p:nvPr/>
        </p:nvSpPr>
        <p:spPr>
          <a:xfrm>
            <a:off x="476250" y="1019175"/>
            <a:ext cx="112395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4"/>
          <p:cNvSpPr/>
          <p:nvPr/>
        </p:nvSpPr>
        <p:spPr>
          <a:xfrm>
            <a:off x="476250" y="1333500"/>
            <a:ext cx="112395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4"/>
          <p:cNvSpPr/>
          <p:nvPr/>
        </p:nvSpPr>
        <p:spPr>
          <a:xfrm>
            <a:off x="476250" y="2266950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4"/>
          <p:cNvSpPr/>
          <p:nvPr/>
        </p:nvSpPr>
        <p:spPr>
          <a:xfrm>
            <a:off x="476250" y="2266950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6" name="Google Shape;29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15621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4"/>
          <p:cNvSpPr txBox="1"/>
          <p:nvPr/>
        </p:nvSpPr>
        <p:spPr>
          <a:xfrm>
            <a:off x="1571625" y="1476375"/>
            <a:ext cx="101441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https://media.istockphoto.com/id/2233432395/photo/modern-apartment-buildings-reaching-for-the-sky-in-ipswich-suffolk-england.jpg?s=612x612&amp;w=0&amp;k=20&amp;c=PxnyT2t6pLrD1BssR2mS8kt9XULH-3QEKCa_M___G6o=</a:t>
            </a:r>
            <a:endParaRPr/>
          </a:p>
        </p:txBody>
      </p:sp>
      <p:sp>
        <p:nvSpPr>
          <p:cNvPr id="298" name="Google Shape;298;p24"/>
          <p:cNvSpPr txBox="1"/>
          <p:nvPr/>
        </p:nvSpPr>
        <p:spPr>
          <a:xfrm>
            <a:off x="1571625" y="1895475"/>
            <a:ext cx="101441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www.istockphoto.com</a:t>
            </a:r>
            <a:endParaRPr/>
          </a:p>
        </p:txBody>
      </p:sp>
      <p:sp>
        <p:nvSpPr>
          <p:cNvPr id="299" name="Google Shape;299;p24"/>
          <p:cNvSpPr txBox="1"/>
          <p:nvPr/>
        </p:nvSpPr>
        <p:spPr>
          <a:xfrm>
            <a:off x="1571625" y="2426493"/>
            <a:ext cx="101441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https://www.achsng.com/sites/floorplans/Wilmerding-TypicalFloorPlan.jpg</a:t>
            </a:r>
            <a:endParaRPr/>
          </a:p>
        </p:txBody>
      </p:sp>
      <p:sp>
        <p:nvSpPr>
          <p:cNvPr id="300" name="Google Shape;300;p24"/>
          <p:cNvSpPr txBox="1"/>
          <p:nvPr/>
        </p:nvSpPr>
        <p:spPr>
          <a:xfrm>
            <a:off x="1571625" y="2659856"/>
            <a:ext cx="101441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www.achsng.com</a:t>
            </a:r>
            <a:endParaRPr/>
          </a:p>
        </p:txBody>
      </p:sp>
      <p:pic>
        <p:nvPicPr>
          <p:cNvPr descr="image.png" id="301" name="Google Shape;301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2426500"/>
            <a:ext cx="85725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6" name="Google Shape;30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5"/>
          <p:cNvSpPr txBox="1"/>
          <p:nvPr/>
        </p:nvSpPr>
        <p:spPr>
          <a:xfrm>
            <a:off x="571500" y="395287"/>
            <a:ext cx="11601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Referências Bibliográficas</a:t>
            </a:r>
            <a:endParaRPr/>
          </a:p>
        </p:txBody>
      </p:sp>
      <p:sp>
        <p:nvSpPr>
          <p:cNvPr id="308" name="Google Shape;308;p25"/>
          <p:cNvSpPr/>
          <p:nvPr/>
        </p:nvSpPr>
        <p:spPr>
          <a:xfrm>
            <a:off x="571500" y="938212"/>
            <a:ext cx="11049000" cy="192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5"/>
          <p:cNvSpPr txBox="1"/>
          <p:nvPr/>
        </p:nvSpPr>
        <p:spPr>
          <a:xfrm>
            <a:off x="904875" y="1081087"/>
            <a:ext cx="49530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Gwynne, S. M. V., et al. (2021). </a:t>
            </a:r>
            <a:r>
              <a:rPr b="0" i="1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Guidance on Representing Human Behavior in Egress Models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 SFPE Handbook.</a:t>
            </a:r>
            <a:endParaRPr/>
          </a:p>
        </p:txBody>
      </p:sp>
      <p:sp>
        <p:nvSpPr>
          <p:cNvPr id="310" name="Google Shape;310;p25"/>
          <p:cNvSpPr txBox="1"/>
          <p:nvPr/>
        </p:nvSpPr>
        <p:spPr>
          <a:xfrm>
            <a:off x="904875" y="1738312"/>
            <a:ext cx="49530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Korhonen, T., &amp; Hostikka, S. (2020). </a:t>
            </a:r>
            <a:r>
              <a:rPr b="0" i="1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FDS+Evac: Technical Reference and User’s Guide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 VTT Technical Research Centre.</a:t>
            </a:r>
            <a:endParaRPr/>
          </a:p>
        </p:txBody>
      </p:sp>
      <p:sp>
        <p:nvSpPr>
          <p:cNvPr id="311" name="Google Shape;311;p25"/>
          <p:cNvSpPr txBox="1"/>
          <p:nvPr/>
        </p:nvSpPr>
        <p:spPr>
          <a:xfrm>
            <a:off x="904875" y="2395537"/>
            <a:ext cx="49530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Lovreglio, R., et al. (2022). </a:t>
            </a:r>
            <a:r>
              <a:rPr b="0" i="1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Investigating exit choices in fire evacuation using VR experiments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 Fire Safety Journal.</a:t>
            </a:r>
            <a:endParaRPr/>
          </a:p>
        </p:txBody>
      </p:sp>
      <p:sp>
        <p:nvSpPr>
          <p:cNvPr id="312" name="Google Shape;312;p25"/>
          <p:cNvSpPr txBox="1"/>
          <p:nvPr/>
        </p:nvSpPr>
        <p:spPr>
          <a:xfrm>
            <a:off x="904875" y="3052762"/>
            <a:ext cx="49530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Wang, H., et al. (2023). </a:t>
            </a:r>
            <a:r>
              <a:rPr b="0" i="1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 dynamic fire escape path planning method with BIM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 Automation in Construction.</a:t>
            </a:r>
            <a:endParaRPr/>
          </a:p>
        </p:txBody>
      </p:sp>
      <p:sp>
        <p:nvSpPr>
          <p:cNvPr id="313" name="Google Shape;313;p25"/>
          <p:cNvSpPr txBox="1"/>
          <p:nvPr/>
        </p:nvSpPr>
        <p:spPr>
          <a:xfrm>
            <a:off x="904875" y="3709987"/>
            <a:ext cx="49530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Pelechano, N., et al. (2020). </a:t>
            </a:r>
            <a:r>
              <a:rPr b="0" i="1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Pedestrian Crowd Evacuation Under Panic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 ACM TOMACS.</a:t>
            </a:r>
            <a:endParaRPr/>
          </a:p>
        </p:txBody>
      </p:sp>
      <p:sp>
        <p:nvSpPr>
          <p:cNvPr id="314" name="Google Shape;314;p25"/>
          <p:cNvSpPr txBox="1"/>
          <p:nvPr/>
        </p:nvSpPr>
        <p:spPr>
          <a:xfrm>
            <a:off x="6667500" y="1081087"/>
            <a:ext cx="49530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Zheng, X., et al. (2021). </a:t>
            </a:r>
            <a:r>
              <a:rPr b="0" i="1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Simulation of pedestrian evacuation in staircases based on CA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 Physica A.</a:t>
            </a:r>
            <a:endParaRPr/>
          </a:p>
        </p:txBody>
      </p:sp>
      <p:sp>
        <p:nvSpPr>
          <p:cNvPr id="315" name="Google Shape;315;p25"/>
          <p:cNvSpPr txBox="1"/>
          <p:nvPr/>
        </p:nvSpPr>
        <p:spPr>
          <a:xfrm>
            <a:off x="6667500" y="1738312"/>
            <a:ext cx="49530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Chen, J., et al. (2023). </a:t>
            </a:r>
            <a:r>
              <a:rPr b="0" i="1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An Integrated Method for Fire Risk Assessment in Residential Buildings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 RESS.</a:t>
            </a:r>
            <a:endParaRPr/>
          </a:p>
        </p:txBody>
      </p:sp>
      <p:sp>
        <p:nvSpPr>
          <p:cNvPr id="316" name="Google Shape;316;p25"/>
          <p:cNvSpPr txBox="1"/>
          <p:nvPr/>
        </p:nvSpPr>
        <p:spPr>
          <a:xfrm>
            <a:off x="6667500" y="2395537"/>
            <a:ext cx="49530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Al Sadoon, A., et al. (2025). </a:t>
            </a:r>
            <a:r>
              <a:rPr b="0" i="1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Digital Twin Integration for Real-Time Fire Safety Management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 IJDRR.</a:t>
            </a:r>
            <a:endParaRPr/>
          </a:p>
        </p:txBody>
      </p:sp>
      <p:sp>
        <p:nvSpPr>
          <p:cNvPr id="317" name="Google Shape;317;p25"/>
          <p:cNvSpPr txBox="1"/>
          <p:nvPr/>
        </p:nvSpPr>
        <p:spPr>
          <a:xfrm>
            <a:off x="6667500" y="3052762"/>
            <a:ext cx="49530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Starbuck, L., et al. (2024). </a:t>
            </a:r>
            <a:r>
              <a:rPr b="0" i="1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Simulating Mass Evacuation in High-Density Clusters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 J. of Building Engineering.</a:t>
            </a:r>
            <a:endParaRPr/>
          </a:p>
        </p:txBody>
      </p:sp>
      <p:sp>
        <p:nvSpPr>
          <p:cNvPr id="318" name="Google Shape;318;p25"/>
          <p:cNvSpPr txBox="1"/>
          <p:nvPr/>
        </p:nvSpPr>
        <p:spPr>
          <a:xfrm>
            <a:off x="6667500" y="3709987"/>
            <a:ext cx="49530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Hui, Y., et al. (2024). </a:t>
            </a:r>
            <a:r>
              <a:rPr b="0" i="1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Coupled Fire-Simulation Algorithms for Dynamic Optimization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 Safety Science.</a:t>
            </a:r>
            <a:endParaRPr/>
          </a:p>
        </p:txBody>
      </p:sp>
      <p:pic>
        <p:nvPicPr>
          <p:cNvPr descr="image.png" id="319" name="Google Shape;31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12395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0" name="Google Shape;32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8117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1" name="Google Shape;32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3840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2" name="Google Shape;32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956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3" name="Google Shape;32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75285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4" name="Google Shape;32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12395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5" name="Google Shape;32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8117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6" name="Google Shape;32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43840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7" name="Google Shape;32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30956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8" name="Google Shape;32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3752850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