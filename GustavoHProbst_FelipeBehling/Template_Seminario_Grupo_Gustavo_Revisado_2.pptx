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9" r:id="rId20"/>
    <p:sldId id="280" r:id="rId21"/>
    <p:sldId id="273" r:id="rId22"/>
    <p:sldId id="274" r:id="rId23"/>
    <p:sldId id="275" r:id="rId24"/>
    <p:sldId id="276" r:id="rId25"/>
    <p:sldId id="277" r:id="rId26"/>
  </p:sldIdLst>
  <p:sldSz cx="12192000" cy="6858000"/>
  <p:notesSz cx="7559675" cy="10691813"/>
  <p:embeddedFontLst>
    <p:embeddedFont>
      <p:font typeface="DM Sans" pitchFamily="2" charset="0"/>
      <p:regular r:id="rId28"/>
      <p:bold r:id="rId29"/>
      <p:italic r:id="rId30"/>
      <p:boldItalic r:id="rId29"/>
    </p:embeddedFont>
    <p:embeddedFont>
      <p:font typeface="DM Sans Medium" pitchFamily="2" charset="0"/>
      <p:regular r:id="rId31"/>
      <p:italic r:id="rId32"/>
    </p:embeddedFont>
    <p:embeddedFont>
      <p:font typeface="Merriweather" panose="00000500000000000000" pitchFamily="2" charset="0"/>
      <p:regular r:id="rId33"/>
      <p:bold r:id="rId34"/>
      <p:italic r:id="rId3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570E5A7-0C5C-4F4C-A419-1D02FA5823FF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F92179FC-A51A-46B3-82E6-A56DC58B2D82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37503A-DAB2-453C-8782-5D82FF0B004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DB0480-2355-4B5B-AC8E-F5E48AE2042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406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380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3556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FC84FD7-F500-4149-A475-F437E690C0C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1687C7B-81A7-44FD-AEE2-A7C8F9DC5EE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A796E4-BCFB-49B2-94D5-0D218D9BFED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 rot="5400000">
            <a:off x="2309760" y="-251640"/>
            <a:ext cx="4525200" cy="822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5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D9A6F5E-ED2F-4A20-A22F-1903B4A185B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 rot="5400000">
            <a:off x="4732920" y="2171520"/>
            <a:ext cx="5850720" cy="205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 rot="5400000">
            <a:off x="542160" y="189720"/>
            <a:ext cx="5850720" cy="601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EAE367-05DF-4ED7-B846-2E748295671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397B22-83EA-4849-B616-838D6693ADE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253723-BC1B-4D24-9F8C-5D38E3E7C31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B0C81D-FE07-4398-8437-30625E4A9BB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26185D8-8BAA-4095-89F1-84E2842B9E9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84;p13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85;p13"/>
          <p:cNvSpPr/>
          <p:nvPr/>
        </p:nvSpPr>
        <p:spPr>
          <a:xfrm>
            <a:off x="1995480" y="1603800"/>
            <a:ext cx="8200440" cy="13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40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Simulação de Evacuação de</a:t>
            </a:r>
            <a:br>
              <a:rPr sz="1800"/>
            </a:br>
            <a:r>
              <a:rPr lang="en-US" sz="40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 Edifícios em Chamas</a:t>
            </a:r>
            <a:endParaRPr lang="pt-BR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86;p13"/>
          <p:cNvSpPr/>
          <p:nvPr/>
        </p:nvSpPr>
        <p:spPr>
          <a:xfrm>
            <a:off x="2190600" y="3389760"/>
            <a:ext cx="780984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MÓDULO V - SEMINÁRIO DE APRESENTAÇÃO DOS RESULTADOS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87;p13"/>
          <p:cNvSpPr/>
          <p:nvPr/>
        </p:nvSpPr>
        <p:spPr>
          <a:xfrm>
            <a:off x="2190600" y="4028040"/>
            <a:ext cx="7809840" cy="19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Autores: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Gustavo Henrique Probst e Felipe Behling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88;p13"/>
          <p:cNvSpPr/>
          <p:nvPr/>
        </p:nvSpPr>
        <p:spPr>
          <a:xfrm>
            <a:off x="2190600" y="4432680"/>
            <a:ext cx="7809840" cy="19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Maio de 2026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93;p14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oogle Shape;94;p14"/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Estrutura da Apresentação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95;p14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Google Shape;96;p14"/>
          <p:cNvSpPr/>
          <p:nvPr/>
        </p:nvSpPr>
        <p:spPr>
          <a:xfrm>
            <a:off x="476280" y="1333440"/>
            <a:ext cx="11238840" cy="2842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8" name="Google Shape;97;p14"/>
          <p:cNvGraphicFramePr/>
          <p:nvPr/>
        </p:nvGraphicFramePr>
        <p:xfrm>
          <a:off x="476280" y="1333440"/>
          <a:ext cx="11238840" cy="2842560"/>
        </p:xfrm>
        <a:graphic>
          <a:graphicData uri="http://schemas.openxmlformats.org/drawingml/2006/table">
            <a:tbl>
              <a:tblPr/>
              <a:tblGrid>
                <a:gridCol w="112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Etapa</a:t>
                      </a:r>
                      <a:endParaRPr lang="pt-BR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Nome</a:t>
                      </a:r>
                      <a:endParaRPr lang="pt-BR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Descrição</a:t>
                      </a:r>
                      <a:endParaRPr lang="pt-BR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Sistema de Referência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Caracterização do cenário real a ser transposto para o modelo (edificação, população e fenômeno).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2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Modelagem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Abstração do sistema através de regras de comportamento, agentes inteligentes e topologia do ambiente.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3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Formalismo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Sistematização lógica e matemática para tradução do modelo em uma linguagem rigorosa.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4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Computador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Desenvolvimento e arquitetura do código-fonte responsável pela execução da simulação.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5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Execução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Testagem de hipóteses em diferentes configurações e cenários de propagação de incêndio.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6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Observação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Monitoramento de métricas, extração de dados brutos e validação estatística dos resultados.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98;p14"/>
          <p:cNvSpPr/>
          <p:nvPr/>
        </p:nvSpPr>
        <p:spPr>
          <a:xfrm>
            <a:off x="476280" y="2162160"/>
            <a:ext cx="1123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Google Shape;99;p14"/>
          <p:cNvSpPr/>
          <p:nvPr/>
        </p:nvSpPr>
        <p:spPr>
          <a:xfrm>
            <a:off x="1600200" y="2162160"/>
            <a:ext cx="2809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Google Shape;100;p14"/>
          <p:cNvSpPr/>
          <p:nvPr/>
        </p:nvSpPr>
        <p:spPr>
          <a:xfrm>
            <a:off x="4410000" y="2162160"/>
            <a:ext cx="73051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Google Shape;101;p14"/>
          <p:cNvSpPr/>
          <p:nvPr/>
        </p:nvSpPr>
        <p:spPr>
          <a:xfrm>
            <a:off x="476280" y="2562120"/>
            <a:ext cx="1123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Google Shape;102;p14"/>
          <p:cNvSpPr/>
          <p:nvPr/>
        </p:nvSpPr>
        <p:spPr>
          <a:xfrm>
            <a:off x="1600200" y="2562120"/>
            <a:ext cx="2809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Google Shape;103;p14"/>
          <p:cNvSpPr/>
          <p:nvPr/>
        </p:nvSpPr>
        <p:spPr>
          <a:xfrm>
            <a:off x="4410000" y="2562120"/>
            <a:ext cx="73051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Google Shape;104;p14"/>
          <p:cNvSpPr/>
          <p:nvPr/>
        </p:nvSpPr>
        <p:spPr>
          <a:xfrm>
            <a:off x="476280" y="2962440"/>
            <a:ext cx="1123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Google Shape;105;p14"/>
          <p:cNvSpPr/>
          <p:nvPr/>
        </p:nvSpPr>
        <p:spPr>
          <a:xfrm>
            <a:off x="1600200" y="2962440"/>
            <a:ext cx="2809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Google Shape;106;p14"/>
          <p:cNvSpPr/>
          <p:nvPr/>
        </p:nvSpPr>
        <p:spPr>
          <a:xfrm>
            <a:off x="4410000" y="2962440"/>
            <a:ext cx="73051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Google Shape;107;p14"/>
          <p:cNvSpPr/>
          <p:nvPr/>
        </p:nvSpPr>
        <p:spPr>
          <a:xfrm>
            <a:off x="476280" y="3362400"/>
            <a:ext cx="1123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Google Shape;108;p14"/>
          <p:cNvSpPr/>
          <p:nvPr/>
        </p:nvSpPr>
        <p:spPr>
          <a:xfrm>
            <a:off x="1600200" y="3362400"/>
            <a:ext cx="2809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Google Shape;109;p14"/>
          <p:cNvSpPr/>
          <p:nvPr/>
        </p:nvSpPr>
        <p:spPr>
          <a:xfrm>
            <a:off x="4410000" y="3362400"/>
            <a:ext cx="73051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Google Shape;110;p14"/>
          <p:cNvSpPr/>
          <p:nvPr/>
        </p:nvSpPr>
        <p:spPr>
          <a:xfrm>
            <a:off x="476280" y="3762360"/>
            <a:ext cx="1123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Google Shape;111;p14"/>
          <p:cNvSpPr/>
          <p:nvPr/>
        </p:nvSpPr>
        <p:spPr>
          <a:xfrm>
            <a:off x="1600200" y="3762360"/>
            <a:ext cx="2809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Google Shape;112;p14"/>
          <p:cNvSpPr/>
          <p:nvPr/>
        </p:nvSpPr>
        <p:spPr>
          <a:xfrm>
            <a:off x="4410000" y="3762360"/>
            <a:ext cx="73051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Google Shape;113;p14"/>
          <p:cNvSpPr/>
          <p:nvPr/>
        </p:nvSpPr>
        <p:spPr>
          <a:xfrm>
            <a:off x="476280" y="4162320"/>
            <a:ext cx="1123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Google Shape;114;p14"/>
          <p:cNvSpPr/>
          <p:nvPr/>
        </p:nvSpPr>
        <p:spPr>
          <a:xfrm>
            <a:off x="1600200" y="4162320"/>
            <a:ext cx="2809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Google Shape;115;p14"/>
          <p:cNvSpPr/>
          <p:nvPr/>
        </p:nvSpPr>
        <p:spPr>
          <a:xfrm>
            <a:off x="4410000" y="4162320"/>
            <a:ext cx="73051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120;p15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Google Shape;121;p15" descr="image.png"/>
          <p:cNvPicPr/>
          <p:nvPr/>
        </p:nvPicPr>
        <p:blipFill>
          <a:blip r:embed="rId3"/>
          <a:stretch/>
        </p:blipFill>
        <p:spPr>
          <a:xfrm>
            <a:off x="6286680" y="1333440"/>
            <a:ext cx="5428440" cy="333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Google Shape;122;p15"/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1. Sistema de Referência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3;p15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Google Shape;124;p15"/>
          <p:cNvSpPr/>
          <p:nvPr/>
        </p:nvSpPr>
        <p:spPr>
          <a:xfrm>
            <a:off x="476280" y="1495440"/>
            <a:ext cx="5428440" cy="121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O foco central deste estudo é a resiliência de </a:t>
            </a: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edifícios residenciais verticais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de 30 pavimentos frente a sinistros ígneos. A complexidade do sistema reside na alta densidade populacional distribuída em uma estrutura de 120 metros de altura, onde a evacuação vertical é a única rota de sobrevivência viável.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5;p15"/>
          <p:cNvSpPr/>
          <p:nvPr/>
        </p:nvSpPr>
        <p:spPr>
          <a:xfrm>
            <a:off x="476280" y="2871720"/>
            <a:ext cx="542844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Fatores Críticos Expandidos: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26;p15"/>
          <p:cNvSpPr/>
          <p:nvPr/>
        </p:nvSpPr>
        <p:spPr>
          <a:xfrm>
            <a:off x="6286680" y="4943520"/>
            <a:ext cx="542844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O sistema integra variáveis físicas do fogo e psicossociais dos ocupantes para garantir que a simulação reflita a incerteza de emergências reais.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27;p15"/>
          <p:cNvSpPr/>
          <p:nvPr/>
        </p:nvSpPr>
        <p:spPr>
          <a:xfrm>
            <a:off x="714240" y="3276720"/>
            <a:ext cx="5190480" cy="72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Efeito Chaminé: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Propagação acelerada de gases quentes através de poços de elevador e escadarias, comprometendo a visibilidade e a respirabilidade em poucos minutos.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28;p15"/>
          <p:cNvSpPr/>
          <p:nvPr/>
        </p:nvSpPr>
        <p:spPr>
          <a:xfrm>
            <a:off x="714240" y="4119480"/>
            <a:ext cx="5190480" cy="72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Paradigma ASET/RSET: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O tempo disponível para saída segura (ASET) é dinamicamente reduzido pela toxicidade do ambiente, desafiando o tempo necessário para escape (RSET).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29;p15"/>
          <p:cNvSpPr/>
          <p:nvPr/>
        </p:nvSpPr>
        <p:spPr>
          <a:xfrm>
            <a:off x="714240" y="4962600"/>
            <a:ext cx="5190480" cy="97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Mobilidade e Stress: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A população de 180 indivíduos apresenta perfis heterogêneos, incluindo grupos com mobilidade reduzida cujos tempos de reação são afetados pela barreira psicológica do pânico.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Google Shape;130;p15" descr="image.png"/>
          <p:cNvPicPr/>
          <p:nvPr/>
        </p:nvPicPr>
        <p:blipFill>
          <a:blip r:embed="rId4"/>
          <a:stretch/>
        </p:blipFill>
        <p:spPr>
          <a:xfrm>
            <a:off x="6305400" y="1352520"/>
            <a:ext cx="5390280" cy="329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Google Shape;131;p15"/>
          <p:cNvSpPr/>
          <p:nvPr/>
        </p:nvSpPr>
        <p:spPr>
          <a:xfrm>
            <a:off x="476280" y="3276720"/>
            <a:ext cx="65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2;p15"/>
          <p:cNvSpPr/>
          <p:nvPr/>
        </p:nvSpPr>
        <p:spPr>
          <a:xfrm>
            <a:off x="476280" y="4119480"/>
            <a:ext cx="65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3;p15"/>
          <p:cNvSpPr/>
          <p:nvPr/>
        </p:nvSpPr>
        <p:spPr>
          <a:xfrm>
            <a:off x="476280" y="4962600"/>
            <a:ext cx="65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38;p16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139;p16" descr="image.png"/>
          <p:cNvPicPr/>
          <p:nvPr/>
        </p:nvPicPr>
        <p:blipFill>
          <a:blip r:embed="rId3"/>
          <a:stretch/>
        </p:blipFill>
        <p:spPr>
          <a:xfrm>
            <a:off x="476280" y="955800"/>
            <a:ext cx="5428440" cy="580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Google Shape;140;p16"/>
          <p:cNvSpPr/>
          <p:nvPr/>
        </p:nvSpPr>
        <p:spPr>
          <a:xfrm>
            <a:off x="476280" y="9864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Infraestrutura do Sistema de Referência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1;p16"/>
          <p:cNvSpPr/>
          <p:nvPr/>
        </p:nvSpPr>
        <p:spPr>
          <a:xfrm>
            <a:off x="476280" y="64152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Google Shape;142;p16" descr="image.png"/>
          <p:cNvPicPr/>
          <p:nvPr/>
        </p:nvPicPr>
        <p:blipFill>
          <a:blip r:embed="rId4"/>
          <a:stretch/>
        </p:blipFill>
        <p:spPr>
          <a:xfrm>
            <a:off x="495360" y="974880"/>
            <a:ext cx="5390280" cy="576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143;p16"/>
          <p:cNvSpPr/>
          <p:nvPr/>
        </p:nvSpPr>
        <p:spPr>
          <a:xfrm>
            <a:off x="6286680" y="2252520"/>
            <a:ext cx="569988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Topologia do Andar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4;p16"/>
          <p:cNvSpPr/>
          <p:nvPr/>
        </p:nvSpPr>
        <p:spPr>
          <a:xfrm>
            <a:off x="6286680" y="2852640"/>
            <a:ext cx="5428440" cy="4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A discretização espacial utiliza uma malha celular onde cada unidade de área (célula) representa as restrições físicas do pavimento.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5;p16"/>
          <p:cNvSpPr/>
          <p:nvPr/>
        </p:nvSpPr>
        <p:spPr>
          <a:xfrm>
            <a:off x="6524640" y="3652920"/>
            <a:ext cx="5190480" cy="4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Áreas Privativas: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Apartamentos com layout fixo que atuam como pontos de origem dos agentes.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6;p16"/>
          <p:cNvSpPr/>
          <p:nvPr/>
        </p:nvSpPr>
        <p:spPr>
          <a:xfrm>
            <a:off x="6524640" y="4253040"/>
            <a:ext cx="5190480" cy="4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Conectores Horizontais: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Corredores que afunilam o fluxo em direção à rota principal.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7;p16"/>
          <p:cNvSpPr/>
          <p:nvPr/>
        </p:nvSpPr>
        <p:spPr>
          <a:xfrm>
            <a:off x="6524640" y="4853160"/>
            <a:ext cx="5190480" cy="4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Gargalo Vertical: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A escadaria de emergência, única via de egressão ativa, dada a inativação obrigatória dos elevadores.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8;p16"/>
          <p:cNvSpPr/>
          <p:nvPr/>
        </p:nvSpPr>
        <p:spPr>
          <a:xfrm>
            <a:off x="6286680" y="3652920"/>
            <a:ext cx="65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9;p16"/>
          <p:cNvSpPr/>
          <p:nvPr/>
        </p:nvSpPr>
        <p:spPr>
          <a:xfrm>
            <a:off x="6286680" y="4253040"/>
            <a:ext cx="65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0;p16"/>
          <p:cNvSpPr/>
          <p:nvPr/>
        </p:nvSpPr>
        <p:spPr>
          <a:xfrm>
            <a:off x="6286680" y="4853160"/>
            <a:ext cx="65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55;p17" descr="image.png"/>
          <p:cNvPicPr/>
          <p:nvPr/>
        </p:nvPicPr>
        <p:blipFill>
          <a:blip r:embed="rId2"/>
          <a:stretch/>
        </p:blipFill>
        <p:spPr>
          <a:xfrm>
            <a:off x="4824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Google Shape;156;p17"/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Parâmetros do Sistema de Referência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57;p17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Google Shape;158;p17"/>
          <p:cNvSpPr/>
          <p:nvPr/>
        </p:nvSpPr>
        <p:spPr>
          <a:xfrm>
            <a:off x="476280" y="1333440"/>
            <a:ext cx="11238840" cy="3642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8" name="Google Shape;159;p17"/>
          <p:cNvGraphicFramePr/>
          <p:nvPr/>
        </p:nvGraphicFramePr>
        <p:xfrm>
          <a:off x="476280" y="1333440"/>
          <a:ext cx="11238840" cy="3641760"/>
        </p:xfrm>
        <a:graphic>
          <a:graphicData uri="http://schemas.openxmlformats.org/drawingml/2006/table">
            <a:tbl>
              <a:tblPr/>
              <a:tblGrid>
                <a:gridCol w="337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Caracterização</a:t>
                      </a:r>
                      <a:endParaRPr lang="pt-BR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Propriedades e Restrições do Sistema (S)</a:t>
                      </a:r>
                      <a:endParaRPr lang="pt-BR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Fenômeno Observado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Processo dinâmico de egressão emergencial em estrutura vertical sob ignição ativa.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Escala Espacial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30 níveis residenciais (120m); pavimentos de 400m² subdivididos em grades de 20x20.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Morfologia Interna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Subdivisões residenciais, corredores de acesso e núcleo de circulação vertical (escadas).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Logística de Escape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Escadas de incêndio pressurizadas; suspensão total do uso de meios mecânicos de elevação.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Dinâmica Populacional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180 agentes estratificados por idade, estado de saúde e competência de locomoção (adultos, idosos, crianças, PcD).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Variáveis do Sinistro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Localização da ignição parametrizável; taxa de liberação de calor (HRR) baseada em materiais típicos.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Fatores Obstrutivos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Acúmulo de monóxido de carbono e fuligem; redução da visibilidade afetando a tomada de decisão.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Função Científica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Atuar como ground truth para calibração, verificação e validação cruzada do simulador.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9" name="Google Shape;160;p17"/>
          <p:cNvSpPr/>
          <p:nvPr/>
        </p:nvSpPr>
        <p:spPr>
          <a:xfrm>
            <a:off x="476280" y="2162160"/>
            <a:ext cx="33710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Google Shape;161;p17"/>
          <p:cNvSpPr/>
          <p:nvPr/>
        </p:nvSpPr>
        <p:spPr>
          <a:xfrm>
            <a:off x="3848040" y="2162160"/>
            <a:ext cx="786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Google Shape;162;p17"/>
          <p:cNvSpPr/>
          <p:nvPr/>
        </p:nvSpPr>
        <p:spPr>
          <a:xfrm>
            <a:off x="476280" y="2562120"/>
            <a:ext cx="33710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Google Shape;163;p17"/>
          <p:cNvSpPr/>
          <p:nvPr/>
        </p:nvSpPr>
        <p:spPr>
          <a:xfrm>
            <a:off x="3848040" y="2562120"/>
            <a:ext cx="786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Google Shape;164;p17"/>
          <p:cNvSpPr/>
          <p:nvPr/>
        </p:nvSpPr>
        <p:spPr>
          <a:xfrm>
            <a:off x="476280" y="2962440"/>
            <a:ext cx="33710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Google Shape;165;p17"/>
          <p:cNvSpPr/>
          <p:nvPr/>
        </p:nvSpPr>
        <p:spPr>
          <a:xfrm>
            <a:off x="3848040" y="2962440"/>
            <a:ext cx="786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Google Shape;166;p17"/>
          <p:cNvSpPr/>
          <p:nvPr/>
        </p:nvSpPr>
        <p:spPr>
          <a:xfrm>
            <a:off x="476280" y="3362400"/>
            <a:ext cx="33710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Google Shape;167;p17"/>
          <p:cNvSpPr/>
          <p:nvPr/>
        </p:nvSpPr>
        <p:spPr>
          <a:xfrm>
            <a:off x="3848040" y="3362400"/>
            <a:ext cx="786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Google Shape;168;p17"/>
          <p:cNvSpPr/>
          <p:nvPr/>
        </p:nvSpPr>
        <p:spPr>
          <a:xfrm>
            <a:off x="476280" y="3762360"/>
            <a:ext cx="33710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Google Shape;169;p17"/>
          <p:cNvSpPr/>
          <p:nvPr/>
        </p:nvSpPr>
        <p:spPr>
          <a:xfrm>
            <a:off x="3848040" y="3762360"/>
            <a:ext cx="786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Google Shape;170;p17"/>
          <p:cNvSpPr/>
          <p:nvPr/>
        </p:nvSpPr>
        <p:spPr>
          <a:xfrm>
            <a:off x="476280" y="4162320"/>
            <a:ext cx="33710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Google Shape;171;p17"/>
          <p:cNvSpPr/>
          <p:nvPr/>
        </p:nvSpPr>
        <p:spPr>
          <a:xfrm>
            <a:off x="3848040" y="4162320"/>
            <a:ext cx="786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Google Shape;172;p17"/>
          <p:cNvSpPr/>
          <p:nvPr/>
        </p:nvSpPr>
        <p:spPr>
          <a:xfrm>
            <a:off x="476280" y="4562640"/>
            <a:ext cx="33710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Google Shape;173;p17"/>
          <p:cNvSpPr/>
          <p:nvPr/>
        </p:nvSpPr>
        <p:spPr>
          <a:xfrm>
            <a:off x="3848040" y="4562640"/>
            <a:ext cx="786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Google Shape;174;p17"/>
          <p:cNvSpPr/>
          <p:nvPr/>
        </p:nvSpPr>
        <p:spPr>
          <a:xfrm>
            <a:off x="476280" y="4962600"/>
            <a:ext cx="33710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Google Shape;175;p17"/>
          <p:cNvSpPr/>
          <p:nvPr/>
        </p:nvSpPr>
        <p:spPr>
          <a:xfrm>
            <a:off x="3848040" y="4962600"/>
            <a:ext cx="786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CaixaDeTexto 3"/>
          <p:cNvSpPr/>
          <p:nvPr/>
        </p:nvSpPr>
        <p:spPr>
          <a:xfrm>
            <a:off x="1186920" y="5119560"/>
            <a:ext cx="37886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80;p18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Google Shape;181;p18"/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2. Modelagem: Revisão Bibliográfica (1/2)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82;p18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Google Shape;183;p18"/>
          <p:cNvSpPr/>
          <p:nvPr/>
        </p:nvSpPr>
        <p:spPr>
          <a:xfrm>
            <a:off x="476280" y="1333440"/>
            <a:ext cx="11238840" cy="3571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50" name="Google Shape;184;p18"/>
          <p:cNvGraphicFramePr/>
          <p:nvPr/>
        </p:nvGraphicFramePr>
        <p:xfrm>
          <a:off x="476280" y="1333440"/>
          <a:ext cx="11238120" cy="3570480"/>
        </p:xfrm>
        <a:graphic>
          <a:graphicData uri="http://schemas.openxmlformats.org/drawingml/2006/table">
            <a:tbl>
              <a:tblPr/>
              <a:tblGrid>
                <a:gridCol w="96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3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5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Parâmetros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1: Gwynne et al. (2021)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2: Korhonen &amp; Hostikka (2020)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3: Lovreglio et al. (2022)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4: Wang et al. (2023)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5: Pelechano (2020)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Problema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Incerteza comportamental em prédios altos.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Integração de incêndio e evacuação em FDS.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Validação de modelos via Realidade Virtual.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Otimização de rotas em estruturas complexas.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Dinâmica de multidões em geometrias densas.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Critérios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Atraso de pre-movimento e stress.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Acoplamento térmico e visibilidade.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Fidelidade psicológica e decisão.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Cálculo de caminhos mínimos via BIM.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Velocidade, densidade e fluxos.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Objeto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Edifícios de grande porte.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Simulações de CFD e evacuação.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Experimentos imersivos controlados.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Infraestruturas inteligentes.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Ambientes urbanos confinados.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Conceitos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Human Behavior in Fire (HBiF).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FDS+Evac e acoplamento físico.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Teoria da Decisão Estocástica.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Building Information Modeling (BIM).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Social Forces Model (SFM).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Hipóteses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Comportamento social dita o tempo de escape.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Condições de fumaça ditam a escolha da rota.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Ambientes virtuais predizem o real com precisão.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Dados em tempo real reduzem o pânico local.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Interação entre agentes causa gargalos físicos.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1" name="Google Shape;185;p18"/>
          <p:cNvSpPr/>
          <p:nvPr/>
        </p:nvSpPr>
        <p:spPr>
          <a:xfrm>
            <a:off x="476280" y="249084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Google Shape;186;p18"/>
          <p:cNvSpPr/>
          <p:nvPr/>
        </p:nvSpPr>
        <p:spPr>
          <a:xfrm>
            <a:off x="1438200" y="2490840"/>
            <a:ext cx="21546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Google Shape;187;p18"/>
          <p:cNvSpPr/>
          <p:nvPr/>
        </p:nvSpPr>
        <p:spPr>
          <a:xfrm>
            <a:off x="3593520" y="2490840"/>
            <a:ext cx="201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Google Shape;188;p18"/>
          <p:cNvSpPr/>
          <p:nvPr/>
        </p:nvSpPr>
        <p:spPr>
          <a:xfrm>
            <a:off x="5611320" y="2490840"/>
            <a:ext cx="208656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Google Shape;189;p18"/>
          <p:cNvSpPr/>
          <p:nvPr/>
        </p:nvSpPr>
        <p:spPr>
          <a:xfrm>
            <a:off x="7698600" y="2490840"/>
            <a:ext cx="2052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Google Shape;190;p18"/>
          <p:cNvSpPr/>
          <p:nvPr/>
        </p:nvSpPr>
        <p:spPr>
          <a:xfrm>
            <a:off x="9752040" y="2490840"/>
            <a:ext cx="1963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Google Shape;191;p18"/>
          <p:cNvSpPr/>
          <p:nvPr/>
        </p:nvSpPr>
        <p:spPr>
          <a:xfrm>
            <a:off x="476280" y="309096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Google Shape;192;p18"/>
          <p:cNvSpPr/>
          <p:nvPr/>
        </p:nvSpPr>
        <p:spPr>
          <a:xfrm>
            <a:off x="1438200" y="3090960"/>
            <a:ext cx="21546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Google Shape;193;p18"/>
          <p:cNvSpPr/>
          <p:nvPr/>
        </p:nvSpPr>
        <p:spPr>
          <a:xfrm>
            <a:off x="3593520" y="3090960"/>
            <a:ext cx="201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Google Shape;194;p18"/>
          <p:cNvSpPr/>
          <p:nvPr/>
        </p:nvSpPr>
        <p:spPr>
          <a:xfrm>
            <a:off x="5611320" y="3090960"/>
            <a:ext cx="208656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Google Shape;195;p18"/>
          <p:cNvSpPr/>
          <p:nvPr/>
        </p:nvSpPr>
        <p:spPr>
          <a:xfrm>
            <a:off x="7698600" y="3090960"/>
            <a:ext cx="2052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Google Shape;196;p18"/>
          <p:cNvSpPr/>
          <p:nvPr/>
        </p:nvSpPr>
        <p:spPr>
          <a:xfrm>
            <a:off x="9752040" y="3090960"/>
            <a:ext cx="1963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Google Shape;197;p18"/>
          <p:cNvSpPr/>
          <p:nvPr/>
        </p:nvSpPr>
        <p:spPr>
          <a:xfrm>
            <a:off x="476280" y="369108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Google Shape;198;p18"/>
          <p:cNvSpPr/>
          <p:nvPr/>
        </p:nvSpPr>
        <p:spPr>
          <a:xfrm>
            <a:off x="1438200" y="3691080"/>
            <a:ext cx="21546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Google Shape;199;p18"/>
          <p:cNvSpPr/>
          <p:nvPr/>
        </p:nvSpPr>
        <p:spPr>
          <a:xfrm>
            <a:off x="3593520" y="3691080"/>
            <a:ext cx="201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Google Shape;200;p18"/>
          <p:cNvSpPr/>
          <p:nvPr/>
        </p:nvSpPr>
        <p:spPr>
          <a:xfrm>
            <a:off x="5611320" y="3691080"/>
            <a:ext cx="208656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Google Shape;201;p18"/>
          <p:cNvSpPr/>
          <p:nvPr/>
        </p:nvSpPr>
        <p:spPr>
          <a:xfrm>
            <a:off x="7698600" y="3691080"/>
            <a:ext cx="2052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ogle Shape;202;p18"/>
          <p:cNvSpPr/>
          <p:nvPr/>
        </p:nvSpPr>
        <p:spPr>
          <a:xfrm>
            <a:off x="9752040" y="3691080"/>
            <a:ext cx="1963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Google Shape;203;p18"/>
          <p:cNvSpPr/>
          <p:nvPr/>
        </p:nvSpPr>
        <p:spPr>
          <a:xfrm>
            <a:off x="476280" y="429084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Google Shape;204;p18"/>
          <p:cNvSpPr/>
          <p:nvPr/>
        </p:nvSpPr>
        <p:spPr>
          <a:xfrm>
            <a:off x="1438200" y="4290840"/>
            <a:ext cx="21546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Google Shape;205;p18"/>
          <p:cNvSpPr/>
          <p:nvPr/>
        </p:nvSpPr>
        <p:spPr>
          <a:xfrm>
            <a:off x="3593520" y="4290840"/>
            <a:ext cx="201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Google Shape;206;p18"/>
          <p:cNvSpPr/>
          <p:nvPr/>
        </p:nvSpPr>
        <p:spPr>
          <a:xfrm>
            <a:off x="5611320" y="4290840"/>
            <a:ext cx="208656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Google Shape;207;p18"/>
          <p:cNvSpPr/>
          <p:nvPr/>
        </p:nvSpPr>
        <p:spPr>
          <a:xfrm>
            <a:off x="7698600" y="4290840"/>
            <a:ext cx="2052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ogle Shape;208;p18"/>
          <p:cNvSpPr/>
          <p:nvPr/>
        </p:nvSpPr>
        <p:spPr>
          <a:xfrm>
            <a:off x="9752040" y="4290840"/>
            <a:ext cx="1963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Google Shape;209;p18"/>
          <p:cNvSpPr/>
          <p:nvPr/>
        </p:nvSpPr>
        <p:spPr>
          <a:xfrm>
            <a:off x="476280" y="489096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Google Shape;210;p18"/>
          <p:cNvSpPr/>
          <p:nvPr/>
        </p:nvSpPr>
        <p:spPr>
          <a:xfrm>
            <a:off x="1438200" y="4890960"/>
            <a:ext cx="21546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Google Shape;211;p18"/>
          <p:cNvSpPr/>
          <p:nvPr/>
        </p:nvSpPr>
        <p:spPr>
          <a:xfrm>
            <a:off x="3593520" y="4890960"/>
            <a:ext cx="2017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Google Shape;212;p18"/>
          <p:cNvSpPr/>
          <p:nvPr/>
        </p:nvSpPr>
        <p:spPr>
          <a:xfrm>
            <a:off x="5611320" y="4890960"/>
            <a:ext cx="208656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Google Shape;213;p18"/>
          <p:cNvSpPr/>
          <p:nvPr/>
        </p:nvSpPr>
        <p:spPr>
          <a:xfrm>
            <a:off x="7698600" y="4890960"/>
            <a:ext cx="2052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Google Shape;214;p18"/>
          <p:cNvSpPr/>
          <p:nvPr/>
        </p:nvSpPr>
        <p:spPr>
          <a:xfrm>
            <a:off x="9752040" y="4890960"/>
            <a:ext cx="19630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219;p19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Google Shape;220;p19"/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2. Modelagem: Revisão Bibliográfica (2/2)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21;p19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Google Shape;222;p19"/>
          <p:cNvSpPr/>
          <p:nvPr/>
        </p:nvSpPr>
        <p:spPr>
          <a:xfrm>
            <a:off x="476280" y="1333440"/>
            <a:ext cx="11238840" cy="3399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85" name="Google Shape;223;p19"/>
          <p:cNvGraphicFramePr/>
          <p:nvPr/>
        </p:nvGraphicFramePr>
        <p:xfrm>
          <a:off x="476280" y="1333440"/>
          <a:ext cx="11238120" cy="3399840"/>
        </p:xfrm>
        <a:graphic>
          <a:graphicData uri="http://schemas.openxmlformats.org/drawingml/2006/table">
            <a:tbl>
              <a:tblPr/>
              <a:tblGrid>
                <a:gridCol w="96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2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Parâmetros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6: Zheng (2021)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7: Chen et al. (2023)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8: Al Sadoon (2025)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9: Starbuck (2024)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10: Hui (2024)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Problema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Dinâmica de Autômatos Celulares em escadas.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Modelagem interdisciplinar de resiliência.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BIM dinâmico para treino e planejamento.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Gestão de resposta em desastres massivos.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Algoritmos de propagação acoplados a CA.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Critérios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Fricção de fluxo e largura de degraus.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Interação social e ambiente construído.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Modelos interativos de treinamento.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Coordenação de recursos e salvamento.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Eficiência temporal e acurácia espacial.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Objeto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Egressão vertical em escadarias.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Sistemas socio-tecnológicos complexos.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Gêmeos Digitais (Digital Twins).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Cenários de catástrofe urbana.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Simulações de propagação de incêndio.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Conceitos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Cellular Automata (CA) discretizado.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Agent-Based Evacuation (ABM).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Modelagem dinâmica 4D de incêndio.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Sistemas de Suporte à Decisão (DSS).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Coupled Fire-Simulation Algorithms.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Hipóteses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Regras locais explicam padrões globais.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Resiliência depende da preparação social.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Simulações dinâmicas melhoram o tempo de resposta.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Coordenação centralizada salva mais vidas.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O acoplamento aumenta a precisão preditiva.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6" name="Google Shape;224;p19"/>
          <p:cNvSpPr/>
          <p:nvPr/>
        </p:nvSpPr>
        <p:spPr>
          <a:xfrm>
            <a:off x="476280" y="231948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Google Shape;225;p19"/>
          <p:cNvSpPr/>
          <p:nvPr/>
        </p:nvSpPr>
        <p:spPr>
          <a:xfrm>
            <a:off x="1438200" y="231948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Google Shape;226;p19"/>
          <p:cNvSpPr/>
          <p:nvPr/>
        </p:nvSpPr>
        <p:spPr>
          <a:xfrm>
            <a:off x="3467520" y="231948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Google Shape;227;p19"/>
          <p:cNvSpPr/>
          <p:nvPr/>
        </p:nvSpPr>
        <p:spPr>
          <a:xfrm>
            <a:off x="5434920" y="231948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Google Shape;228;p19"/>
          <p:cNvSpPr/>
          <p:nvPr/>
        </p:nvSpPr>
        <p:spPr>
          <a:xfrm>
            <a:off x="7722360" y="231948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Google Shape;229;p19"/>
          <p:cNvSpPr/>
          <p:nvPr/>
        </p:nvSpPr>
        <p:spPr>
          <a:xfrm>
            <a:off x="9704880" y="231948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Google Shape;230;p19"/>
          <p:cNvSpPr/>
          <p:nvPr/>
        </p:nvSpPr>
        <p:spPr>
          <a:xfrm>
            <a:off x="476280" y="291924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Google Shape;231;p19"/>
          <p:cNvSpPr/>
          <p:nvPr/>
        </p:nvSpPr>
        <p:spPr>
          <a:xfrm>
            <a:off x="1438200" y="291924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Google Shape;232;p19"/>
          <p:cNvSpPr/>
          <p:nvPr/>
        </p:nvSpPr>
        <p:spPr>
          <a:xfrm>
            <a:off x="3467520" y="291924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Google Shape;233;p19"/>
          <p:cNvSpPr/>
          <p:nvPr/>
        </p:nvSpPr>
        <p:spPr>
          <a:xfrm>
            <a:off x="5434920" y="291924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Google Shape;234;p19"/>
          <p:cNvSpPr/>
          <p:nvPr/>
        </p:nvSpPr>
        <p:spPr>
          <a:xfrm>
            <a:off x="7722360" y="291924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Google Shape;235;p19"/>
          <p:cNvSpPr/>
          <p:nvPr/>
        </p:nvSpPr>
        <p:spPr>
          <a:xfrm>
            <a:off x="9704880" y="291924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Google Shape;236;p19"/>
          <p:cNvSpPr/>
          <p:nvPr/>
        </p:nvSpPr>
        <p:spPr>
          <a:xfrm>
            <a:off x="476280" y="351936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Google Shape;237;p19"/>
          <p:cNvSpPr/>
          <p:nvPr/>
        </p:nvSpPr>
        <p:spPr>
          <a:xfrm>
            <a:off x="1438200" y="351936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Google Shape;238;p19"/>
          <p:cNvSpPr/>
          <p:nvPr/>
        </p:nvSpPr>
        <p:spPr>
          <a:xfrm>
            <a:off x="3467520" y="351936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Google Shape;239;p19"/>
          <p:cNvSpPr/>
          <p:nvPr/>
        </p:nvSpPr>
        <p:spPr>
          <a:xfrm>
            <a:off x="5434920" y="351936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Google Shape;240;p19"/>
          <p:cNvSpPr/>
          <p:nvPr/>
        </p:nvSpPr>
        <p:spPr>
          <a:xfrm>
            <a:off x="7722360" y="351936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Google Shape;241;p19"/>
          <p:cNvSpPr/>
          <p:nvPr/>
        </p:nvSpPr>
        <p:spPr>
          <a:xfrm>
            <a:off x="9704880" y="351936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Google Shape;242;p19"/>
          <p:cNvSpPr/>
          <p:nvPr/>
        </p:nvSpPr>
        <p:spPr>
          <a:xfrm>
            <a:off x="476280" y="411948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Google Shape;243;p19"/>
          <p:cNvSpPr/>
          <p:nvPr/>
        </p:nvSpPr>
        <p:spPr>
          <a:xfrm>
            <a:off x="1438200" y="411948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Google Shape;244;p19"/>
          <p:cNvSpPr/>
          <p:nvPr/>
        </p:nvSpPr>
        <p:spPr>
          <a:xfrm>
            <a:off x="3467520" y="411948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Google Shape;245;p19"/>
          <p:cNvSpPr/>
          <p:nvPr/>
        </p:nvSpPr>
        <p:spPr>
          <a:xfrm>
            <a:off x="5434920" y="411948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Google Shape;246;p19"/>
          <p:cNvSpPr/>
          <p:nvPr/>
        </p:nvSpPr>
        <p:spPr>
          <a:xfrm>
            <a:off x="7722360" y="411948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Google Shape;247;p19"/>
          <p:cNvSpPr/>
          <p:nvPr/>
        </p:nvSpPr>
        <p:spPr>
          <a:xfrm>
            <a:off x="9704880" y="411948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Google Shape;248;p19"/>
          <p:cNvSpPr/>
          <p:nvPr/>
        </p:nvSpPr>
        <p:spPr>
          <a:xfrm>
            <a:off x="476280" y="471960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Google Shape;249;p19"/>
          <p:cNvSpPr/>
          <p:nvPr/>
        </p:nvSpPr>
        <p:spPr>
          <a:xfrm>
            <a:off x="1438200" y="471960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Google Shape;250;p19"/>
          <p:cNvSpPr/>
          <p:nvPr/>
        </p:nvSpPr>
        <p:spPr>
          <a:xfrm>
            <a:off x="3467520" y="471960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Google Shape;251;p19"/>
          <p:cNvSpPr/>
          <p:nvPr/>
        </p:nvSpPr>
        <p:spPr>
          <a:xfrm>
            <a:off x="5434920" y="471960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Google Shape;252;p19"/>
          <p:cNvSpPr/>
          <p:nvPr/>
        </p:nvSpPr>
        <p:spPr>
          <a:xfrm>
            <a:off x="7722360" y="471960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Google Shape;253;p19"/>
          <p:cNvSpPr/>
          <p:nvPr/>
        </p:nvSpPr>
        <p:spPr>
          <a:xfrm>
            <a:off x="9704880" y="471960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9;p 1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Google Shape;220;p 1"/>
          <p:cNvSpPr/>
          <p:nvPr/>
        </p:nvSpPr>
        <p:spPr>
          <a:xfrm>
            <a:off x="476280" y="476280"/>
            <a:ext cx="11715120" cy="43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2. Critérios de Exclusão e Inclusão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21;p 1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Google Shape;224;p 1"/>
          <p:cNvSpPr/>
          <p:nvPr/>
        </p:nvSpPr>
        <p:spPr>
          <a:xfrm>
            <a:off x="476280" y="231948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Google Shape;225;p 1"/>
          <p:cNvSpPr/>
          <p:nvPr/>
        </p:nvSpPr>
        <p:spPr>
          <a:xfrm>
            <a:off x="1438200" y="231948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Google Shape;226;p 1"/>
          <p:cNvSpPr/>
          <p:nvPr/>
        </p:nvSpPr>
        <p:spPr>
          <a:xfrm>
            <a:off x="3467520" y="231948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Google Shape;227;p 1"/>
          <p:cNvSpPr/>
          <p:nvPr/>
        </p:nvSpPr>
        <p:spPr>
          <a:xfrm>
            <a:off x="5434920" y="231948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Google Shape;228;p 1"/>
          <p:cNvSpPr/>
          <p:nvPr/>
        </p:nvSpPr>
        <p:spPr>
          <a:xfrm>
            <a:off x="7722360" y="231948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" name="Google Shape;229;p 1"/>
          <p:cNvSpPr/>
          <p:nvPr/>
        </p:nvSpPr>
        <p:spPr>
          <a:xfrm>
            <a:off x="9704880" y="231948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Google Shape;230;p 1"/>
          <p:cNvSpPr/>
          <p:nvPr/>
        </p:nvSpPr>
        <p:spPr>
          <a:xfrm>
            <a:off x="476280" y="291924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Google Shape;231;p 1"/>
          <p:cNvSpPr/>
          <p:nvPr/>
        </p:nvSpPr>
        <p:spPr>
          <a:xfrm>
            <a:off x="1438200" y="291924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Google Shape;232;p 1"/>
          <p:cNvSpPr/>
          <p:nvPr/>
        </p:nvSpPr>
        <p:spPr>
          <a:xfrm>
            <a:off x="3467520" y="291924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Google Shape;233;p 1"/>
          <p:cNvSpPr/>
          <p:nvPr/>
        </p:nvSpPr>
        <p:spPr>
          <a:xfrm>
            <a:off x="5434920" y="291924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Google Shape;234;p 1"/>
          <p:cNvSpPr/>
          <p:nvPr/>
        </p:nvSpPr>
        <p:spPr>
          <a:xfrm>
            <a:off x="7722360" y="291924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Google Shape;235;p 1"/>
          <p:cNvSpPr/>
          <p:nvPr/>
        </p:nvSpPr>
        <p:spPr>
          <a:xfrm>
            <a:off x="9704880" y="291924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Google Shape;236;p 1"/>
          <p:cNvSpPr/>
          <p:nvPr/>
        </p:nvSpPr>
        <p:spPr>
          <a:xfrm>
            <a:off x="476280" y="351936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Google Shape;237;p 1"/>
          <p:cNvSpPr/>
          <p:nvPr/>
        </p:nvSpPr>
        <p:spPr>
          <a:xfrm>
            <a:off x="1438200" y="351936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3" name="Google Shape;238;p 1"/>
          <p:cNvSpPr/>
          <p:nvPr/>
        </p:nvSpPr>
        <p:spPr>
          <a:xfrm>
            <a:off x="3467520" y="351936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Google Shape;239;p 1"/>
          <p:cNvSpPr/>
          <p:nvPr/>
        </p:nvSpPr>
        <p:spPr>
          <a:xfrm>
            <a:off x="5434920" y="351936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Google Shape;240;p 1"/>
          <p:cNvSpPr/>
          <p:nvPr/>
        </p:nvSpPr>
        <p:spPr>
          <a:xfrm>
            <a:off x="7722360" y="351936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Google Shape;241;p 1"/>
          <p:cNvSpPr/>
          <p:nvPr/>
        </p:nvSpPr>
        <p:spPr>
          <a:xfrm>
            <a:off x="9704880" y="351936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Google Shape;242;p 1"/>
          <p:cNvSpPr/>
          <p:nvPr/>
        </p:nvSpPr>
        <p:spPr>
          <a:xfrm>
            <a:off x="476280" y="411948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Google Shape;243;p 1"/>
          <p:cNvSpPr/>
          <p:nvPr/>
        </p:nvSpPr>
        <p:spPr>
          <a:xfrm>
            <a:off x="1438200" y="411948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Google Shape;244;p 1"/>
          <p:cNvSpPr/>
          <p:nvPr/>
        </p:nvSpPr>
        <p:spPr>
          <a:xfrm>
            <a:off x="3467520" y="411948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Google Shape;245;p 1"/>
          <p:cNvSpPr/>
          <p:nvPr/>
        </p:nvSpPr>
        <p:spPr>
          <a:xfrm>
            <a:off x="5434920" y="411948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Google Shape;246;p 1"/>
          <p:cNvSpPr/>
          <p:nvPr/>
        </p:nvSpPr>
        <p:spPr>
          <a:xfrm>
            <a:off x="7722360" y="411948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Google Shape;247;p 1"/>
          <p:cNvSpPr/>
          <p:nvPr/>
        </p:nvSpPr>
        <p:spPr>
          <a:xfrm>
            <a:off x="9704880" y="411948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Google Shape;248;p 1"/>
          <p:cNvSpPr/>
          <p:nvPr/>
        </p:nvSpPr>
        <p:spPr>
          <a:xfrm>
            <a:off x="476280" y="471960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Google Shape;249;p 1"/>
          <p:cNvSpPr/>
          <p:nvPr/>
        </p:nvSpPr>
        <p:spPr>
          <a:xfrm>
            <a:off x="1438200" y="471960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Google Shape;250;p 1"/>
          <p:cNvSpPr/>
          <p:nvPr/>
        </p:nvSpPr>
        <p:spPr>
          <a:xfrm>
            <a:off x="3467520" y="471960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Google Shape;251;p 1"/>
          <p:cNvSpPr/>
          <p:nvPr/>
        </p:nvSpPr>
        <p:spPr>
          <a:xfrm>
            <a:off x="5434920" y="471960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Google Shape;252;p 1"/>
          <p:cNvSpPr/>
          <p:nvPr/>
        </p:nvSpPr>
        <p:spPr>
          <a:xfrm>
            <a:off x="7722360" y="471960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Google Shape;253;p 1"/>
          <p:cNvSpPr/>
          <p:nvPr/>
        </p:nvSpPr>
        <p:spPr>
          <a:xfrm>
            <a:off x="9704880" y="471960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49" name="Tabela 248"/>
          <p:cNvGraphicFramePr/>
          <p:nvPr/>
        </p:nvGraphicFramePr>
        <p:xfrm>
          <a:off x="759240" y="1303920"/>
          <a:ext cx="10950480" cy="5119920"/>
        </p:xfrm>
        <a:graphic>
          <a:graphicData uri="http://schemas.openxmlformats.org/drawingml/2006/table">
            <a:tbl>
              <a:tblPr/>
              <a:tblGrid>
                <a:gridCol w="547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5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72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Observáveis Prioritários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Observável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Descrição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Estatura da Edificação 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Edifício residencial vertical composto por 30 pavimentos, totalizando cerca de 120 metros de altura. 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Granularidade Espacial 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Pavimentos de 20x20m discretizados em uma grade celular de 20x20, onde cada célula equivale a aproximadamente 1m². 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Diversidade de Agentes 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População de 180 indivíduos estratificada entre adultos, idosos, crianças e PcD, refletindo diferentes capacidades de locomoção. 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Dinâmica do Sinistro 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Parâmetros de origem do fogo e carga de incêndio que influenciam a opacidade da fumaça e a visibilidade nas rotas. 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19;p 2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Google Shape;220;p 2"/>
          <p:cNvSpPr/>
          <p:nvPr/>
        </p:nvSpPr>
        <p:spPr>
          <a:xfrm>
            <a:off x="476280" y="476280"/>
            <a:ext cx="11715120" cy="43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2. Critérios de Exclusão e Inclusão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221;p 2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Google Shape;224;p 2"/>
          <p:cNvSpPr/>
          <p:nvPr/>
        </p:nvSpPr>
        <p:spPr>
          <a:xfrm>
            <a:off x="476280" y="231948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" name="Google Shape;225;p 2"/>
          <p:cNvSpPr/>
          <p:nvPr/>
        </p:nvSpPr>
        <p:spPr>
          <a:xfrm>
            <a:off x="1438200" y="231948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" name="Google Shape;226;p 2"/>
          <p:cNvSpPr/>
          <p:nvPr/>
        </p:nvSpPr>
        <p:spPr>
          <a:xfrm>
            <a:off x="3467520" y="231948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Google Shape;227;p 2"/>
          <p:cNvSpPr/>
          <p:nvPr/>
        </p:nvSpPr>
        <p:spPr>
          <a:xfrm>
            <a:off x="5434920" y="231948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Google Shape;228;p 2"/>
          <p:cNvSpPr/>
          <p:nvPr/>
        </p:nvSpPr>
        <p:spPr>
          <a:xfrm>
            <a:off x="7722360" y="231948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" name="Google Shape;229;p 2"/>
          <p:cNvSpPr/>
          <p:nvPr/>
        </p:nvSpPr>
        <p:spPr>
          <a:xfrm>
            <a:off x="9704880" y="231948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Google Shape;230;p 2"/>
          <p:cNvSpPr/>
          <p:nvPr/>
        </p:nvSpPr>
        <p:spPr>
          <a:xfrm>
            <a:off x="476280" y="291924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Google Shape;231;p 2"/>
          <p:cNvSpPr/>
          <p:nvPr/>
        </p:nvSpPr>
        <p:spPr>
          <a:xfrm>
            <a:off x="1438200" y="291924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Google Shape;232;p 2"/>
          <p:cNvSpPr/>
          <p:nvPr/>
        </p:nvSpPr>
        <p:spPr>
          <a:xfrm>
            <a:off x="3467520" y="291924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Google Shape;233;p 2"/>
          <p:cNvSpPr/>
          <p:nvPr/>
        </p:nvSpPr>
        <p:spPr>
          <a:xfrm>
            <a:off x="5434920" y="291924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Google Shape;234;p 2"/>
          <p:cNvSpPr/>
          <p:nvPr/>
        </p:nvSpPr>
        <p:spPr>
          <a:xfrm>
            <a:off x="7722360" y="291924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Google Shape;235;p 2"/>
          <p:cNvSpPr/>
          <p:nvPr/>
        </p:nvSpPr>
        <p:spPr>
          <a:xfrm>
            <a:off x="9704880" y="291924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Google Shape;236;p 2"/>
          <p:cNvSpPr/>
          <p:nvPr/>
        </p:nvSpPr>
        <p:spPr>
          <a:xfrm>
            <a:off x="476280" y="351936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Google Shape;237;p 2"/>
          <p:cNvSpPr/>
          <p:nvPr/>
        </p:nvSpPr>
        <p:spPr>
          <a:xfrm>
            <a:off x="1438200" y="351936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" name="Google Shape;238;p 2"/>
          <p:cNvSpPr/>
          <p:nvPr/>
        </p:nvSpPr>
        <p:spPr>
          <a:xfrm>
            <a:off x="3467520" y="351936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Google Shape;239;p 2"/>
          <p:cNvSpPr/>
          <p:nvPr/>
        </p:nvSpPr>
        <p:spPr>
          <a:xfrm>
            <a:off x="5434920" y="351936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9" name="Google Shape;240;p 2"/>
          <p:cNvSpPr/>
          <p:nvPr/>
        </p:nvSpPr>
        <p:spPr>
          <a:xfrm>
            <a:off x="7722360" y="351936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Google Shape;241;p 2"/>
          <p:cNvSpPr/>
          <p:nvPr/>
        </p:nvSpPr>
        <p:spPr>
          <a:xfrm>
            <a:off x="9704880" y="351936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Google Shape;242;p 2"/>
          <p:cNvSpPr/>
          <p:nvPr/>
        </p:nvSpPr>
        <p:spPr>
          <a:xfrm>
            <a:off x="476280" y="411948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Google Shape;243;p 2"/>
          <p:cNvSpPr/>
          <p:nvPr/>
        </p:nvSpPr>
        <p:spPr>
          <a:xfrm>
            <a:off x="1438200" y="411948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3" name="Google Shape;244;p 2"/>
          <p:cNvSpPr/>
          <p:nvPr/>
        </p:nvSpPr>
        <p:spPr>
          <a:xfrm>
            <a:off x="3467520" y="411948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4" name="Google Shape;245;p 2"/>
          <p:cNvSpPr/>
          <p:nvPr/>
        </p:nvSpPr>
        <p:spPr>
          <a:xfrm>
            <a:off x="5434920" y="411948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5" name="Google Shape;246;p 2"/>
          <p:cNvSpPr/>
          <p:nvPr/>
        </p:nvSpPr>
        <p:spPr>
          <a:xfrm>
            <a:off x="7722360" y="411948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6" name="Google Shape;247;p 2"/>
          <p:cNvSpPr/>
          <p:nvPr/>
        </p:nvSpPr>
        <p:spPr>
          <a:xfrm>
            <a:off x="9704880" y="411948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Google Shape;248;p 2"/>
          <p:cNvSpPr/>
          <p:nvPr/>
        </p:nvSpPr>
        <p:spPr>
          <a:xfrm>
            <a:off x="476280" y="4719600"/>
            <a:ext cx="9612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8" name="Google Shape;249;p 2"/>
          <p:cNvSpPr/>
          <p:nvPr/>
        </p:nvSpPr>
        <p:spPr>
          <a:xfrm>
            <a:off x="1438200" y="4719600"/>
            <a:ext cx="2028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9" name="Google Shape;250;p 2"/>
          <p:cNvSpPr/>
          <p:nvPr/>
        </p:nvSpPr>
        <p:spPr>
          <a:xfrm>
            <a:off x="3467520" y="4719600"/>
            <a:ext cx="196668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0" name="Google Shape;251;p 2"/>
          <p:cNvSpPr/>
          <p:nvPr/>
        </p:nvSpPr>
        <p:spPr>
          <a:xfrm>
            <a:off x="5434920" y="4719600"/>
            <a:ext cx="228672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Google Shape;252;p 2"/>
          <p:cNvSpPr/>
          <p:nvPr/>
        </p:nvSpPr>
        <p:spPr>
          <a:xfrm>
            <a:off x="7722360" y="4719600"/>
            <a:ext cx="1981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Google Shape;253;p 2"/>
          <p:cNvSpPr/>
          <p:nvPr/>
        </p:nvSpPr>
        <p:spPr>
          <a:xfrm>
            <a:off x="9704880" y="4719600"/>
            <a:ext cx="201024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83" name="Tabela 282"/>
          <p:cNvGraphicFramePr/>
          <p:nvPr/>
        </p:nvGraphicFramePr>
        <p:xfrm>
          <a:off x="646920" y="1321920"/>
          <a:ext cx="10950480" cy="5119920"/>
        </p:xfrm>
        <a:graphic>
          <a:graphicData uri="http://schemas.openxmlformats.org/drawingml/2006/table">
            <a:tbl>
              <a:tblPr/>
              <a:tblGrid>
                <a:gridCol w="547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5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72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Exclusões Conscientes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860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Elemento Excluído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Justificativa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Uso de Elevadores 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Bloqueados obrigatoriamente por protocolos de segurança contra incêndio para evitar o aprisionamento de agentes. 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B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Áreas Externas 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 foco metodológico restringe-se ao ambiente interno para analisar gargalos em corredores e escadas. 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Ações de Combate 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 modelo prioriza a dinâmica de evacuação (egressão), desconsiderando comportamentos de combate ao fogo pelos ocupantes. 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B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Resistência Estrutural 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 simulação avalia o tempo de escape e segurança da vida (ASET/RSET), e não o colapso mecânico dos materiais da obra. 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tângulo: Cantos Arredondados 1"/>
          <p:cNvSpPr/>
          <p:nvPr/>
        </p:nvSpPr>
        <p:spPr>
          <a:xfrm>
            <a:off x="880920" y="631440"/>
            <a:ext cx="1629360" cy="8157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1. Identificação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etângulo: Cantos Arredondados 2"/>
          <p:cNvSpPr/>
          <p:nvPr/>
        </p:nvSpPr>
        <p:spPr>
          <a:xfrm>
            <a:off x="3519360" y="614880"/>
            <a:ext cx="4564800" cy="88092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Artigos identificados por meio de busca em banco de dados: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Web of Science (n= 84)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Scopus (n= 92)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IEEE(n= 56)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etângulo: Cantos Arredondados 3"/>
          <p:cNvSpPr/>
          <p:nvPr/>
        </p:nvSpPr>
        <p:spPr>
          <a:xfrm>
            <a:off x="9093240" y="614880"/>
            <a:ext cx="1629360" cy="88092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Termos de pesquisa aplicados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87" name="Conector de Seta Reta 5"/>
          <p:cNvCxnSpPr>
            <a:stCxn id="286" idx="1"/>
            <a:endCxn id="285" idx="3"/>
          </p:cNvCxnSpPr>
          <p:nvPr/>
        </p:nvCxnSpPr>
        <p:spPr>
          <a:xfrm flipH="1">
            <a:off x="8084160" y="1055520"/>
            <a:ext cx="1009440" cy="360"/>
          </a:xfrm>
          <a:prstGeom prst="straightConnector1">
            <a:avLst/>
          </a:prstGeom>
          <a:ln w="0">
            <a:solidFill>
              <a:srgbClr val="F0EEE4"/>
            </a:solidFill>
            <a:tailEnd type="arrow" w="med" len="med"/>
          </a:ln>
        </p:spPr>
      </p:cxnSp>
      <p:sp>
        <p:nvSpPr>
          <p:cNvPr id="288" name="Retângulo: Cantos Arredondados 9"/>
          <p:cNvSpPr/>
          <p:nvPr/>
        </p:nvSpPr>
        <p:spPr>
          <a:xfrm>
            <a:off x="3519360" y="1779840"/>
            <a:ext cx="4564800" cy="88092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Web of Science (n= 84)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Scopus (n= 92)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IEEE(n= 56)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Retângulo: Cantos Arredondados 10"/>
          <p:cNvSpPr/>
          <p:nvPr/>
        </p:nvSpPr>
        <p:spPr>
          <a:xfrm>
            <a:off x="9093240" y="1620000"/>
            <a:ext cx="2066400" cy="125964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"fire evacuation", "agent-based simulation", "building fire simulation", "human behavior in fire", "BIM evacuation" 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0" name="Conector de Seta Reta 13"/>
          <p:cNvCxnSpPr>
            <a:stCxn id="289" idx="1"/>
            <a:endCxn id="288" idx="3"/>
          </p:cNvCxnSpPr>
          <p:nvPr/>
        </p:nvCxnSpPr>
        <p:spPr>
          <a:xfrm flipH="1" flipV="1">
            <a:off x="8084160" y="2220480"/>
            <a:ext cx="1009440" cy="29880"/>
          </a:xfrm>
          <a:prstGeom prst="straightConnector1">
            <a:avLst/>
          </a:prstGeom>
          <a:ln w="0">
            <a:solidFill>
              <a:srgbClr val="F0EEE4"/>
            </a:solidFill>
            <a:tailEnd type="arrow" w="med" len="med"/>
          </a:ln>
        </p:spPr>
      </p:cxnSp>
      <p:cxnSp>
        <p:nvCxnSpPr>
          <p:cNvPr id="291" name="Conector de Seta Reta 16"/>
          <p:cNvCxnSpPr>
            <a:stCxn id="285" idx="2"/>
            <a:endCxn id="288" idx="0"/>
          </p:cNvCxnSpPr>
          <p:nvPr/>
        </p:nvCxnSpPr>
        <p:spPr>
          <a:xfrm>
            <a:off x="5801760" y="1495800"/>
            <a:ext cx="360" cy="284400"/>
          </a:xfrm>
          <a:prstGeom prst="straightConnector1">
            <a:avLst/>
          </a:prstGeom>
          <a:ln w="0">
            <a:solidFill>
              <a:srgbClr val="F0EEE4"/>
            </a:solidFill>
            <a:tailEnd type="arrow" w="med" len="med"/>
          </a:ln>
        </p:spPr>
      </p:cxnSp>
      <p:sp>
        <p:nvSpPr>
          <p:cNvPr id="292" name="Retângulo: Cantos Arredondados 19"/>
          <p:cNvSpPr/>
          <p:nvPr/>
        </p:nvSpPr>
        <p:spPr>
          <a:xfrm>
            <a:off x="880920" y="2961000"/>
            <a:ext cx="1629360" cy="88092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2">
                    <a:lumMod val="90000"/>
                    <a:lumOff val="10000"/>
                  </a:schemeClr>
                </a:solidFill>
                <a:effectLst/>
                <a:uFillTx/>
                <a:latin typeface="Arial"/>
                <a:ea typeface="Arial"/>
              </a:rPr>
              <a:t>2. Triagem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tângulo: Cantos Arredondados 20"/>
          <p:cNvSpPr/>
          <p:nvPr/>
        </p:nvSpPr>
        <p:spPr>
          <a:xfrm>
            <a:off x="3519360" y="2944440"/>
            <a:ext cx="4564800" cy="88092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2">
                    <a:lumMod val="90000"/>
                    <a:lumOff val="10000"/>
                  </a:schemeClr>
                </a:solidFill>
                <a:effectLst/>
                <a:uFillTx/>
                <a:latin typeface="Arial"/>
                <a:ea typeface="Arial"/>
              </a:rPr>
              <a:t>Artigos selecionados para triagem de resumos (n= 158)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tângulo: Cantos Arredondados 21"/>
          <p:cNvSpPr/>
          <p:nvPr/>
        </p:nvSpPr>
        <p:spPr>
          <a:xfrm>
            <a:off x="9172440" y="2944440"/>
            <a:ext cx="1629360" cy="88092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2">
                    <a:lumMod val="90000"/>
                    <a:lumOff val="10000"/>
                  </a:schemeClr>
                </a:solidFill>
                <a:effectLst/>
                <a:uFillTx/>
                <a:latin typeface="Arial"/>
                <a:ea typeface="Arial"/>
              </a:rPr>
              <a:t>Duplicados removidos (n = 74)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5" name="Conector de Seta Reta 22"/>
          <p:cNvCxnSpPr>
            <a:stCxn id="294" idx="1"/>
          </p:cNvCxnSpPr>
          <p:nvPr/>
        </p:nvCxnSpPr>
        <p:spPr>
          <a:xfrm flipH="1">
            <a:off x="8242560" y="3385080"/>
            <a:ext cx="930240" cy="1080"/>
          </a:xfrm>
          <a:prstGeom prst="straightConnector1">
            <a:avLst/>
          </a:prstGeom>
          <a:ln w="0">
            <a:solidFill>
              <a:srgbClr val="F0EEE4"/>
            </a:solidFill>
            <a:tailEnd type="arrow" w="med" len="med"/>
          </a:ln>
        </p:spPr>
      </p:cxnSp>
      <p:sp>
        <p:nvSpPr>
          <p:cNvPr id="296" name="Retângulo: Cantos Arredondados 23"/>
          <p:cNvSpPr/>
          <p:nvPr/>
        </p:nvSpPr>
        <p:spPr>
          <a:xfrm>
            <a:off x="880920" y="4125600"/>
            <a:ext cx="1629360" cy="88092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Eligibilidade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tângulo: Cantos Arredondados 25"/>
          <p:cNvSpPr/>
          <p:nvPr/>
        </p:nvSpPr>
        <p:spPr>
          <a:xfrm>
            <a:off x="3519360" y="4125600"/>
            <a:ext cx="4564800" cy="88092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Artigos de texto completo avaliados para elegibilidade (n= 46)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tângulo: Cantos Arredondados 26"/>
          <p:cNvSpPr/>
          <p:nvPr/>
        </p:nvSpPr>
        <p:spPr>
          <a:xfrm>
            <a:off x="9172440" y="4125600"/>
            <a:ext cx="1629360" cy="88092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Artigos excluídos: não atenderam aos critérios de inclusão (n = 36)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9" name="Conector de Seta Reta 27"/>
          <p:cNvCxnSpPr>
            <a:stCxn id="288" idx="2"/>
            <a:endCxn id="293" idx="0"/>
          </p:cNvCxnSpPr>
          <p:nvPr/>
        </p:nvCxnSpPr>
        <p:spPr>
          <a:xfrm>
            <a:off x="5801760" y="2660760"/>
            <a:ext cx="360" cy="284040"/>
          </a:xfrm>
          <a:prstGeom prst="straightConnector1">
            <a:avLst/>
          </a:prstGeom>
          <a:ln w="0">
            <a:solidFill>
              <a:srgbClr val="F0EEE4"/>
            </a:solidFill>
            <a:tailEnd type="arrow" w="med" len="med"/>
          </a:ln>
        </p:spPr>
      </p:cxnSp>
      <p:cxnSp>
        <p:nvCxnSpPr>
          <p:cNvPr id="300" name="Conector de Seta Reta 30"/>
          <p:cNvCxnSpPr>
            <a:stCxn id="293" idx="2"/>
            <a:endCxn id="297" idx="0"/>
          </p:cNvCxnSpPr>
          <p:nvPr/>
        </p:nvCxnSpPr>
        <p:spPr>
          <a:xfrm>
            <a:off x="5801760" y="3825360"/>
            <a:ext cx="360" cy="300600"/>
          </a:xfrm>
          <a:prstGeom prst="straightConnector1">
            <a:avLst/>
          </a:prstGeom>
          <a:ln w="0">
            <a:solidFill>
              <a:srgbClr val="F0EEE4"/>
            </a:solidFill>
            <a:tailEnd type="arrow" w="med" len="med"/>
          </a:ln>
        </p:spPr>
      </p:cxnSp>
      <p:cxnSp>
        <p:nvCxnSpPr>
          <p:cNvPr id="301" name="Conector de Seta Reta 34"/>
          <p:cNvCxnSpPr>
            <a:stCxn id="298" idx="1"/>
            <a:endCxn id="297" idx="3"/>
          </p:cNvCxnSpPr>
          <p:nvPr/>
        </p:nvCxnSpPr>
        <p:spPr>
          <a:xfrm flipH="1">
            <a:off x="8084160" y="4566240"/>
            <a:ext cx="1088640" cy="360"/>
          </a:xfrm>
          <a:prstGeom prst="straightConnector1">
            <a:avLst/>
          </a:prstGeom>
          <a:ln w="0">
            <a:solidFill>
              <a:srgbClr val="F0EEE4"/>
            </a:solidFill>
            <a:tailEnd type="arrow" w="med" len="med"/>
          </a:ln>
        </p:spPr>
      </p:cxnSp>
      <p:sp>
        <p:nvSpPr>
          <p:cNvPr id="302" name="Retângulo: Cantos Arredondados 37"/>
          <p:cNvSpPr/>
          <p:nvPr/>
        </p:nvSpPr>
        <p:spPr>
          <a:xfrm>
            <a:off x="880920" y="5306760"/>
            <a:ext cx="1629360" cy="88092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2">
                    <a:lumMod val="90000"/>
                    <a:lumOff val="10000"/>
                  </a:schemeClr>
                </a:solidFill>
                <a:effectLst/>
                <a:uFillTx/>
                <a:latin typeface="Arial"/>
                <a:ea typeface="Arial"/>
              </a:rPr>
              <a:t>4. Incluídos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tângulo: Cantos Arredondados 38"/>
          <p:cNvSpPr/>
          <p:nvPr/>
        </p:nvSpPr>
        <p:spPr>
          <a:xfrm>
            <a:off x="3519360" y="5306760"/>
            <a:ext cx="4564800" cy="88092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2">
                    <a:lumMod val="90000"/>
                    <a:lumOff val="10000"/>
                  </a:schemeClr>
                </a:solidFill>
                <a:effectLst/>
                <a:uFillTx/>
                <a:latin typeface="Arial"/>
                <a:ea typeface="Arial"/>
              </a:rPr>
              <a:t>Estudos elegíveis incluídos na revisão final (n= 10)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CaixaDeTexto 4"/>
          <p:cNvSpPr/>
          <p:nvPr/>
        </p:nvSpPr>
        <p:spPr>
          <a:xfrm>
            <a:off x="617760" y="6400800"/>
            <a:ext cx="580212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259;p20"/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260;p20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7" name="Google Shape;261;p20"/>
          <p:cNvSpPr/>
          <p:nvPr/>
        </p:nvSpPr>
        <p:spPr>
          <a:xfrm>
            <a:off x="4471920" y="3736080"/>
            <a:ext cx="32472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Imagem 307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259;p 1"/>
          <p:cNvSpPr/>
          <p:nvPr/>
        </p:nvSpPr>
        <p:spPr>
          <a:xfrm>
            <a:off x="476280" y="476280"/>
            <a:ext cx="11715120" cy="43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260;p 1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1" name="Google Shape;261;p 1"/>
          <p:cNvSpPr/>
          <p:nvPr/>
        </p:nvSpPr>
        <p:spPr>
          <a:xfrm>
            <a:off x="4471920" y="3736080"/>
            <a:ext cx="324720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m 311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259;p 2"/>
          <p:cNvSpPr/>
          <p:nvPr/>
        </p:nvSpPr>
        <p:spPr>
          <a:xfrm>
            <a:off x="476280" y="476280"/>
            <a:ext cx="11715120" cy="43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260;p 2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5" name="Google Shape;261;p 2"/>
          <p:cNvSpPr/>
          <p:nvPr/>
        </p:nvSpPr>
        <p:spPr>
          <a:xfrm>
            <a:off x="4471920" y="3736080"/>
            <a:ext cx="324720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m 315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259;p 3"/>
          <p:cNvSpPr/>
          <p:nvPr/>
        </p:nvSpPr>
        <p:spPr>
          <a:xfrm>
            <a:off x="476280" y="476280"/>
            <a:ext cx="11715120" cy="43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260;p 3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Google Shape;261;p 3"/>
          <p:cNvSpPr/>
          <p:nvPr/>
        </p:nvSpPr>
        <p:spPr>
          <a:xfrm>
            <a:off x="4471920" y="3736080"/>
            <a:ext cx="324720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" name="Imagem 319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259;p 4"/>
          <p:cNvSpPr/>
          <p:nvPr/>
        </p:nvSpPr>
        <p:spPr>
          <a:xfrm>
            <a:off x="476280" y="476280"/>
            <a:ext cx="11715120" cy="43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260;p 4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3" name="Google Shape;261;p 4"/>
          <p:cNvSpPr/>
          <p:nvPr/>
        </p:nvSpPr>
        <p:spPr>
          <a:xfrm>
            <a:off x="4471920" y="3736080"/>
            <a:ext cx="324720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4" name="Imagem 323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259;p 5"/>
          <p:cNvSpPr/>
          <p:nvPr/>
        </p:nvSpPr>
        <p:spPr>
          <a:xfrm>
            <a:off x="476280" y="476280"/>
            <a:ext cx="11715120" cy="43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260;p 5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7" name="Google Shape;261;p 5"/>
          <p:cNvSpPr/>
          <p:nvPr/>
        </p:nvSpPr>
        <p:spPr>
          <a:xfrm>
            <a:off x="4471920" y="3736080"/>
            <a:ext cx="324720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m 327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259;p 6"/>
          <p:cNvSpPr/>
          <p:nvPr/>
        </p:nvSpPr>
        <p:spPr>
          <a:xfrm>
            <a:off x="476280" y="476280"/>
            <a:ext cx="11715120" cy="43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260;p 6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1" name="Google Shape;261;p 6"/>
          <p:cNvSpPr/>
          <p:nvPr/>
        </p:nvSpPr>
        <p:spPr>
          <a:xfrm>
            <a:off x="4471920" y="3736080"/>
            <a:ext cx="3247200" cy="29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Imagem 331"/>
          <p:cNvPicPr/>
          <p:nvPr/>
        </p:nvPicPr>
        <p:blipFill>
          <a:blip r:embed="rId2"/>
          <a:stretch/>
        </p:blipFill>
        <p:spPr>
          <a:xfrm>
            <a:off x="0" y="0"/>
            <a:ext cx="1216440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2A448-C5F9-FAC8-9F83-2F474E7B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259;p20">
            <a:extLst>
              <a:ext uri="{FF2B5EF4-FFF2-40B4-BE49-F238E27FC236}">
                <a16:creationId xmlns:a16="http://schemas.microsoft.com/office/drawing/2014/main" id="{73777E50-DBA8-9A05-39C5-962507DF74B3}"/>
              </a:ext>
            </a:extLst>
          </p:cNvPr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260;p20">
            <a:extLst>
              <a:ext uri="{FF2B5EF4-FFF2-40B4-BE49-F238E27FC236}">
                <a16:creationId xmlns:a16="http://schemas.microsoft.com/office/drawing/2014/main" id="{8EFA0B6A-6264-8243-07A3-43DD19B25BCB}"/>
              </a:ext>
            </a:extLst>
          </p:cNvPr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7" name="Google Shape;261;p20">
            <a:extLst>
              <a:ext uri="{FF2B5EF4-FFF2-40B4-BE49-F238E27FC236}">
                <a16:creationId xmlns:a16="http://schemas.microsoft.com/office/drawing/2014/main" id="{D1F25558-C471-8170-E23C-FADBF57BAC8D}"/>
              </a:ext>
            </a:extLst>
          </p:cNvPr>
          <p:cNvSpPr/>
          <p:nvPr/>
        </p:nvSpPr>
        <p:spPr>
          <a:xfrm>
            <a:off x="4471920" y="3736080"/>
            <a:ext cx="32472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7C325D2-C001-5E30-BD3C-DD910790B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175103"/>
              </p:ext>
            </p:extLst>
          </p:nvPr>
        </p:nvGraphicFramePr>
        <p:xfrm>
          <a:off x="1870155" y="1707600"/>
          <a:ext cx="8127999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826002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47059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97688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effectLst/>
                          <a:latin typeface="Google Sans Text"/>
                        </a:rPr>
                        <a:t>Nº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Tópico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79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Plataforma de implementação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Ambiente de computação científica baseado em </a:t>
                      </a:r>
                      <a:r>
                        <a:rPr lang="pt-BR" b="1" dirty="0"/>
                        <a:t>Python 3.10+</a:t>
                      </a:r>
                      <a:r>
                        <a:rPr lang="pt-BR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4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Linguagem de programação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Python</a:t>
                      </a:r>
                      <a:r>
                        <a:rPr lang="pt-BR" dirty="0"/>
                        <a:t> utilizando bibliotecas de alto desempenho (</a:t>
                      </a:r>
                      <a:r>
                        <a:rPr lang="pt-BR" b="1" dirty="0" err="1"/>
                        <a:t>NumPy</a:t>
                      </a:r>
                      <a:r>
                        <a:rPr lang="pt-BR" dirty="0"/>
                        <a:t>, </a:t>
                      </a:r>
                      <a:r>
                        <a:rPr lang="pt-BR" dirty="0" err="1"/>
                        <a:t>Dataclasses</a:t>
                      </a:r>
                      <a:r>
                        <a:rPr lang="pt-BR" dirty="0"/>
                        <a:t>, Enum).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31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Representação dos agentes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Modelagem Baseada em Agentes (ABM)</a:t>
                      </a:r>
                      <a:r>
                        <a:rPr lang="pt-BR" dirty="0"/>
                        <a:t> com vetor de estado completo (físico, cognitivo e social).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20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797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DF40C-D35F-06E3-D0A9-2A4FA9C4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259;p20">
            <a:extLst>
              <a:ext uri="{FF2B5EF4-FFF2-40B4-BE49-F238E27FC236}">
                <a16:creationId xmlns:a16="http://schemas.microsoft.com/office/drawing/2014/main" id="{023B3E1E-8A88-AF33-2751-B1A7D2B83916}"/>
              </a:ext>
            </a:extLst>
          </p:cNvPr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260;p20">
            <a:extLst>
              <a:ext uri="{FF2B5EF4-FFF2-40B4-BE49-F238E27FC236}">
                <a16:creationId xmlns:a16="http://schemas.microsoft.com/office/drawing/2014/main" id="{BE17B08F-C99B-37E1-8368-8C0A9946B460}"/>
              </a:ext>
            </a:extLst>
          </p:cNvPr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7" name="Google Shape;261;p20">
            <a:extLst>
              <a:ext uri="{FF2B5EF4-FFF2-40B4-BE49-F238E27FC236}">
                <a16:creationId xmlns:a16="http://schemas.microsoft.com/office/drawing/2014/main" id="{1D1FF2B2-A86B-F4F2-FB5B-F1C9A6ADBA65}"/>
              </a:ext>
            </a:extLst>
          </p:cNvPr>
          <p:cNvSpPr/>
          <p:nvPr/>
        </p:nvSpPr>
        <p:spPr>
          <a:xfrm>
            <a:off x="4471920" y="3736080"/>
            <a:ext cx="32472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40D6F19-D003-55FE-4158-122BE5DCA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499524"/>
              </p:ext>
            </p:extLst>
          </p:nvPr>
        </p:nvGraphicFramePr>
        <p:xfrm>
          <a:off x="1870155" y="1433280"/>
          <a:ext cx="8127999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826002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47059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97688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effectLst/>
                          <a:latin typeface="Google Sans Text"/>
                        </a:rPr>
                        <a:t>Nº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Tópico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79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Representação do ambiente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Discretização</a:t>
                      </a:r>
                      <a:r>
                        <a:rPr lang="pt-BR" dirty="0"/>
                        <a:t> em </a:t>
                      </a:r>
                      <a:r>
                        <a:rPr lang="pt-BR" b="1" dirty="0"/>
                        <a:t>grade celular (20x20)</a:t>
                      </a:r>
                      <a:r>
                        <a:rPr lang="pt-BR" dirty="0"/>
                        <a:t>, Grafo de Navegação BIM dinâmico e campos de incêndio interpolados.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4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Dados de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Campos do FDS (Temperatura, CO, densidade de fumaça), topologia BIM e perfis populacionais heterogêneos.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31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Regras implementadas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Máquina de estados comportamental, </a:t>
                      </a:r>
                      <a:r>
                        <a:rPr lang="pt-BR" b="1" dirty="0"/>
                        <a:t>Modelo de Força Social (SFM)</a:t>
                      </a:r>
                      <a:r>
                        <a:rPr lang="pt-BR" dirty="0"/>
                        <a:t>, dinâmica de pânico e contágio social.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20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944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CECAB-3E26-9950-1F0F-5B118AC1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259;p20">
            <a:extLst>
              <a:ext uri="{FF2B5EF4-FFF2-40B4-BE49-F238E27FC236}">
                <a16:creationId xmlns:a16="http://schemas.microsoft.com/office/drawing/2014/main" id="{32C153BC-F890-5F94-70BE-960B2481A015}"/>
              </a:ext>
            </a:extLst>
          </p:cNvPr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260;p20">
            <a:extLst>
              <a:ext uri="{FF2B5EF4-FFF2-40B4-BE49-F238E27FC236}">
                <a16:creationId xmlns:a16="http://schemas.microsoft.com/office/drawing/2014/main" id="{02638D74-D2CC-AE21-5A4F-181C65B212BE}"/>
              </a:ext>
            </a:extLst>
          </p:cNvPr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7" name="Google Shape;261;p20">
            <a:extLst>
              <a:ext uri="{FF2B5EF4-FFF2-40B4-BE49-F238E27FC236}">
                <a16:creationId xmlns:a16="http://schemas.microsoft.com/office/drawing/2014/main" id="{699CF67A-2D0C-0DE5-E086-D040EFD8FD4F}"/>
              </a:ext>
            </a:extLst>
          </p:cNvPr>
          <p:cNvSpPr/>
          <p:nvPr/>
        </p:nvSpPr>
        <p:spPr>
          <a:xfrm>
            <a:off x="4471920" y="3736080"/>
            <a:ext cx="32472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DB0C86AD-0ED7-554E-59B6-650C7BCE5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500796"/>
              </p:ext>
            </p:extLst>
          </p:nvPr>
        </p:nvGraphicFramePr>
        <p:xfrm>
          <a:off x="1870155" y="1433280"/>
          <a:ext cx="8127999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826002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47059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97688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effectLst/>
                          <a:latin typeface="Google Sans Text"/>
                        </a:rPr>
                        <a:t>Nº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Tópico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79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Algoritmos principais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1" dirty="0" err="1"/>
                        <a:t>Dijkstra</a:t>
                      </a:r>
                      <a:r>
                        <a:rPr lang="pt-BR" sz="1400" dirty="0"/>
                        <a:t> para caminhos mínimos, </a:t>
                      </a:r>
                      <a:r>
                        <a:rPr lang="pt-BR" sz="1400" b="1" dirty="0" err="1"/>
                        <a:t>Logit</a:t>
                      </a:r>
                      <a:r>
                        <a:rPr lang="pt-BR" sz="1400" b="1" dirty="0"/>
                        <a:t> </a:t>
                      </a:r>
                      <a:r>
                        <a:rPr lang="pt-BR" sz="1400" b="1" dirty="0" err="1"/>
                        <a:t>Multinomial</a:t>
                      </a:r>
                      <a:r>
                        <a:rPr lang="pt-BR" sz="1400" b="1" dirty="0"/>
                        <a:t> (MNL)</a:t>
                      </a:r>
                      <a:r>
                        <a:rPr lang="pt-BR" sz="1400" dirty="0"/>
                        <a:t> para escolha de saída e Autômatos Celulares para escadas.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4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Controle do 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Loop temporal com </a:t>
                      </a:r>
                      <a:r>
                        <a:rPr lang="pt-BR" sz="1400" b="1" dirty="0"/>
                        <a:t>3 frequências aninhadas</a:t>
                      </a:r>
                      <a:r>
                        <a:rPr lang="pt-BR" sz="1400" dirty="0"/>
                        <a:t> (FDS: 0.5s; Gêmeo Digital: 1.0s; ABM Agentes: 0.1s).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31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Dados de saída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Métricas de desempenho: </a:t>
                      </a:r>
                      <a:r>
                        <a:rPr lang="pt-BR" sz="1400" b="1" dirty="0"/>
                        <a:t>RSET</a:t>
                      </a:r>
                      <a:r>
                        <a:rPr lang="pt-BR" sz="1400" dirty="0"/>
                        <a:t>, </a:t>
                      </a:r>
                      <a:r>
                        <a:rPr lang="pt-BR" sz="1400" b="1" dirty="0"/>
                        <a:t>ASET</a:t>
                      </a:r>
                      <a:r>
                        <a:rPr lang="pt-BR" sz="1400" dirty="0"/>
                        <a:t>, Margem de Segurança, taxa de incapacitação e tempos de evacuação.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20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/>
                        <a:t>10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Visualização e validação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Simulações de </a:t>
                      </a:r>
                      <a:r>
                        <a:rPr lang="pt-BR" sz="1400" b="1" dirty="0"/>
                        <a:t>Monte Carlo (100+ réplicas)</a:t>
                      </a:r>
                      <a:r>
                        <a:rPr lang="pt-BR" sz="1400" dirty="0"/>
                        <a:t>, Análise de Sensibilidade de </a:t>
                      </a:r>
                      <a:r>
                        <a:rPr lang="pt-BR" sz="1400" dirty="0" err="1"/>
                        <a:t>Sobol</a:t>
                      </a:r>
                      <a:r>
                        <a:rPr lang="pt-BR" sz="1400" dirty="0"/>
                        <a:t> e validação ASET/RSET.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225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266;p21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Google Shape;267;p21"/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4. Computador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268;p21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6" name="Google Shape;269;p21"/>
          <p:cNvSpPr/>
          <p:nvPr/>
        </p:nvSpPr>
        <p:spPr>
          <a:xfrm>
            <a:off x="4471920" y="3736080"/>
            <a:ext cx="32472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274;p22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Google Shape;275;p22"/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5. Execução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276;p22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0" name="Google Shape;277;p22"/>
          <p:cNvSpPr/>
          <p:nvPr/>
        </p:nvSpPr>
        <p:spPr>
          <a:xfrm>
            <a:off x="4471920" y="3736080"/>
            <a:ext cx="32472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282;p23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Google Shape;283;p23"/>
          <p:cNvSpPr/>
          <p:nvPr/>
        </p:nvSpPr>
        <p:spPr>
          <a:xfrm>
            <a:off x="476280" y="476280"/>
            <a:ext cx="1171512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6. Observação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284;p23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4" name="Google Shape;285;p23"/>
          <p:cNvSpPr/>
          <p:nvPr/>
        </p:nvSpPr>
        <p:spPr>
          <a:xfrm>
            <a:off x="4471920" y="3736080"/>
            <a:ext cx="324720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290;p24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Google Shape;291;p24"/>
          <p:cNvSpPr/>
          <p:nvPr/>
        </p:nvSpPr>
        <p:spPr>
          <a:xfrm>
            <a:off x="476280" y="476280"/>
            <a:ext cx="1171512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Fontes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Google Shape;292;p24"/>
          <p:cNvSpPr/>
          <p:nvPr/>
        </p:nvSpPr>
        <p:spPr>
          <a:xfrm>
            <a:off x="476280" y="1019160"/>
            <a:ext cx="11238840" cy="27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040" rIns="90000" bIns="1404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8" name="Google Shape;293;p24"/>
          <p:cNvSpPr/>
          <p:nvPr/>
        </p:nvSpPr>
        <p:spPr>
          <a:xfrm>
            <a:off x="476280" y="1333440"/>
            <a:ext cx="11238840" cy="9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9" name="Google Shape;294;p24"/>
          <p:cNvSpPr/>
          <p:nvPr/>
        </p:nvSpPr>
        <p:spPr>
          <a:xfrm>
            <a:off x="476280" y="2266920"/>
            <a:ext cx="11238840" cy="864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0" name="Google Shape;295;p24"/>
          <p:cNvSpPr/>
          <p:nvPr/>
        </p:nvSpPr>
        <p:spPr>
          <a:xfrm>
            <a:off x="476280" y="2266920"/>
            <a:ext cx="11238840" cy="864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" rIns="90000" bIns="432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51" name="Google Shape;296;p24" descr="image.png"/>
          <p:cNvPicPr/>
          <p:nvPr/>
        </p:nvPicPr>
        <p:blipFill>
          <a:blip r:embed="rId3"/>
          <a:stretch/>
        </p:blipFill>
        <p:spPr>
          <a:xfrm>
            <a:off x="476280" y="1562040"/>
            <a:ext cx="856440" cy="47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Google Shape;297;p24"/>
          <p:cNvSpPr/>
          <p:nvPr/>
        </p:nvSpPr>
        <p:spPr>
          <a:xfrm>
            <a:off x="1571760" y="1476360"/>
            <a:ext cx="1014336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https://media.istockphoto.com/id/2233432395/photo/modern-apartment-buildings-reaching-for-the-sky-in-ipswich-suffolk-england.jpg?s=612x612&amp;w=0&amp;k=20&amp;c=PxnyT2t6pLrD1BssR2mS8kt9XULH-3QEKCa_M___G6o=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298;p24"/>
          <p:cNvSpPr/>
          <p:nvPr/>
        </p:nvSpPr>
        <p:spPr>
          <a:xfrm>
            <a:off x="1571760" y="1895400"/>
            <a:ext cx="1014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DM Sans"/>
                <a:ea typeface="DM Sans"/>
              </a:rPr>
              <a:t>www.istockphoto.com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299;p24"/>
          <p:cNvSpPr/>
          <p:nvPr/>
        </p:nvSpPr>
        <p:spPr>
          <a:xfrm>
            <a:off x="1571760" y="2426400"/>
            <a:ext cx="10143360" cy="18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https://www.achsng.com/sites/floorplans/Wilmerding-TypicalFloorPlan.jpg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300;p24"/>
          <p:cNvSpPr/>
          <p:nvPr/>
        </p:nvSpPr>
        <p:spPr>
          <a:xfrm>
            <a:off x="1571760" y="2659680"/>
            <a:ext cx="1014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DM Sans"/>
                <a:ea typeface="DM Sans"/>
              </a:rPr>
              <a:t>www.achsng.com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Google Shape;301;p24" descr="image.png"/>
          <p:cNvPicPr/>
          <p:nvPr/>
        </p:nvPicPr>
        <p:blipFill>
          <a:blip r:embed="rId4"/>
          <a:stretch/>
        </p:blipFill>
        <p:spPr>
          <a:xfrm>
            <a:off x="476280" y="2426400"/>
            <a:ext cx="856440" cy="475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06;p25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Google Shape;307;p25"/>
          <p:cNvSpPr/>
          <p:nvPr/>
        </p:nvSpPr>
        <p:spPr>
          <a:xfrm>
            <a:off x="571680" y="395280"/>
            <a:ext cx="1160100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Referências Bibliográficas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308;p25"/>
          <p:cNvSpPr/>
          <p:nvPr/>
        </p:nvSpPr>
        <p:spPr>
          <a:xfrm>
            <a:off x="571680" y="938160"/>
            <a:ext cx="11048400" cy="1836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360" rIns="90000" bIns="936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0" name="Google Shape;309;p25"/>
          <p:cNvSpPr/>
          <p:nvPr/>
        </p:nvSpPr>
        <p:spPr>
          <a:xfrm>
            <a:off x="905040" y="1081080"/>
            <a:ext cx="49521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Gwynne, S. M. V., et al. (2021).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Guidance on Representing Human Behavior in Egress Models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SFPE Handbook.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310;p25"/>
          <p:cNvSpPr/>
          <p:nvPr/>
        </p:nvSpPr>
        <p:spPr>
          <a:xfrm>
            <a:off x="905040" y="1738440"/>
            <a:ext cx="49521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Korhonen, T., &amp; Hostikka, S. (2020).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FDS+Evac: Technical Reference and User’s Guide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VTT Technical Research Centre.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Google Shape;311;p25"/>
          <p:cNvSpPr/>
          <p:nvPr/>
        </p:nvSpPr>
        <p:spPr>
          <a:xfrm>
            <a:off x="905040" y="2395440"/>
            <a:ext cx="49521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Lovreglio, R., et al. (2022).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Investigating exit choices in fire evacuation using VR experiments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Fire Safety Journal.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312;p25"/>
          <p:cNvSpPr/>
          <p:nvPr/>
        </p:nvSpPr>
        <p:spPr>
          <a:xfrm>
            <a:off x="905040" y="3052800"/>
            <a:ext cx="49521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Wang, H., et al. (2023).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A dynamic fire escape path planning method with BIM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Automation in Construction.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Google Shape;313;p25"/>
          <p:cNvSpPr/>
          <p:nvPr/>
        </p:nvSpPr>
        <p:spPr>
          <a:xfrm>
            <a:off x="905040" y="3710160"/>
            <a:ext cx="49521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Pelechano, N., et al. (2020).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Pedestrian Crowd Evacuation Under Panic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ACM TOMACS.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Google Shape;314;p25"/>
          <p:cNvSpPr/>
          <p:nvPr/>
        </p:nvSpPr>
        <p:spPr>
          <a:xfrm>
            <a:off x="6667560" y="1081080"/>
            <a:ext cx="49521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Zheng, X., et al. (2021).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Simulation of pedestrian evacuation in staircases based on CA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Physica 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Google Shape;315;p25"/>
          <p:cNvSpPr/>
          <p:nvPr/>
        </p:nvSpPr>
        <p:spPr>
          <a:xfrm>
            <a:off x="6667560" y="1738440"/>
            <a:ext cx="49521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Chen, J., et al. (2023).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An Integrated Method for Fire Risk Assessment in Residential Buildings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RESS.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316;p25"/>
          <p:cNvSpPr/>
          <p:nvPr/>
        </p:nvSpPr>
        <p:spPr>
          <a:xfrm>
            <a:off x="6667560" y="2395440"/>
            <a:ext cx="49521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Al Sadoon, A., et al. (2025).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Digital Twin Integration for Real-Time Fire Safety Management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IJDRR.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317;p25"/>
          <p:cNvSpPr/>
          <p:nvPr/>
        </p:nvSpPr>
        <p:spPr>
          <a:xfrm>
            <a:off x="6667560" y="3052800"/>
            <a:ext cx="49521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Starbuck, L., et al. (2024).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Simulating Mass Evacuation in High-Density Clusters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J. of Building Engineering.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Google Shape;318;p25"/>
          <p:cNvSpPr/>
          <p:nvPr/>
        </p:nvSpPr>
        <p:spPr>
          <a:xfrm>
            <a:off x="6667560" y="3710160"/>
            <a:ext cx="4952160" cy="51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Hui, Y., et al. (2024).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Coupled Fire-Simulation Algorithms for Dynamic Optimization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Safety Science.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Google Shape;319;p25" descr="image.png"/>
          <p:cNvPicPr/>
          <p:nvPr/>
        </p:nvPicPr>
        <p:blipFill>
          <a:blip r:embed="rId3"/>
          <a:stretch/>
        </p:blipFill>
        <p:spPr>
          <a:xfrm>
            <a:off x="571680" y="1123920"/>
            <a:ext cx="170640" cy="1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Google Shape;320;p25" descr="image.png"/>
          <p:cNvPicPr/>
          <p:nvPr/>
        </p:nvPicPr>
        <p:blipFill>
          <a:blip r:embed="rId3"/>
          <a:stretch/>
        </p:blipFill>
        <p:spPr>
          <a:xfrm>
            <a:off x="571680" y="1781280"/>
            <a:ext cx="170640" cy="1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Google Shape;321;p25" descr="image.png"/>
          <p:cNvPicPr/>
          <p:nvPr/>
        </p:nvPicPr>
        <p:blipFill>
          <a:blip r:embed="rId3"/>
          <a:stretch/>
        </p:blipFill>
        <p:spPr>
          <a:xfrm>
            <a:off x="571680" y="2438280"/>
            <a:ext cx="170640" cy="1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3" name="Google Shape;322;p25" descr="image.png"/>
          <p:cNvPicPr/>
          <p:nvPr/>
        </p:nvPicPr>
        <p:blipFill>
          <a:blip r:embed="rId3"/>
          <a:stretch/>
        </p:blipFill>
        <p:spPr>
          <a:xfrm>
            <a:off x="571680" y="3095640"/>
            <a:ext cx="170640" cy="1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Google Shape;323;p25" descr="image.png"/>
          <p:cNvPicPr/>
          <p:nvPr/>
        </p:nvPicPr>
        <p:blipFill>
          <a:blip r:embed="rId3"/>
          <a:stretch/>
        </p:blipFill>
        <p:spPr>
          <a:xfrm>
            <a:off x="571680" y="3753000"/>
            <a:ext cx="170640" cy="1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Google Shape;324;p25" descr="image.png"/>
          <p:cNvPicPr/>
          <p:nvPr/>
        </p:nvPicPr>
        <p:blipFill>
          <a:blip r:embed="rId3"/>
          <a:stretch/>
        </p:blipFill>
        <p:spPr>
          <a:xfrm>
            <a:off x="6334200" y="1123920"/>
            <a:ext cx="170640" cy="1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Google Shape;325;p25" descr="image.png"/>
          <p:cNvPicPr/>
          <p:nvPr/>
        </p:nvPicPr>
        <p:blipFill>
          <a:blip r:embed="rId3"/>
          <a:stretch/>
        </p:blipFill>
        <p:spPr>
          <a:xfrm>
            <a:off x="6334200" y="1781280"/>
            <a:ext cx="170640" cy="1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7" name="Google Shape;326;p25" descr="image.png"/>
          <p:cNvPicPr/>
          <p:nvPr/>
        </p:nvPicPr>
        <p:blipFill>
          <a:blip r:embed="rId3"/>
          <a:stretch/>
        </p:blipFill>
        <p:spPr>
          <a:xfrm>
            <a:off x="6334200" y="2438280"/>
            <a:ext cx="170640" cy="1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8" name="Google Shape;327;p25" descr="image.png"/>
          <p:cNvPicPr/>
          <p:nvPr/>
        </p:nvPicPr>
        <p:blipFill>
          <a:blip r:embed="rId3"/>
          <a:stretch/>
        </p:blipFill>
        <p:spPr>
          <a:xfrm>
            <a:off x="6334200" y="3095640"/>
            <a:ext cx="170640" cy="1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Google Shape;328;p25" descr="image.png"/>
          <p:cNvPicPr/>
          <p:nvPr/>
        </p:nvPicPr>
        <p:blipFill>
          <a:blip r:embed="rId3"/>
          <a:stretch/>
        </p:blipFill>
        <p:spPr>
          <a:xfrm>
            <a:off x="6334200" y="3753000"/>
            <a:ext cx="170640" cy="199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1960</Words>
  <Application>Microsoft Office PowerPoint</Application>
  <PresentationFormat>Widescreen</PresentationFormat>
  <Paragraphs>262</Paragraphs>
  <Slides>25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5" baseType="lpstr">
      <vt:lpstr>Symbol</vt:lpstr>
      <vt:lpstr>Arial</vt:lpstr>
      <vt:lpstr>DM Sans Medium</vt:lpstr>
      <vt:lpstr>Calibri</vt:lpstr>
      <vt:lpstr>Times New Roman</vt:lpstr>
      <vt:lpstr>Wingdings</vt:lpstr>
      <vt:lpstr>Merriweather</vt:lpstr>
      <vt:lpstr>Google Sans Text</vt:lpstr>
      <vt:lpstr>DM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Marcos Mattedi</dc:creator>
  <dc:description/>
  <cp:lastModifiedBy>Gustavo Henrique Probst</cp:lastModifiedBy>
  <cp:revision>4</cp:revision>
  <dcterms:modified xsi:type="dcterms:W3CDTF">2026-05-25T23:10:45Z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Widescreen</vt:lpwstr>
  </property>
  <property fmtid="{D5CDD505-2E9C-101B-9397-08002B2CF9AE}" pid="4" name="Slides">
    <vt:i4>14</vt:i4>
  </property>
</Properties>
</file>