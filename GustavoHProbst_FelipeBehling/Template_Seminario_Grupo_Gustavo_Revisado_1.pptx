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3.xml" ContentType="application/vnd.openxmlformats-officedocument.theme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10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embedTrueTypeFonts="1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12192000" cy="6858000"/>
  <p:notesSz cx="6858000" cy="9144000"/>
  <p:embeddedFontLst>
    <p:embeddedFont>
      <p:font typeface="DM Sans"/>
      <p:regular r:id="rId20"/>
      <p:bold r:id="rId21"/>
      <p:italic r:id="rId22"/>
    </p:embeddedFont>
    <p:embeddedFont>
      <p:font typeface="DM Sans Medium"/>
    </p:embeddedFont>
    <p:embeddedFont>
      <p:font typeface="Merriweather"/>
      <p:regular r:id="rId23"/>
      <p:bold r:id="rId24"/>
    </p:embeddedFont>
  </p:embeddedFon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font" Target="fonts/Font_1_DM_Sans_Regular.fntdata"/><Relationship Id="rId21" Type="http://schemas.openxmlformats.org/officeDocument/2006/relationships/font" Target="fonts/Font_2_DM_Sans_Bold.fntdata"/><Relationship Id="rId22" Type="http://schemas.openxmlformats.org/officeDocument/2006/relationships/font" Target="fonts/Font_3_DM_Sans_Italic.fntdata"/><Relationship Id="rId23" Type="http://schemas.openxmlformats.org/officeDocument/2006/relationships/font" Target="fonts/Font_4_Merriweather_Regular.fntdata"/><Relationship Id="rId24" Type="http://schemas.openxmlformats.org/officeDocument/2006/relationships/font" Target="fonts/Font_5_Merriweather_Bold.fntdata"/><Relationship Id="rId2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mover o slide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notas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&lt;cabeçalho&gt;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5D880DAB-02E4-453A-B7EF-BA020787E158}" type="slidenum"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35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 algn="l">
              <a:buNone/>
            </a:pP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PlaceHolder 3"/>
          <p:cNvSpPr>
            <a:spLocks noGrp="1"/>
          </p:cNvSpPr>
          <p:nvPr>
            <p:ph type="sldNum" idx="3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>
              <a:lnSpc>
                <a:spcPct val="100000"/>
              </a:lnSpc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l">
              <a:lnSpc>
                <a:spcPct val="100000"/>
              </a:lnSpc>
              <a:buNone/>
            </a:pPr>
            <a:fld id="{C448E021-19CB-4738-A9ED-AFE9AC7D191D}" type="slidenum"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B1DB524F-9128-4859-A9D3-9EEFD83CF742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10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VERTICAL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85000" lnSpcReduction="9999"/>
          </a:bodyPr>
          <a:lstStyle>
            <a:lvl1pPr indent="0" algn="l">
              <a:buNone/>
              <a:defRPr lang="pt-BR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pt-B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lang="pt-B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 rot="5400000">
            <a:off x="2309400" y="-251640"/>
            <a:ext cx="4525560" cy="8229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4308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4308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4308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4308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21E5FD15-01B0-45B0-9B7D-C9F1F4E4AAD3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_TITLE_AND_VERTICAL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 rot="5400000">
            <a:off x="4732560" y="2171520"/>
            <a:ext cx="5851080" cy="2057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>
              <a:buNone/>
              <a:defRPr lang="pt-BR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pt-B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lang="pt-B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 rot="5400000">
            <a:off x="541800" y="190080"/>
            <a:ext cx="5851080" cy="6019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4308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4308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4308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4308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7CA69097-8E90-4EF4-B101-034408113915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de Título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>
              <a:buNone/>
              <a:defRPr lang="pt-BR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pt-B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lang="pt-B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5439013A-9577-4B76-BDEA-87095B8DA9C6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OBJEC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85000" lnSpcReduction="9999"/>
          </a:bodyPr>
          <a:lstStyle>
            <a:lvl1pPr indent="0" algn="l">
              <a:buNone/>
              <a:defRPr lang="pt-BR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pt-B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lang="pt-B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4308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4308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4308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4308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5C2C7662-1C31-4CDE-A282-942E7CA3B139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>
              <a:buNone/>
              <a:defRPr lang="pt-BR" sz="4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pt-BR" sz="4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lang="pt-BR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 fontScale="550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286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286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286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3AEB674C-AFA3-4515-9B6F-41F0480DB852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_OBJECTS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85000" lnSpcReduction="9999"/>
          </a:bodyPr>
          <a:lstStyle>
            <a:lvl1pPr indent="0" algn="l">
              <a:buNone/>
              <a:defRPr lang="pt-BR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pt-B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lang="pt-B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700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40644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8088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5568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4308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700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40644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8088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5568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4308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430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6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A18A3DF2-73C2-4BDF-8C6D-DEE3F0C2800D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WO_OBJECTS_WITH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85000" lnSpcReduction="9999"/>
          </a:bodyPr>
          <a:lstStyle>
            <a:lvl1pPr indent="0" algn="l">
              <a:buNone/>
              <a:defRPr lang="pt-BR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pt-B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lang="pt-B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 fontScale="250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286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286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286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775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8088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5568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4308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3012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301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301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301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 fontScale="250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286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286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286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775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8088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5568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4308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3012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301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301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301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8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7A53853B-643E-4729-8118-0E252E3409D0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85000" lnSpcReduction="9999"/>
          </a:bodyPr>
          <a:lstStyle>
            <a:lvl1pPr indent="0" algn="l">
              <a:buNone/>
              <a:defRPr lang="pt-BR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pt-B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lang="pt-B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1744735D-15DC-4B37-B8CA-E98E3B6E4D01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BJECT_WITH_CAPTION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>
            <a:lvl1pPr indent="0" algn="l">
              <a:buNone/>
              <a:def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85000" lnSpcReduction="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43164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40644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8088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5568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556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556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5568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550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286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286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286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382E723E-0F92-4A2A-8125-7E8DF07A87F7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_WITH_CAPTION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>
            <a:lvl1pPr indent="0" algn="l">
              <a:buNone/>
              <a:def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250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286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286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286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83AC05F5-B179-4082-81BB-DDF70FD68512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6.png"/><Relationship Id="rId3" Type="http://schemas.openxmlformats.org/officeDocument/2006/relationships/image" Target="../media/image5.png"/><Relationship Id="rId4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image" Target="../media/image8.png"/><Relationship Id="rId4" Type="http://schemas.openxmlformats.org/officeDocument/2006/relationships/image" Target="../media/image8.png"/><Relationship Id="rId5" Type="http://schemas.openxmlformats.org/officeDocument/2006/relationships/image" Target="../media/image8.png"/><Relationship Id="rId6" Type="http://schemas.openxmlformats.org/officeDocument/2006/relationships/image" Target="../media/image8.png"/><Relationship Id="rId7" Type="http://schemas.openxmlformats.org/officeDocument/2006/relationships/image" Target="../media/image8.png"/><Relationship Id="rId8" Type="http://schemas.openxmlformats.org/officeDocument/2006/relationships/image" Target="../media/image8.png"/><Relationship Id="rId9" Type="http://schemas.openxmlformats.org/officeDocument/2006/relationships/image" Target="../media/image8.png"/><Relationship Id="rId10" Type="http://schemas.openxmlformats.org/officeDocument/2006/relationships/image" Target="../media/image8.png"/><Relationship Id="rId11" Type="http://schemas.openxmlformats.org/officeDocument/2006/relationships/image" Target="../media/image8.png"/><Relationship Id="rId1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3F0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84;p13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0" name="Google Shape;85;p13"/>
          <p:cNvSpPr/>
          <p:nvPr/>
        </p:nvSpPr>
        <p:spPr>
          <a:xfrm>
            <a:off x="1995480" y="1603800"/>
            <a:ext cx="8200800" cy="130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>
              <a:lnSpc>
                <a:spcPct val="110000"/>
              </a:lnSpc>
              <a:tabLst>
                <a:tab pos="0" algn="l"/>
              </a:tabLst>
            </a:pPr>
            <a:r>
              <a:rPr lang="en-US" sz="4050" b="1" u="none" strike="noStrike">
                <a:solidFill>
                  <a:srgbClr val="005088"/>
                </a:solidFill>
                <a:effectLst/>
                <a:uFillTx/>
                <a:latin typeface="Merriweather"/>
                <a:ea typeface="Merriweather"/>
              </a:rPr>
              <a:t>Simulação de Evacuação de</a:t>
            </a:r>
            <a:br>
              <a:rPr sz="1800"/>
            </a:br>
            <a:r>
              <a:rPr lang="en-US" sz="4050" b="1" u="none" strike="noStrike">
                <a:solidFill>
                  <a:srgbClr val="005088"/>
                </a:solidFill>
                <a:effectLst/>
                <a:uFillTx/>
                <a:latin typeface="Merriweather"/>
                <a:ea typeface="Merriweather"/>
              </a:rPr>
              <a:t> Edifícios em Chamas</a:t>
            </a:r>
            <a:endParaRPr lang="pt-BR" sz="4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Google Shape;86;p13"/>
          <p:cNvSpPr/>
          <p:nvPr/>
        </p:nvSpPr>
        <p:spPr>
          <a:xfrm>
            <a:off x="2190600" y="3389760"/>
            <a:ext cx="7810200" cy="32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>
              <a:lnSpc>
                <a:spcPct val="150000"/>
              </a:lnSpc>
              <a:tabLst>
                <a:tab pos="0" algn="l"/>
              </a:tabLst>
            </a:pPr>
            <a:r>
              <a:rPr lang="en-US" sz="2100" b="0" u="none" strike="noStrike">
                <a:solidFill>
                  <a:srgbClr val="005088"/>
                </a:solidFill>
                <a:effectLst/>
                <a:uFillTx/>
                <a:latin typeface="DM Sans"/>
                <a:ea typeface="DM Sans"/>
              </a:rPr>
              <a:t>MÓDULO V - SEMINÁRIO DE APRESENTAÇÃO DOS RESULTADOS</a:t>
            </a:r>
            <a:endParaRPr lang="pt-BR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Google Shape;87;p13"/>
          <p:cNvSpPr/>
          <p:nvPr/>
        </p:nvSpPr>
        <p:spPr>
          <a:xfrm>
            <a:off x="2190600" y="4028040"/>
            <a:ext cx="7810200" cy="19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>
              <a:lnSpc>
                <a:spcPct val="149000"/>
              </a:lnSpc>
              <a:tabLst>
                <a:tab pos="0" algn="l"/>
              </a:tabLst>
            </a:pPr>
            <a:r>
              <a:rPr lang="en-US" sz="1280" b="1" u="none" strike="noStrike">
                <a:solidFill>
                  <a:srgbClr val="334155"/>
                </a:solidFill>
                <a:effectLst/>
                <a:uFillTx/>
                <a:latin typeface="DM Sans"/>
                <a:ea typeface="DM Sans"/>
              </a:rPr>
              <a:t>Autores:</a:t>
            </a:r>
            <a:r>
              <a:rPr lang="en-US" sz="1280" b="0" u="none" strike="noStrike">
                <a:solidFill>
                  <a:srgbClr val="334155"/>
                </a:solidFill>
                <a:effectLst/>
                <a:uFillTx/>
                <a:latin typeface="DM Sans"/>
                <a:ea typeface="DM Sans"/>
              </a:rPr>
              <a:t> Gustavo Henrique Probst e Felipe Behling</a:t>
            </a:r>
            <a:endParaRPr lang="pt-BR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Google Shape;88;p13"/>
          <p:cNvSpPr/>
          <p:nvPr/>
        </p:nvSpPr>
        <p:spPr>
          <a:xfrm>
            <a:off x="2190600" y="4432680"/>
            <a:ext cx="7810200" cy="19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>
              <a:lnSpc>
                <a:spcPct val="149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334155"/>
                </a:solidFill>
                <a:effectLst/>
                <a:uFillTx/>
                <a:latin typeface="DM Sans"/>
                <a:ea typeface="DM Sans"/>
              </a:rPr>
              <a:t>Maio de 2026</a:t>
            </a:r>
            <a:endParaRPr lang="pt-BR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3F0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93;p14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5" name="Google Shape;94;p14"/>
          <p:cNvSpPr/>
          <p:nvPr/>
        </p:nvSpPr>
        <p:spPr>
          <a:xfrm>
            <a:off x="476280" y="476280"/>
            <a:ext cx="11715480" cy="47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850" b="1" u="none" strike="noStrike">
                <a:solidFill>
                  <a:srgbClr val="005088"/>
                </a:solidFill>
                <a:effectLst/>
                <a:uFillTx/>
                <a:latin typeface="Merriweather"/>
                <a:ea typeface="Merriweather"/>
              </a:rPr>
              <a:t>Estrutura da Apresentação</a:t>
            </a:r>
            <a:endParaRPr lang="pt-BR" sz="2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Google Shape;95;p14"/>
          <p:cNvSpPr/>
          <p:nvPr/>
        </p:nvSpPr>
        <p:spPr>
          <a:xfrm>
            <a:off x="476280" y="1019160"/>
            <a:ext cx="11239200" cy="28080"/>
          </a:xfrm>
          <a:prstGeom prst="rect">
            <a:avLst/>
          </a:prstGeom>
          <a:solidFill>
            <a:srgbClr val="0050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14040" bIns="14040" anchor="ctr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7" name="Google Shape;96;p14"/>
          <p:cNvSpPr/>
          <p:nvPr/>
        </p:nvSpPr>
        <p:spPr>
          <a:xfrm>
            <a:off x="476280" y="1333440"/>
            <a:ext cx="11239200" cy="284292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4A7DB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graphicFrame>
        <p:nvGraphicFramePr>
          <p:cNvPr id="78" name="Google Shape;97;p14"/>
          <p:cNvGraphicFramePr/>
          <p:nvPr/>
        </p:nvGraphicFramePr>
        <p:xfrm>
          <a:off x="476280" y="1333440"/>
          <a:ext cx="11239200" cy="2842920"/>
        </p:xfrm>
        <a:graphic>
          <a:graphicData uri="http://schemas.openxmlformats.org/drawingml/2006/table">
            <a:tbl>
              <a:tblPr/>
              <a:tblGrid>
                <a:gridCol w="1123920"/>
                <a:gridCol w="2809800"/>
                <a:gridCol w="7305480"/>
              </a:tblGrid>
              <a:tr h="406080"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3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DM Sans Medium"/>
                          <a:ea typeface="DM Sans Medium"/>
                        </a:rPr>
                        <a:t>Etapa</a:t>
                      </a:r>
                      <a:endParaRPr lang="pt-BR" sz="113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3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DM Sans Medium"/>
                          <a:ea typeface="DM Sans Medium"/>
                        </a:rPr>
                        <a:t>Nome</a:t>
                      </a:r>
                      <a:endParaRPr lang="pt-BR" sz="113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3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DM Sans Medium"/>
                          <a:ea typeface="DM Sans Medium"/>
                        </a:rPr>
                        <a:t>Descrição</a:t>
                      </a:r>
                      <a:endParaRPr lang="pt-BR" sz="113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005088"/>
                    </a:solidFill>
                  </a:tcPr>
                </a:tc>
              </a:tr>
              <a:tr h="406080"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DM Sans"/>
                          <a:ea typeface="DM Sans"/>
                        </a:rPr>
                        <a:t>1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DM Sans"/>
                          <a:ea typeface="DM Sans"/>
                        </a:rPr>
                        <a:t>Sistema de Referência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DM Sans"/>
                          <a:ea typeface="DM Sans"/>
                        </a:rPr>
                        <a:t>Caracterização do cenário real a ser transposto para o modelo (edificação, população e fenômeno).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</a:tr>
              <a:tr h="406080"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DM Sans"/>
                          <a:ea typeface="DM Sans"/>
                        </a:rPr>
                        <a:t>2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DM Sans"/>
                          <a:ea typeface="DM Sans"/>
                        </a:rPr>
                        <a:t>Modelagem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DM Sans"/>
                          <a:ea typeface="DM Sans"/>
                        </a:rPr>
                        <a:t>Abstração do sistema através de regras de comportamento, agentes inteligentes e topologia do ambiente.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  <a:tr h="406080"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DM Sans"/>
                          <a:ea typeface="DM Sans"/>
                        </a:rPr>
                        <a:t>3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DM Sans"/>
                          <a:ea typeface="DM Sans"/>
                        </a:rPr>
                        <a:t>Formalismo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DM Sans"/>
                          <a:ea typeface="DM Sans"/>
                        </a:rPr>
                        <a:t>Sistematização lógica e matemática para tradução do modelo em uma linguagem rigorosa.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</a:tr>
              <a:tr h="406080"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DM Sans"/>
                          <a:ea typeface="DM Sans"/>
                        </a:rPr>
                        <a:t>4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DM Sans"/>
                          <a:ea typeface="DM Sans"/>
                        </a:rPr>
                        <a:t>Computador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DM Sans"/>
                          <a:ea typeface="DM Sans"/>
                        </a:rPr>
                        <a:t>Desenvolvimento e arquitetura do código-fonte responsável pela execução da simulação.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  <a:tr h="406080"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DM Sans"/>
                          <a:ea typeface="DM Sans"/>
                        </a:rPr>
                        <a:t>5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DM Sans"/>
                          <a:ea typeface="DM Sans"/>
                        </a:rPr>
                        <a:t>Execução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DM Sans"/>
                          <a:ea typeface="DM Sans"/>
                        </a:rPr>
                        <a:t>Testagem de hipóteses em diferentes configurações e cenários de propagação de incêndio.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</a:tr>
              <a:tr h="406080"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DM Sans"/>
                          <a:ea typeface="DM Sans"/>
                        </a:rPr>
                        <a:t>6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DM Sans"/>
                          <a:ea typeface="DM Sans"/>
                        </a:rPr>
                        <a:t>Observação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DM Sans"/>
                          <a:ea typeface="DM Sans"/>
                        </a:rPr>
                        <a:t>Monitoramento de métricas, extração de dados brutos e validação estatística dos resultados.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9" name="Google Shape;98;p14"/>
          <p:cNvSpPr/>
          <p:nvPr/>
        </p:nvSpPr>
        <p:spPr>
          <a:xfrm>
            <a:off x="476280" y="2162160"/>
            <a:ext cx="112356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0" name="Google Shape;99;p14"/>
          <p:cNvSpPr/>
          <p:nvPr/>
        </p:nvSpPr>
        <p:spPr>
          <a:xfrm>
            <a:off x="1600200" y="2162160"/>
            <a:ext cx="280944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1" name="Google Shape;100;p14"/>
          <p:cNvSpPr/>
          <p:nvPr/>
        </p:nvSpPr>
        <p:spPr>
          <a:xfrm>
            <a:off x="4410000" y="2162160"/>
            <a:ext cx="730548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2" name="Google Shape;101;p14"/>
          <p:cNvSpPr/>
          <p:nvPr/>
        </p:nvSpPr>
        <p:spPr>
          <a:xfrm>
            <a:off x="476280" y="2562120"/>
            <a:ext cx="112356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3" name="Google Shape;102;p14"/>
          <p:cNvSpPr/>
          <p:nvPr/>
        </p:nvSpPr>
        <p:spPr>
          <a:xfrm>
            <a:off x="1600200" y="2562120"/>
            <a:ext cx="280944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4" name="Google Shape;103;p14"/>
          <p:cNvSpPr/>
          <p:nvPr/>
        </p:nvSpPr>
        <p:spPr>
          <a:xfrm>
            <a:off x="4410000" y="2562120"/>
            <a:ext cx="730548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5" name="Google Shape;104;p14"/>
          <p:cNvSpPr/>
          <p:nvPr/>
        </p:nvSpPr>
        <p:spPr>
          <a:xfrm>
            <a:off x="476280" y="2962440"/>
            <a:ext cx="112356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6" name="Google Shape;105;p14"/>
          <p:cNvSpPr/>
          <p:nvPr/>
        </p:nvSpPr>
        <p:spPr>
          <a:xfrm>
            <a:off x="1600200" y="2962440"/>
            <a:ext cx="280944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7" name="Google Shape;106;p14"/>
          <p:cNvSpPr/>
          <p:nvPr/>
        </p:nvSpPr>
        <p:spPr>
          <a:xfrm>
            <a:off x="4410000" y="2962440"/>
            <a:ext cx="730548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8" name="Google Shape;107;p14"/>
          <p:cNvSpPr/>
          <p:nvPr/>
        </p:nvSpPr>
        <p:spPr>
          <a:xfrm>
            <a:off x="476280" y="3362400"/>
            <a:ext cx="112356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9" name="Google Shape;108;p14"/>
          <p:cNvSpPr/>
          <p:nvPr/>
        </p:nvSpPr>
        <p:spPr>
          <a:xfrm>
            <a:off x="1600200" y="3362400"/>
            <a:ext cx="280944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0" name="Google Shape;109;p14"/>
          <p:cNvSpPr/>
          <p:nvPr/>
        </p:nvSpPr>
        <p:spPr>
          <a:xfrm>
            <a:off x="4410000" y="3362400"/>
            <a:ext cx="730548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1" name="Google Shape;110;p14"/>
          <p:cNvSpPr/>
          <p:nvPr/>
        </p:nvSpPr>
        <p:spPr>
          <a:xfrm>
            <a:off x="476280" y="3762360"/>
            <a:ext cx="112356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2" name="Google Shape;111;p14"/>
          <p:cNvSpPr/>
          <p:nvPr/>
        </p:nvSpPr>
        <p:spPr>
          <a:xfrm>
            <a:off x="1600200" y="3762360"/>
            <a:ext cx="280944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3" name="Google Shape;112;p14"/>
          <p:cNvSpPr/>
          <p:nvPr/>
        </p:nvSpPr>
        <p:spPr>
          <a:xfrm>
            <a:off x="4410000" y="3762360"/>
            <a:ext cx="730548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4" name="Google Shape;113;p14"/>
          <p:cNvSpPr/>
          <p:nvPr/>
        </p:nvSpPr>
        <p:spPr>
          <a:xfrm>
            <a:off x="476280" y="4162320"/>
            <a:ext cx="112356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5" name="Google Shape;114;p14"/>
          <p:cNvSpPr/>
          <p:nvPr/>
        </p:nvSpPr>
        <p:spPr>
          <a:xfrm>
            <a:off x="1600200" y="4162320"/>
            <a:ext cx="280944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6" name="Google Shape;115;p14"/>
          <p:cNvSpPr/>
          <p:nvPr/>
        </p:nvSpPr>
        <p:spPr>
          <a:xfrm>
            <a:off x="4410000" y="4162320"/>
            <a:ext cx="730548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3F0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120;p15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8" name="Google Shape;121;p15" descr="image.png"/>
          <p:cNvPicPr/>
          <p:nvPr/>
        </p:nvPicPr>
        <p:blipFill>
          <a:blip r:embed="rId2"/>
          <a:stretch/>
        </p:blipFill>
        <p:spPr>
          <a:xfrm>
            <a:off x="6286680" y="1333440"/>
            <a:ext cx="5428800" cy="3333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9" name="Google Shape;122;p15"/>
          <p:cNvSpPr/>
          <p:nvPr/>
        </p:nvSpPr>
        <p:spPr>
          <a:xfrm>
            <a:off x="476280" y="476280"/>
            <a:ext cx="11715480" cy="47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850" b="1" u="none" strike="noStrike">
                <a:solidFill>
                  <a:srgbClr val="005088"/>
                </a:solidFill>
                <a:effectLst/>
                <a:uFillTx/>
                <a:latin typeface="Merriweather"/>
                <a:ea typeface="Merriweather"/>
              </a:rPr>
              <a:t>1. Sistema de Referência</a:t>
            </a:r>
            <a:endParaRPr lang="pt-BR" sz="2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Google Shape;123;p15"/>
          <p:cNvSpPr/>
          <p:nvPr/>
        </p:nvSpPr>
        <p:spPr>
          <a:xfrm>
            <a:off x="476280" y="1019160"/>
            <a:ext cx="11239200" cy="28080"/>
          </a:xfrm>
          <a:prstGeom prst="rect">
            <a:avLst/>
          </a:prstGeom>
          <a:solidFill>
            <a:srgbClr val="0050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14040" bIns="14040" anchor="ctr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1" name="Google Shape;124;p15"/>
          <p:cNvSpPr/>
          <p:nvPr/>
        </p:nvSpPr>
        <p:spPr>
          <a:xfrm>
            <a:off x="476280" y="1495440"/>
            <a:ext cx="5428800" cy="121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49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334155"/>
                </a:solidFill>
                <a:effectLst/>
                <a:uFillTx/>
                <a:latin typeface="DM Sans"/>
                <a:ea typeface="DM Sans"/>
              </a:rPr>
              <a:t>O foco central deste estudo é a resiliência de </a:t>
            </a:r>
            <a:r>
              <a:rPr lang="en-US" sz="1280" b="1" u="none" strike="noStrike">
                <a:solidFill>
                  <a:srgbClr val="334155"/>
                </a:solidFill>
                <a:effectLst/>
                <a:uFillTx/>
                <a:latin typeface="DM Sans"/>
                <a:ea typeface="DM Sans"/>
              </a:rPr>
              <a:t>edifícios residenciais verticais</a:t>
            </a:r>
            <a:r>
              <a:rPr lang="en-US" sz="1280" b="0" u="none" strike="noStrike">
                <a:solidFill>
                  <a:srgbClr val="334155"/>
                </a:solidFill>
                <a:effectLst/>
                <a:uFillTx/>
                <a:latin typeface="DM Sans"/>
                <a:ea typeface="DM Sans"/>
              </a:rPr>
              <a:t> de 30 pavimentos frente a sinistros ígneos. A complexidade do sistema reside na alta densidade populacional distribuída em uma estrutura de 120 metros de altura, onde a evacuação vertical é a única rota de sobrevivência viável.</a:t>
            </a:r>
            <a:endParaRPr lang="pt-BR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Google Shape;125;p15"/>
          <p:cNvSpPr/>
          <p:nvPr/>
        </p:nvSpPr>
        <p:spPr>
          <a:xfrm>
            <a:off x="476280" y="2871720"/>
            <a:ext cx="5428800" cy="2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49000"/>
              </a:lnSpc>
              <a:tabLst>
                <a:tab pos="0" algn="l"/>
              </a:tabLst>
            </a:pPr>
            <a:r>
              <a:rPr lang="en-US" sz="1280" b="1" u="none" strike="noStrike">
                <a:solidFill>
                  <a:srgbClr val="334155"/>
                </a:solidFill>
                <a:effectLst/>
                <a:uFillTx/>
                <a:latin typeface="DM Sans"/>
                <a:ea typeface="DM Sans"/>
              </a:rPr>
              <a:t>Fatores Críticos Expandidos:</a:t>
            </a:r>
            <a:endParaRPr lang="pt-BR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Google Shape;126;p15"/>
          <p:cNvSpPr/>
          <p:nvPr/>
        </p:nvSpPr>
        <p:spPr>
          <a:xfrm>
            <a:off x="6286680" y="4943520"/>
            <a:ext cx="542880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050" b="0" i="1" u="none" strike="noStrike">
                <a:solidFill>
                  <a:srgbClr val="334155"/>
                </a:solidFill>
                <a:effectLst/>
                <a:uFillTx/>
                <a:latin typeface="DM Sans"/>
                <a:ea typeface="DM Sans"/>
              </a:rPr>
              <a:t>O sistema integra variáveis físicas do fogo e psicossociais dos ocupantes para garantir que a simulação reflita a incerteza de emergências reais.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Google Shape;127;p15"/>
          <p:cNvSpPr/>
          <p:nvPr/>
        </p:nvSpPr>
        <p:spPr>
          <a:xfrm>
            <a:off x="714240" y="3276720"/>
            <a:ext cx="5190840" cy="72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49000"/>
              </a:lnSpc>
              <a:tabLst>
                <a:tab pos="0" algn="l"/>
              </a:tabLst>
            </a:pPr>
            <a:r>
              <a:rPr lang="en-US" sz="1280" b="1" u="none" strike="noStrike">
                <a:solidFill>
                  <a:srgbClr val="334155"/>
                </a:solidFill>
                <a:effectLst/>
                <a:uFillTx/>
                <a:latin typeface="DM Sans"/>
                <a:ea typeface="DM Sans"/>
              </a:rPr>
              <a:t>Efeito Chaminé:</a:t>
            </a:r>
            <a:r>
              <a:rPr lang="en-US" sz="1280" b="0" u="none" strike="noStrike">
                <a:solidFill>
                  <a:srgbClr val="334155"/>
                </a:solidFill>
                <a:effectLst/>
                <a:uFillTx/>
                <a:latin typeface="DM Sans"/>
                <a:ea typeface="DM Sans"/>
              </a:rPr>
              <a:t> Propagação acelerada de gases quentes através de poços de elevador e escadarias, comprometendo a visibilidade e a respirabilidade em poucos minutos.</a:t>
            </a:r>
            <a:endParaRPr lang="pt-BR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Google Shape;128;p15"/>
          <p:cNvSpPr/>
          <p:nvPr/>
        </p:nvSpPr>
        <p:spPr>
          <a:xfrm>
            <a:off x="714240" y="4119480"/>
            <a:ext cx="5190840" cy="72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49000"/>
              </a:lnSpc>
              <a:tabLst>
                <a:tab pos="0" algn="l"/>
              </a:tabLst>
            </a:pPr>
            <a:r>
              <a:rPr lang="en-US" sz="1280" b="1" u="none" strike="noStrike">
                <a:solidFill>
                  <a:srgbClr val="334155"/>
                </a:solidFill>
                <a:effectLst/>
                <a:uFillTx/>
                <a:latin typeface="DM Sans"/>
                <a:ea typeface="DM Sans"/>
              </a:rPr>
              <a:t>Paradigma ASET/RSET:</a:t>
            </a:r>
            <a:r>
              <a:rPr lang="en-US" sz="1280" b="0" u="none" strike="noStrike">
                <a:solidFill>
                  <a:srgbClr val="334155"/>
                </a:solidFill>
                <a:effectLst/>
                <a:uFillTx/>
                <a:latin typeface="DM Sans"/>
                <a:ea typeface="DM Sans"/>
              </a:rPr>
              <a:t> O tempo disponível para saída segura (ASET) é dinamicamente reduzido pela toxicidade do ambiente, desafiando o tempo necessário para escape (RSET).</a:t>
            </a:r>
            <a:endParaRPr lang="pt-BR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Google Shape;129;p15"/>
          <p:cNvSpPr/>
          <p:nvPr/>
        </p:nvSpPr>
        <p:spPr>
          <a:xfrm>
            <a:off x="714240" y="4962600"/>
            <a:ext cx="5190840" cy="97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49000"/>
              </a:lnSpc>
              <a:tabLst>
                <a:tab pos="0" algn="l"/>
              </a:tabLst>
            </a:pPr>
            <a:r>
              <a:rPr lang="en-US" sz="1280" b="1" u="none" strike="noStrike">
                <a:solidFill>
                  <a:srgbClr val="334155"/>
                </a:solidFill>
                <a:effectLst/>
                <a:uFillTx/>
                <a:latin typeface="DM Sans"/>
                <a:ea typeface="DM Sans"/>
              </a:rPr>
              <a:t>Mobilidade e Stress:</a:t>
            </a:r>
            <a:r>
              <a:rPr lang="en-US" sz="1280" b="0" u="none" strike="noStrike">
                <a:solidFill>
                  <a:srgbClr val="334155"/>
                </a:solidFill>
                <a:effectLst/>
                <a:uFillTx/>
                <a:latin typeface="DM Sans"/>
                <a:ea typeface="DM Sans"/>
              </a:rPr>
              <a:t> A população de 180 indivíduos apresenta perfis heterogêneos, incluindo grupos com mobilidade reduzida cujos tempos de reação são afetados pela barreira psicológica do pânico.</a:t>
            </a:r>
            <a:endParaRPr lang="pt-BR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7" name="Google Shape;130;p15" descr="image.png"/>
          <p:cNvPicPr/>
          <p:nvPr/>
        </p:nvPicPr>
        <p:blipFill>
          <a:blip r:embed="rId3"/>
          <a:stretch/>
        </p:blipFill>
        <p:spPr>
          <a:xfrm>
            <a:off x="6305400" y="1352520"/>
            <a:ext cx="5390640" cy="3295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8" name="Google Shape;131;p15"/>
          <p:cNvSpPr/>
          <p:nvPr/>
        </p:nvSpPr>
        <p:spPr>
          <a:xfrm>
            <a:off x="476280" y="3276720"/>
            <a:ext cx="6624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49000"/>
              </a:lnSpc>
              <a:tabLst>
                <a:tab pos="0" algn="l"/>
              </a:tabLst>
            </a:pPr>
            <a:r>
              <a:rPr lang="en-US" sz="1280" b="1" u="none" strike="noStrike">
                <a:solidFill>
                  <a:srgbClr val="005088"/>
                </a:solidFill>
                <a:effectLst/>
                <a:uFillTx/>
                <a:latin typeface="DM Sans"/>
                <a:ea typeface="DM Sans"/>
              </a:rPr>
              <a:t>•</a:t>
            </a:r>
            <a:endParaRPr lang="pt-BR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Google Shape;132;p15"/>
          <p:cNvSpPr/>
          <p:nvPr/>
        </p:nvSpPr>
        <p:spPr>
          <a:xfrm>
            <a:off x="476280" y="4119480"/>
            <a:ext cx="6624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49000"/>
              </a:lnSpc>
              <a:tabLst>
                <a:tab pos="0" algn="l"/>
              </a:tabLst>
            </a:pPr>
            <a:r>
              <a:rPr lang="en-US" sz="1280" b="1" u="none" strike="noStrike">
                <a:solidFill>
                  <a:srgbClr val="005088"/>
                </a:solidFill>
                <a:effectLst/>
                <a:uFillTx/>
                <a:latin typeface="DM Sans"/>
                <a:ea typeface="DM Sans"/>
              </a:rPr>
              <a:t>•</a:t>
            </a:r>
            <a:endParaRPr lang="pt-BR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Google Shape;133;p15"/>
          <p:cNvSpPr/>
          <p:nvPr/>
        </p:nvSpPr>
        <p:spPr>
          <a:xfrm>
            <a:off x="476280" y="4962600"/>
            <a:ext cx="6624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49000"/>
              </a:lnSpc>
              <a:tabLst>
                <a:tab pos="0" algn="l"/>
              </a:tabLst>
            </a:pPr>
            <a:r>
              <a:rPr lang="en-US" sz="1280" b="1" u="none" strike="noStrike">
                <a:solidFill>
                  <a:srgbClr val="005088"/>
                </a:solidFill>
                <a:effectLst/>
                <a:uFillTx/>
                <a:latin typeface="DM Sans"/>
                <a:ea typeface="DM Sans"/>
              </a:rPr>
              <a:t>•</a:t>
            </a:r>
            <a:endParaRPr lang="pt-BR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3F0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38;p16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2" name="Google Shape;139;p16" descr="image.png"/>
          <p:cNvPicPr/>
          <p:nvPr/>
        </p:nvPicPr>
        <p:blipFill>
          <a:blip r:embed="rId2"/>
          <a:stretch/>
        </p:blipFill>
        <p:spPr>
          <a:xfrm>
            <a:off x="476280" y="955800"/>
            <a:ext cx="5428800" cy="580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3" name="Google Shape;140;p16"/>
          <p:cNvSpPr/>
          <p:nvPr/>
        </p:nvSpPr>
        <p:spPr>
          <a:xfrm>
            <a:off x="476280" y="98640"/>
            <a:ext cx="11715480" cy="47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850" b="1" u="none" strike="noStrike">
                <a:solidFill>
                  <a:srgbClr val="005088"/>
                </a:solidFill>
                <a:effectLst/>
                <a:uFillTx/>
                <a:latin typeface="Merriweather"/>
                <a:ea typeface="Merriweather"/>
              </a:rPr>
              <a:t>Infraestrutura do Sistema de Referência</a:t>
            </a:r>
            <a:endParaRPr lang="pt-BR" sz="2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Google Shape;141;p16"/>
          <p:cNvSpPr/>
          <p:nvPr/>
        </p:nvSpPr>
        <p:spPr>
          <a:xfrm>
            <a:off x="476280" y="641520"/>
            <a:ext cx="11239200" cy="28080"/>
          </a:xfrm>
          <a:prstGeom prst="rect">
            <a:avLst/>
          </a:prstGeom>
          <a:solidFill>
            <a:srgbClr val="0050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14040" bIns="14040" anchor="ctr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15" name="Google Shape;142;p16" descr="image.png"/>
          <p:cNvPicPr/>
          <p:nvPr/>
        </p:nvPicPr>
        <p:blipFill>
          <a:blip r:embed="rId3"/>
          <a:stretch/>
        </p:blipFill>
        <p:spPr>
          <a:xfrm>
            <a:off x="495360" y="974880"/>
            <a:ext cx="5390640" cy="5765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6" name="Google Shape;143;p16"/>
          <p:cNvSpPr/>
          <p:nvPr/>
        </p:nvSpPr>
        <p:spPr>
          <a:xfrm>
            <a:off x="6286680" y="2252520"/>
            <a:ext cx="5700240" cy="29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005088"/>
                </a:solidFill>
                <a:effectLst/>
                <a:uFillTx/>
                <a:latin typeface="Merriweather"/>
                <a:ea typeface="Merriweather"/>
              </a:rPr>
              <a:t>Topologia do Andar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Google Shape;144;p16"/>
          <p:cNvSpPr/>
          <p:nvPr/>
        </p:nvSpPr>
        <p:spPr>
          <a:xfrm>
            <a:off x="6286680" y="2852640"/>
            <a:ext cx="5428800" cy="48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49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334155"/>
                </a:solidFill>
                <a:effectLst/>
                <a:uFillTx/>
                <a:latin typeface="DM Sans"/>
                <a:ea typeface="DM Sans"/>
              </a:rPr>
              <a:t>A discretização espacial utiliza uma malha celular onde cada unidade de área (célula) representa as restrições físicas do pavimento.</a:t>
            </a:r>
            <a:endParaRPr lang="pt-BR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Google Shape;145;p16"/>
          <p:cNvSpPr/>
          <p:nvPr/>
        </p:nvSpPr>
        <p:spPr>
          <a:xfrm>
            <a:off x="6524640" y="3652920"/>
            <a:ext cx="5190840" cy="48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49000"/>
              </a:lnSpc>
              <a:tabLst>
                <a:tab pos="0" algn="l"/>
              </a:tabLst>
            </a:pPr>
            <a:r>
              <a:rPr lang="en-US" sz="1280" b="1" u="none" strike="noStrike">
                <a:solidFill>
                  <a:srgbClr val="334155"/>
                </a:solidFill>
                <a:effectLst/>
                <a:uFillTx/>
                <a:latin typeface="DM Sans"/>
                <a:ea typeface="DM Sans"/>
              </a:rPr>
              <a:t>Áreas Privativas:</a:t>
            </a:r>
            <a:r>
              <a:rPr lang="en-US" sz="1280" b="0" u="none" strike="noStrike">
                <a:solidFill>
                  <a:srgbClr val="334155"/>
                </a:solidFill>
                <a:effectLst/>
                <a:uFillTx/>
                <a:latin typeface="DM Sans"/>
                <a:ea typeface="DM Sans"/>
              </a:rPr>
              <a:t> Apartamentos com layout fixo que atuam como pontos de origem dos agentes.</a:t>
            </a:r>
            <a:endParaRPr lang="pt-BR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Google Shape;146;p16"/>
          <p:cNvSpPr/>
          <p:nvPr/>
        </p:nvSpPr>
        <p:spPr>
          <a:xfrm>
            <a:off x="6524640" y="4253040"/>
            <a:ext cx="5190840" cy="48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49000"/>
              </a:lnSpc>
              <a:tabLst>
                <a:tab pos="0" algn="l"/>
              </a:tabLst>
            </a:pPr>
            <a:r>
              <a:rPr lang="en-US" sz="1280" b="1" u="none" strike="noStrike">
                <a:solidFill>
                  <a:srgbClr val="334155"/>
                </a:solidFill>
                <a:effectLst/>
                <a:uFillTx/>
                <a:latin typeface="DM Sans"/>
                <a:ea typeface="DM Sans"/>
              </a:rPr>
              <a:t>Conectores Horizontais:</a:t>
            </a:r>
            <a:r>
              <a:rPr lang="en-US" sz="1280" b="0" u="none" strike="noStrike">
                <a:solidFill>
                  <a:srgbClr val="334155"/>
                </a:solidFill>
                <a:effectLst/>
                <a:uFillTx/>
                <a:latin typeface="DM Sans"/>
                <a:ea typeface="DM Sans"/>
              </a:rPr>
              <a:t> Corredores que afunilam o fluxo em direção à rota principal.</a:t>
            </a:r>
            <a:endParaRPr lang="pt-BR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Google Shape;147;p16"/>
          <p:cNvSpPr/>
          <p:nvPr/>
        </p:nvSpPr>
        <p:spPr>
          <a:xfrm>
            <a:off x="6524640" y="4853160"/>
            <a:ext cx="5190840" cy="48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49000"/>
              </a:lnSpc>
              <a:tabLst>
                <a:tab pos="0" algn="l"/>
              </a:tabLst>
            </a:pPr>
            <a:r>
              <a:rPr lang="en-US" sz="1280" b="1" u="none" strike="noStrike">
                <a:solidFill>
                  <a:srgbClr val="334155"/>
                </a:solidFill>
                <a:effectLst/>
                <a:uFillTx/>
                <a:latin typeface="DM Sans"/>
                <a:ea typeface="DM Sans"/>
              </a:rPr>
              <a:t>Gargalo Vertical:</a:t>
            </a:r>
            <a:r>
              <a:rPr lang="en-US" sz="1280" b="0" u="none" strike="noStrike">
                <a:solidFill>
                  <a:srgbClr val="334155"/>
                </a:solidFill>
                <a:effectLst/>
                <a:uFillTx/>
                <a:latin typeface="DM Sans"/>
                <a:ea typeface="DM Sans"/>
              </a:rPr>
              <a:t> A escadaria de emergência, única via de egressão ativa, dada a inativação obrigatória dos elevadores.</a:t>
            </a:r>
            <a:endParaRPr lang="pt-BR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Google Shape;148;p16"/>
          <p:cNvSpPr/>
          <p:nvPr/>
        </p:nvSpPr>
        <p:spPr>
          <a:xfrm>
            <a:off x="6286680" y="3652920"/>
            <a:ext cx="6624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49000"/>
              </a:lnSpc>
              <a:tabLst>
                <a:tab pos="0" algn="l"/>
              </a:tabLst>
            </a:pPr>
            <a:r>
              <a:rPr lang="en-US" sz="1280" b="1" u="none" strike="noStrike">
                <a:solidFill>
                  <a:srgbClr val="005088"/>
                </a:solidFill>
                <a:effectLst/>
                <a:uFillTx/>
                <a:latin typeface="DM Sans"/>
                <a:ea typeface="DM Sans"/>
              </a:rPr>
              <a:t>•</a:t>
            </a:r>
            <a:endParaRPr lang="pt-BR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Google Shape;149;p16"/>
          <p:cNvSpPr/>
          <p:nvPr/>
        </p:nvSpPr>
        <p:spPr>
          <a:xfrm>
            <a:off x="6286680" y="4253040"/>
            <a:ext cx="6624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49000"/>
              </a:lnSpc>
              <a:tabLst>
                <a:tab pos="0" algn="l"/>
              </a:tabLst>
            </a:pPr>
            <a:r>
              <a:rPr lang="en-US" sz="1280" b="1" u="none" strike="noStrike">
                <a:solidFill>
                  <a:srgbClr val="005088"/>
                </a:solidFill>
                <a:effectLst/>
                <a:uFillTx/>
                <a:latin typeface="DM Sans"/>
                <a:ea typeface="DM Sans"/>
              </a:rPr>
              <a:t>•</a:t>
            </a:r>
            <a:endParaRPr lang="pt-BR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Google Shape;150;p16"/>
          <p:cNvSpPr/>
          <p:nvPr/>
        </p:nvSpPr>
        <p:spPr>
          <a:xfrm>
            <a:off x="6286680" y="4853160"/>
            <a:ext cx="6624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49000"/>
              </a:lnSpc>
              <a:tabLst>
                <a:tab pos="0" algn="l"/>
              </a:tabLst>
            </a:pPr>
            <a:r>
              <a:rPr lang="en-US" sz="1280" b="1" u="none" strike="noStrike">
                <a:solidFill>
                  <a:srgbClr val="005088"/>
                </a:solidFill>
                <a:effectLst/>
                <a:uFillTx/>
                <a:latin typeface="DM Sans"/>
                <a:ea typeface="DM Sans"/>
              </a:rPr>
              <a:t>•</a:t>
            </a:r>
            <a:endParaRPr lang="pt-BR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3F0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55;p17" descr="image.png"/>
          <p:cNvPicPr/>
          <p:nvPr/>
        </p:nvPicPr>
        <p:blipFill>
          <a:blip r:embed="rId1"/>
          <a:stretch/>
        </p:blipFill>
        <p:spPr>
          <a:xfrm>
            <a:off x="4824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5" name="Google Shape;156;p17"/>
          <p:cNvSpPr/>
          <p:nvPr/>
        </p:nvSpPr>
        <p:spPr>
          <a:xfrm>
            <a:off x="476280" y="476280"/>
            <a:ext cx="11715480" cy="47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850" b="1" u="none" strike="noStrike">
                <a:solidFill>
                  <a:srgbClr val="005088"/>
                </a:solidFill>
                <a:effectLst/>
                <a:uFillTx/>
                <a:latin typeface="Merriweather"/>
                <a:ea typeface="Merriweather"/>
              </a:rPr>
              <a:t>Parâmetros do Sistema de Referência</a:t>
            </a:r>
            <a:endParaRPr lang="pt-BR" sz="2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Google Shape;157;p17"/>
          <p:cNvSpPr/>
          <p:nvPr/>
        </p:nvSpPr>
        <p:spPr>
          <a:xfrm>
            <a:off x="476280" y="1019160"/>
            <a:ext cx="11239200" cy="28080"/>
          </a:xfrm>
          <a:prstGeom prst="rect">
            <a:avLst/>
          </a:prstGeom>
          <a:solidFill>
            <a:srgbClr val="0050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14040" bIns="14040" anchor="ctr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7" name="Google Shape;158;p17"/>
          <p:cNvSpPr/>
          <p:nvPr/>
        </p:nvSpPr>
        <p:spPr>
          <a:xfrm>
            <a:off x="476280" y="1333440"/>
            <a:ext cx="11239200" cy="364284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4A7DB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graphicFrame>
        <p:nvGraphicFramePr>
          <p:cNvPr id="128" name="Google Shape;159;p17"/>
          <p:cNvGraphicFramePr/>
          <p:nvPr/>
        </p:nvGraphicFramePr>
        <p:xfrm>
          <a:off x="476280" y="1333440"/>
          <a:ext cx="11239200" cy="3642840"/>
        </p:xfrm>
        <a:graphic>
          <a:graphicData uri="http://schemas.openxmlformats.org/drawingml/2006/table">
            <a:tbl>
              <a:tblPr/>
              <a:tblGrid>
                <a:gridCol w="3371760"/>
                <a:gridCol w="7867440"/>
              </a:tblGrid>
              <a:tr h="404640"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3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DM Sans Medium"/>
                          <a:ea typeface="DM Sans Medium"/>
                        </a:rPr>
                        <a:t>Caracterização</a:t>
                      </a:r>
                      <a:endParaRPr lang="pt-BR" sz="113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3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DM Sans Medium"/>
                          <a:ea typeface="DM Sans Medium"/>
                        </a:rPr>
                        <a:t>Propriedades e Restrições do Sistema (S)</a:t>
                      </a:r>
                      <a:endParaRPr lang="pt-BR" sz="113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005088"/>
                    </a:solidFill>
                  </a:tcPr>
                </a:tc>
              </a:tr>
              <a:tr h="404640"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DM Sans"/>
                          <a:ea typeface="DM Sans"/>
                        </a:rPr>
                        <a:t>Fenômeno Observado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DM Sans"/>
                          <a:ea typeface="DM Sans"/>
                        </a:rPr>
                        <a:t>Processo dinâmico de egressão emergencial em estrutura vertical sob ignição ativa.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</a:tr>
              <a:tr h="404640"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DM Sans"/>
                          <a:ea typeface="DM Sans"/>
                        </a:rPr>
                        <a:t>Escala Espacial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DM Sans"/>
                          <a:ea typeface="DM Sans"/>
                        </a:rPr>
                        <a:t>30 níveis residenciais (120m); pavimentos de 400m² subdivididos em grades de 20x20.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  <a:tr h="404640"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DM Sans"/>
                          <a:ea typeface="DM Sans"/>
                        </a:rPr>
                        <a:t>Morfologia Interna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DM Sans"/>
                          <a:ea typeface="DM Sans"/>
                        </a:rPr>
                        <a:t>Subdivisões residenciais, corredores de acesso e núcleo de circulação vertical (escadas).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</a:tr>
              <a:tr h="404640"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DM Sans"/>
                          <a:ea typeface="DM Sans"/>
                        </a:rPr>
                        <a:t>Logística de Escape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DM Sans"/>
                          <a:ea typeface="DM Sans"/>
                        </a:rPr>
                        <a:t>Escadas de incêndio pressurizadas; suspensão total do uso de meios mecânicos de elevação.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  <a:tr h="404640"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DM Sans"/>
                          <a:ea typeface="DM Sans"/>
                        </a:rPr>
                        <a:t>Dinâmica Populacional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DM Sans"/>
                          <a:ea typeface="DM Sans"/>
                        </a:rPr>
                        <a:t>180 agentes estratificados por idade, estado de saúde e competência de locomoção (adultos, idosos, crianças, PcD).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</a:tr>
              <a:tr h="404640"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DM Sans"/>
                          <a:ea typeface="DM Sans"/>
                        </a:rPr>
                        <a:t>Variáveis do Sinistro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DM Sans"/>
                          <a:ea typeface="DM Sans"/>
                        </a:rPr>
                        <a:t>Localização da ignição parametrizável; taxa de liberação de calor (HRR) baseada em materiais típicos.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  <a:tr h="404640"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DM Sans"/>
                          <a:ea typeface="DM Sans"/>
                        </a:rPr>
                        <a:t>Fatores Obstrutivos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DM Sans"/>
                          <a:ea typeface="DM Sans"/>
                        </a:rPr>
                        <a:t>Acúmulo de monóxido de carbono e fuligem; redução da visibilidade afetando a tomada de decisão.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</a:tr>
              <a:tr h="404640"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DM Sans"/>
                          <a:ea typeface="DM Sans"/>
                        </a:rPr>
                        <a:t>Função Científica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DM Sans"/>
                          <a:ea typeface="DM Sans"/>
                        </a:rPr>
                        <a:t>Atuar como ground truth para calibração, verificação e validação cruzada do simulador.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29" name="Google Shape;160;p17"/>
          <p:cNvSpPr/>
          <p:nvPr/>
        </p:nvSpPr>
        <p:spPr>
          <a:xfrm>
            <a:off x="476280" y="2162160"/>
            <a:ext cx="337140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0" name="Google Shape;161;p17"/>
          <p:cNvSpPr/>
          <p:nvPr/>
        </p:nvSpPr>
        <p:spPr>
          <a:xfrm>
            <a:off x="3848040" y="2162160"/>
            <a:ext cx="786744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1" name="Google Shape;162;p17"/>
          <p:cNvSpPr/>
          <p:nvPr/>
        </p:nvSpPr>
        <p:spPr>
          <a:xfrm>
            <a:off x="476280" y="2562120"/>
            <a:ext cx="337140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2" name="Google Shape;163;p17"/>
          <p:cNvSpPr/>
          <p:nvPr/>
        </p:nvSpPr>
        <p:spPr>
          <a:xfrm>
            <a:off x="3848040" y="2562120"/>
            <a:ext cx="786744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3" name="Google Shape;164;p17"/>
          <p:cNvSpPr/>
          <p:nvPr/>
        </p:nvSpPr>
        <p:spPr>
          <a:xfrm>
            <a:off x="476280" y="2962440"/>
            <a:ext cx="337140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4" name="Google Shape;165;p17"/>
          <p:cNvSpPr/>
          <p:nvPr/>
        </p:nvSpPr>
        <p:spPr>
          <a:xfrm>
            <a:off x="3848040" y="2962440"/>
            <a:ext cx="786744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5" name="Google Shape;166;p17"/>
          <p:cNvSpPr/>
          <p:nvPr/>
        </p:nvSpPr>
        <p:spPr>
          <a:xfrm>
            <a:off x="476280" y="3362400"/>
            <a:ext cx="337140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6" name="Google Shape;167;p17"/>
          <p:cNvSpPr/>
          <p:nvPr/>
        </p:nvSpPr>
        <p:spPr>
          <a:xfrm>
            <a:off x="3848040" y="3362400"/>
            <a:ext cx="786744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7" name="Google Shape;168;p17"/>
          <p:cNvSpPr/>
          <p:nvPr/>
        </p:nvSpPr>
        <p:spPr>
          <a:xfrm>
            <a:off x="476280" y="3762360"/>
            <a:ext cx="337140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8" name="Google Shape;169;p17"/>
          <p:cNvSpPr/>
          <p:nvPr/>
        </p:nvSpPr>
        <p:spPr>
          <a:xfrm>
            <a:off x="3848040" y="3762360"/>
            <a:ext cx="786744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9" name="Google Shape;170;p17"/>
          <p:cNvSpPr/>
          <p:nvPr/>
        </p:nvSpPr>
        <p:spPr>
          <a:xfrm>
            <a:off x="476280" y="4162320"/>
            <a:ext cx="337140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0" name="Google Shape;171;p17"/>
          <p:cNvSpPr/>
          <p:nvPr/>
        </p:nvSpPr>
        <p:spPr>
          <a:xfrm>
            <a:off x="3848040" y="4162320"/>
            <a:ext cx="786744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1" name="Google Shape;172;p17"/>
          <p:cNvSpPr/>
          <p:nvPr/>
        </p:nvSpPr>
        <p:spPr>
          <a:xfrm>
            <a:off x="476280" y="4562640"/>
            <a:ext cx="337140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2" name="Google Shape;173;p17"/>
          <p:cNvSpPr/>
          <p:nvPr/>
        </p:nvSpPr>
        <p:spPr>
          <a:xfrm>
            <a:off x="3848040" y="4562640"/>
            <a:ext cx="786744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3" name="Google Shape;174;p17"/>
          <p:cNvSpPr/>
          <p:nvPr/>
        </p:nvSpPr>
        <p:spPr>
          <a:xfrm>
            <a:off x="476280" y="4962600"/>
            <a:ext cx="337140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4" name="Google Shape;175;p17"/>
          <p:cNvSpPr/>
          <p:nvPr/>
        </p:nvSpPr>
        <p:spPr>
          <a:xfrm>
            <a:off x="3848040" y="4962600"/>
            <a:ext cx="786744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5" name="CaixaDeTexto 3"/>
          <p:cNvSpPr/>
          <p:nvPr/>
        </p:nvSpPr>
        <p:spPr>
          <a:xfrm>
            <a:off x="1186920" y="5119560"/>
            <a:ext cx="378900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3F0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80;p18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7" name="Google Shape;181;p18"/>
          <p:cNvSpPr/>
          <p:nvPr/>
        </p:nvSpPr>
        <p:spPr>
          <a:xfrm>
            <a:off x="476280" y="476280"/>
            <a:ext cx="11715480" cy="47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850" b="1" u="none" strike="noStrike">
                <a:solidFill>
                  <a:srgbClr val="005088"/>
                </a:solidFill>
                <a:effectLst/>
                <a:uFillTx/>
                <a:latin typeface="Merriweather"/>
                <a:ea typeface="Merriweather"/>
              </a:rPr>
              <a:t>2. Modelagem: Revisão Bibliográfica (1/2)</a:t>
            </a:r>
            <a:endParaRPr lang="pt-BR" sz="2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Google Shape;182;p18"/>
          <p:cNvSpPr/>
          <p:nvPr/>
        </p:nvSpPr>
        <p:spPr>
          <a:xfrm>
            <a:off x="476280" y="1019160"/>
            <a:ext cx="11239200" cy="28080"/>
          </a:xfrm>
          <a:prstGeom prst="rect">
            <a:avLst/>
          </a:prstGeom>
          <a:solidFill>
            <a:srgbClr val="0050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14040" bIns="14040" anchor="ctr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9" name="Google Shape;183;p18"/>
          <p:cNvSpPr/>
          <p:nvPr/>
        </p:nvSpPr>
        <p:spPr>
          <a:xfrm>
            <a:off x="476280" y="1333440"/>
            <a:ext cx="11239200" cy="357156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4A7DB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graphicFrame>
        <p:nvGraphicFramePr>
          <p:cNvPr id="150" name="Google Shape;184;p18"/>
          <p:cNvGraphicFramePr/>
          <p:nvPr/>
        </p:nvGraphicFramePr>
        <p:xfrm>
          <a:off x="476280" y="1333440"/>
          <a:ext cx="11239200" cy="3571560"/>
        </p:xfrm>
        <a:graphic>
          <a:graphicData uri="http://schemas.openxmlformats.org/drawingml/2006/table">
            <a:tbl>
              <a:tblPr/>
              <a:tblGrid>
                <a:gridCol w="961920"/>
                <a:gridCol w="2154960"/>
                <a:gridCol w="2017800"/>
                <a:gridCol w="2087280"/>
                <a:gridCol w="2053080"/>
                <a:gridCol w="1963440"/>
              </a:tblGrid>
              <a:tr h="595080"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DM Sans Medium"/>
                          <a:ea typeface="DM Sans Medium"/>
                        </a:rPr>
                        <a:t>Parâmetros</a:t>
                      </a:r>
                      <a:endParaRPr lang="pt-BR" sz="9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DM Sans Medium"/>
                          <a:ea typeface="DM Sans Medium"/>
                        </a:rPr>
                        <a:t>Artigo 1: Gwynne et al. (2021)</a:t>
                      </a:r>
                      <a:endParaRPr lang="pt-BR" sz="9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DM Sans Medium"/>
                          <a:ea typeface="DM Sans Medium"/>
                        </a:rPr>
                        <a:t>Artigo 2: Korhonen &amp; Hostikka (2020)</a:t>
                      </a:r>
                      <a:endParaRPr lang="pt-BR" sz="9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DM Sans Medium"/>
                          <a:ea typeface="DM Sans Medium"/>
                        </a:rPr>
                        <a:t>Artigo 3: Lovreglio et al. (2022)</a:t>
                      </a:r>
                      <a:endParaRPr lang="pt-BR" sz="9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DM Sans Medium"/>
                          <a:ea typeface="DM Sans Medium"/>
                        </a:rPr>
                        <a:t>Artigo 4: Wang et al. (2023)</a:t>
                      </a:r>
                      <a:endParaRPr lang="pt-BR" sz="9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DM Sans Medium"/>
                          <a:ea typeface="DM Sans Medium"/>
                        </a:rPr>
                        <a:t>Artigo 5: Pelechano (2020)</a:t>
                      </a:r>
                      <a:endParaRPr lang="pt-BR" sz="9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005088"/>
                    </a:solidFill>
                  </a:tcPr>
                </a:tc>
              </a:tr>
              <a:tr h="595080"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DM Sans"/>
                          <a:ea typeface="DM Sans"/>
                        </a:rPr>
                        <a:t>Problema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DM Sans"/>
                          <a:ea typeface="DM Sans"/>
                        </a:rPr>
                        <a:t>Incerteza comportamental em prédios altos.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DM Sans"/>
                          <a:ea typeface="DM Sans"/>
                        </a:rPr>
                        <a:t>Integração de incêndio e evacuação em FDS.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DM Sans"/>
                          <a:ea typeface="DM Sans"/>
                        </a:rPr>
                        <a:t>Validação de modelos via Realidade Virtual.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DM Sans"/>
                          <a:ea typeface="DM Sans"/>
                        </a:rPr>
                        <a:t>Otimização de rotas em estruturas complexas.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DM Sans"/>
                          <a:ea typeface="DM Sans"/>
                        </a:rPr>
                        <a:t>Dinâmica de multidões em geometrias densas.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</a:tr>
              <a:tr h="595080"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DM Sans"/>
                          <a:ea typeface="DM Sans"/>
                        </a:rPr>
                        <a:t>Critérios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DM Sans"/>
                          <a:ea typeface="DM Sans"/>
                        </a:rPr>
                        <a:t>Atraso de pre-movimento e stress.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DM Sans"/>
                          <a:ea typeface="DM Sans"/>
                        </a:rPr>
                        <a:t>Acoplamento térmico e visibilidade.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DM Sans"/>
                          <a:ea typeface="DM Sans"/>
                        </a:rPr>
                        <a:t>Fidelidade psicológica e decisão.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DM Sans"/>
                          <a:ea typeface="DM Sans"/>
                        </a:rPr>
                        <a:t>Cálculo de caminhos mínimos via BIM.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DM Sans"/>
                          <a:ea typeface="DM Sans"/>
                        </a:rPr>
                        <a:t>Velocidade, densidade e fluxos.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  <a:tr h="595080"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DM Sans"/>
                          <a:ea typeface="DM Sans"/>
                        </a:rPr>
                        <a:t>Objeto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DM Sans"/>
                          <a:ea typeface="DM Sans"/>
                        </a:rPr>
                        <a:t>Edifícios de grande porte.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DM Sans"/>
                          <a:ea typeface="DM Sans"/>
                        </a:rPr>
                        <a:t>Simulações de CFD e evacuação.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DM Sans"/>
                          <a:ea typeface="DM Sans"/>
                        </a:rPr>
                        <a:t>Experimentos imersivos controlados.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DM Sans"/>
                          <a:ea typeface="DM Sans"/>
                        </a:rPr>
                        <a:t>Infraestruturas inteligentes.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DM Sans"/>
                          <a:ea typeface="DM Sans"/>
                        </a:rPr>
                        <a:t>Ambientes urbanos confinados.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</a:tr>
              <a:tr h="595080"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DM Sans"/>
                          <a:ea typeface="DM Sans"/>
                        </a:rPr>
                        <a:t>Conceitos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DM Sans"/>
                          <a:ea typeface="DM Sans"/>
                        </a:rPr>
                        <a:t>Human Behavior in Fire (HBiF).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DM Sans"/>
                          <a:ea typeface="DM Sans"/>
                        </a:rPr>
                        <a:t>FDS+Evac e acoplamento físico.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DM Sans"/>
                          <a:ea typeface="DM Sans"/>
                        </a:rPr>
                        <a:t>Teoria da Decisão Estocástica.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DM Sans"/>
                          <a:ea typeface="DM Sans"/>
                        </a:rPr>
                        <a:t>Building Information Modeling (BIM).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DM Sans"/>
                          <a:ea typeface="DM Sans"/>
                        </a:rPr>
                        <a:t>Social Forces Model (SFM).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  <a:tr h="595080"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DM Sans"/>
                          <a:ea typeface="DM Sans"/>
                        </a:rPr>
                        <a:t>Hipóteses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DM Sans"/>
                          <a:ea typeface="DM Sans"/>
                        </a:rPr>
                        <a:t>Comportamento social dita o tempo de escape.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DM Sans"/>
                          <a:ea typeface="DM Sans"/>
                        </a:rPr>
                        <a:t>Condições de fumaça ditam a escolha da rota.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DM Sans"/>
                          <a:ea typeface="DM Sans"/>
                        </a:rPr>
                        <a:t>Ambientes virtuais predizem o real com precisão.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DM Sans"/>
                          <a:ea typeface="DM Sans"/>
                        </a:rPr>
                        <a:t>Dados em tempo real reduzem o pânico local.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DM Sans"/>
                          <a:ea typeface="DM Sans"/>
                        </a:rPr>
                        <a:t>Interação entre agentes causa gargalos físicos.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</a:tr>
            </a:tbl>
          </a:graphicData>
        </a:graphic>
      </p:graphicFrame>
      <p:sp>
        <p:nvSpPr>
          <p:cNvPr id="151" name="Google Shape;185;p18"/>
          <p:cNvSpPr/>
          <p:nvPr/>
        </p:nvSpPr>
        <p:spPr>
          <a:xfrm>
            <a:off x="476280" y="2490840"/>
            <a:ext cx="96156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2" name="Google Shape;186;p18"/>
          <p:cNvSpPr/>
          <p:nvPr/>
        </p:nvSpPr>
        <p:spPr>
          <a:xfrm>
            <a:off x="1438200" y="2490840"/>
            <a:ext cx="215496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3" name="Google Shape;187;p18"/>
          <p:cNvSpPr/>
          <p:nvPr/>
        </p:nvSpPr>
        <p:spPr>
          <a:xfrm>
            <a:off x="3593520" y="2490840"/>
            <a:ext cx="201744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4" name="Google Shape;188;p18"/>
          <p:cNvSpPr/>
          <p:nvPr/>
        </p:nvSpPr>
        <p:spPr>
          <a:xfrm>
            <a:off x="5611320" y="2490840"/>
            <a:ext cx="208692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5" name="Google Shape;189;p18"/>
          <p:cNvSpPr/>
          <p:nvPr/>
        </p:nvSpPr>
        <p:spPr>
          <a:xfrm>
            <a:off x="7698600" y="2490840"/>
            <a:ext cx="205308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6" name="Google Shape;190;p18"/>
          <p:cNvSpPr/>
          <p:nvPr/>
        </p:nvSpPr>
        <p:spPr>
          <a:xfrm>
            <a:off x="9752040" y="2490840"/>
            <a:ext cx="196344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7" name="Google Shape;191;p18"/>
          <p:cNvSpPr/>
          <p:nvPr/>
        </p:nvSpPr>
        <p:spPr>
          <a:xfrm>
            <a:off x="476280" y="3090960"/>
            <a:ext cx="96156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8" name="Google Shape;192;p18"/>
          <p:cNvSpPr/>
          <p:nvPr/>
        </p:nvSpPr>
        <p:spPr>
          <a:xfrm>
            <a:off x="1438200" y="3090960"/>
            <a:ext cx="215496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9" name="Google Shape;193;p18"/>
          <p:cNvSpPr/>
          <p:nvPr/>
        </p:nvSpPr>
        <p:spPr>
          <a:xfrm>
            <a:off x="3593520" y="3090960"/>
            <a:ext cx="201744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0" name="Google Shape;194;p18"/>
          <p:cNvSpPr/>
          <p:nvPr/>
        </p:nvSpPr>
        <p:spPr>
          <a:xfrm>
            <a:off x="5611320" y="3090960"/>
            <a:ext cx="208692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1" name="Google Shape;195;p18"/>
          <p:cNvSpPr/>
          <p:nvPr/>
        </p:nvSpPr>
        <p:spPr>
          <a:xfrm>
            <a:off x="7698600" y="3090960"/>
            <a:ext cx="205308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2" name="Google Shape;196;p18"/>
          <p:cNvSpPr/>
          <p:nvPr/>
        </p:nvSpPr>
        <p:spPr>
          <a:xfrm>
            <a:off x="9752040" y="3090960"/>
            <a:ext cx="196344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3" name="Google Shape;197;p18"/>
          <p:cNvSpPr/>
          <p:nvPr/>
        </p:nvSpPr>
        <p:spPr>
          <a:xfrm>
            <a:off x="476280" y="3691080"/>
            <a:ext cx="96156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4" name="Google Shape;198;p18"/>
          <p:cNvSpPr/>
          <p:nvPr/>
        </p:nvSpPr>
        <p:spPr>
          <a:xfrm>
            <a:off x="1438200" y="3691080"/>
            <a:ext cx="215496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5" name="Google Shape;199;p18"/>
          <p:cNvSpPr/>
          <p:nvPr/>
        </p:nvSpPr>
        <p:spPr>
          <a:xfrm>
            <a:off x="3593520" y="3691080"/>
            <a:ext cx="201744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6" name="Google Shape;200;p18"/>
          <p:cNvSpPr/>
          <p:nvPr/>
        </p:nvSpPr>
        <p:spPr>
          <a:xfrm>
            <a:off x="5611320" y="3691080"/>
            <a:ext cx="208692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7" name="Google Shape;201;p18"/>
          <p:cNvSpPr/>
          <p:nvPr/>
        </p:nvSpPr>
        <p:spPr>
          <a:xfrm>
            <a:off x="7698600" y="3691080"/>
            <a:ext cx="205308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8" name="Google Shape;202;p18"/>
          <p:cNvSpPr/>
          <p:nvPr/>
        </p:nvSpPr>
        <p:spPr>
          <a:xfrm>
            <a:off x="9752040" y="3691080"/>
            <a:ext cx="196344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9" name="Google Shape;203;p18"/>
          <p:cNvSpPr/>
          <p:nvPr/>
        </p:nvSpPr>
        <p:spPr>
          <a:xfrm>
            <a:off x="476280" y="4290840"/>
            <a:ext cx="96156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0" name="Google Shape;204;p18"/>
          <p:cNvSpPr/>
          <p:nvPr/>
        </p:nvSpPr>
        <p:spPr>
          <a:xfrm>
            <a:off x="1438200" y="4290840"/>
            <a:ext cx="215496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1" name="Google Shape;205;p18"/>
          <p:cNvSpPr/>
          <p:nvPr/>
        </p:nvSpPr>
        <p:spPr>
          <a:xfrm>
            <a:off x="3593520" y="4290840"/>
            <a:ext cx="201744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2" name="Google Shape;206;p18"/>
          <p:cNvSpPr/>
          <p:nvPr/>
        </p:nvSpPr>
        <p:spPr>
          <a:xfrm>
            <a:off x="5611320" y="4290840"/>
            <a:ext cx="208692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3" name="Google Shape;207;p18"/>
          <p:cNvSpPr/>
          <p:nvPr/>
        </p:nvSpPr>
        <p:spPr>
          <a:xfrm>
            <a:off x="7698600" y="4290840"/>
            <a:ext cx="205308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4" name="Google Shape;208;p18"/>
          <p:cNvSpPr/>
          <p:nvPr/>
        </p:nvSpPr>
        <p:spPr>
          <a:xfrm>
            <a:off x="9752040" y="4290840"/>
            <a:ext cx="196344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5" name="Google Shape;209;p18"/>
          <p:cNvSpPr/>
          <p:nvPr/>
        </p:nvSpPr>
        <p:spPr>
          <a:xfrm>
            <a:off x="476280" y="4890960"/>
            <a:ext cx="96156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6" name="Google Shape;210;p18"/>
          <p:cNvSpPr/>
          <p:nvPr/>
        </p:nvSpPr>
        <p:spPr>
          <a:xfrm>
            <a:off x="1438200" y="4890960"/>
            <a:ext cx="215496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7" name="Google Shape;211;p18"/>
          <p:cNvSpPr/>
          <p:nvPr/>
        </p:nvSpPr>
        <p:spPr>
          <a:xfrm>
            <a:off x="3593520" y="4890960"/>
            <a:ext cx="201744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8" name="Google Shape;212;p18"/>
          <p:cNvSpPr/>
          <p:nvPr/>
        </p:nvSpPr>
        <p:spPr>
          <a:xfrm>
            <a:off x="5611320" y="4890960"/>
            <a:ext cx="208692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9" name="Google Shape;213;p18"/>
          <p:cNvSpPr/>
          <p:nvPr/>
        </p:nvSpPr>
        <p:spPr>
          <a:xfrm>
            <a:off x="7698600" y="4890960"/>
            <a:ext cx="205308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0" name="Google Shape;214;p18"/>
          <p:cNvSpPr/>
          <p:nvPr/>
        </p:nvSpPr>
        <p:spPr>
          <a:xfrm>
            <a:off x="9752040" y="4890960"/>
            <a:ext cx="196344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3F0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219;p19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2" name="Google Shape;220;p19"/>
          <p:cNvSpPr/>
          <p:nvPr/>
        </p:nvSpPr>
        <p:spPr>
          <a:xfrm>
            <a:off x="476280" y="476280"/>
            <a:ext cx="11715480" cy="47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850" b="1" u="none" strike="noStrike">
                <a:solidFill>
                  <a:srgbClr val="005088"/>
                </a:solidFill>
                <a:effectLst/>
                <a:uFillTx/>
                <a:latin typeface="Merriweather"/>
                <a:ea typeface="Merriweather"/>
              </a:rPr>
              <a:t>2. Modelagem: Revisão Bibliográfica (2/2)</a:t>
            </a:r>
            <a:endParaRPr lang="pt-BR" sz="2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Google Shape;221;p19"/>
          <p:cNvSpPr/>
          <p:nvPr/>
        </p:nvSpPr>
        <p:spPr>
          <a:xfrm>
            <a:off x="476280" y="1019160"/>
            <a:ext cx="11239200" cy="28080"/>
          </a:xfrm>
          <a:prstGeom prst="rect">
            <a:avLst/>
          </a:prstGeom>
          <a:solidFill>
            <a:srgbClr val="0050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14040" bIns="14040" anchor="ctr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4" name="Google Shape;222;p19"/>
          <p:cNvSpPr/>
          <p:nvPr/>
        </p:nvSpPr>
        <p:spPr>
          <a:xfrm>
            <a:off x="476280" y="1333440"/>
            <a:ext cx="11239200" cy="34002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4A7DB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graphicFrame>
        <p:nvGraphicFramePr>
          <p:cNvPr id="185" name="Google Shape;223;p19"/>
          <p:cNvGraphicFramePr/>
          <p:nvPr/>
        </p:nvGraphicFramePr>
        <p:xfrm>
          <a:off x="476280" y="1333440"/>
          <a:ext cx="11239200" cy="3399840"/>
        </p:xfrm>
        <a:graphic>
          <a:graphicData uri="http://schemas.openxmlformats.org/drawingml/2006/table">
            <a:tbl>
              <a:tblPr/>
              <a:tblGrid>
                <a:gridCol w="961920"/>
                <a:gridCol w="2028960"/>
                <a:gridCol w="1967040"/>
                <a:gridCol w="2287440"/>
                <a:gridCol w="1982520"/>
                <a:gridCol w="2010600"/>
              </a:tblGrid>
              <a:tr h="566640"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DM Sans Medium"/>
                          <a:ea typeface="DM Sans Medium"/>
                        </a:rPr>
                        <a:t>Parâmetros</a:t>
                      </a:r>
                      <a:endParaRPr lang="pt-BR" sz="9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DM Sans Medium"/>
                          <a:ea typeface="DM Sans Medium"/>
                        </a:rPr>
                        <a:t>Artigo 6: Zheng (2021)</a:t>
                      </a:r>
                      <a:endParaRPr lang="pt-BR" sz="9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DM Sans Medium"/>
                          <a:ea typeface="DM Sans Medium"/>
                        </a:rPr>
                        <a:t>Artigo 7: Chen et al. (2023)</a:t>
                      </a:r>
                      <a:endParaRPr lang="pt-BR" sz="9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DM Sans Medium"/>
                          <a:ea typeface="DM Sans Medium"/>
                        </a:rPr>
                        <a:t>Artigo 8: Al Sadoon (2025)</a:t>
                      </a:r>
                      <a:endParaRPr lang="pt-BR" sz="9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DM Sans Medium"/>
                          <a:ea typeface="DM Sans Medium"/>
                        </a:rPr>
                        <a:t>Artigo 9: Starbuck (2024)</a:t>
                      </a:r>
                      <a:endParaRPr lang="pt-BR" sz="9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DM Sans Medium"/>
                          <a:ea typeface="DM Sans Medium"/>
                        </a:rPr>
                        <a:t>Artigo 10: Hui (2024)</a:t>
                      </a:r>
                      <a:endParaRPr lang="pt-BR" sz="9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005088"/>
                    </a:solidFill>
                  </a:tcPr>
                </a:tc>
              </a:tr>
              <a:tr h="566640"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DM Sans"/>
                          <a:ea typeface="DM Sans"/>
                        </a:rPr>
                        <a:t>Problema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DM Sans"/>
                          <a:ea typeface="DM Sans"/>
                        </a:rPr>
                        <a:t>Dinâmica de Autômatos Celulares em escadas.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DM Sans"/>
                          <a:ea typeface="DM Sans"/>
                        </a:rPr>
                        <a:t>Modelagem interdisciplinar de resiliência.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DM Sans"/>
                          <a:ea typeface="DM Sans"/>
                        </a:rPr>
                        <a:t>BIM dinâmico para treino e planejamento.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DM Sans"/>
                          <a:ea typeface="DM Sans"/>
                        </a:rPr>
                        <a:t>Gestão de resposta em desastres massivos.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DM Sans"/>
                          <a:ea typeface="DM Sans"/>
                        </a:rPr>
                        <a:t>Algoritmos de propagação acoplados a CA.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</a:tr>
              <a:tr h="566640"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DM Sans"/>
                          <a:ea typeface="DM Sans"/>
                        </a:rPr>
                        <a:t>Critérios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DM Sans"/>
                          <a:ea typeface="DM Sans"/>
                        </a:rPr>
                        <a:t>Fricção de fluxo e largura de degraus.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DM Sans"/>
                          <a:ea typeface="DM Sans"/>
                        </a:rPr>
                        <a:t>Interação social e ambiente construído.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DM Sans"/>
                          <a:ea typeface="DM Sans"/>
                        </a:rPr>
                        <a:t>Modelos interativos de treinamento.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DM Sans"/>
                          <a:ea typeface="DM Sans"/>
                        </a:rPr>
                        <a:t>Coordenação de recursos e salvamento.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DM Sans"/>
                          <a:ea typeface="DM Sans"/>
                        </a:rPr>
                        <a:t>Eficiência temporal e acurácia espacial.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  <a:tr h="566640"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DM Sans"/>
                          <a:ea typeface="DM Sans"/>
                        </a:rPr>
                        <a:t>Objeto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DM Sans"/>
                          <a:ea typeface="DM Sans"/>
                        </a:rPr>
                        <a:t>Egressão vertical em escadarias.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DM Sans"/>
                          <a:ea typeface="DM Sans"/>
                        </a:rPr>
                        <a:t>Sistemas socio-tecnológicos complexos.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DM Sans"/>
                          <a:ea typeface="DM Sans"/>
                        </a:rPr>
                        <a:t>Gêmeos Digitais (Digital Twins).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DM Sans"/>
                          <a:ea typeface="DM Sans"/>
                        </a:rPr>
                        <a:t>Cenários de catástrofe urbana.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DM Sans"/>
                          <a:ea typeface="DM Sans"/>
                        </a:rPr>
                        <a:t>Simulações de propagação de incêndio.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</a:tr>
              <a:tr h="566640"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DM Sans"/>
                          <a:ea typeface="DM Sans"/>
                        </a:rPr>
                        <a:t>Conceitos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DM Sans"/>
                          <a:ea typeface="DM Sans"/>
                        </a:rPr>
                        <a:t>Cellular Automata (CA) discretizado.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DM Sans"/>
                          <a:ea typeface="DM Sans"/>
                        </a:rPr>
                        <a:t>Agent-Based Evacuation (ABM).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DM Sans"/>
                          <a:ea typeface="DM Sans"/>
                        </a:rPr>
                        <a:t>Modelagem dinâmica 4D de incêndio.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DM Sans"/>
                          <a:ea typeface="DM Sans"/>
                        </a:rPr>
                        <a:t>Sistemas de Suporte à Decisão (DSS).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DM Sans"/>
                          <a:ea typeface="DM Sans"/>
                        </a:rPr>
                        <a:t>Coupled Fire-Simulation Algorithms.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  <a:tr h="566640"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1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DM Sans"/>
                          <a:ea typeface="DM Sans"/>
                        </a:rPr>
                        <a:t>Hipóteses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DM Sans"/>
                          <a:ea typeface="DM Sans"/>
                        </a:rPr>
                        <a:t>Regras locais explicam padrões globais.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DM Sans"/>
                          <a:ea typeface="DM Sans"/>
                        </a:rPr>
                        <a:t>Resiliência depende da preparação social.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DM Sans"/>
                          <a:ea typeface="DM Sans"/>
                        </a:rPr>
                        <a:t>Simulações dinâmicas melhoram o tempo de resposta.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DM Sans"/>
                          <a:ea typeface="DM Sans"/>
                        </a:rPr>
                        <a:t>Coordenação centralizada salva mais vidas.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DM Sans"/>
                          <a:ea typeface="DM Sans"/>
                        </a:rPr>
                        <a:t>O acoplamento aumenta a precisão preditiva.</a:t>
                      </a:r>
                      <a:endParaRPr lang="pt-B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360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</a:tr>
            </a:tbl>
          </a:graphicData>
        </a:graphic>
      </p:graphicFrame>
      <p:sp>
        <p:nvSpPr>
          <p:cNvPr id="186" name="Google Shape;224;p19"/>
          <p:cNvSpPr/>
          <p:nvPr/>
        </p:nvSpPr>
        <p:spPr>
          <a:xfrm>
            <a:off x="476280" y="2319480"/>
            <a:ext cx="96156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7" name="Google Shape;225;p19"/>
          <p:cNvSpPr/>
          <p:nvPr/>
        </p:nvSpPr>
        <p:spPr>
          <a:xfrm>
            <a:off x="1438200" y="2319480"/>
            <a:ext cx="202860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8" name="Google Shape;226;p19"/>
          <p:cNvSpPr/>
          <p:nvPr/>
        </p:nvSpPr>
        <p:spPr>
          <a:xfrm>
            <a:off x="3467520" y="2319480"/>
            <a:ext cx="196704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9" name="Google Shape;227;p19"/>
          <p:cNvSpPr/>
          <p:nvPr/>
        </p:nvSpPr>
        <p:spPr>
          <a:xfrm>
            <a:off x="5434920" y="2319480"/>
            <a:ext cx="228708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0" name="Google Shape;228;p19"/>
          <p:cNvSpPr/>
          <p:nvPr/>
        </p:nvSpPr>
        <p:spPr>
          <a:xfrm>
            <a:off x="7722360" y="2319480"/>
            <a:ext cx="198216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1" name="Google Shape;229;p19"/>
          <p:cNvSpPr/>
          <p:nvPr/>
        </p:nvSpPr>
        <p:spPr>
          <a:xfrm>
            <a:off x="9704880" y="2319480"/>
            <a:ext cx="201060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2" name="Google Shape;230;p19"/>
          <p:cNvSpPr/>
          <p:nvPr/>
        </p:nvSpPr>
        <p:spPr>
          <a:xfrm>
            <a:off x="476280" y="2919240"/>
            <a:ext cx="96156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3" name="Google Shape;231;p19"/>
          <p:cNvSpPr/>
          <p:nvPr/>
        </p:nvSpPr>
        <p:spPr>
          <a:xfrm>
            <a:off x="1438200" y="2919240"/>
            <a:ext cx="202860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4" name="Google Shape;232;p19"/>
          <p:cNvSpPr/>
          <p:nvPr/>
        </p:nvSpPr>
        <p:spPr>
          <a:xfrm>
            <a:off x="3467520" y="2919240"/>
            <a:ext cx="196704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5" name="Google Shape;233;p19"/>
          <p:cNvSpPr/>
          <p:nvPr/>
        </p:nvSpPr>
        <p:spPr>
          <a:xfrm>
            <a:off x="5434920" y="2919240"/>
            <a:ext cx="228708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6" name="Google Shape;234;p19"/>
          <p:cNvSpPr/>
          <p:nvPr/>
        </p:nvSpPr>
        <p:spPr>
          <a:xfrm>
            <a:off x="7722360" y="2919240"/>
            <a:ext cx="198216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7" name="Google Shape;235;p19"/>
          <p:cNvSpPr/>
          <p:nvPr/>
        </p:nvSpPr>
        <p:spPr>
          <a:xfrm>
            <a:off x="9704880" y="2919240"/>
            <a:ext cx="201060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8" name="Google Shape;236;p19"/>
          <p:cNvSpPr/>
          <p:nvPr/>
        </p:nvSpPr>
        <p:spPr>
          <a:xfrm>
            <a:off x="476280" y="3519360"/>
            <a:ext cx="96156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9" name="Google Shape;237;p19"/>
          <p:cNvSpPr/>
          <p:nvPr/>
        </p:nvSpPr>
        <p:spPr>
          <a:xfrm>
            <a:off x="1438200" y="3519360"/>
            <a:ext cx="202860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0" name="Google Shape;238;p19"/>
          <p:cNvSpPr/>
          <p:nvPr/>
        </p:nvSpPr>
        <p:spPr>
          <a:xfrm>
            <a:off x="3467520" y="3519360"/>
            <a:ext cx="196704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1" name="Google Shape;239;p19"/>
          <p:cNvSpPr/>
          <p:nvPr/>
        </p:nvSpPr>
        <p:spPr>
          <a:xfrm>
            <a:off x="5434920" y="3519360"/>
            <a:ext cx="228708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2" name="Google Shape;240;p19"/>
          <p:cNvSpPr/>
          <p:nvPr/>
        </p:nvSpPr>
        <p:spPr>
          <a:xfrm>
            <a:off x="7722360" y="3519360"/>
            <a:ext cx="198216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3" name="Google Shape;241;p19"/>
          <p:cNvSpPr/>
          <p:nvPr/>
        </p:nvSpPr>
        <p:spPr>
          <a:xfrm>
            <a:off x="9704880" y="3519360"/>
            <a:ext cx="201060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4" name="Google Shape;242;p19"/>
          <p:cNvSpPr/>
          <p:nvPr/>
        </p:nvSpPr>
        <p:spPr>
          <a:xfrm>
            <a:off x="476280" y="4119480"/>
            <a:ext cx="96156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5" name="Google Shape;243;p19"/>
          <p:cNvSpPr/>
          <p:nvPr/>
        </p:nvSpPr>
        <p:spPr>
          <a:xfrm>
            <a:off x="1438200" y="4119480"/>
            <a:ext cx="202860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6" name="Google Shape;244;p19"/>
          <p:cNvSpPr/>
          <p:nvPr/>
        </p:nvSpPr>
        <p:spPr>
          <a:xfrm>
            <a:off x="3467520" y="4119480"/>
            <a:ext cx="196704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7" name="Google Shape;245;p19"/>
          <p:cNvSpPr/>
          <p:nvPr/>
        </p:nvSpPr>
        <p:spPr>
          <a:xfrm>
            <a:off x="5434920" y="4119480"/>
            <a:ext cx="228708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8" name="Google Shape;246;p19"/>
          <p:cNvSpPr/>
          <p:nvPr/>
        </p:nvSpPr>
        <p:spPr>
          <a:xfrm>
            <a:off x="7722360" y="4119480"/>
            <a:ext cx="198216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9" name="Google Shape;247;p19"/>
          <p:cNvSpPr/>
          <p:nvPr/>
        </p:nvSpPr>
        <p:spPr>
          <a:xfrm>
            <a:off x="9704880" y="4119480"/>
            <a:ext cx="201060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0" name="Google Shape;248;p19"/>
          <p:cNvSpPr/>
          <p:nvPr/>
        </p:nvSpPr>
        <p:spPr>
          <a:xfrm>
            <a:off x="476280" y="4719600"/>
            <a:ext cx="96156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1" name="Google Shape;249;p19"/>
          <p:cNvSpPr/>
          <p:nvPr/>
        </p:nvSpPr>
        <p:spPr>
          <a:xfrm>
            <a:off x="1438200" y="4719600"/>
            <a:ext cx="202860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2" name="Google Shape;250;p19"/>
          <p:cNvSpPr/>
          <p:nvPr/>
        </p:nvSpPr>
        <p:spPr>
          <a:xfrm>
            <a:off x="3467520" y="4719600"/>
            <a:ext cx="196704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3" name="Google Shape;251;p19"/>
          <p:cNvSpPr/>
          <p:nvPr/>
        </p:nvSpPr>
        <p:spPr>
          <a:xfrm>
            <a:off x="5434920" y="4719600"/>
            <a:ext cx="228708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4" name="Google Shape;252;p19"/>
          <p:cNvSpPr/>
          <p:nvPr/>
        </p:nvSpPr>
        <p:spPr>
          <a:xfrm>
            <a:off x="7722360" y="4719600"/>
            <a:ext cx="198216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5" name="Google Shape;253;p19"/>
          <p:cNvSpPr/>
          <p:nvPr/>
        </p:nvSpPr>
        <p:spPr>
          <a:xfrm>
            <a:off x="9704880" y="4719600"/>
            <a:ext cx="201060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3F0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9;p 1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7" name="Google Shape;220;p 1"/>
          <p:cNvSpPr/>
          <p:nvPr/>
        </p:nvSpPr>
        <p:spPr>
          <a:xfrm>
            <a:off x="476280" y="476280"/>
            <a:ext cx="11715480" cy="43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850" b="1" u="none" strike="noStrike">
                <a:solidFill>
                  <a:srgbClr val="005088"/>
                </a:solidFill>
                <a:effectLst/>
                <a:uFillTx/>
                <a:latin typeface="Merriweather"/>
                <a:ea typeface="Merriweather"/>
              </a:rPr>
              <a:t>2. Critérios de Exclusão e Inclusão</a:t>
            </a:r>
            <a:endParaRPr lang="pt-BR" sz="2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Google Shape;221;p 1"/>
          <p:cNvSpPr/>
          <p:nvPr/>
        </p:nvSpPr>
        <p:spPr>
          <a:xfrm>
            <a:off x="476280" y="1019160"/>
            <a:ext cx="11239200" cy="28080"/>
          </a:xfrm>
          <a:prstGeom prst="rect">
            <a:avLst/>
          </a:prstGeom>
          <a:solidFill>
            <a:srgbClr val="0050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14040" bIns="14040" anchor="ctr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9" name="Google Shape;224;p 1"/>
          <p:cNvSpPr/>
          <p:nvPr/>
        </p:nvSpPr>
        <p:spPr>
          <a:xfrm>
            <a:off x="476280" y="2319480"/>
            <a:ext cx="96156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0" name="Google Shape;225;p 1"/>
          <p:cNvSpPr/>
          <p:nvPr/>
        </p:nvSpPr>
        <p:spPr>
          <a:xfrm>
            <a:off x="1438200" y="2319480"/>
            <a:ext cx="202860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1" name="Google Shape;226;p 1"/>
          <p:cNvSpPr/>
          <p:nvPr/>
        </p:nvSpPr>
        <p:spPr>
          <a:xfrm>
            <a:off x="3467520" y="2319480"/>
            <a:ext cx="196704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2" name="Google Shape;227;p 1"/>
          <p:cNvSpPr/>
          <p:nvPr/>
        </p:nvSpPr>
        <p:spPr>
          <a:xfrm>
            <a:off x="5434920" y="2319480"/>
            <a:ext cx="228708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3" name="Google Shape;228;p 1"/>
          <p:cNvSpPr/>
          <p:nvPr/>
        </p:nvSpPr>
        <p:spPr>
          <a:xfrm>
            <a:off x="7722360" y="2319480"/>
            <a:ext cx="198216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4" name="Google Shape;229;p 1"/>
          <p:cNvSpPr/>
          <p:nvPr/>
        </p:nvSpPr>
        <p:spPr>
          <a:xfrm>
            <a:off x="9704880" y="2319480"/>
            <a:ext cx="201060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5" name="Google Shape;230;p 1"/>
          <p:cNvSpPr/>
          <p:nvPr/>
        </p:nvSpPr>
        <p:spPr>
          <a:xfrm>
            <a:off x="476280" y="2919240"/>
            <a:ext cx="96156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6" name="Google Shape;231;p 1"/>
          <p:cNvSpPr/>
          <p:nvPr/>
        </p:nvSpPr>
        <p:spPr>
          <a:xfrm>
            <a:off x="1438200" y="2919240"/>
            <a:ext cx="202860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7" name="Google Shape;232;p 1"/>
          <p:cNvSpPr/>
          <p:nvPr/>
        </p:nvSpPr>
        <p:spPr>
          <a:xfrm>
            <a:off x="3467520" y="2919240"/>
            <a:ext cx="196704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8" name="Google Shape;233;p 1"/>
          <p:cNvSpPr/>
          <p:nvPr/>
        </p:nvSpPr>
        <p:spPr>
          <a:xfrm>
            <a:off x="5434920" y="2919240"/>
            <a:ext cx="228708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9" name="Google Shape;234;p 1"/>
          <p:cNvSpPr/>
          <p:nvPr/>
        </p:nvSpPr>
        <p:spPr>
          <a:xfrm>
            <a:off x="7722360" y="2919240"/>
            <a:ext cx="198216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0" name="Google Shape;235;p 1"/>
          <p:cNvSpPr/>
          <p:nvPr/>
        </p:nvSpPr>
        <p:spPr>
          <a:xfrm>
            <a:off x="9704880" y="2919240"/>
            <a:ext cx="201060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1" name="Google Shape;236;p 1"/>
          <p:cNvSpPr/>
          <p:nvPr/>
        </p:nvSpPr>
        <p:spPr>
          <a:xfrm>
            <a:off x="476280" y="3519360"/>
            <a:ext cx="96156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2" name="Google Shape;237;p 1"/>
          <p:cNvSpPr/>
          <p:nvPr/>
        </p:nvSpPr>
        <p:spPr>
          <a:xfrm>
            <a:off x="1438200" y="3519360"/>
            <a:ext cx="202860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3" name="Google Shape;238;p 1"/>
          <p:cNvSpPr/>
          <p:nvPr/>
        </p:nvSpPr>
        <p:spPr>
          <a:xfrm>
            <a:off x="3467520" y="3519360"/>
            <a:ext cx="196704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4" name="Google Shape;239;p 1"/>
          <p:cNvSpPr/>
          <p:nvPr/>
        </p:nvSpPr>
        <p:spPr>
          <a:xfrm>
            <a:off x="5434920" y="3519360"/>
            <a:ext cx="228708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5" name="Google Shape;240;p 1"/>
          <p:cNvSpPr/>
          <p:nvPr/>
        </p:nvSpPr>
        <p:spPr>
          <a:xfrm>
            <a:off x="7722360" y="3519360"/>
            <a:ext cx="198216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6" name="Google Shape;241;p 1"/>
          <p:cNvSpPr/>
          <p:nvPr/>
        </p:nvSpPr>
        <p:spPr>
          <a:xfrm>
            <a:off x="9704880" y="3519360"/>
            <a:ext cx="201060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7" name="Google Shape;242;p 1"/>
          <p:cNvSpPr/>
          <p:nvPr/>
        </p:nvSpPr>
        <p:spPr>
          <a:xfrm>
            <a:off x="476280" y="4119480"/>
            <a:ext cx="96156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8" name="Google Shape;243;p 1"/>
          <p:cNvSpPr/>
          <p:nvPr/>
        </p:nvSpPr>
        <p:spPr>
          <a:xfrm>
            <a:off x="1438200" y="4119480"/>
            <a:ext cx="202860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9" name="Google Shape;244;p 1"/>
          <p:cNvSpPr/>
          <p:nvPr/>
        </p:nvSpPr>
        <p:spPr>
          <a:xfrm>
            <a:off x="3467520" y="4119480"/>
            <a:ext cx="196704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0" name="Google Shape;245;p 1"/>
          <p:cNvSpPr/>
          <p:nvPr/>
        </p:nvSpPr>
        <p:spPr>
          <a:xfrm>
            <a:off x="5434920" y="4119480"/>
            <a:ext cx="228708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1" name="Google Shape;246;p 1"/>
          <p:cNvSpPr/>
          <p:nvPr/>
        </p:nvSpPr>
        <p:spPr>
          <a:xfrm>
            <a:off x="7722360" y="4119480"/>
            <a:ext cx="198216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2" name="Google Shape;247;p 1"/>
          <p:cNvSpPr/>
          <p:nvPr/>
        </p:nvSpPr>
        <p:spPr>
          <a:xfrm>
            <a:off x="9704880" y="4119480"/>
            <a:ext cx="201060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3" name="Google Shape;248;p 1"/>
          <p:cNvSpPr/>
          <p:nvPr/>
        </p:nvSpPr>
        <p:spPr>
          <a:xfrm>
            <a:off x="476280" y="4719600"/>
            <a:ext cx="96156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4" name="Google Shape;249;p 1"/>
          <p:cNvSpPr/>
          <p:nvPr/>
        </p:nvSpPr>
        <p:spPr>
          <a:xfrm>
            <a:off x="1438200" y="4719600"/>
            <a:ext cx="202860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5" name="Google Shape;250;p 1"/>
          <p:cNvSpPr/>
          <p:nvPr/>
        </p:nvSpPr>
        <p:spPr>
          <a:xfrm>
            <a:off x="3467520" y="4719600"/>
            <a:ext cx="196704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6" name="Google Shape;251;p 1"/>
          <p:cNvSpPr/>
          <p:nvPr/>
        </p:nvSpPr>
        <p:spPr>
          <a:xfrm>
            <a:off x="5434920" y="4719600"/>
            <a:ext cx="228708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7" name="Google Shape;252;p 1"/>
          <p:cNvSpPr/>
          <p:nvPr/>
        </p:nvSpPr>
        <p:spPr>
          <a:xfrm>
            <a:off x="7722360" y="4719600"/>
            <a:ext cx="198216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8" name="Google Shape;253;p 1"/>
          <p:cNvSpPr/>
          <p:nvPr/>
        </p:nvSpPr>
        <p:spPr>
          <a:xfrm>
            <a:off x="9704880" y="4719600"/>
            <a:ext cx="201060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graphicFrame>
        <p:nvGraphicFramePr>
          <p:cNvPr id="249" name=""/>
          <p:cNvGraphicFramePr/>
          <p:nvPr/>
        </p:nvGraphicFramePr>
        <p:xfrm>
          <a:off x="759240" y="1303920"/>
          <a:ext cx="10950480" cy="4795560"/>
        </p:xfrm>
        <a:graphic>
          <a:graphicData uri="http://schemas.openxmlformats.org/drawingml/2006/table">
            <a:tbl>
              <a:tblPr/>
              <a:tblGrid>
                <a:gridCol w="5475600"/>
                <a:gridCol w="5475240"/>
              </a:tblGrid>
              <a:tr h="486720">
                <a:tc gridSpan="2">
                  <a:txBody>
                    <a:bodyPr lIns="36000" tIns="36000" rIns="36000" bIns="36000" anchor="t" anchorCtr="1">
                      <a:noAutofit/>
                    </a:bodyPr>
                    <a:p>
                      <a:pPr algn="ctr"/>
                      <a:r>
                        <a:rPr lang="pt-BR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Observáveis Prioritários</a:t>
                      </a:r>
                      <a:endParaRPr lang="pt-BR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5983B0"/>
                    </a:solidFill>
                  </a:tcPr>
                </a:tc>
                <a:tc hMerge="1">
                  <a:txBody>
                    <a:bodyPr lIns="36000" tIns="36000" rIns="36000" bIns="36000" anchor="t" anchorCtr="1">
                      <a:noAutofit/>
                    </a:bodyPr>
                    <a:p>
                      <a:endParaRPr lang="pt-BR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5983B0"/>
                    </a:solidFill>
                  </a:tcPr>
                </a:tc>
              </a:tr>
              <a:tr h="482400">
                <a:tc>
                  <a:txBody>
                    <a:bodyPr lIns="36000" tIns="36000" rIns="36000" bIns="36000" anchor="t">
                      <a:noAutofit/>
                    </a:bodyPr>
                    <a:p>
                      <a:pPr algn="ctr"/>
                      <a:r>
                        <a:rPr lang="pt-BR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Observável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B4C7DC"/>
                    </a:solidFill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algn="ctr"/>
                      <a:r>
                        <a:rPr lang="pt-BR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Descrição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B4C7DC"/>
                    </a:solidFill>
                  </a:tcPr>
                </a:tc>
              </a:tr>
              <a:tr h="1180080">
                <a:tc>
                  <a:txBody>
                    <a:bodyPr lIns="36000" tIns="36000" rIns="36000" bIns="36000" anchor="ctr">
                      <a:noAutofit/>
                    </a:bodyPr>
                    <a:p>
                      <a:pPr algn="ctr"/>
                      <a:r>
                        <a:rPr lang="pt-BR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Estatura da Edificação 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DEE6EF"/>
                    </a:solidFill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algn="ctr"/>
                      <a:r>
                        <a:rPr lang="pt-BR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Edifício residencial vertical composto por 30 pavimentos, totalizando cerca de 120 metros de altura. 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DEE6EF"/>
                    </a:solidFill>
                  </a:tcPr>
                </a:tc>
              </a:tr>
              <a:tr h="1180080">
                <a:tc>
                  <a:txBody>
                    <a:bodyPr lIns="36000" tIns="36000" rIns="36000" bIns="36000" anchor="ctr">
                      <a:noAutofit/>
                    </a:bodyPr>
                    <a:p>
                      <a:pPr algn="ctr"/>
                      <a:r>
                        <a:rPr lang="pt-BR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Granularidade Espacial 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B4C7DC"/>
                    </a:solidFill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algn="ctr"/>
                      <a:r>
                        <a:rPr lang="pt-BR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Pavimentos de 20x20m discretizados em uma grade celular de 20x20, onde cada célula equivale a aproximadamente 1m². 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B4C7DC"/>
                    </a:solidFill>
                  </a:tcPr>
                </a:tc>
              </a:tr>
              <a:tr h="488160">
                <a:tc>
                  <a:txBody>
                    <a:bodyPr lIns="36000" tIns="36000" rIns="36000" bIns="36000" anchor="ctr">
                      <a:noAutofit/>
                    </a:bodyPr>
                    <a:p>
                      <a:pPr algn="ctr"/>
                      <a:r>
                        <a:rPr lang="pt-BR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Diversidade de Agentes 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DEE6EF"/>
                    </a:solidFill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algn="ctr"/>
                      <a:r>
                        <a:rPr lang="pt-BR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População de 180 indivíduos estratificada entre adultos, idosos, crianças e PcD, refletindo diferentes capacidades de locomoção. 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DEE6EF"/>
                    </a:solidFill>
                  </a:tcPr>
                </a:tc>
              </a:tr>
              <a:tr h="488160">
                <a:tc>
                  <a:txBody>
                    <a:bodyPr lIns="36000" tIns="36000" rIns="36000" bIns="36000" anchor="ctr">
                      <a:noAutofit/>
                    </a:bodyPr>
                    <a:p>
                      <a:pPr algn="ctr"/>
                      <a:r>
                        <a:rPr lang="pt-BR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Dinâmica do Sinistro 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B4C7DC"/>
                    </a:solidFill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algn="ctr"/>
                      <a:r>
                        <a:rPr lang="pt-BR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Parâmetros de origem do fogo e carga de incêndio que influenciam a opacidade da fumaça e a visibilidade nas rotas. 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B4C7DC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3F0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0" name="Google Shape;219;p 2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1" name="Google Shape;220;p 2"/>
          <p:cNvSpPr/>
          <p:nvPr/>
        </p:nvSpPr>
        <p:spPr>
          <a:xfrm>
            <a:off x="476280" y="476280"/>
            <a:ext cx="11715480" cy="43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850" b="1" u="none" strike="noStrike">
                <a:solidFill>
                  <a:srgbClr val="005088"/>
                </a:solidFill>
                <a:effectLst/>
                <a:uFillTx/>
                <a:latin typeface="Merriweather"/>
                <a:ea typeface="Merriweather"/>
              </a:rPr>
              <a:t>2. Critérios de Exclusão e Inclusão</a:t>
            </a:r>
            <a:endParaRPr lang="pt-BR" sz="2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Google Shape;221;p 2"/>
          <p:cNvSpPr/>
          <p:nvPr/>
        </p:nvSpPr>
        <p:spPr>
          <a:xfrm>
            <a:off x="476280" y="1019160"/>
            <a:ext cx="11239200" cy="28080"/>
          </a:xfrm>
          <a:prstGeom prst="rect">
            <a:avLst/>
          </a:prstGeom>
          <a:solidFill>
            <a:srgbClr val="0050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14040" bIns="14040" anchor="ctr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3" name="Google Shape;224;p 2"/>
          <p:cNvSpPr/>
          <p:nvPr/>
        </p:nvSpPr>
        <p:spPr>
          <a:xfrm>
            <a:off x="476280" y="2319480"/>
            <a:ext cx="96156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4" name="Google Shape;225;p 2"/>
          <p:cNvSpPr/>
          <p:nvPr/>
        </p:nvSpPr>
        <p:spPr>
          <a:xfrm>
            <a:off x="1438200" y="2319480"/>
            <a:ext cx="202860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5" name="Google Shape;226;p 2"/>
          <p:cNvSpPr/>
          <p:nvPr/>
        </p:nvSpPr>
        <p:spPr>
          <a:xfrm>
            <a:off x="3467520" y="2319480"/>
            <a:ext cx="196704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6" name="Google Shape;227;p 2"/>
          <p:cNvSpPr/>
          <p:nvPr/>
        </p:nvSpPr>
        <p:spPr>
          <a:xfrm>
            <a:off x="5434920" y="2319480"/>
            <a:ext cx="228708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7" name="Google Shape;228;p 2"/>
          <p:cNvSpPr/>
          <p:nvPr/>
        </p:nvSpPr>
        <p:spPr>
          <a:xfrm>
            <a:off x="7722360" y="2319480"/>
            <a:ext cx="198216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8" name="Google Shape;229;p 2"/>
          <p:cNvSpPr/>
          <p:nvPr/>
        </p:nvSpPr>
        <p:spPr>
          <a:xfrm>
            <a:off x="9704880" y="2319480"/>
            <a:ext cx="201060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9" name="Google Shape;230;p 2"/>
          <p:cNvSpPr/>
          <p:nvPr/>
        </p:nvSpPr>
        <p:spPr>
          <a:xfrm>
            <a:off x="476280" y="2919240"/>
            <a:ext cx="96156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0" name="Google Shape;231;p 2"/>
          <p:cNvSpPr/>
          <p:nvPr/>
        </p:nvSpPr>
        <p:spPr>
          <a:xfrm>
            <a:off x="1438200" y="2919240"/>
            <a:ext cx="202860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1" name="Google Shape;232;p 2"/>
          <p:cNvSpPr/>
          <p:nvPr/>
        </p:nvSpPr>
        <p:spPr>
          <a:xfrm>
            <a:off x="3467520" y="2919240"/>
            <a:ext cx="196704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2" name="Google Shape;233;p 2"/>
          <p:cNvSpPr/>
          <p:nvPr/>
        </p:nvSpPr>
        <p:spPr>
          <a:xfrm>
            <a:off x="5434920" y="2919240"/>
            <a:ext cx="228708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3" name="Google Shape;234;p 2"/>
          <p:cNvSpPr/>
          <p:nvPr/>
        </p:nvSpPr>
        <p:spPr>
          <a:xfrm>
            <a:off x="7722360" y="2919240"/>
            <a:ext cx="198216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4" name="Google Shape;235;p 2"/>
          <p:cNvSpPr/>
          <p:nvPr/>
        </p:nvSpPr>
        <p:spPr>
          <a:xfrm>
            <a:off x="9704880" y="2919240"/>
            <a:ext cx="201060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5" name="Google Shape;236;p 2"/>
          <p:cNvSpPr/>
          <p:nvPr/>
        </p:nvSpPr>
        <p:spPr>
          <a:xfrm>
            <a:off x="476280" y="3519360"/>
            <a:ext cx="96156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6" name="Google Shape;237;p 2"/>
          <p:cNvSpPr/>
          <p:nvPr/>
        </p:nvSpPr>
        <p:spPr>
          <a:xfrm>
            <a:off x="1438200" y="3519360"/>
            <a:ext cx="202860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7" name="Google Shape;238;p 2"/>
          <p:cNvSpPr/>
          <p:nvPr/>
        </p:nvSpPr>
        <p:spPr>
          <a:xfrm>
            <a:off x="3467520" y="3519360"/>
            <a:ext cx="196704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8" name="Google Shape;239;p 2"/>
          <p:cNvSpPr/>
          <p:nvPr/>
        </p:nvSpPr>
        <p:spPr>
          <a:xfrm>
            <a:off x="5434920" y="3519360"/>
            <a:ext cx="228708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9" name="Google Shape;240;p 2"/>
          <p:cNvSpPr/>
          <p:nvPr/>
        </p:nvSpPr>
        <p:spPr>
          <a:xfrm>
            <a:off x="7722360" y="3519360"/>
            <a:ext cx="198216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0" name="Google Shape;241;p 2"/>
          <p:cNvSpPr/>
          <p:nvPr/>
        </p:nvSpPr>
        <p:spPr>
          <a:xfrm>
            <a:off x="9704880" y="3519360"/>
            <a:ext cx="201060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1" name="Google Shape;242;p 2"/>
          <p:cNvSpPr/>
          <p:nvPr/>
        </p:nvSpPr>
        <p:spPr>
          <a:xfrm>
            <a:off x="476280" y="4119480"/>
            <a:ext cx="96156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2" name="Google Shape;243;p 2"/>
          <p:cNvSpPr/>
          <p:nvPr/>
        </p:nvSpPr>
        <p:spPr>
          <a:xfrm>
            <a:off x="1438200" y="4119480"/>
            <a:ext cx="202860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3" name="Google Shape;244;p 2"/>
          <p:cNvSpPr/>
          <p:nvPr/>
        </p:nvSpPr>
        <p:spPr>
          <a:xfrm>
            <a:off x="3467520" y="4119480"/>
            <a:ext cx="196704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4" name="Google Shape;245;p 2"/>
          <p:cNvSpPr/>
          <p:nvPr/>
        </p:nvSpPr>
        <p:spPr>
          <a:xfrm>
            <a:off x="5434920" y="4119480"/>
            <a:ext cx="228708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5" name="Google Shape;246;p 2"/>
          <p:cNvSpPr/>
          <p:nvPr/>
        </p:nvSpPr>
        <p:spPr>
          <a:xfrm>
            <a:off x="7722360" y="4119480"/>
            <a:ext cx="198216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6" name="Google Shape;247;p 2"/>
          <p:cNvSpPr/>
          <p:nvPr/>
        </p:nvSpPr>
        <p:spPr>
          <a:xfrm>
            <a:off x="9704880" y="4119480"/>
            <a:ext cx="201060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7" name="Google Shape;248;p 2"/>
          <p:cNvSpPr/>
          <p:nvPr/>
        </p:nvSpPr>
        <p:spPr>
          <a:xfrm>
            <a:off x="476280" y="4719600"/>
            <a:ext cx="96156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8" name="Google Shape;249;p 2"/>
          <p:cNvSpPr/>
          <p:nvPr/>
        </p:nvSpPr>
        <p:spPr>
          <a:xfrm>
            <a:off x="1438200" y="4719600"/>
            <a:ext cx="202860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9" name="Google Shape;250;p 2"/>
          <p:cNvSpPr/>
          <p:nvPr/>
        </p:nvSpPr>
        <p:spPr>
          <a:xfrm>
            <a:off x="3467520" y="4719600"/>
            <a:ext cx="196704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0" name="Google Shape;251;p 2"/>
          <p:cNvSpPr/>
          <p:nvPr/>
        </p:nvSpPr>
        <p:spPr>
          <a:xfrm>
            <a:off x="5434920" y="4719600"/>
            <a:ext cx="228708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1" name="Google Shape;252;p 2"/>
          <p:cNvSpPr/>
          <p:nvPr/>
        </p:nvSpPr>
        <p:spPr>
          <a:xfrm>
            <a:off x="7722360" y="4719600"/>
            <a:ext cx="198216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2" name="Google Shape;253;p 2"/>
          <p:cNvSpPr/>
          <p:nvPr/>
        </p:nvSpPr>
        <p:spPr>
          <a:xfrm>
            <a:off x="9704880" y="4719600"/>
            <a:ext cx="201060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graphicFrame>
        <p:nvGraphicFramePr>
          <p:cNvPr id="283" name=""/>
          <p:cNvGraphicFramePr/>
          <p:nvPr/>
        </p:nvGraphicFramePr>
        <p:xfrm>
          <a:off x="646920" y="1321920"/>
          <a:ext cx="10950480" cy="4795560"/>
        </p:xfrm>
        <a:graphic>
          <a:graphicData uri="http://schemas.openxmlformats.org/drawingml/2006/table">
            <a:tbl>
              <a:tblPr/>
              <a:tblGrid>
                <a:gridCol w="5475600"/>
                <a:gridCol w="5475240"/>
              </a:tblGrid>
              <a:tr h="486720">
                <a:tc gridSpan="2">
                  <a:txBody>
                    <a:bodyPr lIns="36000" tIns="36000" rIns="36000" bIns="36000" anchor="t">
                      <a:noAutofit/>
                    </a:bodyPr>
                    <a:p>
                      <a:pPr algn="ctr"/>
                      <a:r>
                        <a:rPr lang="pt-BR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Exclusões Conscientes</a:t>
                      </a:r>
                      <a:endParaRPr lang="pt-BR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FF860D"/>
                    </a:solidFill>
                  </a:tcPr>
                </a:tc>
                <a:tc hMerge="1">
                  <a:txBody>
                    <a:bodyPr lIns="36000" tIns="36000" rIns="36000" bIns="36000" anchor="t">
                      <a:noAutofit/>
                    </a:bodyPr>
                    <a:p>
                      <a:endParaRPr lang="pt-BR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FF860D"/>
                    </a:solidFill>
                  </a:tcPr>
                </a:tc>
              </a:tr>
              <a:tr h="482400">
                <a:tc>
                  <a:txBody>
                    <a:bodyPr lIns="36000" tIns="36000" rIns="36000" bIns="36000" anchor="t">
                      <a:noAutofit/>
                    </a:bodyPr>
                    <a:p>
                      <a:pPr algn="ctr"/>
                      <a:r>
                        <a:rPr lang="pt-BR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Elemento Excluído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FFB66C"/>
                    </a:solidFill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algn="ctr"/>
                      <a:r>
                        <a:rPr lang="pt-BR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Justificativa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FFB66C"/>
                    </a:solidFill>
                  </a:tcPr>
                </a:tc>
              </a:tr>
              <a:tr h="1180080">
                <a:tc>
                  <a:txBody>
                    <a:bodyPr lIns="36000" tIns="36000" rIns="36000" bIns="36000" anchor="ctr">
                      <a:noAutofit/>
                    </a:bodyPr>
                    <a:p>
                      <a:pPr algn="ctr"/>
                      <a:r>
                        <a:rPr lang="pt-BR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Uso de Elevadores 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BB6"/>
                    </a:solidFill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algn="ctr"/>
                      <a:r>
                        <a:rPr lang="pt-BR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Bloqueados obrigatoriamente por protocolos de segurança contra incêndio para evitar o aprisionamento de agentes. 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BB6"/>
                    </a:solidFill>
                  </a:tcPr>
                </a:tc>
              </a:tr>
              <a:tr h="1180080">
                <a:tc>
                  <a:txBody>
                    <a:bodyPr lIns="36000" tIns="36000" rIns="36000" bIns="36000" anchor="ctr">
                      <a:noAutofit/>
                    </a:bodyPr>
                    <a:p>
                      <a:pPr algn="ctr"/>
                      <a:r>
                        <a:rPr lang="pt-BR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Áreas Externas 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FFB66C"/>
                    </a:solidFill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algn="ctr"/>
                      <a:r>
                        <a:rPr lang="pt-BR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O foco metodológico restringe-se ao ambiente interno para analisar gargalos em corredores e escadas. 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FFB66C"/>
                    </a:solidFill>
                  </a:tcPr>
                </a:tc>
              </a:tr>
              <a:tr h="488160">
                <a:tc>
                  <a:txBody>
                    <a:bodyPr lIns="36000" tIns="36000" rIns="36000" bIns="36000" anchor="ctr">
                      <a:noAutofit/>
                    </a:bodyPr>
                    <a:p>
                      <a:pPr algn="ctr"/>
                      <a:r>
                        <a:rPr lang="pt-BR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Ações de Combate 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BB6"/>
                    </a:solidFill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algn="ctr"/>
                      <a:r>
                        <a:rPr lang="pt-BR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O modelo prioriza a dinâmica de evacuação (egressão), desconsiderando comportamentos de combate ao fogo pelos ocupantes. 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BB6"/>
                    </a:solidFill>
                  </a:tcPr>
                </a:tc>
              </a:tr>
              <a:tr h="488160">
                <a:tc>
                  <a:txBody>
                    <a:bodyPr lIns="36000" tIns="36000" rIns="36000" bIns="36000" anchor="ctr">
                      <a:noAutofit/>
                    </a:bodyPr>
                    <a:p>
                      <a:pPr algn="ctr"/>
                      <a:r>
                        <a:rPr lang="pt-BR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Resistência Estrutural 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FFB66C"/>
                    </a:solidFill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algn="ctr"/>
                      <a:r>
                        <a:rPr lang="pt-BR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A simulação avalia o tempo de escape e segurança da vida (ASET/RSET), e não o colapso mecânico dos materiais da obra. 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FFB66C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Retângulo: Cantos Arredondados 1"/>
          <p:cNvSpPr/>
          <p:nvPr/>
        </p:nvSpPr>
        <p:spPr>
          <a:xfrm>
            <a:off x="880920" y="631440"/>
            <a:ext cx="1629720" cy="816120"/>
          </a:xfrm>
          <a:prstGeom prst="roundRect">
            <a:avLst>
              <a:gd name="adj" fmla="val 16667"/>
            </a:avLst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pt-BR" sz="1200" b="0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1. Identificação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5" name="Retângulo: Cantos Arredondados 2"/>
          <p:cNvSpPr/>
          <p:nvPr/>
        </p:nvSpPr>
        <p:spPr>
          <a:xfrm>
            <a:off x="3519360" y="614880"/>
            <a:ext cx="4565160" cy="881280"/>
          </a:xfrm>
          <a:prstGeom prst="roundRect">
            <a:avLst>
              <a:gd name="adj" fmla="val 16667"/>
            </a:avLst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pt-BR" sz="1200" b="0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Artigos identificados por meio de busca em banco de dados: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pt-BR" sz="1200" b="0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 Web of Science (n= 84)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pt-BR" sz="1200" b="0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Scopus (n= 92)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pt-BR" sz="1200" b="0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IEEE(n= 56)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6" name="Retângulo: Cantos Arredondados 3"/>
          <p:cNvSpPr/>
          <p:nvPr/>
        </p:nvSpPr>
        <p:spPr>
          <a:xfrm>
            <a:off x="9093240" y="614880"/>
            <a:ext cx="1629720" cy="881280"/>
          </a:xfrm>
          <a:prstGeom prst="roundRect">
            <a:avLst>
              <a:gd name="adj" fmla="val 16667"/>
            </a:avLst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pt-BR" sz="1200" b="0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Termos de pesquisa aplicados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287" name="Conector de Seta Reta 5"/>
          <p:cNvCxnSpPr>
            <a:stCxn id="286" idx="1"/>
            <a:endCxn id="285" idx="3"/>
          </p:cNvCxnSpPr>
          <p:nvPr/>
        </p:nvCxnSpPr>
        <p:spPr>
          <a:xfrm flipH="1">
            <a:off x="8084520" y="1055520"/>
            <a:ext cx="1009080" cy="360"/>
          </a:xfrm>
          <a:prstGeom prst="straightConnector1">
            <a:avLst/>
          </a:prstGeom>
          <a:ln>
            <a:solidFill>
              <a:srgbClr val="EEECE1">
                <a:lumMod val="90000"/>
                <a:lumOff val="10000"/>
              </a:srgbClr>
            </a:solidFill>
            <a:round/>
            <a:tailEnd len="med" type="arrow" w="med"/>
          </a:ln>
        </p:spPr>
      </p:cxnSp>
      <p:sp>
        <p:nvSpPr>
          <p:cNvPr id="288" name="Retângulo: Cantos Arredondados 9"/>
          <p:cNvSpPr/>
          <p:nvPr/>
        </p:nvSpPr>
        <p:spPr>
          <a:xfrm>
            <a:off x="3519360" y="1779840"/>
            <a:ext cx="4565160" cy="881280"/>
          </a:xfrm>
          <a:prstGeom prst="roundRect">
            <a:avLst>
              <a:gd name="adj" fmla="val 16667"/>
            </a:avLst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pt-BR" sz="1200" b="0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 Web of Science (n= 84)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pt-BR" sz="1200" b="0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Scopus (n= 92)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pt-BR" sz="1200" b="0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IEEE(n= 56)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9" name="Retângulo: Cantos Arredondados 10"/>
          <p:cNvSpPr/>
          <p:nvPr/>
        </p:nvSpPr>
        <p:spPr>
          <a:xfrm>
            <a:off x="9093240" y="1620000"/>
            <a:ext cx="2066760" cy="1260000"/>
          </a:xfrm>
          <a:prstGeom prst="roundRect">
            <a:avLst>
              <a:gd name="adj" fmla="val 16667"/>
            </a:avLst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pt-BR" sz="1200" b="0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"fire evacuation", "agent-based simulation", "building fire simulation", "human behavior in fire", "BIM evacuation" 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290" name="Conector de Seta Reta 13"/>
          <p:cNvCxnSpPr>
            <a:stCxn id="289" idx="1"/>
            <a:endCxn id="288" idx="3"/>
          </p:cNvCxnSpPr>
          <p:nvPr/>
        </p:nvCxnSpPr>
        <p:spPr>
          <a:xfrm flipH="1" flipV="1">
            <a:off x="8084520" y="2220480"/>
            <a:ext cx="1009080" cy="29880"/>
          </a:xfrm>
          <a:prstGeom prst="straightConnector1">
            <a:avLst/>
          </a:prstGeom>
          <a:ln>
            <a:solidFill>
              <a:srgbClr val="EEECE1">
                <a:lumMod val="90000"/>
                <a:lumOff val="10000"/>
              </a:srgbClr>
            </a:solidFill>
            <a:round/>
            <a:tailEnd len="med" type="arrow" w="med"/>
          </a:ln>
        </p:spPr>
      </p:cxnSp>
      <p:cxnSp>
        <p:nvCxnSpPr>
          <p:cNvPr id="291" name="Conector de Seta Reta 16"/>
          <p:cNvCxnSpPr>
            <a:stCxn id="285" idx="2"/>
            <a:endCxn id="288" idx="0"/>
          </p:cNvCxnSpPr>
          <p:nvPr/>
        </p:nvCxnSpPr>
        <p:spPr>
          <a:xfrm>
            <a:off x="5802120" y="1496160"/>
            <a:ext cx="360" cy="284040"/>
          </a:xfrm>
          <a:prstGeom prst="straightConnector1">
            <a:avLst/>
          </a:prstGeom>
          <a:ln>
            <a:solidFill>
              <a:srgbClr val="EEECE1">
                <a:lumMod val="90000"/>
                <a:lumOff val="10000"/>
              </a:srgbClr>
            </a:solidFill>
            <a:round/>
            <a:tailEnd len="med" type="arrow" w="med"/>
          </a:ln>
        </p:spPr>
      </p:cxnSp>
      <p:sp>
        <p:nvSpPr>
          <p:cNvPr id="292" name="Retângulo: Cantos Arredondados 19"/>
          <p:cNvSpPr/>
          <p:nvPr/>
        </p:nvSpPr>
        <p:spPr>
          <a:xfrm>
            <a:off x="880920" y="2961000"/>
            <a:ext cx="1629720" cy="881280"/>
          </a:xfrm>
          <a:prstGeom prst="roundRect">
            <a:avLst>
              <a:gd name="adj" fmla="val 16667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pt-BR" sz="1200" b="0" u="none" strike="noStrike">
                <a:solidFill>
                  <a:schemeClr val="lt2">
                    <a:lumMod val="90000"/>
                    <a:lumOff val="10000"/>
                  </a:schemeClr>
                </a:solidFill>
                <a:effectLst/>
                <a:uFillTx/>
                <a:latin typeface="Arial"/>
                <a:ea typeface="Arial"/>
              </a:rPr>
              <a:t>2. Triagem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Retângulo: Cantos Arredondados 20"/>
          <p:cNvSpPr/>
          <p:nvPr/>
        </p:nvSpPr>
        <p:spPr>
          <a:xfrm>
            <a:off x="3519360" y="2944440"/>
            <a:ext cx="4565160" cy="881280"/>
          </a:xfrm>
          <a:prstGeom prst="roundRect">
            <a:avLst>
              <a:gd name="adj" fmla="val 16667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pt-BR" sz="1200" b="0" u="none" strike="noStrike">
                <a:solidFill>
                  <a:schemeClr val="lt2">
                    <a:lumMod val="90000"/>
                    <a:lumOff val="10000"/>
                  </a:schemeClr>
                </a:solidFill>
                <a:effectLst/>
                <a:uFillTx/>
                <a:latin typeface="Arial"/>
                <a:ea typeface="Arial"/>
              </a:rPr>
              <a:t>Artigos selecionados para triagem de resumos (n= 158)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Retângulo: Cantos Arredondados 21"/>
          <p:cNvSpPr/>
          <p:nvPr/>
        </p:nvSpPr>
        <p:spPr>
          <a:xfrm>
            <a:off x="9172440" y="2944440"/>
            <a:ext cx="1629720" cy="881280"/>
          </a:xfrm>
          <a:prstGeom prst="roundRect">
            <a:avLst>
              <a:gd name="adj" fmla="val 16667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pt-BR" sz="1200" b="0" u="none" strike="noStrike">
                <a:solidFill>
                  <a:schemeClr val="lt2">
                    <a:lumMod val="90000"/>
                    <a:lumOff val="10000"/>
                  </a:schemeClr>
                </a:solidFill>
                <a:effectLst/>
                <a:uFillTx/>
                <a:latin typeface="Arial"/>
                <a:ea typeface="Arial"/>
              </a:rPr>
              <a:t>Duplicados removidos (n = 74)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95" name="Conector de Seta Reta 22"/>
          <p:cNvCxnSpPr>
            <a:stCxn id="294" idx="1"/>
          </p:cNvCxnSpPr>
          <p:nvPr/>
        </p:nvCxnSpPr>
        <p:spPr>
          <a:xfrm flipH="1">
            <a:off x="8242560" y="3385080"/>
            <a:ext cx="930240" cy="720"/>
          </a:xfrm>
          <a:prstGeom prst="straightConnector1">
            <a:avLst/>
          </a:prstGeom>
          <a:ln>
            <a:solidFill>
              <a:srgbClr val="EEECE1">
                <a:lumMod val="90000"/>
                <a:lumOff val="10000"/>
              </a:srgbClr>
            </a:solidFill>
            <a:round/>
            <a:tailEnd len="med" type="arrow" w="med"/>
          </a:ln>
        </p:spPr>
      </p:cxnSp>
      <p:sp>
        <p:nvSpPr>
          <p:cNvPr id="296" name="Retângulo: Cantos Arredondados 23"/>
          <p:cNvSpPr/>
          <p:nvPr/>
        </p:nvSpPr>
        <p:spPr>
          <a:xfrm>
            <a:off x="880920" y="4125600"/>
            <a:ext cx="1629720" cy="881280"/>
          </a:xfrm>
          <a:prstGeom prst="roundRect">
            <a:avLst>
              <a:gd name="adj" fmla="val 16667"/>
            </a:avLst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pt-BR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3. Eligibilidade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Retângulo: Cantos Arredondados 25"/>
          <p:cNvSpPr/>
          <p:nvPr/>
        </p:nvSpPr>
        <p:spPr>
          <a:xfrm>
            <a:off x="3519360" y="4125600"/>
            <a:ext cx="4565160" cy="881280"/>
          </a:xfrm>
          <a:prstGeom prst="roundRect">
            <a:avLst>
              <a:gd name="adj" fmla="val 16667"/>
            </a:avLst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pt-BR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Artigos de texto completo avaliados para elegibilidade (n= 46)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Retângulo: Cantos Arredondados 26"/>
          <p:cNvSpPr/>
          <p:nvPr/>
        </p:nvSpPr>
        <p:spPr>
          <a:xfrm>
            <a:off x="9172440" y="4125600"/>
            <a:ext cx="1629720" cy="881280"/>
          </a:xfrm>
          <a:prstGeom prst="roundRect">
            <a:avLst>
              <a:gd name="adj" fmla="val 16667"/>
            </a:avLst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pt-BR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Artigos excluídos: não atenderam aos critérios de inclusão (n = 36)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99" name="Conector de Seta Reta 27"/>
          <p:cNvCxnSpPr>
            <a:stCxn id="288" idx="2"/>
            <a:endCxn id="293" idx="0"/>
          </p:cNvCxnSpPr>
          <p:nvPr/>
        </p:nvCxnSpPr>
        <p:spPr>
          <a:xfrm>
            <a:off x="5802120" y="2661120"/>
            <a:ext cx="360" cy="283680"/>
          </a:xfrm>
          <a:prstGeom prst="straightConnector1">
            <a:avLst/>
          </a:prstGeom>
          <a:ln>
            <a:solidFill>
              <a:srgbClr val="EEECE1">
                <a:lumMod val="90000"/>
                <a:lumOff val="10000"/>
              </a:srgbClr>
            </a:solidFill>
            <a:round/>
            <a:tailEnd len="med" type="arrow" w="med"/>
          </a:ln>
        </p:spPr>
      </p:cxnSp>
      <p:cxnSp>
        <p:nvCxnSpPr>
          <p:cNvPr id="300" name="Conector de Seta Reta 30"/>
          <p:cNvCxnSpPr>
            <a:stCxn id="293" idx="2"/>
            <a:endCxn id="297" idx="0"/>
          </p:cNvCxnSpPr>
          <p:nvPr/>
        </p:nvCxnSpPr>
        <p:spPr>
          <a:xfrm>
            <a:off x="5802120" y="3825720"/>
            <a:ext cx="360" cy="300240"/>
          </a:xfrm>
          <a:prstGeom prst="straightConnector1">
            <a:avLst/>
          </a:prstGeom>
          <a:ln>
            <a:solidFill>
              <a:srgbClr val="EEECE1">
                <a:lumMod val="90000"/>
                <a:lumOff val="10000"/>
              </a:srgbClr>
            </a:solidFill>
            <a:round/>
            <a:tailEnd len="med" type="arrow" w="med"/>
          </a:ln>
        </p:spPr>
      </p:cxnSp>
      <p:cxnSp>
        <p:nvCxnSpPr>
          <p:cNvPr id="301" name="Conector de Seta Reta 34"/>
          <p:cNvCxnSpPr>
            <a:stCxn id="298" idx="1"/>
            <a:endCxn id="297" idx="3"/>
          </p:cNvCxnSpPr>
          <p:nvPr/>
        </p:nvCxnSpPr>
        <p:spPr>
          <a:xfrm flipH="1">
            <a:off x="8084520" y="4566240"/>
            <a:ext cx="1088280" cy="360"/>
          </a:xfrm>
          <a:prstGeom prst="straightConnector1">
            <a:avLst/>
          </a:prstGeom>
          <a:ln>
            <a:solidFill>
              <a:srgbClr val="EEECE1">
                <a:lumMod val="90000"/>
                <a:lumOff val="10000"/>
              </a:srgbClr>
            </a:solidFill>
            <a:round/>
            <a:tailEnd len="med" type="arrow" w="med"/>
          </a:ln>
        </p:spPr>
      </p:cxnSp>
      <p:sp>
        <p:nvSpPr>
          <p:cNvPr id="302" name="Retângulo: Cantos Arredondados 37"/>
          <p:cNvSpPr/>
          <p:nvPr/>
        </p:nvSpPr>
        <p:spPr>
          <a:xfrm>
            <a:off x="880920" y="5306760"/>
            <a:ext cx="1629720" cy="881280"/>
          </a:xfrm>
          <a:prstGeom prst="roundRect">
            <a:avLst>
              <a:gd name="adj" fmla="val 16667"/>
            </a:avLst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pt-BR" sz="1200" b="0" u="none" strike="noStrike">
                <a:solidFill>
                  <a:schemeClr val="lt2">
                    <a:lumMod val="90000"/>
                    <a:lumOff val="10000"/>
                  </a:schemeClr>
                </a:solidFill>
                <a:effectLst/>
                <a:uFillTx/>
                <a:latin typeface="Arial"/>
                <a:ea typeface="Arial"/>
              </a:rPr>
              <a:t>4. Incluídos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Retângulo: Cantos Arredondados 38"/>
          <p:cNvSpPr/>
          <p:nvPr/>
        </p:nvSpPr>
        <p:spPr>
          <a:xfrm>
            <a:off x="3519360" y="5306760"/>
            <a:ext cx="4565160" cy="881280"/>
          </a:xfrm>
          <a:prstGeom prst="roundRect">
            <a:avLst>
              <a:gd name="adj" fmla="val 16667"/>
            </a:avLst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pt-BR" sz="1200" b="0" u="none" strike="noStrike">
                <a:solidFill>
                  <a:schemeClr val="lt2">
                    <a:lumMod val="90000"/>
                    <a:lumOff val="10000"/>
                  </a:schemeClr>
                </a:solidFill>
                <a:effectLst/>
                <a:uFillTx/>
                <a:latin typeface="Arial"/>
                <a:ea typeface="Arial"/>
              </a:rPr>
              <a:t>Estudos elegíveis incluídos na revisão final (n= 10)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CaixaDeTexto 4"/>
          <p:cNvSpPr/>
          <p:nvPr/>
        </p:nvSpPr>
        <p:spPr>
          <a:xfrm>
            <a:off x="617760" y="6400800"/>
            <a:ext cx="580248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3F0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5" name="Google Shape;258;p20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6" name="Google Shape;259;p20"/>
          <p:cNvSpPr/>
          <p:nvPr/>
        </p:nvSpPr>
        <p:spPr>
          <a:xfrm>
            <a:off x="476280" y="476280"/>
            <a:ext cx="11715480" cy="47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850" b="1" u="none" strike="noStrike">
                <a:solidFill>
                  <a:srgbClr val="005088"/>
                </a:solidFill>
                <a:effectLst/>
                <a:uFillTx/>
                <a:latin typeface="Merriweather"/>
                <a:ea typeface="Merriweather"/>
              </a:rPr>
              <a:t>3. Formalismo</a:t>
            </a:r>
            <a:endParaRPr lang="pt-BR" sz="2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Google Shape;260;p20"/>
          <p:cNvSpPr/>
          <p:nvPr/>
        </p:nvSpPr>
        <p:spPr>
          <a:xfrm>
            <a:off x="476280" y="1019160"/>
            <a:ext cx="11239200" cy="28080"/>
          </a:xfrm>
          <a:prstGeom prst="rect">
            <a:avLst/>
          </a:prstGeom>
          <a:solidFill>
            <a:srgbClr val="0050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14040" bIns="14040" anchor="ctr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8" name="Google Shape;261;p20"/>
          <p:cNvSpPr/>
          <p:nvPr/>
        </p:nvSpPr>
        <p:spPr>
          <a:xfrm>
            <a:off x="4471920" y="3736080"/>
            <a:ext cx="3247560" cy="2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49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334155"/>
                </a:solidFill>
                <a:effectLst/>
                <a:uFillTx/>
                <a:latin typeface="DM Sans"/>
                <a:ea typeface="DM Sans"/>
              </a:rPr>
              <a:t>[Espaço Reservado para Desenvolvimento]</a:t>
            </a:r>
            <a:endParaRPr lang="pt-BR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3F0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9" name="Google Shape;266;p21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0" name="Google Shape;267;p21"/>
          <p:cNvSpPr/>
          <p:nvPr/>
        </p:nvSpPr>
        <p:spPr>
          <a:xfrm>
            <a:off x="476280" y="476280"/>
            <a:ext cx="11715480" cy="47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850" b="1" u="none" strike="noStrike">
                <a:solidFill>
                  <a:srgbClr val="005088"/>
                </a:solidFill>
                <a:effectLst/>
                <a:uFillTx/>
                <a:latin typeface="Merriweather"/>
                <a:ea typeface="Merriweather"/>
              </a:rPr>
              <a:t>4. Computador</a:t>
            </a:r>
            <a:endParaRPr lang="pt-BR" sz="2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Google Shape;268;p21"/>
          <p:cNvSpPr/>
          <p:nvPr/>
        </p:nvSpPr>
        <p:spPr>
          <a:xfrm>
            <a:off x="476280" y="1019160"/>
            <a:ext cx="11239200" cy="28080"/>
          </a:xfrm>
          <a:prstGeom prst="rect">
            <a:avLst/>
          </a:prstGeom>
          <a:solidFill>
            <a:srgbClr val="0050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14040" bIns="14040" anchor="ctr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12" name="Google Shape;269;p21"/>
          <p:cNvSpPr/>
          <p:nvPr/>
        </p:nvSpPr>
        <p:spPr>
          <a:xfrm>
            <a:off x="4471920" y="3736080"/>
            <a:ext cx="3247560" cy="2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49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334155"/>
                </a:solidFill>
                <a:effectLst/>
                <a:uFillTx/>
                <a:latin typeface="DM Sans"/>
                <a:ea typeface="DM Sans"/>
              </a:rPr>
              <a:t>[Espaço Reservado para Desenvolvimento]</a:t>
            </a:r>
            <a:endParaRPr lang="pt-BR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3F0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3" name="Google Shape;274;p22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4" name="Google Shape;275;p22"/>
          <p:cNvSpPr/>
          <p:nvPr/>
        </p:nvSpPr>
        <p:spPr>
          <a:xfrm>
            <a:off x="476280" y="476280"/>
            <a:ext cx="11715480" cy="47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850" b="1" u="none" strike="noStrike">
                <a:solidFill>
                  <a:srgbClr val="005088"/>
                </a:solidFill>
                <a:effectLst/>
                <a:uFillTx/>
                <a:latin typeface="Merriweather"/>
                <a:ea typeface="Merriweather"/>
              </a:rPr>
              <a:t>5. Execução</a:t>
            </a:r>
            <a:endParaRPr lang="pt-BR" sz="2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Google Shape;276;p22"/>
          <p:cNvSpPr/>
          <p:nvPr/>
        </p:nvSpPr>
        <p:spPr>
          <a:xfrm>
            <a:off x="476280" y="1019160"/>
            <a:ext cx="11239200" cy="28080"/>
          </a:xfrm>
          <a:prstGeom prst="rect">
            <a:avLst/>
          </a:prstGeom>
          <a:solidFill>
            <a:srgbClr val="0050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14040" bIns="14040" anchor="ctr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16" name="Google Shape;277;p22"/>
          <p:cNvSpPr/>
          <p:nvPr/>
        </p:nvSpPr>
        <p:spPr>
          <a:xfrm>
            <a:off x="4471920" y="3736080"/>
            <a:ext cx="3247560" cy="2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49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334155"/>
                </a:solidFill>
                <a:effectLst/>
                <a:uFillTx/>
                <a:latin typeface="DM Sans"/>
                <a:ea typeface="DM Sans"/>
              </a:rPr>
              <a:t>[Espaço Reservado para Desenvolvimento]</a:t>
            </a:r>
            <a:endParaRPr lang="pt-BR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3F0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" name="Google Shape;282;p23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8" name="Google Shape;283;p23"/>
          <p:cNvSpPr/>
          <p:nvPr/>
        </p:nvSpPr>
        <p:spPr>
          <a:xfrm>
            <a:off x="476280" y="476280"/>
            <a:ext cx="11715480" cy="47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850" b="1" u="none" strike="noStrike">
                <a:solidFill>
                  <a:srgbClr val="005088"/>
                </a:solidFill>
                <a:effectLst/>
                <a:uFillTx/>
                <a:latin typeface="Merriweather"/>
                <a:ea typeface="Merriweather"/>
              </a:rPr>
              <a:t>6. Observação</a:t>
            </a:r>
            <a:endParaRPr lang="pt-BR" sz="2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Google Shape;284;p23"/>
          <p:cNvSpPr/>
          <p:nvPr/>
        </p:nvSpPr>
        <p:spPr>
          <a:xfrm>
            <a:off x="476280" y="1019160"/>
            <a:ext cx="11239200" cy="28080"/>
          </a:xfrm>
          <a:prstGeom prst="rect">
            <a:avLst/>
          </a:prstGeom>
          <a:solidFill>
            <a:srgbClr val="0050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14040" bIns="14040" anchor="ctr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0" name="Google Shape;285;p23"/>
          <p:cNvSpPr/>
          <p:nvPr/>
        </p:nvSpPr>
        <p:spPr>
          <a:xfrm>
            <a:off x="4471920" y="3736080"/>
            <a:ext cx="3247560" cy="2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49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334155"/>
                </a:solidFill>
                <a:effectLst/>
                <a:uFillTx/>
                <a:latin typeface="DM Sans"/>
                <a:ea typeface="DM Sans"/>
              </a:rPr>
              <a:t>[Espaço Reservado para Desenvolvimento]</a:t>
            </a:r>
            <a:endParaRPr lang="pt-BR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3F0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1" name="Google Shape;290;p24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2" name="Google Shape;291;p24"/>
          <p:cNvSpPr/>
          <p:nvPr/>
        </p:nvSpPr>
        <p:spPr>
          <a:xfrm>
            <a:off x="476280" y="476280"/>
            <a:ext cx="1171548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850" b="1" u="none" strike="noStrike">
                <a:solidFill>
                  <a:srgbClr val="005088"/>
                </a:solidFill>
                <a:effectLst/>
                <a:uFillTx/>
                <a:latin typeface="Merriweather"/>
                <a:ea typeface="Merriweather"/>
              </a:rPr>
              <a:t>Fontes</a:t>
            </a:r>
            <a:endParaRPr lang="pt-BR" sz="2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Google Shape;292;p24"/>
          <p:cNvSpPr/>
          <p:nvPr/>
        </p:nvSpPr>
        <p:spPr>
          <a:xfrm>
            <a:off x="476280" y="1019160"/>
            <a:ext cx="11239200" cy="28080"/>
          </a:xfrm>
          <a:prstGeom prst="rect">
            <a:avLst/>
          </a:prstGeom>
          <a:solidFill>
            <a:srgbClr val="0050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14040" bIns="14040" anchor="ctr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4" name="Google Shape;293;p24"/>
          <p:cNvSpPr/>
          <p:nvPr/>
        </p:nvSpPr>
        <p:spPr>
          <a:xfrm>
            <a:off x="476280" y="1333440"/>
            <a:ext cx="11239200" cy="94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5" name="Google Shape;294;p24"/>
          <p:cNvSpPr/>
          <p:nvPr/>
        </p:nvSpPr>
        <p:spPr>
          <a:xfrm>
            <a:off x="476280" y="2266920"/>
            <a:ext cx="11239200" cy="9000"/>
          </a:xfrm>
          <a:prstGeom prst="rect">
            <a:avLst/>
          </a:prstGeom>
          <a:solidFill>
            <a:srgbClr val="7575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6" name="Google Shape;295;p24"/>
          <p:cNvSpPr/>
          <p:nvPr/>
        </p:nvSpPr>
        <p:spPr>
          <a:xfrm>
            <a:off x="476280" y="2266920"/>
            <a:ext cx="11239200" cy="9000"/>
          </a:xfrm>
          <a:prstGeom prst="rect">
            <a:avLst/>
          </a:prstGeom>
          <a:solidFill>
            <a:srgbClr val="7575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327" name="Google Shape;296;p24" descr="image.png"/>
          <p:cNvPicPr/>
          <p:nvPr/>
        </p:nvPicPr>
        <p:blipFill>
          <a:blip r:embed="rId2"/>
          <a:stretch/>
        </p:blipFill>
        <p:spPr>
          <a:xfrm>
            <a:off x="476280" y="1562040"/>
            <a:ext cx="856800" cy="475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8" name="Google Shape;297;p24"/>
          <p:cNvSpPr/>
          <p:nvPr/>
        </p:nvSpPr>
        <p:spPr>
          <a:xfrm>
            <a:off x="1571760" y="1476360"/>
            <a:ext cx="10143720" cy="37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49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334155"/>
                </a:solidFill>
                <a:effectLst/>
                <a:uFillTx/>
                <a:latin typeface="DM Sans"/>
                <a:ea typeface="DM Sans"/>
              </a:rPr>
              <a:t>https://media.istockphoto.com/id/2233432395/photo/modern-apartment-buildings-reaching-for-the-sky-in-ipswich-suffolk-england.jpg?s=612x612&amp;w=0&amp;k=20&amp;c=PxnyT2t6pLrD1BssR2mS8kt9XULH-3QEKCa_M___G6o=</a:t>
            </a:r>
            <a:endParaRPr lang="pt-BR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Google Shape;298;p24"/>
          <p:cNvSpPr/>
          <p:nvPr/>
        </p:nvSpPr>
        <p:spPr>
          <a:xfrm>
            <a:off x="1571760" y="1895400"/>
            <a:ext cx="10143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334155"/>
                </a:solidFill>
                <a:effectLst/>
                <a:uFillTx/>
                <a:latin typeface="DM Sans"/>
                <a:ea typeface="DM Sans"/>
              </a:rPr>
              <a:t>Source: </a:t>
            </a:r>
            <a:r>
              <a:rPr lang="en-US" sz="1200" b="0" u="none" strike="noStrike">
                <a:solidFill>
                  <a:srgbClr val="4F46E5"/>
                </a:solidFill>
                <a:effectLst/>
                <a:uFillTx/>
                <a:latin typeface="DM Sans"/>
                <a:ea typeface="DM Sans"/>
              </a:rPr>
              <a:t>www.istockphoto.com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Google Shape;299;p24"/>
          <p:cNvSpPr/>
          <p:nvPr/>
        </p:nvSpPr>
        <p:spPr>
          <a:xfrm>
            <a:off x="1571760" y="2426400"/>
            <a:ext cx="10143720" cy="18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49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334155"/>
                </a:solidFill>
                <a:effectLst/>
                <a:uFillTx/>
                <a:latin typeface="DM Sans"/>
                <a:ea typeface="DM Sans"/>
              </a:rPr>
              <a:t>https://www.achsng.com/sites/floorplans/Wilmerding-TypicalFloorPlan.jpg</a:t>
            </a:r>
            <a:endParaRPr lang="pt-BR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Google Shape;300;p24"/>
          <p:cNvSpPr/>
          <p:nvPr/>
        </p:nvSpPr>
        <p:spPr>
          <a:xfrm>
            <a:off x="1571760" y="2659680"/>
            <a:ext cx="10143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334155"/>
                </a:solidFill>
                <a:effectLst/>
                <a:uFillTx/>
                <a:latin typeface="DM Sans"/>
                <a:ea typeface="DM Sans"/>
              </a:rPr>
              <a:t>Source: </a:t>
            </a:r>
            <a:r>
              <a:rPr lang="en-US" sz="1200" b="0" u="none" strike="noStrike">
                <a:solidFill>
                  <a:srgbClr val="4F46E5"/>
                </a:solidFill>
                <a:effectLst/>
                <a:uFillTx/>
                <a:latin typeface="DM Sans"/>
                <a:ea typeface="DM Sans"/>
              </a:rPr>
              <a:t>www.achsng.com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32" name="Google Shape;301;p24" descr="image.png"/>
          <p:cNvPicPr/>
          <p:nvPr/>
        </p:nvPicPr>
        <p:blipFill>
          <a:blip r:embed="rId3"/>
          <a:stretch/>
        </p:blipFill>
        <p:spPr>
          <a:xfrm>
            <a:off x="476280" y="2426400"/>
            <a:ext cx="856800" cy="4759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3F0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3" name="Google Shape;306;p25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4" name="Google Shape;307;p25"/>
          <p:cNvSpPr/>
          <p:nvPr/>
        </p:nvSpPr>
        <p:spPr>
          <a:xfrm>
            <a:off x="571680" y="395280"/>
            <a:ext cx="1160136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850" b="1" u="none" strike="noStrike">
                <a:solidFill>
                  <a:srgbClr val="005088"/>
                </a:solidFill>
                <a:effectLst/>
                <a:uFillTx/>
                <a:latin typeface="Merriweather"/>
                <a:ea typeface="Merriweather"/>
              </a:rPr>
              <a:t>Referências Bibliográficas</a:t>
            </a:r>
            <a:endParaRPr lang="pt-BR" sz="2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Google Shape;308;p25"/>
          <p:cNvSpPr/>
          <p:nvPr/>
        </p:nvSpPr>
        <p:spPr>
          <a:xfrm>
            <a:off x="571680" y="938160"/>
            <a:ext cx="11048760" cy="18720"/>
          </a:xfrm>
          <a:prstGeom prst="rect">
            <a:avLst/>
          </a:prstGeom>
          <a:solidFill>
            <a:srgbClr val="0050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360" bIns="9360" anchor="ctr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6" name="Google Shape;309;p25"/>
          <p:cNvSpPr/>
          <p:nvPr/>
        </p:nvSpPr>
        <p:spPr>
          <a:xfrm>
            <a:off x="905040" y="1081080"/>
            <a:ext cx="4952520" cy="51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334155"/>
                </a:solidFill>
                <a:effectLst/>
                <a:uFillTx/>
                <a:latin typeface="DM Sans"/>
                <a:ea typeface="DM Sans"/>
              </a:rPr>
              <a:t>Gwynne, S. M. V., et al. (2021). </a:t>
            </a:r>
            <a:r>
              <a:rPr lang="en-US" sz="1350" b="0" i="1" u="none" strike="noStrike">
                <a:solidFill>
                  <a:srgbClr val="334155"/>
                </a:solidFill>
                <a:effectLst/>
                <a:uFillTx/>
                <a:latin typeface="DM Sans"/>
                <a:ea typeface="DM Sans"/>
              </a:rPr>
              <a:t>Guidance on Representing Human Behavior in Egress Models</a:t>
            </a:r>
            <a:r>
              <a:rPr lang="en-US" sz="1350" b="0" u="none" strike="noStrike">
                <a:solidFill>
                  <a:srgbClr val="334155"/>
                </a:solidFill>
                <a:effectLst/>
                <a:uFillTx/>
                <a:latin typeface="DM Sans"/>
                <a:ea typeface="DM Sans"/>
              </a:rPr>
              <a:t>. SFPE Handbook.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Google Shape;310;p25"/>
          <p:cNvSpPr/>
          <p:nvPr/>
        </p:nvSpPr>
        <p:spPr>
          <a:xfrm>
            <a:off x="905040" y="1738440"/>
            <a:ext cx="4952520" cy="51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334155"/>
                </a:solidFill>
                <a:effectLst/>
                <a:uFillTx/>
                <a:latin typeface="DM Sans"/>
                <a:ea typeface="DM Sans"/>
              </a:rPr>
              <a:t>Korhonen, T., &amp; Hostikka, S. (2020). </a:t>
            </a:r>
            <a:r>
              <a:rPr lang="en-US" sz="1350" b="0" i="1" u="none" strike="noStrike">
                <a:solidFill>
                  <a:srgbClr val="334155"/>
                </a:solidFill>
                <a:effectLst/>
                <a:uFillTx/>
                <a:latin typeface="DM Sans"/>
                <a:ea typeface="DM Sans"/>
              </a:rPr>
              <a:t>FDS+Evac: Technical Reference and User’s Guide</a:t>
            </a:r>
            <a:r>
              <a:rPr lang="en-US" sz="1350" b="0" u="none" strike="noStrike">
                <a:solidFill>
                  <a:srgbClr val="334155"/>
                </a:solidFill>
                <a:effectLst/>
                <a:uFillTx/>
                <a:latin typeface="DM Sans"/>
                <a:ea typeface="DM Sans"/>
              </a:rPr>
              <a:t>. VTT Technical Research Centre.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Google Shape;311;p25"/>
          <p:cNvSpPr/>
          <p:nvPr/>
        </p:nvSpPr>
        <p:spPr>
          <a:xfrm>
            <a:off x="905040" y="2395440"/>
            <a:ext cx="4952520" cy="51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334155"/>
                </a:solidFill>
                <a:effectLst/>
                <a:uFillTx/>
                <a:latin typeface="DM Sans"/>
                <a:ea typeface="DM Sans"/>
              </a:rPr>
              <a:t>Lovreglio, R., et al. (2022). </a:t>
            </a:r>
            <a:r>
              <a:rPr lang="en-US" sz="1350" b="0" i="1" u="none" strike="noStrike">
                <a:solidFill>
                  <a:srgbClr val="334155"/>
                </a:solidFill>
                <a:effectLst/>
                <a:uFillTx/>
                <a:latin typeface="DM Sans"/>
                <a:ea typeface="DM Sans"/>
              </a:rPr>
              <a:t>Investigating exit choices in fire evacuation using VR experiments</a:t>
            </a:r>
            <a:r>
              <a:rPr lang="en-US" sz="1350" b="0" u="none" strike="noStrike">
                <a:solidFill>
                  <a:srgbClr val="334155"/>
                </a:solidFill>
                <a:effectLst/>
                <a:uFillTx/>
                <a:latin typeface="DM Sans"/>
                <a:ea typeface="DM Sans"/>
              </a:rPr>
              <a:t>. Fire Safety Journal.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Google Shape;312;p25"/>
          <p:cNvSpPr/>
          <p:nvPr/>
        </p:nvSpPr>
        <p:spPr>
          <a:xfrm>
            <a:off x="905040" y="3052800"/>
            <a:ext cx="4952520" cy="51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334155"/>
                </a:solidFill>
                <a:effectLst/>
                <a:uFillTx/>
                <a:latin typeface="DM Sans"/>
                <a:ea typeface="DM Sans"/>
              </a:rPr>
              <a:t>Wang, H., et al. (2023). </a:t>
            </a:r>
            <a:r>
              <a:rPr lang="en-US" sz="1350" b="0" i="1" u="none" strike="noStrike">
                <a:solidFill>
                  <a:srgbClr val="334155"/>
                </a:solidFill>
                <a:effectLst/>
                <a:uFillTx/>
                <a:latin typeface="DM Sans"/>
                <a:ea typeface="DM Sans"/>
              </a:rPr>
              <a:t>A dynamic fire escape path planning method with BIM</a:t>
            </a:r>
            <a:r>
              <a:rPr lang="en-US" sz="1350" b="0" u="none" strike="noStrike">
                <a:solidFill>
                  <a:srgbClr val="334155"/>
                </a:solidFill>
                <a:effectLst/>
                <a:uFillTx/>
                <a:latin typeface="DM Sans"/>
                <a:ea typeface="DM Sans"/>
              </a:rPr>
              <a:t>. Automation in Construction.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Google Shape;313;p25"/>
          <p:cNvSpPr/>
          <p:nvPr/>
        </p:nvSpPr>
        <p:spPr>
          <a:xfrm>
            <a:off x="905040" y="3710160"/>
            <a:ext cx="4952520" cy="51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334155"/>
                </a:solidFill>
                <a:effectLst/>
                <a:uFillTx/>
                <a:latin typeface="DM Sans"/>
                <a:ea typeface="DM Sans"/>
              </a:rPr>
              <a:t>Pelechano, N., et al. (2020). </a:t>
            </a:r>
            <a:r>
              <a:rPr lang="en-US" sz="1350" b="0" i="1" u="none" strike="noStrike">
                <a:solidFill>
                  <a:srgbClr val="334155"/>
                </a:solidFill>
                <a:effectLst/>
                <a:uFillTx/>
                <a:latin typeface="DM Sans"/>
                <a:ea typeface="DM Sans"/>
              </a:rPr>
              <a:t>Pedestrian Crowd Evacuation Under Panic</a:t>
            </a:r>
            <a:r>
              <a:rPr lang="en-US" sz="1350" b="0" u="none" strike="noStrike">
                <a:solidFill>
                  <a:srgbClr val="334155"/>
                </a:solidFill>
                <a:effectLst/>
                <a:uFillTx/>
                <a:latin typeface="DM Sans"/>
                <a:ea typeface="DM Sans"/>
              </a:rPr>
              <a:t>. ACM TOMACS.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Google Shape;314;p25"/>
          <p:cNvSpPr/>
          <p:nvPr/>
        </p:nvSpPr>
        <p:spPr>
          <a:xfrm>
            <a:off x="6667560" y="1081080"/>
            <a:ext cx="4952520" cy="51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334155"/>
                </a:solidFill>
                <a:effectLst/>
                <a:uFillTx/>
                <a:latin typeface="DM Sans"/>
                <a:ea typeface="DM Sans"/>
              </a:rPr>
              <a:t>Zheng, X., et al. (2021). </a:t>
            </a:r>
            <a:r>
              <a:rPr lang="en-US" sz="1350" b="0" i="1" u="none" strike="noStrike">
                <a:solidFill>
                  <a:srgbClr val="334155"/>
                </a:solidFill>
                <a:effectLst/>
                <a:uFillTx/>
                <a:latin typeface="DM Sans"/>
                <a:ea typeface="DM Sans"/>
              </a:rPr>
              <a:t>Simulation of pedestrian evacuation in staircases based on CA</a:t>
            </a:r>
            <a:r>
              <a:rPr lang="en-US" sz="1350" b="0" u="none" strike="noStrike">
                <a:solidFill>
                  <a:srgbClr val="334155"/>
                </a:solidFill>
                <a:effectLst/>
                <a:uFillTx/>
                <a:latin typeface="DM Sans"/>
                <a:ea typeface="DM Sans"/>
              </a:rPr>
              <a:t>. Physica A.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Google Shape;315;p25"/>
          <p:cNvSpPr/>
          <p:nvPr/>
        </p:nvSpPr>
        <p:spPr>
          <a:xfrm>
            <a:off x="6667560" y="1738440"/>
            <a:ext cx="4952520" cy="51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334155"/>
                </a:solidFill>
                <a:effectLst/>
                <a:uFillTx/>
                <a:latin typeface="DM Sans"/>
                <a:ea typeface="DM Sans"/>
              </a:rPr>
              <a:t>Chen, J., et al. (2023). </a:t>
            </a:r>
            <a:r>
              <a:rPr lang="en-US" sz="1350" b="0" i="1" u="none" strike="noStrike">
                <a:solidFill>
                  <a:srgbClr val="334155"/>
                </a:solidFill>
                <a:effectLst/>
                <a:uFillTx/>
                <a:latin typeface="DM Sans"/>
                <a:ea typeface="DM Sans"/>
              </a:rPr>
              <a:t>An Integrated Method for Fire Risk Assessment in Residential Buildings</a:t>
            </a:r>
            <a:r>
              <a:rPr lang="en-US" sz="1350" b="0" u="none" strike="noStrike">
                <a:solidFill>
                  <a:srgbClr val="334155"/>
                </a:solidFill>
                <a:effectLst/>
                <a:uFillTx/>
                <a:latin typeface="DM Sans"/>
                <a:ea typeface="DM Sans"/>
              </a:rPr>
              <a:t>. RESS.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Google Shape;316;p25"/>
          <p:cNvSpPr/>
          <p:nvPr/>
        </p:nvSpPr>
        <p:spPr>
          <a:xfrm>
            <a:off x="6667560" y="2395440"/>
            <a:ext cx="4952520" cy="51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334155"/>
                </a:solidFill>
                <a:effectLst/>
                <a:uFillTx/>
                <a:latin typeface="DM Sans"/>
                <a:ea typeface="DM Sans"/>
              </a:rPr>
              <a:t>Al Sadoon, A., et al. (2025). </a:t>
            </a:r>
            <a:r>
              <a:rPr lang="en-US" sz="1350" b="0" i="1" u="none" strike="noStrike">
                <a:solidFill>
                  <a:srgbClr val="334155"/>
                </a:solidFill>
                <a:effectLst/>
                <a:uFillTx/>
                <a:latin typeface="DM Sans"/>
                <a:ea typeface="DM Sans"/>
              </a:rPr>
              <a:t>Digital Twin Integration for Real-Time Fire Safety Management</a:t>
            </a:r>
            <a:r>
              <a:rPr lang="en-US" sz="1350" b="0" u="none" strike="noStrike">
                <a:solidFill>
                  <a:srgbClr val="334155"/>
                </a:solidFill>
                <a:effectLst/>
                <a:uFillTx/>
                <a:latin typeface="DM Sans"/>
                <a:ea typeface="DM Sans"/>
              </a:rPr>
              <a:t>. IJDRR.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Google Shape;317;p25"/>
          <p:cNvSpPr/>
          <p:nvPr/>
        </p:nvSpPr>
        <p:spPr>
          <a:xfrm>
            <a:off x="6667560" y="3052800"/>
            <a:ext cx="4952520" cy="51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334155"/>
                </a:solidFill>
                <a:effectLst/>
                <a:uFillTx/>
                <a:latin typeface="DM Sans"/>
                <a:ea typeface="DM Sans"/>
              </a:rPr>
              <a:t>Starbuck, L., et al. (2024). </a:t>
            </a:r>
            <a:r>
              <a:rPr lang="en-US" sz="1350" b="0" i="1" u="none" strike="noStrike">
                <a:solidFill>
                  <a:srgbClr val="334155"/>
                </a:solidFill>
                <a:effectLst/>
                <a:uFillTx/>
                <a:latin typeface="DM Sans"/>
                <a:ea typeface="DM Sans"/>
              </a:rPr>
              <a:t>Simulating Mass Evacuation in High-Density Clusters</a:t>
            </a:r>
            <a:r>
              <a:rPr lang="en-US" sz="1350" b="0" u="none" strike="noStrike">
                <a:solidFill>
                  <a:srgbClr val="334155"/>
                </a:solidFill>
                <a:effectLst/>
                <a:uFillTx/>
                <a:latin typeface="DM Sans"/>
                <a:ea typeface="DM Sans"/>
              </a:rPr>
              <a:t>. J. of Building Engineering.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5" name="Google Shape;318;p25"/>
          <p:cNvSpPr/>
          <p:nvPr/>
        </p:nvSpPr>
        <p:spPr>
          <a:xfrm>
            <a:off x="6667560" y="3710160"/>
            <a:ext cx="4952520" cy="51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334155"/>
                </a:solidFill>
                <a:effectLst/>
                <a:uFillTx/>
                <a:latin typeface="DM Sans"/>
                <a:ea typeface="DM Sans"/>
              </a:rPr>
              <a:t>Hui, Y., et al. (2024). </a:t>
            </a:r>
            <a:r>
              <a:rPr lang="en-US" sz="1350" b="0" i="1" u="none" strike="noStrike">
                <a:solidFill>
                  <a:srgbClr val="334155"/>
                </a:solidFill>
                <a:effectLst/>
                <a:uFillTx/>
                <a:latin typeface="DM Sans"/>
                <a:ea typeface="DM Sans"/>
              </a:rPr>
              <a:t>Coupled Fire-Simulation Algorithms for Dynamic Optimization</a:t>
            </a:r>
            <a:r>
              <a:rPr lang="en-US" sz="1350" b="0" u="none" strike="noStrike">
                <a:solidFill>
                  <a:srgbClr val="334155"/>
                </a:solidFill>
                <a:effectLst/>
                <a:uFillTx/>
                <a:latin typeface="DM Sans"/>
                <a:ea typeface="DM Sans"/>
              </a:rPr>
              <a:t>. Safety Science.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46" name="Google Shape;319;p25" descr="image.png"/>
          <p:cNvPicPr/>
          <p:nvPr/>
        </p:nvPicPr>
        <p:blipFill>
          <a:blip r:embed="rId2"/>
          <a:stretch/>
        </p:blipFill>
        <p:spPr>
          <a:xfrm>
            <a:off x="571680" y="1123920"/>
            <a:ext cx="171000" cy="199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47" name="Google Shape;320;p25" descr="image.png"/>
          <p:cNvPicPr/>
          <p:nvPr/>
        </p:nvPicPr>
        <p:blipFill>
          <a:blip r:embed="rId3"/>
          <a:stretch/>
        </p:blipFill>
        <p:spPr>
          <a:xfrm>
            <a:off x="571680" y="1781280"/>
            <a:ext cx="171000" cy="199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48" name="Google Shape;321;p25" descr="image.png"/>
          <p:cNvPicPr/>
          <p:nvPr/>
        </p:nvPicPr>
        <p:blipFill>
          <a:blip r:embed="rId4"/>
          <a:stretch/>
        </p:blipFill>
        <p:spPr>
          <a:xfrm>
            <a:off x="571680" y="2438280"/>
            <a:ext cx="171000" cy="199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49" name="Google Shape;322;p25" descr="image.png"/>
          <p:cNvPicPr/>
          <p:nvPr/>
        </p:nvPicPr>
        <p:blipFill>
          <a:blip r:embed="rId5"/>
          <a:stretch/>
        </p:blipFill>
        <p:spPr>
          <a:xfrm>
            <a:off x="571680" y="3095640"/>
            <a:ext cx="171000" cy="199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50" name="Google Shape;323;p25" descr="image.png"/>
          <p:cNvPicPr/>
          <p:nvPr/>
        </p:nvPicPr>
        <p:blipFill>
          <a:blip r:embed="rId6"/>
          <a:stretch/>
        </p:blipFill>
        <p:spPr>
          <a:xfrm>
            <a:off x="571680" y="3753000"/>
            <a:ext cx="171000" cy="199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51" name="Google Shape;324;p25" descr="image.png"/>
          <p:cNvPicPr/>
          <p:nvPr/>
        </p:nvPicPr>
        <p:blipFill>
          <a:blip r:embed="rId7"/>
          <a:stretch/>
        </p:blipFill>
        <p:spPr>
          <a:xfrm>
            <a:off x="6334200" y="1123920"/>
            <a:ext cx="171000" cy="199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52" name="Google Shape;325;p25" descr="image.png"/>
          <p:cNvPicPr/>
          <p:nvPr/>
        </p:nvPicPr>
        <p:blipFill>
          <a:blip r:embed="rId8"/>
          <a:stretch/>
        </p:blipFill>
        <p:spPr>
          <a:xfrm>
            <a:off x="6334200" y="1781280"/>
            <a:ext cx="171000" cy="199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53" name="Google Shape;326;p25" descr="image.png"/>
          <p:cNvPicPr/>
          <p:nvPr/>
        </p:nvPicPr>
        <p:blipFill>
          <a:blip r:embed="rId9"/>
          <a:stretch/>
        </p:blipFill>
        <p:spPr>
          <a:xfrm>
            <a:off x="6334200" y="2438280"/>
            <a:ext cx="171000" cy="199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54" name="Google Shape;327;p25" descr="image.png"/>
          <p:cNvPicPr/>
          <p:nvPr/>
        </p:nvPicPr>
        <p:blipFill>
          <a:blip r:embed="rId10"/>
          <a:stretch/>
        </p:blipFill>
        <p:spPr>
          <a:xfrm>
            <a:off x="6334200" y="3095640"/>
            <a:ext cx="171000" cy="199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55" name="Google Shape;328;p25" descr="image.png"/>
          <p:cNvPicPr/>
          <p:nvPr/>
        </p:nvPicPr>
        <p:blipFill>
          <a:blip r:embed="rId11"/>
          <a:stretch/>
        </p:blipFill>
        <p:spPr>
          <a:xfrm>
            <a:off x="6334200" y="3753000"/>
            <a:ext cx="171000" cy="1998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</TotalTime>
  <Application>LibreOffice/26.2.3.2$Windows_X86_64 LibreOffice_project/70e089b17412e4cb7773e41413306b17a2328c34</Application>
  <AppVersion>15.0000</AppVersion>
  <Words>1450</Words>
  <Paragraphs>184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Marcos Mattedi</dc:creator>
  <dc:description/>
  <dc:language>pt-BR</dc:language>
  <cp:lastModifiedBy/>
  <dcterms:modified xsi:type="dcterms:W3CDTF">2026-05-09T10:48:27Z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14</vt:i4>
  </property>
  <property fmtid="{D5CDD505-2E9C-101B-9397-08002B2CF9AE}" pid="3" name="PresentationFormat">
    <vt:lpwstr>Widescreen</vt:lpwstr>
  </property>
  <property fmtid="{D5CDD505-2E9C-101B-9397-08002B2CF9AE}" pid="4" name="Slides">
    <vt:i4>14</vt:i4>
  </property>
</Properties>
</file>