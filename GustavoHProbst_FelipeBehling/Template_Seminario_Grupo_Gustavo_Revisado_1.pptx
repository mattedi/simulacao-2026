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1698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DM Sans" pitchFamily="2" charset="0"/>
      <p:regular r:id="rId17"/>
      <p:bold r:id="rId18"/>
      <p:italic r:id="rId19"/>
      <p:boldItalic r:id="rId20"/>
    </p:embeddedFont>
    <p:embeddedFont>
      <p:font typeface="DM Sans Medium" pitchFamily="2" charset="0"/>
      <p:regular r:id="rId21"/>
      <p:bold r:id="rId22"/>
      <p:italic r:id="rId23"/>
      <p:boldItalic r:id="rId24"/>
    </p:embeddedFont>
    <p:embeddedFont>
      <p:font typeface="Merriweather" panose="000005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C93D4D-3D5A-41EA-A7E7-5D7141CA44C1}" v="3" dt="2026-05-04T10:26:58.048"/>
  </p1510:revLst>
</p1510:revInfo>
</file>

<file path=ppt/tableStyles.xml><?xml version="1.0" encoding="utf-8"?>
<a:tblStyleLst xmlns:a="http://schemas.openxmlformats.org/drawingml/2006/main" def="{29908A0A-36E0-4A4A-950B-E117C09EF45B}">
  <a:tblStyle styleId="{29908A0A-36E0-4A4A-950B-E117C09EF45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22" y="-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0C17B-0A72-4CE8-B023-6D1C17B7998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112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db8aff209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g3db8aff209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032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995499" y="1603691"/>
            <a:ext cx="8201100" cy="13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Simulação de Evacuação de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0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Edifícios em Chamas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190750" y="3389858"/>
            <a:ext cx="781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MÓDULO V - SEMINÁRIO DE APRESENTAÇÃO DOS RESULTADOS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190750" y="4028033"/>
            <a:ext cx="78105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Autor</a:t>
            </a:r>
            <a:r>
              <a:rPr lang="en-US" sz="1275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es</a:t>
            </a: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27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Gustavo Henrique Probst e Felipe Behling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190750" y="4432845"/>
            <a:ext cx="78105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Maio 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Estrutura da Apresentação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76250" y="1333500"/>
            <a:ext cx="11239500" cy="284321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7" name="Google Shape;97;p14"/>
          <p:cNvGraphicFramePr/>
          <p:nvPr/>
        </p:nvGraphicFramePr>
        <p:xfrm>
          <a:off x="476250" y="1333500"/>
          <a:ext cx="11239500" cy="2843225"/>
        </p:xfrm>
        <a:graphic>
          <a:graphicData uri="http://schemas.openxmlformats.org/drawingml/2006/table">
            <a:tbl>
              <a:tblPr firstRow="1" bandRow="1">
                <a:noFill/>
                <a:tableStyleId>{29908A0A-36E0-4A4A-950B-E117C09EF45B}</a:tableStyleId>
              </a:tblPr>
              <a:tblGrid>
                <a:gridCol w="11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9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Etapa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Nome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Descrição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Sistema de Referência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Caracterização do cenário real a ser transposto para o modelo (edificação, população e fenômeno).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Modelagem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Abstração do sistema através de regras de comportamento, agentes inteligentes e topologia do ambiente.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Formalismo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Sistematização lógica e matemática para tradução do modelo em uma linguagem rigorosa.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Computador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Desenvolvimento e arquitetura do código-fonte responsável pela execução da simulação.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Execução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Testagem de hipóteses em diferentes configurações e cenários de propagação de incêndio.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Observação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Monitoramento de métricas, extração de dados brutos e validação estatística dos resultados.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Google Shape;98;p14"/>
          <p:cNvSpPr/>
          <p:nvPr/>
        </p:nvSpPr>
        <p:spPr>
          <a:xfrm>
            <a:off x="476250" y="2162175"/>
            <a:ext cx="1123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1600200" y="2162175"/>
            <a:ext cx="2809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4410075" y="2162175"/>
            <a:ext cx="7305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476250" y="2562225"/>
            <a:ext cx="1123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1600200" y="2562225"/>
            <a:ext cx="2809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4410075" y="2562225"/>
            <a:ext cx="7305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476250" y="2962275"/>
            <a:ext cx="1123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1600200" y="2962275"/>
            <a:ext cx="2809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10075" y="2962275"/>
            <a:ext cx="7305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476250" y="3362325"/>
            <a:ext cx="1123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1600200" y="3362325"/>
            <a:ext cx="2809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4410075" y="3362325"/>
            <a:ext cx="7305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476250" y="3762375"/>
            <a:ext cx="1123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1600200" y="3762375"/>
            <a:ext cx="2809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/>
          <p:nvPr/>
        </p:nvSpPr>
        <p:spPr>
          <a:xfrm>
            <a:off x="4410075" y="3762375"/>
            <a:ext cx="7305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476250" y="4162425"/>
            <a:ext cx="1123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1600200" y="4162425"/>
            <a:ext cx="28098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4410075" y="4162425"/>
            <a:ext cx="7305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333500"/>
            <a:ext cx="54292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1. Sistema de Referência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476250" y="1495425"/>
            <a:ext cx="5429250" cy="1214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 foco central deste estudo é a resiliência de </a:t>
            </a: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edifícios residenciais verticais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 30 pavimentos frente a sinistros ígneos. A complexidade do sistema reside na alta densidade populacional distribuída em uma estrutura de 120 metros de altura, onde a evacuação vertical é a única rota de sobrevivência viável.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476250" y="2871787"/>
            <a:ext cx="5429250" cy="242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Fatores Críticos Expandidos: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286500" y="4943475"/>
            <a:ext cx="54292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 sistema integra variáveis físicas do fogo e psicossociais dos ocupantes para garantir que a simulação reflita a incerteza de emergências reais.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714375" y="3276600"/>
            <a:ext cx="5191125" cy="728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Efeito Chaminé: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Propagação acelerada de gases quentes através de poços de elevador e escadarias, comprometendo a visibilidade e a respirabilidade em poucos minutos.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714375" y="4119562"/>
            <a:ext cx="5191125" cy="728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Paradigma ASET/RSET: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O tempo disponível para saída segura (ASET) é dinamicamente reduzido pela toxicidade do ambiente, desafiando o tempo necessário para escape (RSET).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714375" y="4962525"/>
            <a:ext cx="5191125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Mobilidade e Stress: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 população de 180 indivíduos apresenta perfis heterogêneos, incluindo grupos com mobilidade reduzida cujos tempos de reação são afetados pela barreira psicológica do pânico.</a:t>
            </a:r>
            <a:endParaRPr/>
          </a:p>
        </p:txBody>
      </p:sp>
      <p:pic>
        <p:nvPicPr>
          <p:cNvPr id="130" name="Google Shape;13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05550" y="1352550"/>
            <a:ext cx="5391150" cy="32956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5"/>
          <p:cNvSpPr txBox="1"/>
          <p:nvPr/>
        </p:nvSpPr>
        <p:spPr>
          <a:xfrm>
            <a:off x="476250" y="3276600"/>
            <a:ext cx="666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476250" y="4119562"/>
            <a:ext cx="666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476250" y="4962525"/>
            <a:ext cx="666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6250" y="955923"/>
            <a:ext cx="5429250" cy="5803552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476250" y="98673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Infraestrutura do Sistema de Referência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476250" y="641598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5300" y="974973"/>
            <a:ext cx="5391150" cy="576545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6286500" y="2252662"/>
            <a:ext cx="570071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Topologia do Andar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286500" y="2852737"/>
            <a:ext cx="542925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discretização espacial utiliza uma malha celular onde cada unidade de área (célula) representa as restrições físicas do pavimento.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524625" y="3652837"/>
            <a:ext cx="51911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Áreas Privativas: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Apartamentos com layout fixo que atuam como pontos de origem dos agentes.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6524625" y="4252912"/>
            <a:ext cx="51911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Conectores Horizontais: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Corredores que afunilam o fluxo em direção à rota principal.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6524625" y="4852987"/>
            <a:ext cx="51911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Gargalo Vertical:</a:t>
            </a: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 escadaria de emergência, única via de egressão ativa, dada a inativação obrigatória dos elevadores.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6286500" y="3652837"/>
            <a:ext cx="666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6286500" y="4252912"/>
            <a:ext cx="666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6286500" y="4852987"/>
            <a:ext cx="666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Parâmetros do Sistema de Referência</a:t>
            </a: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476250" y="1333500"/>
            <a:ext cx="11239500" cy="364331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9" name="Google Shape;159;p17"/>
          <p:cNvGraphicFramePr/>
          <p:nvPr/>
        </p:nvGraphicFramePr>
        <p:xfrm>
          <a:off x="476250" y="1333500"/>
          <a:ext cx="11239500" cy="3643225"/>
        </p:xfrm>
        <a:graphic>
          <a:graphicData uri="http://schemas.openxmlformats.org/drawingml/2006/table">
            <a:tbl>
              <a:tblPr firstRow="1" bandRow="1">
                <a:noFill/>
                <a:tableStyleId>{29908A0A-36E0-4A4A-950B-E117C09EF45B}</a:tableStyleId>
              </a:tblPr>
              <a:tblGrid>
                <a:gridCol w="337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Caracterização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Propriedades e Restrições do Sistema (S)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Fenômeno Observado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Processo dinâmico de egressão emergencial em estrutura vertical sob ignição ativa.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Escala Espacial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30 níveis residenciais (120m); pavimentos de 400m² subdivididos em grades de 20x20.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Morfologia Interna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Subdivisões residenciais, corredores de acesso e núcleo de circulação vertical (escadas).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Logística de Escape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Escadas de incêndio pressurizadas; suspensão total do uso de meios mecânicos de elevação.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Dinâmica Populacional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180 agentes estratificados por idade, estado de saúde e competência de locomoção (adultos, idosos, crianças, PcD).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Variáveis do Sinistro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Localização da ignição parametrizável; taxa de liberação de calor (HRR) baseada em materiais típicos.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Fatores Obstrutivos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Acúmulo de monóxido de carbono e fuligem; redução da visibilidade afetando a tomada de decisão.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4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Função Científica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Atuar como ground truth para calibração, verificação e validação cruzada do simulador.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0" name="Google Shape;160;p17"/>
          <p:cNvSpPr/>
          <p:nvPr/>
        </p:nvSpPr>
        <p:spPr>
          <a:xfrm>
            <a:off x="476250" y="216217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3848100" y="216217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476250" y="256222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3848100" y="256222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476250" y="296227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3848100" y="296227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476250" y="336232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3848100" y="336232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476250" y="376237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3848100" y="376237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476250" y="416242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3848100" y="416242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476250" y="456247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3848100" y="456247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476250" y="4962525"/>
            <a:ext cx="3371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3848100" y="4962525"/>
            <a:ext cx="7867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0D9917-00A7-8277-367D-83664EB02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924" y="5524500"/>
            <a:ext cx="10173582" cy="120406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68F06B9-635D-D196-90CA-FC01B444A79B}"/>
              </a:ext>
            </a:extLst>
          </p:cNvPr>
          <p:cNvSpPr txBox="1"/>
          <p:nvPr/>
        </p:nvSpPr>
        <p:spPr>
          <a:xfrm>
            <a:off x="1186962" y="5119688"/>
            <a:ext cx="37894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</a:rPr>
              <a:t>Falta os critérios de inclusão exclusão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8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2. Modelagem: Revisão Bibliográfica (1/2)</a:t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476250" y="1333500"/>
            <a:ext cx="11239500" cy="35718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4" name="Google Shape;184;p18"/>
          <p:cNvGraphicFramePr/>
          <p:nvPr/>
        </p:nvGraphicFramePr>
        <p:xfrm>
          <a:off x="476250" y="1333500"/>
          <a:ext cx="11239500" cy="3571825"/>
        </p:xfrm>
        <a:graphic>
          <a:graphicData uri="http://schemas.openxmlformats.org/drawingml/2006/table">
            <a:tbl>
              <a:tblPr firstRow="1" bandRow="1">
                <a:noFill/>
                <a:tableStyleId>{29908A0A-36E0-4A4A-950B-E117C09EF45B}</a:tableStyleId>
              </a:tblPr>
              <a:tblGrid>
                <a:gridCol w="96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5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7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7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3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63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Parâmetros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1: Gwynne et al. (2021)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2: Korhonen &amp; Hostikka (2020)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3: Lovreglio et al. (2022)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4: Wang et al. (2023)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5: Pelechano (2020)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Problema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Incerteza comportamental em prédios altos.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Integração de incêndio e evacuação em FDS.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Validação de modelos via Realidade Virtual.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Otimização de rotas em estruturas complexas.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Dinâmica de multidões em geometrias densas.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Critérios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Atraso de pre-movimento e stress.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Acoplamento térmico e visibilidade.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Fidelidade psicológica e decisão.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Cálculo de caminhos mínimos via BIM.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Velocidade, densidade e fluxos.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Objeto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Edifícios de grande porte.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Simulações de CFD e evacuação.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Experimentos imersivos controlados.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Infraestruturas inteligentes.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Ambientes urbanos confinados.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Conceitos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Human Behavior in Fire (HBiF).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FDS+Evac e acoplamento físico.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Teoria da Decisão Estocástica.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Building Information Modeling (BIM).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Social Forces Model (SFM).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5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Hipóteses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Comportamento social dita o tempo de escape.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Condições de fumaça ditam a escolha da rota.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Ambientes virtuais predizem o real com precisão.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Dados em tempo real reduzem o pânico local.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Interação entre agentes causa gargalos físicos.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5" name="Google Shape;185;p18"/>
          <p:cNvSpPr/>
          <p:nvPr/>
        </p:nvSpPr>
        <p:spPr>
          <a:xfrm>
            <a:off x="476250" y="2490787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1438275" y="2490787"/>
            <a:ext cx="21551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593455" y="2490787"/>
            <a:ext cx="20179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5611415" y="2490787"/>
            <a:ext cx="2087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7698730" y="2490787"/>
            <a:ext cx="205338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9752111" y="2490787"/>
            <a:ext cx="19636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476250" y="3090862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1438275" y="3090862"/>
            <a:ext cx="21551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3593455" y="3090862"/>
            <a:ext cx="20179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5611415" y="3090862"/>
            <a:ext cx="2087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7698730" y="3090862"/>
            <a:ext cx="205338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9752111" y="3090862"/>
            <a:ext cx="19636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476250" y="3690937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1438275" y="3690937"/>
            <a:ext cx="21551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3593455" y="3690937"/>
            <a:ext cx="20179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5611415" y="3690937"/>
            <a:ext cx="2087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7698730" y="3690937"/>
            <a:ext cx="205338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9752111" y="3690937"/>
            <a:ext cx="19636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476250" y="4291012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1438275" y="4291012"/>
            <a:ext cx="21551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3593455" y="4291012"/>
            <a:ext cx="20179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5611415" y="4291012"/>
            <a:ext cx="2087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7698730" y="4291012"/>
            <a:ext cx="205338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9752111" y="4291012"/>
            <a:ext cx="19636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476250" y="4891087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1438275" y="4891087"/>
            <a:ext cx="21551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/>
          <p:nvPr/>
        </p:nvSpPr>
        <p:spPr>
          <a:xfrm>
            <a:off x="3593455" y="4891087"/>
            <a:ext cx="20179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5611415" y="4891087"/>
            <a:ext cx="2087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7698730" y="4891087"/>
            <a:ext cx="205338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8"/>
          <p:cNvSpPr/>
          <p:nvPr/>
        </p:nvSpPr>
        <p:spPr>
          <a:xfrm>
            <a:off x="9752111" y="4891087"/>
            <a:ext cx="19636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2. Modelagem: Revisão Bibliográfica (2/2)</a:t>
            </a:r>
            <a:endParaRPr/>
          </a:p>
        </p:txBody>
      </p:sp>
      <p:sp>
        <p:nvSpPr>
          <p:cNvPr id="221" name="Google Shape;221;p19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476250" y="1333500"/>
            <a:ext cx="11239500" cy="340042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3" name="Google Shape;223;p19"/>
          <p:cNvGraphicFramePr/>
          <p:nvPr/>
        </p:nvGraphicFramePr>
        <p:xfrm>
          <a:off x="476250" y="1333500"/>
          <a:ext cx="11239525" cy="3400375"/>
        </p:xfrm>
        <a:graphic>
          <a:graphicData uri="http://schemas.openxmlformats.org/drawingml/2006/table">
            <a:tbl>
              <a:tblPr firstRow="1" bandRow="1">
                <a:noFill/>
                <a:tableStyleId>{29908A0A-36E0-4A4A-950B-E117C09EF45B}</a:tableStyleId>
              </a:tblPr>
              <a:tblGrid>
                <a:gridCol w="96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7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2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Parâmetros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6: Zheng (2021)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7: Chen et al. (2023)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8: Al Sadoon (2025)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9: Starbuck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FFFFFF"/>
                          </a:solidFill>
                          <a:latin typeface="DM Sans Medium"/>
                          <a:ea typeface="DM Sans Medium"/>
                          <a:cs typeface="DM Sans Medium"/>
                          <a:sym typeface="DM Sans Medium"/>
                        </a:rPr>
                        <a:t>Artigo 10: Hui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Problema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Dinâmica de Autômatos Celulares em escadas.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Modelagem interdisciplinar de resiliência.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BIM dinâmico para treino e planejamento.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Gestão de resposta em desastres massivos.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Algoritmos de propagação acoplados a CA.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Critérios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Fricção de fluxo e largura de degraus.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Interação social e ambiente construído.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Modelos interativos de treinamento.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Coordenação de recursos e salvamento.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Eficiência temporal e acurácia espacial.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Objeto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Egressão vertical em escadarias.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Sistemas socio-tecnológicos complexos.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Gêmeos Digitais (Digital Twins).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Cenários de catástrofe urbana.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Simulações de propagação de incêndio.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Conceitos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Cellular Automata (CA) discretizado.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Agent-Based Evacuation (ABM).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Modelagem dinâmica 4D de incêndio.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Sistemas de Suporte à Decisão (DSS).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Coupled Fire-Simulation Algorithms.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Hipóteses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Regras locais explicam padrões globais.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Resiliência depende da preparação social.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Simulações dinâmicas melhoram o tempo de resposta.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Coordenação centralizada salva mais vidas.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 acoplamento aumenta a precisão preditiva.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4" name="Google Shape;224;p19"/>
          <p:cNvSpPr/>
          <p:nvPr/>
        </p:nvSpPr>
        <p:spPr>
          <a:xfrm>
            <a:off x="476250" y="2319337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1438275" y="2319337"/>
            <a:ext cx="20291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9"/>
          <p:cNvSpPr/>
          <p:nvPr/>
        </p:nvSpPr>
        <p:spPr>
          <a:xfrm>
            <a:off x="3467397" y="2319337"/>
            <a:ext cx="19673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/>
          <p:nvPr/>
        </p:nvSpPr>
        <p:spPr>
          <a:xfrm>
            <a:off x="5434756" y="2319337"/>
            <a:ext cx="2287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7722244" y="2319337"/>
            <a:ext cx="19826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9704933" y="2319337"/>
            <a:ext cx="20108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/>
          <p:nvPr/>
        </p:nvSpPr>
        <p:spPr>
          <a:xfrm>
            <a:off x="476250" y="2919412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1438275" y="2919412"/>
            <a:ext cx="20291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9"/>
          <p:cNvSpPr/>
          <p:nvPr/>
        </p:nvSpPr>
        <p:spPr>
          <a:xfrm>
            <a:off x="3467397" y="2919412"/>
            <a:ext cx="19673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5434756" y="2919412"/>
            <a:ext cx="2287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7722244" y="2919412"/>
            <a:ext cx="19826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9704933" y="2919412"/>
            <a:ext cx="20108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476250" y="3519487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1438275" y="3519487"/>
            <a:ext cx="20291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3467397" y="3519487"/>
            <a:ext cx="19673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5434756" y="3519487"/>
            <a:ext cx="2287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7722244" y="3519487"/>
            <a:ext cx="19826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/>
          <p:nvPr/>
        </p:nvSpPr>
        <p:spPr>
          <a:xfrm>
            <a:off x="9704933" y="3519487"/>
            <a:ext cx="20108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476250" y="4119562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/>
          <p:nvPr/>
        </p:nvSpPr>
        <p:spPr>
          <a:xfrm>
            <a:off x="1438275" y="4119562"/>
            <a:ext cx="20291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467397" y="4119562"/>
            <a:ext cx="19673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9"/>
          <p:cNvSpPr/>
          <p:nvPr/>
        </p:nvSpPr>
        <p:spPr>
          <a:xfrm>
            <a:off x="5434756" y="4119562"/>
            <a:ext cx="2287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7722244" y="4119562"/>
            <a:ext cx="19826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9704933" y="4119562"/>
            <a:ext cx="20108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9"/>
          <p:cNvSpPr/>
          <p:nvPr/>
        </p:nvSpPr>
        <p:spPr>
          <a:xfrm>
            <a:off x="476250" y="4719637"/>
            <a:ext cx="9620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9"/>
          <p:cNvSpPr/>
          <p:nvPr/>
        </p:nvSpPr>
        <p:spPr>
          <a:xfrm>
            <a:off x="1438275" y="4719637"/>
            <a:ext cx="20291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9"/>
          <p:cNvSpPr/>
          <p:nvPr/>
        </p:nvSpPr>
        <p:spPr>
          <a:xfrm>
            <a:off x="3467397" y="4719637"/>
            <a:ext cx="19673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5434756" y="4719637"/>
            <a:ext cx="22874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9"/>
          <p:cNvSpPr/>
          <p:nvPr/>
        </p:nvSpPr>
        <p:spPr>
          <a:xfrm>
            <a:off x="7722244" y="4719637"/>
            <a:ext cx="198268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9704933" y="4719637"/>
            <a:ext cx="20108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618911F-C30D-EE7A-E712-E08E56536012}"/>
              </a:ext>
            </a:extLst>
          </p:cNvPr>
          <p:cNvSpPr/>
          <p:nvPr/>
        </p:nvSpPr>
        <p:spPr>
          <a:xfrm>
            <a:off x="880796" y="631371"/>
            <a:ext cx="1630018" cy="81642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1. Identificação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9AB7694-572B-A7B5-F667-35D85E86B910}"/>
              </a:ext>
            </a:extLst>
          </p:cNvPr>
          <p:cNvSpPr/>
          <p:nvPr/>
        </p:nvSpPr>
        <p:spPr>
          <a:xfrm>
            <a:off x="3519398" y="615043"/>
            <a:ext cx="4565373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Artigos identificados por meio de busca em banco de dados: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 Web of Science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Scopus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IEEE(n= )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6598904-72E3-BD06-D0C1-7204C26C27B5}"/>
              </a:ext>
            </a:extLst>
          </p:cNvPr>
          <p:cNvSpPr/>
          <p:nvPr/>
        </p:nvSpPr>
        <p:spPr>
          <a:xfrm>
            <a:off x="9093355" y="615043"/>
            <a:ext cx="1630018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Termos de pesquisa aplicados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1A9D67D-8C61-D8A9-FD31-999B9D6AE17C}"/>
              </a:ext>
            </a:extLst>
          </p:cNvPr>
          <p:cNvCxnSpPr>
            <a:cxnSpLocks/>
            <a:stCxn id="4" idx="1"/>
            <a:endCxn id="3" idx="3"/>
          </p:cNvCxnSpPr>
          <p:nvPr/>
        </p:nvCxnSpPr>
        <p:spPr>
          <a:xfrm flipH="1">
            <a:off x="8084771" y="1055915"/>
            <a:ext cx="1008584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0F98B93-4D54-1C0D-BF17-AD5B905C914D}"/>
              </a:ext>
            </a:extLst>
          </p:cNvPr>
          <p:cNvSpPr/>
          <p:nvPr/>
        </p:nvSpPr>
        <p:spPr>
          <a:xfrm>
            <a:off x="3519398" y="1779815"/>
            <a:ext cx="4565373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 Web of Science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Scopus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IEEE(n= )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2AD511C-C129-57CB-751D-E2D4854AB865}"/>
              </a:ext>
            </a:extLst>
          </p:cNvPr>
          <p:cNvSpPr/>
          <p:nvPr/>
        </p:nvSpPr>
        <p:spPr>
          <a:xfrm>
            <a:off x="9093355" y="1801589"/>
            <a:ext cx="1630018" cy="86541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Termos de pesquisa aplicados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(#1 &amp; 2)</a:t>
            </a: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3A10F3A3-7629-F2B0-1488-2523ABBDC592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8084771" y="2220687"/>
            <a:ext cx="1008584" cy="13609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6F2A046C-011B-C34E-4E6E-95FAA8792570}"/>
              </a:ext>
            </a:extLst>
          </p:cNvPr>
          <p:cNvCxnSpPr>
            <a:cxnSpLocks/>
            <a:stCxn id="3" idx="2"/>
            <a:endCxn id="10" idx="0"/>
          </p:cNvCxnSpPr>
          <p:nvPr/>
        </p:nvCxnSpPr>
        <p:spPr>
          <a:xfrm>
            <a:off x="5802085" y="1496787"/>
            <a:ext cx="0" cy="283028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9249F0A-4331-C15E-48DB-518EF9D8AF30}"/>
              </a:ext>
            </a:extLst>
          </p:cNvPr>
          <p:cNvSpPr/>
          <p:nvPr/>
        </p:nvSpPr>
        <p:spPr>
          <a:xfrm>
            <a:off x="880796" y="2960914"/>
            <a:ext cx="1630018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2. Triagem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C402D7CE-3D8B-6D50-EBC5-1750F01D5CF8}"/>
              </a:ext>
            </a:extLst>
          </p:cNvPr>
          <p:cNvSpPr/>
          <p:nvPr/>
        </p:nvSpPr>
        <p:spPr>
          <a:xfrm>
            <a:off x="3519398" y="2944586"/>
            <a:ext cx="4565373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selecionados para triagem de resumos (n= )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96B2F14A-C8B4-58F8-4704-DC79DCB6054C}"/>
              </a:ext>
            </a:extLst>
          </p:cNvPr>
          <p:cNvSpPr/>
          <p:nvPr/>
        </p:nvSpPr>
        <p:spPr>
          <a:xfrm>
            <a:off x="9172277" y="2944586"/>
            <a:ext cx="1630018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Duplicados removidos</a:t>
            </a:r>
          </a:p>
        </p:txBody>
      </p: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2976A488-BB4A-A4F2-558D-6E54C8C9E45C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8242615" y="3385458"/>
            <a:ext cx="929662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8752AC9-1EFF-644F-1430-281D29146D4F}"/>
              </a:ext>
            </a:extLst>
          </p:cNvPr>
          <p:cNvSpPr/>
          <p:nvPr/>
        </p:nvSpPr>
        <p:spPr>
          <a:xfrm>
            <a:off x="880796" y="4125685"/>
            <a:ext cx="1630018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3. Eligibilidade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C9B3F532-4FAE-11A2-4749-49328AA1E632}"/>
              </a:ext>
            </a:extLst>
          </p:cNvPr>
          <p:cNvSpPr/>
          <p:nvPr/>
        </p:nvSpPr>
        <p:spPr>
          <a:xfrm>
            <a:off x="3519398" y="4125685"/>
            <a:ext cx="4565373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de texto completo avaliados para elegibilidade (n= )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F9EF43DD-005E-54BF-84C0-3FD447102B32}"/>
              </a:ext>
            </a:extLst>
          </p:cNvPr>
          <p:cNvSpPr/>
          <p:nvPr/>
        </p:nvSpPr>
        <p:spPr>
          <a:xfrm>
            <a:off x="9172277" y="4125685"/>
            <a:ext cx="1630018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excluídos: não atenderam aos critérios de inclusão (#3, 4 e 5)</a:t>
            </a:r>
          </a:p>
        </p:txBody>
      </p: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01E4EBD7-52F5-C7B3-CC1B-7F4F305BC494}"/>
              </a:ext>
            </a:extLst>
          </p:cNvPr>
          <p:cNvCxnSpPr>
            <a:cxnSpLocks/>
            <a:stCxn id="10" idx="2"/>
            <a:endCxn id="21" idx="0"/>
          </p:cNvCxnSpPr>
          <p:nvPr/>
        </p:nvCxnSpPr>
        <p:spPr>
          <a:xfrm>
            <a:off x="5802085" y="2661559"/>
            <a:ext cx="0" cy="28302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4C6F9E7B-278E-EC7F-0259-231ED8217010}"/>
              </a:ext>
            </a:extLst>
          </p:cNvPr>
          <p:cNvCxnSpPr>
            <a:cxnSpLocks/>
            <a:stCxn id="21" idx="2"/>
            <a:endCxn id="26" idx="0"/>
          </p:cNvCxnSpPr>
          <p:nvPr/>
        </p:nvCxnSpPr>
        <p:spPr>
          <a:xfrm>
            <a:off x="5802085" y="3826330"/>
            <a:ext cx="0" cy="299355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269D0BAB-A3ED-BAEE-B2BE-A40F01B772AA}"/>
              </a:ext>
            </a:extLst>
          </p:cNvPr>
          <p:cNvCxnSpPr>
            <a:cxnSpLocks/>
            <a:stCxn id="27" idx="1"/>
            <a:endCxn id="26" idx="3"/>
          </p:cNvCxnSpPr>
          <p:nvPr/>
        </p:nvCxnSpPr>
        <p:spPr>
          <a:xfrm flipH="1">
            <a:off x="8084771" y="4566557"/>
            <a:ext cx="1087506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13B59E7E-6D6E-4C1E-C083-E0655AB6DF9F}"/>
              </a:ext>
            </a:extLst>
          </p:cNvPr>
          <p:cNvSpPr/>
          <p:nvPr/>
        </p:nvSpPr>
        <p:spPr>
          <a:xfrm>
            <a:off x="880796" y="5306784"/>
            <a:ext cx="1630018" cy="88174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4. Incluídos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02DB279C-DA3F-81C6-D407-C6F2DA79A9F6}"/>
              </a:ext>
            </a:extLst>
          </p:cNvPr>
          <p:cNvSpPr/>
          <p:nvPr/>
        </p:nvSpPr>
        <p:spPr>
          <a:xfrm>
            <a:off x="3519398" y="5306784"/>
            <a:ext cx="4565373" cy="88174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Estudos elegíveis incluídos na revisão final (n= )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430E70F-58CB-F514-0386-7328FD35541D}"/>
              </a:ext>
            </a:extLst>
          </p:cNvPr>
          <p:cNvSpPr txBox="1"/>
          <p:nvPr/>
        </p:nvSpPr>
        <p:spPr>
          <a:xfrm>
            <a:off x="617936" y="6400799"/>
            <a:ext cx="5802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Na  modelagem fala os critérios de inclusão e exclusão via Prisma</a:t>
            </a:r>
          </a:p>
        </p:txBody>
      </p:sp>
    </p:spTree>
    <p:extLst>
      <p:ext uri="{BB962C8B-B14F-4D97-AF65-F5344CB8AC3E}">
        <p14:creationId xmlns:p14="http://schemas.microsoft.com/office/powerpoint/2010/main" val="2033268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0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3. Formalismo</a:t>
            </a:r>
            <a:endParaRPr/>
          </a:p>
        </p:txBody>
      </p:sp>
      <p:sp>
        <p:nvSpPr>
          <p:cNvPr id="260" name="Google Shape;260;p20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 txBox="1"/>
          <p:nvPr/>
        </p:nvSpPr>
        <p:spPr>
          <a:xfrm>
            <a:off x="4471987" y="3736181"/>
            <a:ext cx="3248025" cy="242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[Espaço Reservado para Desenvolvimento]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1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4. Computador</a:t>
            </a:r>
            <a:endParaRPr/>
          </a:p>
        </p:txBody>
      </p:sp>
      <p:sp>
        <p:nvSpPr>
          <p:cNvPr id="268" name="Google Shape;268;p21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 txBox="1"/>
          <p:nvPr/>
        </p:nvSpPr>
        <p:spPr>
          <a:xfrm>
            <a:off x="4471987" y="3736181"/>
            <a:ext cx="3248025" cy="242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[Espaço Reservado para Desenvolvimento]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2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5. Execução</a:t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 txBox="1"/>
          <p:nvPr/>
        </p:nvSpPr>
        <p:spPr>
          <a:xfrm>
            <a:off x="4471987" y="3736181"/>
            <a:ext cx="3248025" cy="242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[Espaço Reservado para Desenvolvimento]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3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6. Observação</a:t>
            </a:r>
            <a:endParaRPr/>
          </a:p>
        </p:txBody>
      </p:sp>
      <p:sp>
        <p:nvSpPr>
          <p:cNvPr id="284" name="Google Shape;284;p23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3"/>
          <p:cNvSpPr txBox="1"/>
          <p:nvPr/>
        </p:nvSpPr>
        <p:spPr>
          <a:xfrm>
            <a:off x="4471987" y="3736181"/>
            <a:ext cx="3248025" cy="242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[Espaço Reservado para Desenvolvimento]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4"/>
          <p:cNvSpPr txBox="1"/>
          <p:nvPr/>
        </p:nvSpPr>
        <p:spPr>
          <a:xfrm>
            <a:off x="476250" y="476250"/>
            <a:ext cx="117159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Fontes</a:t>
            </a:r>
            <a:endParaRPr/>
          </a:p>
        </p:txBody>
      </p:sp>
      <p:sp>
        <p:nvSpPr>
          <p:cNvPr id="292" name="Google Shape;292;p24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476250" y="1333500"/>
            <a:ext cx="112395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476250" y="2266950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476250" y="2266950"/>
            <a:ext cx="11239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6" name="Google Shape;29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6250" y="15621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4"/>
          <p:cNvSpPr txBox="1"/>
          <p:nvPr/>
        </p:nvSpPr>
        <p:spPr>
          <a:xfrm>
            <a:off x="1571625" y="1476375"/>
            <a:ext cx="101441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https://media.istockphoto.com/id/2233432395/photo/modern-apartment-buildings-reaching-for-the-sky-in-ipswich-suffolk-england.jpg?s=612x612&amp;w=0&amp;k=20&amp;c=PxnyT2t6pLrD1BssR2mS8kt9XULH-3QEKCa_M___G6o=</a:t>
            </a:r>
            <a:endParaRPr/>
          </a:p>
        </p:txBody>
      </p:sp>
      <p:sp>
        <p:nvSpPr>
          <p:cNvPr id="298" name="Google Shape;298;p24"/>
          <p:cNvSpPr txBox="1"/>
          <p:nvPr/>
        </p:nvSpPr>
        <p:spPr>
          <a:xfrm>
            <a:off x="1571625" y="1895475"/>
            <a:ext cx="101441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www.istockphoto.com</a:t>
            </a:r>
            <a:endParaRPr/>
          </a:p>
        </p:txBody>
      </p:sp>
      <p:sp>
        <p:nvSpPr>
          <p:cNvPr id="299" name="Google Shape;299;p24"/>
          <p:cNvSpPr txBox="1"/>
          <p:nvPr/>
        </p:nvSpPr>
        <p:spPr>
          <a:xfrm>
            <a:off x="1571625" y="2426493"/>
            <a:ext cx="101441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https://www.achsng.com/sites/floorplans/Wilmerding-TypicalFloorPlan.jpg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1571625" y="2659856"/>
            <a:ext cx="101441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www.achsng.com</a:t>
            </a:r>
            <a:endParaRPr/>
          </a:p>
        </p:txBody>
      </p:sp>
      <p:pic>
        <p:nvPicPr>
          <p:cNvPr id="301" name="Google Shape;30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6250" y="2426500"/>
            <a:ext cx="857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5"/>
          <p:cNvSpPr txBox="1"/>
          <p:nvPr/>
        </p:nvSpPr>
        <p:spPr>
          <a:xfrm>
            <a:off x="571500" y="395287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Referências Bibliográficas</a:t>
            </a:r>
            <a:endParaRPr/>
          </a:p>
        </p:txBody>
      </p:sp>
      <p:sp>
        <p:nvSpPr>
          <p:cNvPr id="308" name="Google Shape;308;p25"/>
          <p:cNvSpPr/>
          <p:nvPr/>
        </p:nvSpPr>
        <p:spPr>
          <a:xfrm>
            <a:off x="571500" y="938212"/>
            <a:ext cx="11049000" cy="192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5"/>
          <p:cNvSpPr txBox="1"/>
          <p:nvPr/>
        </p:nvSpPr>
        <p:spPr>
          <a:xfrm>
            <a:off x="904875" y="1081087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Gwynne, S. M. V., et al. (2021).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Guidance on Representing Human Behavior in Egress Models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SFPE Handbook.</a:t>
            </a:r>
            <a:endParaRPr/>
          </a:p>
        </p:txBody>
      </p:sp>
      <p:sp>
        <p:nvSpPr>
          <p:cNvPr id="310" name="Google Shape;310;p25"/>
          <p:cNvSpPr txBox="1"/>
          <p:nvPr/>
        </p:nvSpPr>
        <p:spPr>
          <a:xfrm>
            <a:off x="904875" y="1738312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Korhonen, T., &amp; Hostikka, S. (2020).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FDS+Evac: Technical Reference and User’s Guide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VTT Technical Research Centre.</a:t>
            </a:r>
            <a:endParaRPr/>
          </a:p>
        </p:txBody>
      </p:sp>
      <p:sp>
        <p:nvSpPr>
          <p:cNvPr id="311" name="Google Shape;311;p25"/>
          <p:cNvSpPr txBox="1"/>
          <p:nvPr/>
        </p:nvSpPr>
        <p:spPr>
          <a:xfrm>
            <a:off x="904875" y="2395537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Lovreglio, R., et al. (2022).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Investigating exit choices in fire evacuation using VR experiments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Fire Safety Journal.</a:t>
            </a:r>
            <a:endParaRPr/>
          </a:p>
        </p:txBody>
      </p:sp>
      <p:sp>
        <p:nvSpPr>
          <p:cNvPr id="312" name="Google Shape;312;p25"/>
          <p:cNvSpPr txBox="1"/>
          <p:nvPr/>
        </p:nvSpPr>
        <p:spPr>
          <a:xfrm>
            <a:off x="904875" y="3052762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Wang, H., et al. (2023).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dynamic fire escape path planning method with BIM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Automation in Construction.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904875" y="3709987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Pelechano, N., et al. (2020).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Pedestrian Crowd Evacuation Under Panic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ACM TOMACS.</a:t>
            </a:r>
            <a:endParaRPr/>
          </a:p>
        </p:txBody>
      </p:sp>
      <p:sp>
        <p:nvSpPr>
          <p:cNvPr id="314" name="Google Shape;314;p25"/>
          <p:cNvSpPr txBox="1"/>
          <p:nvPr/>
        </p:nvSpPr>
        <p:spPr>
          <a:xfrm>
            <a:off x="6667500" y="1081087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Zheng, X., et al. (2021).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Simulation of pedestrian evacuation in staircases based on CA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Physica A.</a:t>
            </a:r>
            <a:endParaRPr/>
          </a:p>
        </p:txBody>
      </p:sp>
      <p:sp>
        <p:nvSpPr>
          <p:cNvPr id="315" name="Google Shape;315;p25"/>
          <p:cNvSpPr txBox="1"/>
          <p:nvPr/>
        </p:nvSpPr>
        <p:spPr>
          <a:xfrm>
            <a:off x="6667500" y="1738312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Chen, J., et al. (2023).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 Integrated Method for Fire Risk Assessment in Residential Buildings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RESS.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6667500" y="2395537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Al Sadoon, A., et al. (2025).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Digital Twin Integration for Real-Time Fire Safety Management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IJDRR.</a:t>
            </a:r>
            <a:endParaRPr/>
          </a:p>
        </p:txBody>
      </p:sp>
      <p:sp>
        <p:nvSpPr>
          <p:cNvPr id="317" name="Google Shape;317;p25"/>
          <p:cNvSpPr txBox="1"/>
          <p:nvPr/>
        </p:nvSpPr>
        <p:spPr>
          <a:xfrm>
            <a:off x="6667500" y="3052762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Starbuck, L., et al. (2024).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Simulating Mass Evacuation in High-Density Clusters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J. of Building Engineering.</a:t>
            </a:r>
            <a:endParaRPr/>
          </a:p>
        </p:txBody>
      </p:sp>
      <p:sp>
        <p:nvSpPr>
          <p:cNvPr id="318" name="Google Shape;318;p25"/>
          <p:cNvSpPr txBox="1"/>
          <p:nvPr/>
        </p:nvSpPr>
        <p:spPr>
          <a:xfrm>
            <a:off x="6667500" y="3709987"/>
            <a:ext cx="4953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Hui, Y., et al. (2024). </a:t>
            </a:r>
            <a:r>
              <a:rPr lang="en-US" sz="135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Coupled Fire-Simulation Algorithms for Dynamic Optimization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Safety Science.</a:t>
            </a:r>
            <a:endParaRPr/>
          </a:p>
        </p:txBody>
      </p:sp>
      <p:pic>
        <p:nvPicPr>
          <p:cNvPr id="319" name="Google Shape;319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12395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811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3840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562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75285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12395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7811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43840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09562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752850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1450</Words>
  <Application>Microsoft Office PowerPoint</Application>
  <PresentationFormat>Widescreen</PresentationFormat>
  <Paragraphs>184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Merriweather</vt:lpstr>
      <vt:lpstr>Calibri</vt:lpstr>
      <vt:lpstr>DM Sans Medium</vt:lpstr>
      <vt:lpstr>DM Sans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Marcos Mattedi</dc:creator>
  <cp:lastModifiedBy>Marcos Mattedi</cp:lastModifiedBy>
  <cp:revision>1</cp:revision>
  <dcterms:modified xsi:type="dcterms:W3CDTF">2026-05-04T10:28:09Z</dcterms:modified>
</cp:coreProperties>
</file>