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7559675" cy="10691813"/>
  <p:embeddedFontLst>
    <p:embeddedFont>
      <p:font typeface="Merriweather"/>
      <p:regular r:id="rId30"/>
      <p:bold r:id="rId31"/>
    </p:embeddedFont>
    <p:embeddedFont>
      <p:font typeface="DM Sans"/>
      <p:regular r:id="rId32"/>
      <p:bold r:id="rId33"/>
      <p:italic r:id="rId34"/>
    </p:embeddedFont>
    <p:embeddedFont>
      <p:font typeface="DM Sans Medium"/>
    </p:embeddedFont>
    <p:embeddedFont>
      <p:font typeface="Google Sans Text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font" Target="fonts/Font_1_Merriweather_Regular.fntdata"/><Relationship Id="rId31" Type="http://schemas.openxmlformats.org/officeDocument/2006/relationships/font" Target="fonts/Font_2_Merriweather_Bold.fntdata"/><Relationship Id="rId32" Type="http://schemas.openxmlformats.org/officeDocument/2006/relationships/font" Target="fonts/Font_3_DM_Sans_Regular.fntdata"/><Relationship Id="rId33" Type="http://schemas.openxmlformats.org/officeDocument/2006/relationships/font" Target="fonts/Font_4_DM_Sans_Bold.fntdata"/><Relationship Id="rId34" Type="http://schemas.openxmlformats.org/officeDocument/2006/relationships/font" Target="fonts/Font_5_DM_Sans_Italic.fntdata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014D75-E730-4491-BE9B-07BC15484159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6E952EB-0408-4744-BE1E-0E85C227A2AB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 rot="5400000">
            <a:off x="2310480" y="-251640"/>
            <a:ext cx="4524480" cy="822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444962-E9E5-4A9F-8BFF-058DD662598B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 rot="5400000">
            <a:off x="4733640" y="2171520"/>
            <a:ext cx="5850000" cy="205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 rot="5400000">
            <a:off x="542880" y="189000"/>
            <a:ext cx="5850000" cy="601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4A12B3-9A2D-4710-ADB8-044FA37B3B8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</a:t>
            </a: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1E9FAE-C418-4795-9C8C-C3F72950444B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editar 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texto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2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808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556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3012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3012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65D57B-63C2-4D5A-8F2E-85A97CD6BB06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430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430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BE637A-0D35-41ED-B431-704E0DB805A3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5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041AA-7CD8-404A-A523-322377EF9430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0644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8088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556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430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430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A42FE1-80F6-4264-A1BC-45C4D93E5892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F86D20-5202-4862-8B2E-CDB7B4D38D2A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43164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0644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8088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5568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556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556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5568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4A05DE-A240-40B5-AA80-B8529CF44D35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286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2286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2286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2286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1153C7-455A-40CB-B2D1-10807E16BAC7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95F8AD-A893-459B-98C9-8317CD061AA2}" type="slidenum">
              <a:rPr lang="en-US" sz="1200" b="0" u="none" strike="noStrik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hyperlink" Target="https://episteme-insight-studio.lovable.app/" TargetMode="External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19.png"/><Relationship Id="rId4" Type="http://schemas.openxmlformats.org/officeDocument/2006/relationships/image" Target="../media/image19.png"/><Relationship Id="rId5" Type="http://schemas.openxmlformats.org/officeDocument/2006/relationships/image" Target="../media/image19.png"/><Relationship Id="rId6" Type="http://schemas.openxmlformats.org/officeDocument/2006/relationships/image" Target="../media/image19.png"/><Relationship Id="rId7" Type="http://schemas.openxmlformats.org/officeDocument/2006/relationships/image" Target="../media/image19.png"/><Relationship Id="rId8" Type="http://schemas.openxmlformats.org/officeDocument/2006/relationships/image" Target="../media/image19.png"/><Relationship Id="rId9" Type="http://schemas.openxmlformats.org/officeDocument/2006/relationships/image" Target="../media/image19.png"/><Relationship Id="rId10" Type="http://schemas.openxmlformats.org/officeDocument/2006/relationships/image" Target="../media/image19.png"/><Relationship Id="rId11" Type="http://schemas.openxmlformats.org/officeDocument/2006/relationships/image" Target="../media/image19.png"/><Relationship Id="rId12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84;p1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Google Shape;85;p13"/>
          <p:cNvSpPr/>
          <p:nvPr/>
        </p:nvSpPr>
        <p:spPr>
          <a:xfrm>
            <a:off x="1995480" y="1603800"/>
            <a:ext cx="8199720" cy="13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0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Simulação de Evacuação de</a:t>
            </a:r>
            <a:br>
              <a:rPr sz="1800"/>
            </a:br>
            <a:r>
              <a:rPr lang="en-US" sz="40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 Edifícios em Chamas</a:t>
            </a:r>
            <a:endParaRPr lang="pt-B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86;p13"/>
          <p:cNvSpPr/>
          <p:nvPr/>
        </p:nvSpPr>
        <p:spPr>
          <a:xfrm>
            <a:off x="2190600" y="3389760"/>
            <a:ext cx="7809120" cy="32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MÓDULO V - SEMINÁRIO DE APRESENTAÇÃO DOS RESULTADOS</a:t>
            </a:r>
            <a:endParaRPr lang="pt-B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87;p13"/>
          <p:cNvSpPr/>
          <p:nvPr/>
        </p:nvSpPr>
        <p:spPr>
          <a:xfrm>
            <a:off x="2190600" y="4028040"/>
            <a:ext cx="78091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Autores: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Gustavo Henrique Probst e Felipe Behling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88;p13"/>
          <p:cNvSpPr/>
          <p:nvPr/>
        </p:nvSpPr>
        <p:spPr>
          <a:xfrm>
            <a:off x="2190600" y="4432680"/>
            <a:ext cx="780912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Maio de 2026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93;p1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Google Shape;94;p14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Estrutura da Apresentação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95;p14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Google Shape;96;p14"/>
          <p:cNvSpPr/>
          <p:nvPr/>
        </p:nvSpPr>
        <p:spPr>
          <a:xfrm>
            <a:off x="476280" y="1333440"/>
            <a:ext cx="11238120" cy="284184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8" name="Google Shape;97;p14"/>
          <p:cNvGraphicFramePr/>
          <p:nvPr/>
        </p:nvGraphicFramePr>
        <p:xfrm>
          <a:off x="476280" y="1333440"/>
          <a:ext cx="11238840" cy="2842560"/>
        </p:xfrm>
        <a:graphic>
          <a:graphicData uri="http://schemas.openxmlformats.org/drawingml/2006/table">
            <a:tbl>
              <a:tblPr/>
              <a:tblGrid>
                <a:gridCol w="1123920"/>
                <a:gridCol w="2809800"/>
                <a:gridCol w="7305480"/>
              </a:tblGrid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Etapa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Nome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Descrição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1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 de Referência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Caracterização do cenário real a ser transposto para o modelo (edificação, população e fenômeno).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2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Abstração do sistema através de regras de comportamento, agentes inteligentes e topologia do ambiente.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3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Formalismo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Sistematização lógica e matemática para tradução do modelo em uma linguagem rigorosa.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4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Computador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Desenvolvimento e arquitetura do código-fonte responsável pela execução da simulação.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5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Execução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Testagem de hipóteses em diferentes configurações e cenários de propagação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6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6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Observação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Monitoramento de métricas, extração de dados brutos e validação estatística dos resultados.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9" name="Google Shape;98;p14"/>
          <p:cNvSpPr/>
          <p:nvPr/>
        </p:nvSpPr>
        <p:spPr>
          <a:xfrm>
            <a:off x="476280" y="2162160"/>
            <a:ext cx="1122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Google Shape;99;p14"/>
          <p:cNvSpPr/>
          <p:nvPr/>
        </p:nvSpPr>
        <p:spPr>
          <a:xfrm>
            <a:off x="1600200" y="2162160"/>
            <a:ext cx="2808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Google Shape;100;p14"/>
          <p:cNvSpPr/>
          <p:nvPr/>
        </p:nvSpPr>
        <p:spPr>
          <a:xfrm>
            <a:off x="4410000" y="2162160"/>
            <a:ext cx="73044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Google Shape;101;p14"/>
          <p:cNvSpPr/>
          <p:nvPr/>
        </p:nvSpPr>
        <p:spPr>
          <a:xfrm>
            <a:off x="476280" y="2562120"/>
            <a:ext cx="1122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Google Shape;102;p14"/>
          <p:cNvSpPr/>
          <p:nvPr/>
        </p:nvSpPr>
        <p:spPr>
          <a:xfrm>
            <a:off x="1600200" y="2562120"/>
            <a:ext cx="2808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Google Shape;103;p14"/>
          <p:cNvSpPr/>
          <p:nvPr/>
        </p:nvSpPr>
        <p:spPr>
          <a:xfrm>
            <a:off x="4410000" y="2562120"/>
            <a:ext cx="73044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Google Shape;104;p14"/>
          <p:cNvSpPr/>
          <p:nvPr/>
        </p:nvSpPr>
        <p:spPr>
          <a:xfrm>
            <a:off x="476280" y="2962440"/>
            <a:ext cx="1122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Google Shape;105;p14"/>
          <p:cNvSpPr/>
          <p:nvPr/>
        </p:nvSpPr>
        <p:spPr>
          <a:xfrm>
            <a:off x="1600200" y="2962440"/>
            <a:ext cx="2808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Google Shape;106;p14"/>
          <p:cNvSpPr/>
          <p:nvPr/>
        </p:nvSpPr>
        <p:spPr>
          <a:xfrm>
            <a:off x="4410000" y="2962440"/>
            <a:ext cx="73044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Google Shape;107;p14"/>
          <p:cNvSpPr/>
          <p:nvPr/>
        </p:nvSpPr>
        <p:spPr>
          <a:xfrm>
            <a:off x="476280" y="3362400"/>
            <a:ext cx="1122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Google Shape;108;p14"/>
          <p:cNvSpPr/>
          <p:nvPr/>
        </p:nvSpPr>
        <p:spPr>
          <a:xfrm>
            <a:off x="1600200" y="3362400"/>
            <a:ext cx="2808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Google Shape;109;p14"/>
          <p:cNvSpPr/>
          <p:nvPr/>
        </p:nvSpPr>
        <p:spPr>
          <a:xfrm>
            <a:off x="4410000" y="3362400"/>
            <a:ext cx="73044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Google Shape;110;p14"/>
          <p:cNvSpPr/>
          <p:nvPr/>
        </p:nvSpPr>
        <p:spPr>
          <a:xfrm>
            <a:off x="476280" y="3762360"/>
            <a:ext cx="1122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Google Shape;111;p14"/>
          <p:cNvSpPr/>
          <p:nvPr/>
        </p:nvSpPr>
        <p:spPr>
          <a:xfrm>
            <a:off x="1600200" y="3762360"/>
            <a:ext cx="2808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Google Shape;112;p14"/>
          <p:cNvSpPr/>
          <p:nvPr/>
        </p:nvSpPr>
        <p:spPr>
          <a:xfrm>
            <a:off x="4410000" y="3762360"/>
            <a:ext cx="73044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Google Shape;113;p14"/>
          <p:cNvSpPr/>
          <p:nvPr/>
        </p:nvSpPr>
        <p:spPr>
          <a:xfrm>
            <a:off x="476280" y="4162320"/>
            <a:ext cx="1122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Google Shape;114;p14"/>
          <p:cNvSpPr/>
          <p:nvPr/>
        </p:nvSpPr>
        <p:spPr>
          <a:xfrm>
            <a:off x="1600200" y="4162320"/>
            <a:ext cx="2808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Google Shape;115;p14"/>
          <p:cNvSpPr/>
          <p:nvPr/>
        </p:nvSpPr>
        <p:spPr>
          <a:xfrm>
            <a:off x="4410000" y="4162320"/>
            <a:ext cx="73044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20;p1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" name="Google Shape;121;p15" descr="image.png"/>
          <p:cNvPicPr/>
          <p:nvPr/>
        </p:nvPicPr>
        <p:blipFill>
          <a:blip r:embed="rId2"/>
          <a:stretch/>
        </p:blipFill>
        <p:spPr>
          <a:xfrm>
            <a:off x="6286680" y="1333440"/>
            <a:ext cx="5427720" cy="333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Google Shape;122;p15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1.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23;p15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Google Shape;124;p15"/>
          <p:cNvSpPr/>
          <p:nvPr/>
        </p:nvSpPr>
        <p:spPr>
          <a:xfrm>
            <a:off x="476280" y="1495440"/>
            <a:ext cx="5427720" cy="121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O foco central deste estudo é a resiliência de </a:t>
            </a: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edifícios residenciais verticais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de 30 pavimentos frente a sinistros ígneos. A complexidade do sistema reside na alta densidade populacional distribuída em uma estrutura de 120 metros de altura, onde a evacuação vertical é a única rota de sobrevivência viável.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25;p15"/>
          <p:cNvSpPr/>
          <p:nvPr/>
        </p:nvSpPr>
        <p:spPr>
          <a:xfrm>
            <a:off x="476280" y="2871720"/>
            <a:ext cx="542772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Fatores Críticos Expandidos: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26;p15"/>
          <p:cNvSpPr/>
          <p:nvPr/>
        </p:nvSpPr>
        <p:spPr>
          <a:xfrm>
            <a:off x="6286680" y="4943520"/>
            <a:ext cx="542772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O sistema integra variáveis físicas do fogo e psicossociais dos ocupantes para garantir que a simulação reflita a incerteza de emergências reais.</a:t>
            </a:r>
            <a:endParaRPr lang="pt-B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27;p15"/>
          <p:cNvSpPr/>
          <p:nvPr/>
        </p:nvSpPr>
        <p:spPr>
          <a:xfrm>
            <a:off x="714240" y="3276720"/>
            <a:ext cx="518976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Efeito Chaminé: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Propagação acelerada de gases quentes através de poços de elevador e escadarias, comprometendo a visibilidade e a respirabilidade em poucos minutos.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28;p15"/>
          <p:cNvSpPr/>
          <p:nvPr/>
        </p:nvSpPr>
        <p:spPr>
          <a:xfrm>
            <a:off x="714240" y="4119480"/>
            <a:ext cx="518976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Paradigma ASET/RSET: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O tempo disponível para saída segura (ASET) é dinamicamente reduzido pela toxicidade do ambiente, desafiando o tempo necessário para escape (RSET).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29;p15"/>
          <p:cNvSpPr/>
          <p:nvPr/>
        </p:nvSpPr>
        <p:spPr>
          <a:xfrm>
            <a:off x="714240" y="4962600"/>
            <a:ext cx="5189760" cy="97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Mobilidade e Stress: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 população de 180 indivíduos apresenta perfis heterogêneos, incluindo grupos com mobilidade reduzida cujos tempos de reação são afetados pela barreira psicológica do pânico.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Google Shape;130;p15" descr="image.png"/>
          <p:cNvPicPr/>
          <p:nvPr/>
        </p:nvPicPr>
        <p:blipFill>
          <a:blip r:embed="rId3"/>
          <a:stretch/>
        </p:blipFill>
        <p:spPr>
          <a:xfrm>
            <a:off x="6305400" y="1352520"/>
            <a:ext cx="5389560" cy="329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Google Shape;131;p15"/>
          <p:cNvSpPr/>
          <p:nvPr/>
        </p:nvSpPr>
        <p:spPr>
          <a:xfrm>
            <a:off x="476280" y="3276720"/>
            <a:ext cx="6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32;p15"/>
          <p:cNvSpPr/>
          <p:nvPr/>
        </p:nvSpPr>
        <p:spPr>
          <a:xfrm>
            <a:off x="476280" y="4119480"/>
            <a:ext cx="6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133;p15"/>
          <p:cNvSpPr/>
          <p:nvPr/>
        </p:nvSpPr>
        <p:spPr>
          <a:xfrm>
            <a:off x="476280" y="4962600"/>
            <a:ext cx="6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38;p16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Google Shape;139;p16" descr="image.png"/>
          <p:cNvPicPr/>
          <p:nvPr/>
        </p:nvPicPr>
        <p:blipFill>
          <a:blip r:embed="rId2"/>
          <a:stretch/>
        </p:blipFill>
        <p:spPr>
          <a:xfrm>
            <a:off x="476280" y="955800"/>
            <a:ext cx="5427720" cy="58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oogle Shape;140;p16"/>
          <p:cNvSpPr/>
          <p:nvPr/>
        </p:nvSpPr>
        <p:spPr>
          <a:xfrm>
            <a:off x="476280" y="9864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Infraestrutura do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41;p16"/>
          <p:cNvSpPr/>
          <p:nvPr/>
        </p:nvSpPr>
        <p:spPr>
          <a:xfrm>
            <a:off x="476280" y="64152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5" name="Google Shape;142;p16" descr="image.png"/>
          <p:cNvPicPr/>
          <p:nvPr/>
        </p:nvPicPr>
        <p:blipFill>
          <a:blip r:embed="rId3"/>
          <a:stretch/>
        </p:blipFill>
        <p:spPr>
          <a:xfrm>
            <a:off x="495360" y="974880"/>
            <a:ext cx="5389560" cy="57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Google Shape;143;p16"/>
          <p:cNvSpPr/>
          <p:nvPr/>
        </p:nvSpPr>
        <p:spPr>
          <a:xfrm>
            <a:off x="6286680" y="2252520"/>
            <a:ext cx="5699160" cy="29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Topologia do Andar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44;p16"/>
          <p:cNvSpPr/>
          <p:nvPr/>
        </p:nvSpPr>
        <p:spPr>
          <a:xfrm>
            <a:off x="6286680" y="2852640"/>
            <a:ext cx="54277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 discretização espacial utiliza uma malha celular onde cada unidade de área (célula) representa as restrições físicas do pavimento.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45;p16"/>
          <p:cNvSpPr/>
          <p:nvPr/>
        </p:nvSpPr>
        <p:spPr>
          <a:xfrm>
            <a:off x="6524640" y="3652920"/>
            <a:ext cx="518976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Áreas Privativas: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Apartamentos com layout fixo que atuam como pontos de origem dos agentes.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46;p16"/>
          <p:cNvSpPr/>
          <p:nvPr/>
        </p:nvSpPr>
        <p:spPr>
          <a:xfrm>
            <a:off x="6524640" y="4253040"/>
            <a:ext cx="518976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Conectores Horizontais: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Corredores que afunilam o fluxo em direção à rota principal.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47;p16"/>
          <p:cNvSpPr/>
          <p:nvPr/>
        </p:nvSpPr>
        <p:spPr>
          <a:xfrm>
            <a:off x="6524640" y="4853160"/>
            <a:ext cx="518976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Gargalo Vertical:</a:t>
            </a: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 A escadaria de emergência, única via de egressão ativa, dada a inativação obrigatória dos elevadores.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48;p16"/>
          <p:cNvSpPr/>
          <p:nvPr/>
        </p:nvSpPr>
        <p:spPr>
          <a:xfrm>
            <a:off x="6286680" y="3652920"/>
            <a:ext cx="6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49;p16"/>
          <p:cNvSpPr/>
          <p:nvPr/>
        </p:nvSpPr>
        <p:spPr>
          <a:xfrm>
            <a:off x="6286680" y="4253040"/>
            <a:ext cx="6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50;p16"/>
          <p:cNvSpPr/>
          <p:nvPr/>
        </p:nvSpPr>
        <p:spPr>
          <a:xfrm>
            <a:off x="6286680" y="4853160"/>
            <a:ext cx="6516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5088"/>
                </a:solidFill>
                <a:effectLst/>
                <a:uFillTx/>
                <a:latin typeface="DM Sans"/>
                <a:ea typeface="DM Sans"/>
              </a:rPr>
              <a:t>•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55;p17" descr="image.png"/>
          <p:cNvPicPr/>
          <p:nvPr/>
        </p:nvPicPr>
        <p:blipFill>
          <a:blip r:embed="rId1"/>
          <a:stretch/>
        </p:blipFill>
        <p:spPr>
          <a:xfrm>
            <a:off x="4824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Google Shape;156;p17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Parâmetros do Sistema de Referência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57;p17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Google Shape;158;p17"/>
          <p:cNvSpPr/>
          <p:nvPr/>
        </p:nvSpPr>
        <p:spPr>
          <a:xfrm>
            <a:off x="476280" y="1333440"/>
            <a:ext cx="11238120" cy="36417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28" name="Google Shape;159;p17"/>
          <p:cNvGraphicFramePr/>
          <p:nvPr/>
        </p:nvGraphicFramePr>
        <p:xfrm>
          <a:off x="476280" y="1333440"/>
          <a:ext cx="11238840" cy="3641760"/>
        </p:xfrm>
        <a:graphic>
          <a:graphicData uri="http://schemas.openxmlformats.org/drawingml/2006/table">
            <a:tbl>
              <a:tblPr/>
              <a:tblGrid>
                <a:gridCol w="3371760"/>
                <a:gridCol w="7867440"/>
              </a:tblGrid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Caracterização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3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Propriedades e Restrições do Sistema (S)</a:t>
                      </a:r>
                      <a:endParaRPr lang="pt-BR" sz="11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Fenômeno Observado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Processo dinâmico de egressão emergencial em estrutura vertical sob ignição ativa.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Escala Espacial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30 níveis residenciais (120m); pavimentos de 400m² subdivididos em grades de 20x20.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Morfologia Interna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Subdivisões residenciais, corredores de acesso e núcleo de circulação vertical (escadas).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Logística de Escape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Escadas de incêndio pressurizadas; suspensão total do uso de meios mecânicos de elevação.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Populacional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180 agentes estratificados por idade, estado de saúde e competência de locomoção (adultos, idosos, crianças, PcD).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Variáveis do Sinistro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Localização da ignição parametrizável; taxa de liberação de calor (HRR) baseada em materiais típicos.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Fatores Obstrutivos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Acúmulo de monóxido de carbono e fuligem; redução da visibilidade afetando a tomada de decisão.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404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Função Científica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Atuar como ground truth para calibração, verificação e validação cruzada do simulador.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60;p17"/>
          <p:cNvSpPr/>
          <p:nvPr/>
        </p:nvSpPr>
        <p:spPr>
          <a:xfrm>
            <a:off x="476280" y="216216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Google Shape;161;p17"/>
          <p:cNvSpPr/>
          <p:nvPr/>
        </p:nvSpPr>
        <p:spPr>
          <a:xfrm>
            <a:off x="3848040" y="216216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Google Shape;162;p17"/>
          <p:cNvSpPr/>
          <p:nvPr/>
        </p:nvSpPr>
        <p:spPr>
          <a:xfrm>
            <a:off x="476280" y="256212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Google Shape;163;p17"/>
          <p:cNvSpPr/>
          <p:nvPr/>
        </p:nvSpPr>
        <p:spPr>
          <a:xfrm>
            <a:off x="3848040" y="256212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Google Shape;164;p17"/>
          <p:cNvSpPr/>
          <p:nvPr/>
        </p:nvSpPr>
        <p:spPr>
          <a:xfrm>
            <a:off x="476280" y="296244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Google Shape;165;p17"/>
          <p:cNvSpPr/>
          <p:nvPr/>
        </p:nvSpPr>
        <p:spPr>
          <a:xfrm>
            <a:off x="3848040" y="296244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Google Shape;166;p17"/>
          <p:cNvSpPr/>
          <p:nvPr/>
        </p:nvSpPr>
        <p:spPr>
          <a:xfrm>
            <a:off x="476280" y="336240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Google Shape;167;p17"/>
          <p:cNvSpPr/>
          <p:nvPr/>
        </p:nvSpPr>
        <p:spPr>
          <a:xfrm>
            <a:off x="3848040" y="336240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Google Shape;168;p17"/>
          <p:cNvSpPr/>
          <p:nvPr/>
        </p:nvSpPr>
        <p:spPr>
          <a:xfrm>
            <a:off x="476280" y="376236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Google Shape;169;p17"/>
          <p:cNvSpPr/>
          <p:nvPr/>
        </p:nvSpPr>
        <p:spPr>
          <a:xfrm>
            <a:off x="3848040" y="376236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Google Shape;170;p17"/>
          <p:cNvSpPr/>
          <p:nvPr/>
        </p:nvSpPr>
        <p:spPr>
          <a:xfrm>
            <a:off x="476280" y="416232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Google Shape;171;p17"/>
          <p:cNvSpPr/>
          <p:nvPr/>
        </p:nvSpPr>
        <p:spPr>
          <a:xfrm>
            <a:off x="3848040" y="416232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Google Shape;172;p17"/>
          <p:cNvSpPr/>
          <p:nvPr/>
        </p:nvSpPr>
        <p:spPr>
          <a:xfrm>
            <a:off x="476280" y="456264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Google Shape;173;p17"/>
          <p:cNvSpPr/>
          <p:nvPr/>
        </p:nvSpPr>
        <p:spPr>
          <a:xfrm>
            <a:off x="3848040" y="456264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Google Shape;174;p17"/>
          <p:cNvSpPr/>
          <p:nvPr/>
        </p:nvSpPr>
        <p:spPr>
          <a:xfrm>
            <a:off x="476280" y="4962600"/>
            <a:ext cx="33703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Google Shape;175;p17"/>
          <p:cNvSpPr/>
          <p:nvPr/>
        </p:nvSpPr>
        <p:spPr>
          <a:xfrm>
            <a:off x="3848040" y="4962600"/>
            <a:ext cx="786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CaixaDeTexto 3"/>
          <p:cNvSpPr/>
          <p:nvPr/>
        </p:nvSpPr>
        <p:spPr>
          <a:xfrm>
            <a:off x="1186920" y="5119560"/>
            <a:ext cx="37879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80;p18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Google Shape;181;p18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Modelagem: Revisão Bibliográfica (1/2)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82;p18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" name="Google Shape;183;p18"/>
          <p:cNvSpPr/>
          <p:nvPr/>
        </p:nvSpPr>
        <p:spPr>
          <a:xfrm>
            <a:off x="476280" y="1333440"/>
            <a:ext cx="11238120" cy="357048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50" name="Google Shape;184;p18"/>
          <p:cNvGraphicFramePr/>
          <p:nvPr/>
        </p:nvGraphicFramePr>
        <p:xfrm>
          <a:off x="476280" y="1333440"/>
          <a:ext cx="11238120" cy="3570480"/>
        </p:xfrm>
        <a:graphic>
          <a:graphicData uri="http://schemas.openxmlformats.org/drawingml/2006/table">
            <a:tbl>
              <a:tblPr/>
              <a:tblGrid>
                <a:gridCol w="961920"/>
                <a:gridCol w="2154960"/>
                <a:gridCol w="2017800"/>
                <a:gridCol w="2087280"/>
                <a:gridCol w="2053080"/>
                <a:gridCol w="1963440"/>
              </a:tblGrid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Parâmetros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1: Gwynne et al. (2021)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2: Korhonen &amp; Hostikka (2020)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3: Lovreglio et al. (2022)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4: Wang et al. (2023)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5: Pelechano (2020)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Incerteza comportamental em prédios altos.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Integração de incêndio e evacuação em FDS.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Validação de modelos via Realidade Virtual.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Otimização de rotas em estruturas complexas.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de multidões em geometrias densas.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Critérios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Atraso de pre-movimento e stress.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Acoplamento térmico e visibilidade.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Fidelidade psicológica e decisão.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Cálculo de caminhos mínimos via BIM.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Velocidade, densidade e fluxos.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Objeto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Edifícios de grande porte.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de CFD e evacuação.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Experimentos imersivos controlados.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Infraestruturas inteligentes.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Ambientes urbanos confinados.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Conceitos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Human Behavior in Fire (HBiF).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FDS+Evac e acoplamento físico.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Teoria da Decisão Estocástica.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Building Information Modeling (BIM).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Social Forces Model (SFM).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9508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Hipóteses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Comportamento social dita o tempo de escape.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Condições de fumaça ditam a escolha da rota.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Ambientes virtuais predizem o real com precisão.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Dados em tempo real reduzem o pânico local.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Interação entre agentes causa gargalos físicos.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51" name="Google Shape;185;p18"/>
          <p:cNvSpPr/>
          <p:nvPr/>
        </p:nvSpPr>
        <p:spPr>
          <a:xfrm>
            <a:off x="476280" y="249084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Google Shape;186;p18"/>
          <p:cNvSpPr/>
          <p:nvPr/>
        </p:nvSpPr>
        <p:spPr>
          <a:xfrm>
            <a:off x="1438200" y="2490840"/>
            <a:ext cx="21538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Google Shape;187;p18"/>
          <p:cNvSpPr/>
          <p:nvPr/>
        </p:nvSpPr>
        <p:spPr>
          <a:xfrm>
            <a:off x="3593520" y="2490840"/>
            <a:ext cx="201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Google Shape;188;p18"/>
          <p:cNvSpPr/>
          <p:nvPr/>
        </p:nvSpPr>
        <p:spPr>
          <a:xfrm>
            <a:off x="5611320" y="2490840"/>
            <a:ext cx="208584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Google Shape;189;p18"/>
          <p:cNvSpPr/>
          <p:nvPr/>
        </p:nvSpPr>
        <p:spPr>
          <a:xfrm>
            <a:off x="7698600" y="2490840"/>
            <a:ext cx="2052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Google Shape;190;p18"/>
          <p:cNvSpPr/>
          <p:nvPr/>
        </p:nvSpPr>
        <p:spPr>
          <a:xfrm>
            <a:off x="9752040" y="2490840"/>
            <a:ext cx="1962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Google Shape;191;p18"/>
          <p:cNvSpPr/>
          <p:nvPr/>
        </p:nvSpPr>
        <p:spPr>
          <a:xfrm>
            <a:off x="476280" y="309096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Google Shape;192;p18"/>
          <p:cNvSpPr/>
          <p:nvPr/>
        </p:nvSpPr>
        <p:spPr>
          <a:xfrm>
            <a:off x="1438200" y="3090960"/>
            <a:ext cx="21538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Google Shape;193;p18"/>
          <p:cNvSpPr/>
          <p:nvPr/>
        </p:nvSpPr>
        <p:spPr>
          <a:xfrm>
            <a:off x="3593520" y="3090960"/>
            <a:ext cx="201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Google Shape;194;p18"/>
          <p:cNvSpPr/>
          <p:nvPr/>
        </p:nvSpPr>
        <p:spPr>
          <a:xfrm>
            <a:off x="5611320" y="3090960"/>
            <a:ext cx="208584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Google Shape;195;p18"/>
          <p:cNvSpPr/>
          <p:nvPr/>
        </p:nvSpPr>
        <p:spPr>
          <a:xfrm>
            <a:off x="7698600" y="3090960"/>
            <a:ext cx="2052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Google Shape;196;p18"/>
          <p:cNvSpPr/>
          <p:nvPr/>
        </p:nvSpPr>
        <p:spPr>
          <a:xfrm>
            <a:off x="9752040" y="3090960"/>
            <a:ext cx="1962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Google Shape;197;p18"/>
          <p:cNvSpPr/>
          <p:nvPr/>
        </p:nvSpPr>
        <p:spPr>
          <a:xfrm>
            <a:off x="476280" y="36910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Google Shape;198;p18"/>
          <p:cNvSpPr/>
          <p:nvPr/>
        </p:nvSpPr>
        <p:spPr>
          <a:xfrm>
            <a:off x="1438200" y="3691080"/>
            <a:ext cx="21538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Google Shape;199;p18"/>
          <p:cNvSpPr/>
          <p:nvPr/>
        </p:nvSpPr>
        <p:spPr>
          <a:xfrm>
            <a:off x="3593520" y="3691080"/>
            <a:ext cx="201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Google Shape;200;p18"/>
          <p:cNvSpPr/>
          <p:nvPr/>
        </p:nvSpPr>
        <p:spPr>
          <a:xfrm>
            <a:off x="5611320" y="3691080"/>
            <a:ext cx="208584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Google Shape;201;p18"/>
          <p:cNvSpPr/>
          <p:nvPr/>
        </p:nvSpPr>
        <p:spPr>
          <a:xfrm>
            <a:off x="7698600" y="3691080"/>
            <a:ext cx="2052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Google Shape;202;p18"/>
          <p:cNvSpPr/>
          <p:nvPr/>
        </p:nvSpPr>
        <p:spPr>
          <a:xfrm>
            <a:off x="9752040" y="3691080"/>
            <a:ext cx="1962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Google Shape;203;p18"/>
          <p:cNvSpPr/>
          <p:nvPr/>
        </p:nvSpPr>
        <p:spPr>
          <a:xfrm>
            <a:off x="476280" y="429084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Google Shape;204;p18"/>
          <p:cNvSpPr/>
          <p:nvPr/>
        </p:nvSpPr>
        <p:spPr>
          <a:xfrm>
            <a:off x="1438200" y="4290840"/>
            <a:ext cx="21538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" name="Google Shape;205;p18"/>
          <p:cNvSpPr/>
          <p:nvPr/>
        </p:nvSpPr>
        <p:spPr>
          <a:xfrm>
            <a:off x="3593520" y="4290840"/>
            <a:ext cx="201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Google Shape;206;p18"/>
          <p:cNvSpPr/>
          <p:nvPr/>
        </p:nvSpPr>
        <p:spPr>
          <a:xfrm>
            <a:off x="5611320" y="4290840"/>
            <a:ext cx="208584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Google Shape;207;p18"/>
          <p:cNvSpPr/>
          <p:nvPr/>
        </p:nvSpPr>
        <p:spPr>
          <a:xfrm>
            <a:off x="7698600" y="4290840"/>
            <a:ext cx="2052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Google Shape;208;p18"/>
          <p:cNvSpPr/>
          <p:nvPr/>
        </p:nvSpPr>
        <p:spPr>
          <a:xfrm>
            <a:off x="9752040" y="4290840"/>
            <a:ext cx="1962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Google Shape;209;p18"/>
          <p:cNvSpPr/>
          <p:nvPr/>
        </p:nvSpPr>
        <p:spPr>
          <a:xfrm>
            <a:off x="476280" y="489096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Google Shape;210;p18"/>
          <p:cNvSpPr/>
          <p:nvPr/>
        </p:nvSpPr>
        <p:spPr>
          <a:xfrm>
            <a:off x="1438200" y="4890960"/>
            <a:ext cx="21538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Google Shape;211;p18"/>
          <p:cNvSpPr/>
          <p:nvPr/>
        </p:nvSpPr>
        <p:spPr>
          <a:xfrm>
            <a:off x="3593520" y="4890960"/>
            <a:ext cx="2016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Google Shape;212;p18"/>
          <p:cNvSpPr/>
          <p:nvPr/>
        </p:nvSpPr>
        <p:spPr>
          <a:xfrm>
            <a:off x="5611320" y="4890960"/>
            <a:ext cx="208584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" name="Google Shape;213;p18"/>
          <p:cNvSpPr/>
          <p:nvPr/>
        </p:nvSpPr>
        <p:spPr>
          <a:xfrm>
            <a:off x="7698600" y="4890960"/>
            <a:ext cx="2052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Google Shape;214;p18"/>
          <p:cNvSpPr/>
          <p:nvPr/>
        </p:nvSpPr>
        <p:spPr>
          <a:xfrm>
            <a:off x="9752040" y="4890960"/>
            <a:ext cx="19623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219;p19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Google Shape;220;p19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Modelagem: Revisão Bibliográfica (2/2)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221;p19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Google Shape;222;p19"/>
          <p:cNvSpPr/>
          <p:nvPr/>
        </p:nvSpPr>
        <p:spPr>
          <a:xfrm>
            <a:off x="476280" y="1333440"/>
            <a:ext cx="11238120" cy="33991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4A7DB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85" name="Google Shape;223;p19"/>
          <p:cNvGraphicFramePr/>
          <p:nvPr/>
        </p:nvGraphicFramePr>
        <p:xfrm>
          <a:off x="476280" y="1333440"/>
          <a:ext cx="11238120" cy="3399840"/>
        </p:xfrm>
        <a:graphic>
          <a:graphicData uri="http://schemas.openxmlformats.org/drawingml/2006/table">
            <a:tbl>
              <a:tblPr/>
              <a:tblGrid>
                <a:gridCol w="961920"/>
                <a:gridCol w="2028960"/>
                <a:gridCol w="1967040"/>
                <a:gridCol w="2287440"/>
                <a:gridCol w="1982520"/>
                <a:gridCol w="2010600"/>
              </a:tblGrid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Parâmetros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6: Zheng (2021)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7: Chen et al. (2023)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8: Al Sadoon (2025)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9: Starbuck (2024)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M Sans Medium"/>
                          <a:ea typeface="DM Sans Medium"/>
                        </a:rPr>
                        <a:t>Artigo 10: Hui (2024)</a:t>
                      </a:r>
                      <a:endParaRPr lang="pt-BR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005088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Problema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Dinâmica de Autômatos Celulares em escadas.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 interdisciplinar de resiliência.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BIM dinâmico para treino e planejamento.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Gestão de resposta em desastres massivos.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Algoritmos de propagação acoplados a CA.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Critérios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Fricção de fluxo e largura de degraus.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Interação social e ambiente construído.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Modelos interativos de treinamento.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Coordenação de recursos e salvamento.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Eficiência temporal e acurácia espacial.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Objeto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Egressão vertical em escadarias.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Sistemas socio-tecnológicos complexos.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Gêmeos Digitais (Digital Twins).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Cenários de catástrofe urbana.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de propagação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Conceitos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Cellular Automata (CA) discretizado.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Agent-Based Evacuation (ABM).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Modelagem dinâmica 4D de incêndio.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Sistemas de Suporte à Decisão (DSS).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Coupled Fire-Simulation Algorithms.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566640"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Hipóteses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Regras locais explicam padrões globais.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Resiliência depende da preparação social.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Simulações dinâmicas melhoram o tempo de resposta.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Coordenação centralizada salva mais vidas.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 lIns="63360" tIns="25200" rIns="63360" bIns="252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334155"/>
                          </a:solidFill>
                          <a:effectLst/>
                          <a:uFillTx/>
                          <a:latin typeface="DM Sans"/>
                          <a:ea typeface="DM Sans"/>
                        </a:rPr>
                        <a:t>O acoplamento aumenta a precisão preditiva.</a:t>
                      </a:r>
                      <a:endParaRPr lang="pt-BR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360" marR="63360" marT="25200" marB="25200">
                    <a:lnL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86" name="Google Shape;224;p19"/>
          <p:cNvSpPr/>
          <p:nvPr/>
        </p:nvSpPr>
        <p:spPr>
          <a:xfrm>
            <a:off x="476280" y="23194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Google Shape;225;p19"/>
          <p:cNvSpPr/>
          <p:nvPr/>
        </p:nvSpPr>
        <p:spPr>
          <a:xfrm>
            <a:off x="1438200" y="231948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Google Shape;226;p19"/>
          <p:cNvSpPr/>
          <p:nvPr/>
        </p:nvSpPr>
        <p:spPr>
          <a:xfrm>
            <a:off x="3467520" y="231948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Google Shape;227;p19"/>
          <p:cNvSpPr/>
          <p:nvPr/>
        </p:nvSpPr>
        <p:spPr>
          <a:xfrm>
            <a:off x="5434920" y="231948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" name="Google Shape;228;p19"/>
          <p:cNvSpPr/>
          <p:nvPr/>
        </p:nvSpPr>
        <p:spPr>
          <a:xfrm>
            <a:off x="7722360" y="231948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Google Shape;229;p19"/>
          <p:cNvSpPr/>
          <p:nvPr/>
        </p:nvSpPr>
        <p:spPr>
          <a:xfrm>
            <a:off x="9704880" y="231948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Google Shape;230;p19"/>
          <p:cNvSpPr/>
          <p:nvPr/>
        </p:nvSpPr>
        <p:spPr>
          <a:xfrm>
            <a:off x="476280" y="291924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Google Shape;231;p19"/>
          <p:cNvSpPr/>
          <p:nvPr/>
        </p:nvSpPr>
        <p:spPr>
          <a:xfrm>
            <a:off x="1438200" y="291924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Google Shape;232;p19"/>
          <p:cNvSpPr/>
          <p:nvPr/>
        </p:nvSpPr>
        <p:spPr>
          <a:xfrm>
            <a:off x="3467520" y="291924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Google Shape;233;p19"/>
          <p:cNvSpPr/>
          <p:nvPr/>
        </p:nvSpPr>
        <p:spPr>
          <a:xfrm>
            <a:off x="5434920" y="291924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Google Shape;234;p19"/>
          <p:cNvSpPr/>
          <p:nvPr/>
        </p:nvSpPr>
        <p:spPr>
          <a:xfrm>
            <a:off x="7722360" y="291924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Google Shape;235;p19"/>
          <p:cNvSpPr/>
          <p:nvPr/>
        </p:nvSpPr>
        <p:spPr>
          <a:xfrm>
            <a:off x="9704880" y="291924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Google Shape;236;p19"/>
          <p:cNvSpPr/>
          <p:nvPr/>
        </p:nvSpPr>
        <p:spPr>
          <a:xfrm>
            <a:off x="476280" y="351936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Google Shape;237;p19"/>
          <p:cNvSpPr/>
          <p:nvPr/>
        </p:nvSpPr>
        <p:spPr>
          <a:xfrm>
            <a:off x="1438200" y="351936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Google Shape;238;p19"/>
          <p:cNvSpPr/>
          <p:nvPr/>
        </p:nvSpPr>
        <p:spPr>
          <a:xfrm>
            <a:off x="3467520" y="351936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" name="Google Shape;239;p19"/>
          <p:cNvSpPr/>
          <p:nvPr/>
        </p:nvSpPr>
        <p:spPr>
          <a:xfrm>
            <a:off x="5434920" y="351936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Google Shape;240;p19"/>
          <p:cNvSpPr/>
          <p:nvPr/>
        </p:nvSpPr>
        <p:spPr>
          <a:xfrm>
            <a:off x="7722360" y="351936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Google Shape;241;p19"/>
          <p:cNvSpPr/>
          <p:nvPr/>
        </p:nvSpPr>
        <p:spPr>
          <a:xfrm>
            <a:off x="9704880" y="351936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Google Shape;242;p19"/>
          <p:cNvSpPr/>
          <p:nvPr/>
        </p:nvSpPr>
        <p:spPr>
          <a:xfrm>
            <a:off x="476280" y="41194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Google Shape;243;p19"/>
          <p:cNvSpPr/>
          <p:nvPr/>
        </p:nvSpPr>
        <p:spPr>
          <a:xfrm>
            <a:off x="1438200" y="411948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" name="Google Shape;244;p19"/>
          <p:cNvSpPr/>
          <p:nvPr/>
        </p:nvSpPr>
        <p:spPr>
          <a:xfrm>
            <a:off x="3467520" y="411948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Google Shape;245;p19"/>
          <p:cNvSpPr/>
          <p:nvPr/>
        </p:nvSpPr>
        <p:spPr>
          <a:xfrm>
            <a:off x="5434920" y="411948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Google Shape;246;p19"/>
          <p:cNvSpPr/>
          <p:nvPr/>
        </p:nvSpPr>
        <p:spPr>
          <a:xfrm>
            <a:off x="7722360" y="411948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Google Shape;247;p19"/>
          <p:cNvSpPr/>
          <p:nvPr/>
        </p:nvSpPr>
        <p:spPr>
          <a:xfrm>
            <a:off x="9704880" y="411948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Google Shape;248;p19"/>
          <p:cNvSpPr/>
          <p:nvPr/>
        </p:nvSpPr>
        <p:spPr>
          <a:xfrm>
            <a:off x="476280" y="471960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Google Shape;249;p19"/>
          <p:cNvSpPr/>
          <p:nvPr/>
        </p:nvSpPr>
        <p:spPr>
          <a:xfrm>
            <a:off x="1438200" y="471960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Google Shape;250;p19"/>
          <p:cNvSpPr/>
          <p:nvPr/>
        </p:nvSpPr>
        <p:spPr>
          <a:xfrm>
            <a:off x="3467520" y="471960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Google Shape;251;p19"/>
          <p:cNvSpPr/>
          <p:nvPr/>
        </p:nvSpPr>
        <p:spPr>
          <a:xfrm>
            <a:off x="5434920" y="471960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Google Shape;252;p19"/>
          <p:cNvSpPr/>
          <p:nvPr/>
        </p:nvSpPr>
        <p:spPr>
          <a:xfrm>
            <a:off x="7722360" y="471960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Google Shape;253;p19"/>
          <p:cNvSpPr/>
          <p:nvPr/>
        </p:nvSpPr>
        <p:spPr>
          <a:xfrm>
            <a:off x="9704880" y="471960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9;p 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Google Shape;220;p 1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Critérios de Exclusão e Inclusão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221;p 1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Google Shape;224;p 1"/>
          <p:cNvSpPr/>
          <p:nvPr/>
        </p:nvSpPr>
        <p:spPr>
          <a:xfrm>
            <a:off x="476280" y="23194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Google Shape;225;p 1"/>
          <p:cNvSpPr/>
          <p:nvPr/>
        </p:nvSpPr>
        <p:spPr>
          <a:xfrm>
            <a:off x="1438200" y="231948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Google Shape;226;p 1"/>
          <p:cNvSpPr/>
          <p:nvPr/>
        </p:nvSpPr>
        <p:spPr>
          <a:xfrm>
            <a:off x="3467520" y="231948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" name="Google Shape;227;p 1"/>
          <p:cNvSpPr/>
          <p:nvPr/>
        </p:nvSpPr>
        <p:spPr>
          <a:xfrm>
            <a:off x="5434920" y="231948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Google Shape;228;p 1"/>
          <p:cNvSpPr/>
          <p:nvPr/>
        </p:nvSpPr>
        <p:spPr>
          <a:xfrm>
            <a:off x="7722360" y="231948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Google Shape;229;p 1"/>
          <p:cNvSpPr/>
          <p:nvPr/>
        </p:nvSpPr>
        <p:spPr>
          <a:xfrm>
            <a:off x="9704880" y="231948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Google Shape;230;p 1"/>
          <p:cNvSpPr/>
          <p:nvPr/>
        </p:nvSpPr>
        <p:spPr>
          <a:xfrm>
            <a:off x="476280" y="291924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" name="Google Shape;231;p 1"/>
          <p:cNvSpPr/>
          <p:nvPr/>
        </p:nvSpPr>
        <p:spPr>
          <a:xfrm>
            <a:off x="1438200" y="291924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" name="Google Shape;232;p 1"/>
          <p:cNvSpPr/>
          <p:nvPr/>
        </p:nvSpPr>
        <p:spPr>
          <a:xfrm>
            <a:off x="3467520" y="291924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Google Shape;233;p 1"/>
          <p:cNvSpPr/>
          <p:nvPr/>
        </p:nvSpPr>
        <p:spPr>
          <a:xfrm>
            <a:off x="5434920" y="291924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Google Shape;234;p 1"/>
          <p:cNvSpPr/>
          <p:nvPr/>
        </p:nvSpPr>
        <p:spPr>
          <a:xfrm>
            <a:off x="7722360" y="291924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Google Shape;235;p 1"/>
          <p:cNvSpPr/>
          <p:nvPr/>
        </p:nvSpPr>
        <p:spPr>
          <a:xfrm>
            <a:off x="9704880" y="291924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" name="Google Shape;236;p 1"/>
          <p:cNvSpPr/>
          <p:nvPr/>
        </p:nvSpPr>
        <p:spPr>
          <a:xfrm>
            <a:off x="476280" y="351936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Google Shape;237;p 1"/>
          <p:cNvSpPr/>
          <p:nvPr/>
        </p:nvSpPr>
        <p:spPr>
          <a:xfrm>
            <a:off x="1438200" y="351936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Google Shape;238;p 1"/>
          <p:cNvSpPr/>
          <p:nvPr/>
        </p:nvSpPr>
        <p:spPr>
          <a:xfrm>
            <a:off x="3467520" y="351936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Google Shape;239;p 1"/>
          <p:cNvSpPr/>
          <p:nvPr/>
        </p:nvSpPr>
        <p:spPr>
          <a:xfrm>
            <a:off x="5434920" y="351936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" name="Google Shape;240;p 1"/>
          <p:cNvSpPr/>
          <p:nvPr/>
        </p:nvSpPr>
        <p:spPr>
          <a:xfrm>
            <a:off x="7722360" y="351936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Google Shape;241;p 1"/>
          <p:cNvSpPr/>
          <p:nvPr/>
        </p:nvSpPr>
        <p:spPr>
          <a:xfrm>
            <a:off x="9704880" y="351936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Google Shape;242;p 1"/>
          <p:cNvSpPr/>
          <p:nvPr/>
        </p:nvSpPr>
        <p:spPr>
          <a:xfrm>
            <a:off x="476280" y="41194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Google Shape;243;p 1"/>
          <p:cNvSpPr/>
          <p:nvPr/>
        </p:nvSpPr>
        <p:spPr>
          <a:xfrm>
            <a:off x="1438200" y="411948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Google Shape;244;p 1"/>
          <p:cNvSpPr/>
          <p:nvPr/>
        </p:nvSpPr>
        <p:spPr>
          <a:xfrm>
            <a:off x="3467520" y="411948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Google Shape;245;p 1"/>
          <p:cNvSpPr/>
          <p:nvPr/>
        </p:nvSpPr>
        <p:spPr>
          <a:xfrm>
            <a:off x="5434920" y="411948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" name="Google Shape;246;p 1"/>
          <p:cNvSpPr/>
          <p:nvPr/>
        </p:nvSpPr>
        <p:spPr>
          <a:xfrm>
            <a:off x="7722360" y="411948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" name="Google Shape;247;p 1"/>
          <p:cNvSpPr/>
          <p:nvPr/>
        </p:nvSpPr>
        <p:spPr>
          <a:xfrm>
            <a:off x="9704880" y="411948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Google Shape;248;p 1"/>
          <p:cNvSpPr/>
          <p:nvPr/>
        </p:nvSpPr>
        <p:spPr>
          <a:xfrm>
            <a:off x="476280" y="471960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Google Shape;249;p 1"/>
          <p:cNvSpPr/>
          <p:nvPr/>
        </p:nvSpPr>
        <p:spPr>
          <a:xfrm>
            <a:off x="1438200" y="471960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Google Shape;250;p 1"/>
          <p:cNvSpPr/>
          <p:nvPr/>
        </p:nvSpPr>
        <p:spPr>
          <a:xfrm>
            <a:off x="3467520" y="471960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" name="Google Shape;251;p 1"/>
          <p:cNvSpPr/>
          <p:nvPr/>
        </p:nvSpPr>
        <p:spPr>
          <a:xfrm>
            <a:off x="5434920" y="471960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Google Shape;252;p 1"/>
          <p:cNvSpPr/>
          <p:nvPr/>
        </p:nvSpPr>
        <p:spPr>
          <a:xfrm>
            <a:off x="7722360" y="471960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Google Shape;253;p 1"/>
          <p:cNvSpPr/>
          <p:nvPr/>
        </p:nvSpPr>
        <p:spPr>
          <a:xfrm>
            <a:off x="9704880" y="471960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49" name="Tabela 248"/>
          <p:cNvGraphicFramePr/>
          <p:nvPr/>
        </p:nvGraphicFramePr>
        <p:xfrm>
          <a:off x="759240" y="1303920"/>
          <a:ext cx="10950480" cy="5119920"/>
        </p:xfrm>
        <a:graphic>
          <a:graphicData uri="http://schemas.openxmlformats.org/drawingml/2006/table">
            <a:tbl>
              <a:tblPr/>
              <a:tblGrid>
                <a:gridCol w="5475600"/>
                <a:gridCol w="5475240"/>
              </a:tblGrid>
              <a:tr h="486720">
                <a:tc gridSpan="2"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Observáveis Prioritários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5983B0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82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Observável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Estatura da Edificação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Edifício residencial vertical composto por 30 pavimentos, totalizando cerca de 120 metros de altura.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Granularidade Espacial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Pavimentos de 20x20m discretizados em uma grade celular de 20x20, onde cada célula equivale a aproximadamente 1m².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Diversidade de Agentes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População de 180 indivíduos estratificada entre adultos, idosos, crianças e PcD, refletindo diferentes capacidades de locomoção.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6EF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Dinâmica do Sinistro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Parâmetros de origem do fogo e carga de incêndio que influenciam a opacidade da fumaça e a visibilidade nas rotas.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B4C7D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19;p 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Google Shape;220;p 2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2. Critérios de Exclusão e Inclusão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221;p 2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Google Shape;224;p 2"/>
          <p:cNvSpPr/>
          <p:nvPr/>
        </p:nvSpPr>
        <p:spPr>
          <a:xfrm>
            <a:off x="476280" y="23194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" name="Google Shape;225;p 2"/>
          <p:cNvSpPr/>
          <p:nvPr/>
        </p:nvSpPr>
        <p:spPr>
          <a:xfrm>
            <a:off x="1438200" y="231948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Google Shape;226;p 2"/>
          <p:cNvSpPr/>
          <p:nvPr/>
        </p:nvSpPr>
        <p:spPr>
          <a:xfrm>
            <a:off x="3467520" y="231948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Google Shape;227;p 2"/>
          <p:cNvSpPr/>
          <p:nvPr/>
        </p:nvSpPr>
        <p:spPr>
          <a:xfrm>
            <a:off x="5434920" y="231948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Google Shape;228;p 2"/>
          <p:cNvSpPr/>
          <p:nvPr/>
        </p:nvSpPr>
        <p:spPr>
          <a:xfrm>
            <a:off x="7722360" y="231948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" name="Google Shape;229;p 2"/>
          <p:cNvSpPr/>
          <p:nvPr/>
        </p:nvSpPr>
        <p:spPr>
          <a:xfrm>
            <a:off x="9704880" y="231948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Google Shape;230;p 2"/>
          <p:cNvSpPr/>
          <p:nvPr/>
        </p:nvSpPr>
        <p:spPr>
          <a:xfrm>
            <a:off x="476280" y="291924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Google Shape;231;p 2"/>
          <p:cNvSpPr/>
          <p:nvPr/>
        </p:nvSpPr>
        <p:spPr>
          <a:xfrm>
            <a:off x="1438200" y="291924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Google Shape;232;p 2"/>
          <p:cNvSpPr/>
          <p:nvPr/>
        </p:nvSpPr>
        <p:spPr>
          <a:xfrm>
            <a:off x="3467520" y="291924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Google Shape;233;p 2"/>
          <p:cNvSpPr/>
          <p:nvPr/>
        </p:nvSpPr>
        <p:spPr>
          <a:xfrm>
            <a:off x="5434920" y="291924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Google Shape;234;p 2"/>
          <p:cNvSpPr/>
          <p:nvPr/>
        </p:nvSpPr>
        <p:spPr>
          <a:xfrm>
            <a:off x="7722360" y="291924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Google Shape;235;p 2"/>
          <p:cNvSpPr/>
          <p:nvPr/>
        </p:nvSpPr>
        <p:spPr>
          <a:xfrm>
            <a:off x="9704880" y="291924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Google Shape;236;p 2"/>
          <p:cNvSpPr/>
          <p:nvPr/>
        </p:nvSpPr>
        <p:spPr>
          <a:xfrm>
            <a:off x="476280" y="351936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" name="Google Shape;237;p 2"/>
          <p:cNvSpPr/>
          <p:nvPr/>
        </p:nvSpPr>
        <p:spPr>
          <a:xfrm>
            <a:off x="1438200" y="351936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Google Shape;238;p 2"/>
          <p:cNvSpPr/>
          <p:nvPr/>
        </p:nvSpPr>
        <p:spPr>
          <a:xfrm>
            <a:off x="3467520" y="351936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Google Shape;239;p 2"/>
          <p:cNvSpPr/>
          <p:nvPr/>
        </p:nvSpPr>
        <p:spPr>
          <a:xfrm>
            <a:off x="5434920" y="351936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9" name="Google Shape;240;p 2"/>
          <p:cNvSpPr/>
          <p:nvPr/>
        </p:nvSpPr>
        <p:spPr>
          <a:xfrm>
            <a:off x="7722360" y="351936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Google Shape;241;p 2"/>
          <p:cNvSpPr/>
          <p:nvPr/>
        </p:nvSpPr>
        <p:spPr>
          <a:xfrm>
            <a:off x="9704880" y="351936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Google Shape;242;p 2"/>
          <p:cNvSpPr/>
          <p:nvPr/>
        </p:nvSpPr>
        <p:spPr>
          <a:xfrm>
            <a:off x="476280" y="411948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2" name="Google Shape;243;p 2"/>
          <p:cNvSpPr/>
          <p:nvPr/>
        </p:nvSpPr>
        <p:spPr>
          <a:xfrm>
            <a:off x="1438200" y="411948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Google Shape;244;p 2"/>
          <p:cNvSpPr/>
          <p:nvPr/>
        </p:nvSpPr>
        <p:spPr>
          <a:xfrm>
            <a:off x="3467520" y="411948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Google Shape;245;p 2"/>
          <p:cNvSpPr/>
          <p:nvPr/>
        </p:nvSpPr>
        <p:spPr>
          <a:xfrm>
            <a:off x="5434920" y="411948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5" name="Google Shape;246;p 2"/>
          <p:cNvSpPr/>
          <p:nvPr/>
        </p:nvSpPr>
        <p:spPr>
          <a:xfrm>
            <a:off x="7722360" y="411948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6" name="Google Shape;247;p 2"/>
          <p:cNvSpPr/>
          <p:nvPr/>
        </p:nvSpPr>
        <p:spPr>
          <a:xfrm>
            <a:off x="9704880" y="411948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Google Shape;248;p 2"/>
          <p:cNvSpPr/>
          <p:nvPr/>
        </p:nvSpPr>
        <p:spPr>
          <a:xfrm>
            <a:off x="476280" y="4719600"/>
            <a:ext cx="9604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Google Shape;249;p 2"/>
          <p:cNvSpPr/>
          <p:nvPr/>
        </p:nvSpPr>
        <p:spPr>
          <a:xfrm>
            <a:off x="1438200" y="4719600"/>
            <a:ext cx="2027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Google Shape;250;p 2"/>
          <p:cNvSpPr/>
          <p:nvPr/>
        </p:nvSpPr>
        <p:spPr>
          <a:xfrm>
            <a:off x="3467520" y="4719600"/>
            <a:ext cx="196596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Google Shape;251;p 2"/>
          <p:cNvSpPr/>
          <p:nvPr/>
        </p:nvSpPr>
        <p:spPr>
          <a:xfrm>
            <a:off x="5434920" y="4719600"/>
            <a:ext cx="228600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Google Shape;252;p 2"/>
          <p:cNvSpPr/>
          <p:nvPr/>
        </p:nvSpPr>
        <p:spPr>
          <a:xfrm>
            <a:off x="7722360" y="4719600"/>
            <a:ext cx="198108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2" name="Google Shape;253;p 2"/>
          <p:cNvSpPr/>
          <p:nvPr/>
        </p:nvSpPr>
        <p:spPr>
          <a:xfrm>
            <a:off x="9704880" y="4719600"/>
            <a:ext cx="2009520" cy="792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83" name="Tabela 282"/>
          <p:cNvGraphicFramePr/>
          <p:nvPr/>
        </p:nvGraphicFramePr>
        <p:xfrm>
          <a:off x="646920" y="1321920"/>
          <a:ext cx="10950480" cy="5119920"/>
        </p:xfrm>
        <a:graphic>
          <a:graphicData uri="http://schemas.openxmlformats.org/drawingml/2006/table">
            <a:tbl>
              <a:tblPr/>
              <a:tblGrid>
                <a:gridCol w="5475600"/>
                <a:gridCol w="5475240"/>
              </a:tblGrid>
              <a:tr h="486720">
                <a:tc gridSpan="2"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Exclusões Conscientes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860D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8240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Elemento Excluído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Justificativa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Uso de Elevadores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Bloqueados obrigatoriamente por protocolos de segurança contra incêndio para evitar o aprisionamento de agentes.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</a:tr>
              <a:tr h="118008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Áreas Externas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 foco metodológico restringe-se ao ambiente interno para analisar gargalos em corredores e escadas.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Ações de Combate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 modelo prioriza a dinâmica de evacuação (egressão), desconsiderando comportamentos de combate ao fogo pelos ocupantes.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BB6"/>
                    </a:solidFill>
                  </a:tcPr>
                </a:tc>
              </a:tr>
              <a:tr h="48816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Resistência Estrutural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 simulação avalia o tempo de escape e segurança da vida (ASET/RSET), e não o colapso mecânico dos materiais da obra. 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FFFFFF"/>
                      </a:solidFill>
                      <a:prstDash val="solid"/>
                    </a:lnL>
                    <a:lnR w="7200">
                      <a:solidFill>
                        <a:srgbClr val="FFFFFF"/>
                      </a:solidFill>
                      <a:prstDash val="solid"/>
                    </a:lnR>
                    <a:lnT w="7200">
                      <a:solidFill>
                        <a:srgbClr val="FFFFFF"/>
                      </a:solidFill>
                      <a:prstDash val="solid"/>
                    </a:lnT>
                    <a:lnB w="7200">
                      <a:solidFill>
                        <a:srgbClr val="FFFFFF"/>
                      </a:solidFill>
                      <a:prstDash val="solid"/>
                    </a:lnB>
                    <a:solidFill>
                      <a:srgbClr val="FFB66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tângulo: Cantos Arredondados 1"/>
          <p:cNvSpPr/>
          <p:nvPr/>
        </p:nvSpPr>
        <p:spPr>
          <a:xfrm>
            <a:off x="880920" y="631440"/>
            <a:ext cx="1628640" cy="81504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1. Identificação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etângulo: Cantos Arredondados 2"/>
          <p:cNvSpPr/>
          <p:nvPr/>
        </p:nvSpPr>
        <p:spPr>
          <a:xfrm>
            <a:off x="3519360" y="61488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Artigos identificados por meio de busca em banco de dados: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 Web of Science (n= 84)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Scopus (n= 92)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IEEE(n= 56)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tângulo: Cantos Arredondados 3"/>
          <p:cNvSpPr/>
          <p:nvPr/>
        </p:nvSpPr>
        <p:spPr>
          <a:xfrm>
            <a:off x="9093240" y="61488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Termos de pesquisa aplicados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87" name="Conector de Seta Reta 5"/>
          <p:cNvCxnSpPr>
            <a:stCxn id="286" idx="1"/>
            <a:endCxn id="285" idx="3"/>
          </p:cNvCxnSpPr>
          <p:nvPr/>
        </p:nvCxnSpPr>
        <p:spPr>
          <a:xfrm flipH="1">
            <a:off x="8083440" y="1055160"/>
            <a:ext cx="1010160" cy="3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88" name="Retângulo: Cantos Arredondados 9"/>
          <p:cNvSpPr/>
          <p:nvPr/>
        </p:nvSpPr>
        <p:spPr>
          <a:xfrm>
            <a:off x="3519360" y="17798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 Web of Science (n= 84)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Scopus (n= 92)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IEEE(n= 56)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tângulo: Cantos Arredondados 10"/>
          <p:cNvSpPr/>
          <p:nvPr/>
        </p:nvSpPr>
        <p:spPr>
          <a:xfrm>
            <a:off x="9093240" y="1620000"/>
            <a:ext cx="2065680" cy="125892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"fire evacuation", "agent-based simulation", "building fire simulation", "human behavior in fire", "BIM evacuation" 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90" name="Conector de Seta Reta 13"/>
          <p:cNvCxnSpPr>
            <a:stCxn id="289" idx="1"/>
            <a:endCxn id="288" idx="3"/>
          </p:cNvCxnSpPr>
          <p:nvPr/>
        </p:nvCxnSpPr>
        <p:spPr>
          <a:xfrm flipH="1" flipV="1">
            <a:off x="8083440" y="2220120"/>
            <a:ext cx="1010160" cy="2988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291" name="Conector de Seta Reta 16"/>
          <p:cNvCxnSpPr>
            <a:stCxn id="285" idx="2"/>
            <a:endCxn id="288" idx="0"/>
          </p:cNvCxnSpPr>
          <p:nvPr/>
        </p:nvCxnSpPr>
        <p:spPr>
          <a:xfrm>
            <a:off x="5801400" y="1495080"/>
            <a:ext cx="360" cy="28512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92" name="Retângulo: Cantos Arredondados 19"/>
          <p:cNvSpPr/>
          <p:nvPr/>
        </p:nvSpPr>
        <p:spPr>
          <a:xfrm>
            <a:off x="880920" y="29610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2. Triagem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tângulo: Cantos Arredondados 20"/>
          <p:cNvSpPr/>
          <p:nvPr/>
        </p:nvSpPr>
        <p:spPr>
          <a:xfrm>
            <a:off x="3519360" y="294444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Artigos selecionados para triagem de resumos (n= 158)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etângulo: Cantos Arredondados 21"/>
          <p:cNvSpPr/>
          <p:nvPr/>
        </p:nvSpPr>
        <p:spPr>
          <a:xfrm>
            <a:off x="9172440" y="294444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Duplicados removidos (n = 74)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5" name="Conector de Seta Reta 22"/>
          <p:cNvCxnSpPr>
            <a:stCxn id="294" idx="1"/>
          </p:cNvCxnSpPr>
          <p:nvPr/>
        </p:nvCxnSpPr>
        <p:spPr>
          <a:xfrm flipH="1">
            <a:off x="8242560" y="3384720"/>
            <a:ext cx="930240" cy="21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296" name="Retângulo: Cantos Arredondados 23"/>
          <p:cNvSpPr/>
          <p:nvPr/>
        </p:nvSpPr>
        <p:spPr>
          <a:xfrm>
            <a:off x="880920" y="41256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3. Eligibilidade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etângulo: Cantos Arredondados 25"/>
          <p:cNvSpPr/>
          <p:nvPr/>
        </p:nvSpPr>
        <p:spPr>
          <a:xfrm>
            <a:off x="3519360" y="412560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Artigos de texto completo avaliados para elegibilidade (n= 46)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etângulo: Cantos Arredondados 26"/>
          <p:cNvSpPr/>
          <p:nvPr/>
        </p:nvSpPr>
        <p:spPr>
          <a:xfrm>
            <a:off x="9172440" y="412560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Artigos excluídos: não atenderam aos critérios de inclusão (n = 36)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9" name="Conector de Seta Reta 27"/>
          <p:cNvCxnSpPr>
            <a:stCxn id="288" idx="2"/>
            <a:endCxn id="293" idx="0"/>
          </p:cNvCxnSpPr>
          <p:nvPr/>
        </p:nvCxnSpPr>
        <p:spPr>
          <a:xfrm>
            <a:off x="5801400" y="2660040"/>
            <a:ext cx="360" cy="2847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300" name="Conector de Seta Reta 30"/>
          <p:cNvCxnSpPr>
            <a:stCxn id="293" idx="2"/>
            <a:endCxn id="297" idx="0"/>
          </p:cNvCxnSpPr>
          <p:nvPr/>
        </p:nvCxnSpPr>
        <p:spPr>
          <a:xfrm>
            <a:off x="5801400" y="3824640"/>
            <a:ext cx="360" cy="30132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cxnSp>
        <p:nvCxnSpPr>
          <p:cNvPr id="301" name="Conector de Seta Reta 34"/>
          <p:cNvCxnSpPr>
            <a:stCxn id="298" idx="1"/>
            <a:endCxn id="297" idx="3"/>
          </p:cNvCxnSpPr>
          <p:nvPr/>
        </p:nvCxnSpPr>
        <p:spPr>
          <a:xfrm flipH="1">
            <a:off x="8083440" y="4565880"/>
            <a:ext cx="1089360" cy="360"/>
          </a:xfrm>
          <a:prstGeom prst="straightConnector1">
            <a:avLst/>
          </a:prstGeom>
          <a:ln w="0">
            <a:solidFill>
              <a:srgbClr val="F0EEE4"/>
            </a:solidFill>
            <a:tailEnd len="med" type="arrow" w="med"/>
          </a:ln>
        </p:spPr>
      </p:cxnSp>
      <p:sp>
        <p:nvSpPr>
          <p:cNvPr id="302" name="Retângulo: Cantos Arredondados 37"/>
          <p:cNvSpPr/>
          <p:nvPr/>
        </p:nvSpPr>
        <p:spPr>
          <a:xfrm>
            <a:off x="880920" y="5306760"/>
            <a:ext cx="162864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4. Incluídos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tângulo: Cantos Arredondados 38"/>
          <p:cNvSpPr/>
          <p:nvPr/>
        </p:nvSpPr>
        <p:spPr>
          <a:xfrm>
            <a:off x="3519360" y="5306760"/>
            <a:ext cx="4564080" cy="88020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2">
                    <a:lumMod val="90000"/>
                    <a:lumOff val="10000"/>
                  </a:schemeClr>
                </a:solidFill>
                <a:effectLst/>
                <a:uFillTx/>
                <a:latin typeface="Arial"/>
                <a:ea typeface="Arial"/>
              </a:rPr>
              <a:t>Estudos elegíveis incluídos na revisão final (n= 10)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CaixaDeTexto 4"/>
          <p:cNvSpPr/>
          <p:nvPr/>
        </p:nvSpPr>
        <p:spPr>
          <a:xfrm>
            <a:off x="617760" y="6400800"/>
            <a:ext cx="58014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259;p20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260;p20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Google Shape;261;p20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m 307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259;p 1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260;p 1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1" name="Google Shape;261;p 1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Imagem 311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259;p 2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260;p 2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5" name="Google Shape;261;p 2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Imagem 315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259;p 3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Google Shape;260;p 3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Google Shape;261;p 3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0" name="Imagem 319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259;p 4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260;p 4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3" name="Google Shape;261;p 4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m 323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259;p 5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260;p 5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Google Shape;261;p 5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Imagem 327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259;p 6"/>
          <p:cNvSpPr/>
          <p:nvPr/>
        </p:nvSpPr>
        <p:spPr>
          <a:xfrm>
            <a:off x="476280" y="476280"/>
            <a:ext cx="117144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260;p 6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1" name="Google Shape;261;p 6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m 331"/>
          <p:cNvPicPr/>
          <p:nvPr/>
        </p:nvPicPr>
        <p:blipFill>
          <a:blip r:embed="rId1"/>
          <a:stretch/>
        </p:blipFill>
        <p:spPr>
          <a:xfrm>
            <a:off x="0" y="0"/>
            <a:ext cx="1216368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259;p20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260;p20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Google Shape;261;p20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6" name="Tabela 1"/>
          <p:cNvGraphicFramePr/>
          <p:nvPr/>
        </p:nvGraphicFramePr>
        <p:xfrm>
          <a:off x="1870200" y="1707480"/>
          <a:ext cx="8126640" cy="426816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lIns="114120" tIns="75960" rIns="11412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oogle Sans Text"/>
                        </a:rPr>
                        <a:t>Nº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4120" marR="11412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Tópico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Plataforma de implementação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Ambiente de computação científica baseado em 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Python 3.10+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Linguagem de programação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Python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utilizando bibliotecas de alto desempenho (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NumPy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Dataclasses, Enum).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Representação dos agentes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Modelagem Baseada em Agentes (ABM)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com vetor de estado completo (físico, cognitivo e social).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259;p20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260;p20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Google Shape;261;p20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0" name="Tabela 1"/>
          <p:cNvGraphicFramePr/>
          <p:nvPr/>
        </p:nvGraphicFramePr>
        <p:xfrm>
          <a:off x="1870200" y="1433160"/>
          <a:ext cx="8126640" cy="536544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lIns="114120" tIns="75960" rIns="11412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oogle Sans Text"/>
                        </a:rPr>
                        <a:t>Nº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4120" marR="11412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Tópico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Representação do ambiente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Discretização em 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grade celular (20x20)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Grafo de Navegação BIM dinâmico e campos de incêndio interpolados.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Dados de entrada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Campos do FDS (Temperatura, CO, densidade de fumaça), topologia BIM e perfis populacionais heterogêneos.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Regras implementadas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Máquina de estados comportamental, </a:t>
                      </a:r>
                      <a:r>
                        <a:rPr lang="pt-BR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Modelo de Força Social (SFM)</a:t>
                      </a:r>
                      <a:r>
                        <a:rPr lang="pt-BR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dinâmica de pânico e contágio social.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259;p20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Formalismo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260;p20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3" name="Google Shape;261;p20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ela 1"/>
          <p:cNvGraphicFramePr/>
          <p:nvPr/>
        </p:nvGraphicFramePr>
        <p:xfrm>
          <a:off x="1870200" y="1433160"/>
          <a:ext cx="8126640" cy="463644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lIns="114120" tIns="75960" rIns="11412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oogle Sans Text"/>
                        </a:rPr>
                        <a:t>Nº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4120" marR="114120" marT="75960" marB="75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Tópico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Descrição</a:t>
                      </a:r>
                      <a:endParaRPr lang="pt-BR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Algoritmos principais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Dijkstra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para caminhos mínimos,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Logit Multinomial (MNL)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para escolha de saída e Autômatos Celulares para escadas.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Controle do tempo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Loop temporal com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 frequências aninhadas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(FDS: 0.5s; Gêmeo Digital: 1.0s; ABM Agentes: 0.1s).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Dados de saída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Métricas de desempenho: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RSET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ASET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Margem de Segurança, taxa de incapacitação e tempos de evacuação.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Visualização e validação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Simulações de </a:t>
                      </a:r>
                      <a:r>
                        <a:rPr lang="pt-BR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Monte Carlo (100+ réplicas)</a:t>
                      </a:r>
                      <a:r>
                        <a:rPr lang="pt-B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, Análise de Sensibilidade de Sobol e validação ASET/RSET.</a:t>
                      </a:r>
                      <a:endParaRPr lang="pt-BR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259;p 7"/>
          <p:cNvSpPr/>
          <p:nvPr/>
        </p:nvSpPr>
        <p:spPr>
          <a:xfrm>
            <a:off x="476280" y="476280"/>
            <a:ext cx="1171440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3. Dashboard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260;p 7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7" name="Google Shape;261;p 7"/>
          <p:cNvSpPr/>
          <p:nvPr/>
        </p:nvSpPr>
        <p:spPr>
          <a:xfrm>
            <a:off x="4471920" y="3736080"/>
            <a:ext cx="32464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540000" y="1248840"/>
            <a:ext cx="11159640" cy="523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266;p21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Google Shape;267;p21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4. Computador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268;p21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Google Shape;269;p21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"/>
          <p:cNvPicPr/>
          <p:nvPr/>
        </p:nvPicPr>
        <p:blipFill>
          <a:blip r:embed="rId2"/>
          <a:stretch/>
        </p:blipFill>
        <p:spPr>
          <a:xfrm>
            <a:off x="0" y="-132840"/>
            <a:ext cx="12568680" cy="6989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274;p22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5" name="Google Shape;275;p22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5. Execução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276;p22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7" name="Google Shape;277;p22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8" name=""/>
          <p:cNvPicPr/>
          <p:nvPr/>
        </p:nvPicPr>
        <p:blipFill>
          <a:blip r:embed="rId2"/>
          <a:stretch/>
        </p:blipFill>
        <p:spPr>
          <a:xfrm>
            <a:off x="0" y="-2520"/>
            <a:ext cx="12192120" cy="6859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9" name="Google Shape;282;p23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Google Shape;283;p23"/>
          <p:cNvSpPr/>
          <p:nvPr/>
        </p:nvSpPr>
        <p:spPr>
          <a:xfrm>
            <a:off x="476280" y="476280"/>
            <a:ext cx="117144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6. Observação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284;p23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Google Shape;285;p23"/>
          <p:cNvSpPr/>
          <p:nvPr/>
        </p:nvSpPr>
        <p:spPr>
          <a:xfrm>
            <a:off x="4471920" y="3736080"/>
            <a:ext cx="324648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[Espaço Reservado para Desenvolvimento]</a:t>
            </a:r>
            <a:endParaRPr lang="pt-BR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3" name=""/>
          <p:cNvPicPr/>
          <p:nvPr/>
        </p:nvPicPr>
        <p:blipFill>
          <a:blip r:embed="rId2"/>
          <a:stretch/>
        </p:blipFill>
        <p:spPr>
          <a:xfrm>
            <a:off x="0" y="1440"/>
            <a:ext cx="12198960" cy="685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Google Shape;290;p24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Google Shape;291;p24"/>
          <p:cNvSpPr/>
          <p:nvPr/>
        </p:nvSpPr>
        <p:spPr>
          <a:xfrm>
            <a:off x="476280" y="476280"/>
            <a:ext cx="117144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Fontes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292;p24"/>
          <p:cNvSpPr/>
          <p:nvPr/>
        </p:nvSpPr>
        <p:spPr>
          <a:xfrm>
            <a:off x="476280" y="1019160"/>
            <a:ext cx="11238120" cy="2700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3680" rIns="90000" bIns="1368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7" name="Google Shape;293;p24"/>
          <p:cNvSpPr/>
          <p:nvPr/>
        </p:nvSpPr>
        <p:spPr>
          <a:xfrm>
            <a:off x="476280" y="1333440"/>
            <a:ext cx="11238120" cy="9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8" name="Google Shape;294;p24"/>
          <p:cNvSpPr/>
          <p:nvPr/>
        </p:nvSpPr>
        <p:spPr>
          <a:xfrm>
            <a:off x="476280" y="2266920"/>
            <a:ext cx="11238120" cy="792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9" name="Google Shape;295;p24"/>
          <p:cNvSpPr/>
          <p:nvPr/>
        </p:nvSpPr>
        <p:spPr>
          <a:xfrm>
            <a:off x="476280" y="2266920"/>
            <a:ext cx="11238120" cy="792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960" rIns="90000" bIns="396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0" name="Google Shape;296;p24" descr="image.png"/>
          <p:cNvPicPr/>
          <p:nvPr/>
        </p:nvPicPr>
        <p:blipFill>
          <a:blip r:embed="rId2"/>
          <a:stretch/>
        </p:blipFill>
        <p:spPr>
          <a:xfrm>
            <a:off x="476280" y="1562040"/>
            <a:ext cx="855720" cy="47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Google Shape;297;p24"/>
          <p:cNvSpPr/>
          <p:nvPr/>
        </p:nvSpPr>
        <p:spPr>
          <a:xfrm>
            <a:off x="1571760" y="1476360"/>
            <a:ext cx="1014264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https://media.istockphoto.com/id/2233432395/photo/modern-apartment-buildings-reaching-for-the-sky-in-ipswich-suffolk-england.jpg?s=612x612&amp;w=0&amp;k=20&amp;c=PxnyT2t6pLrD1BssR2mS8kt9XULH-3QEKCa_M___G6o=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298;p24"/>
          <p:cNvSpPr/>
          <p:nvPr/>
        </p:nvSpPr>
        <p:spPr>
          <a:xfrm>
            <a:off x="1571760" y="1895400"/>
            <a:ext cx="10142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DM Sans"/>
                <a:ea typeface="DM Sans"/>
              </a:rPr>
              <a:t>www.istockphoto.com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299;p24"/>
          <p:cNvSpPr/>
          <p:nvPr/>
        </p:nvSpPr>
        <p:spPr>
          <a:xfrm>
            <a:off x="1571760" y="2426400"/>
            <a:ext cx="1014264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9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https://www.achsng.com/sites/floorplans/Wilmerding-TypicalFloorPlan.jpg</a:t>
            </a:r>
            <a:endParaRPr lang="pt-BR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300;p24"/>
          <p:cNvSpPr/>
          <p:nvPr/>
        </p:nvSpPr>
        <p:spPr>
          <a:xfrm>
            <a:off x="1571760" y="2659680"/>
            <a:ext cx="10142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Source: </a:t>
            </a:r>
            <a:r>
              <a:rPr lang="en-US" sz="1200" b="0" u="none" strike="noStrike">
                <a:solidFill>
                  <a:srgbClr val="4F46E5"/>
                </a:solidFill>
                <a:effectLst/>
                <a:uFillTx/>
                <a:latin typeface="DM Sans"/>
                <a:ea typeface="DM Sans"/>
              </a:rPr>
              <a:t>www.achsng.com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5" name="Google Shape;301;p24" descr="image.png"/>
          <p:cNvPicPr/>
          <p:nvPr/>
        </p:nvPicPr>
        <p:blipFill>
          <a:blip r:embed="rId3"/>
          <a:stretch/>
        </p:blipFill>
        <p:spPr>
          <a:xfrm>
            <a:off x="476280" y="2426400"/>
            <a:ext cx="855720" cy="47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F0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06;p25" descr="image.png"/>
          <p:cNvPicPr/>
          <p:nvPr/>
        </p:nvPicPr>
        <p:blipFill>
          <a:blip r:embed="rId1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Google Shape;307;p25"/>
          <p:cNvSpPr/>
          <p:nvPr/>
        </p:nvSpPr>
        <p:spPr>
          <a:xfrm>
            <a:off x="571680" y="395280"/>
            <a:ext cx="116002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50" b="1" u="none" strike="noStrike">
                <a:solidFill>
                  <a:srgbClr val="005088"/>
                </a:solidFill>
                <a:effectLst/>
                <a:uFillTx/>
                <a:latin typeface="Merriweather"/>
                <a:ea typeface="Merriweather"/>
              </a:rPr>
              <a:t>Referências Bibliográficas</a:t>
            </a:r>
            <a:endParaRPr lang="pt-BR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Google Shape;308;p25"/>
          <p:cNvSpPr/>
          <p:nvPr/>
        </p:nvSpPr>
        <p:spPr>
          <a:xfrm>
            <a:off x="571680" y="938160"/>
            <a:ext cx="11047680" cy="17640"/>
          </a:xfrm>
          <a:prstGeom prst="rect">
            <a:avLst/>
          </a:prstGeom>
          <a:solidFill>
            <a:srgbClr val="0050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000" rIns="90000" bIns="9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9" name="Google Shape;309;p25"/>
          <p:cNvSpPr/>
          <p:nvPr/>
        </p:nvSpPr>
        <p:spPr>
          <a:xfrm>
            <a:off x="905040" y="108108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Gwynne, S. M. V., et al. (2021).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Guidance on Representing Human Behavior in Egress Models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SFPE Handbook.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Google Shape;310;p25"/>
          <p:cNvSpPr/>
          <p:nvPr/>
        </p:nvSpPr>
        <p:spPr>
          <a:xfrm>
            <a:off x="905040" y="173844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Korhonen, T., &amp; Hostikka, S. (2020).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FDS+Evac: Technical Reference and User’s Guide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VTT Technical Research Centre.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311;p25"/>
          <p:cNvSpPr/>
          <p:nvPr/>
        </p:nvSpPr>
        <p:spPr>
          <a:xfrm>
            <a:off x="905040" y="239544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Lovreglio, R., et al. (2022).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Investigating exit choices in fire evacuation using VR experiments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Fire Safety Journal.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312;p25"/>
          <p:cNvSpPr/>
          <p:nvPr/>
        </p:nvSpPr>
        <p:spPr>
          <a:xfrm>
            <a:off x="905040" y="305280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Wang, H., et al. (2023).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 dynamic fire escape path planning method with BIM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Automation in Construction.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313;p25"/>
          <p:cNvSpPr/>
          <p:nvPr/>
        </p:nvSpPr>
        <p:spPr>
          <a:xfrm>
            <a:off x="905040" y="371016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Pelechano, N., et al. (2020).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Pedestrian Crowd Evacuation Under Panic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ACM TOMACS.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314;p25"/>
          <p:cNvSpPr/>
          <p:nvPr/>
        </p:nvSpPr>
        <p:spPr>
          <a:xfrm>
            <a:off x="6667560" y="108108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Zheng, X., et al. (2021).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Simulation of pedestrian evacuation in staircases based on CA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Physica 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315;p25"/>
          <p:cNvSpPr/>
          <p:nvPr/>
        </p:nvSpPr>
        <p:spPr>
          <a:xfrm>
            <a:off x="6667560" y="173844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Chen, J., et al. (2023).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An Integrated Method for Fire Risk Assessment in Residential Buildings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RESS.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316;p25"/>
          <p:cNvSpPr/>
          <p:nvPr/>
        </p:nvSpPr>
        <p:spPr>
          <a:xfrm>
            <a:off x="6667560" y="239544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Al Sadoon, A., et al. (2025).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Digital Twin Integration for Real-Time Fire Safety Management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IJDRR.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317;p25"/>
          <p:cNvSpPr/>
          <p:nvPr/>
        </p:nvSpPr>
        <p:spPr>
          <a:xfrm>
            <a:off x="6667560" y="305280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Starbuck, L., et al. (2024).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Simulating Mass Evacuation in High-Density Clusters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J. of Building Engineering.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318;p25"/>
          <p:cNvSpPr/>
          <p:nvPr/>
        </p:nvSpPr>
        <p:spPr>
          <a:xfrm>
            <a:off x="6667560" y="3710160"/>
            <a:ext cx="49514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Hui, Y., et al. (2024). </a:t>
            </a:r>
            <a:r>
              <a:rPr lang="en-US" sz="1350" b="0" i="1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Coupled Fire-Simulation Algorithms for Dynamic Optimization</a:t>
            </a:r>
            <a:r>
              <a:rPr lang="en-US" sz="1350" b="0" u="none" strike="noStrike">
                <a:solidFill>
                  <a:srgbClr val="334155"/>
                </a:solidFill>
                <a:effectLst/>
                <a:uFillTx/>
                <a:latin typeface="DM Sans"/>
                <a:ea typeface="DM Sans"/>
              </a:rPr>
              <a:t>. Safety Science.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9" name="Google Shape;319;p25" descr="image.png"/>
          <p:cNvPicPr/>
          <p:nvPr/>
        </p:nvPicPr>
        <p:blipFill>
          <a:blip r:embed="rId2"/>
          <a:stretch/>
        </p:blipFill>
        <p:spPr>
          <a:xfrm>
            <a:off x="571680" y="112392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Google Shape;320;p25" descr="image.png"/>
          <p:cNvPicPr/>
          <p:nvPr/>
        </p:nvPicPr>
        <p:blipFill>
          <a:blip r:embed="rId3"/>
          <a:stretch/>
        </p:blipFill>
        <p:spPr>
          <a:xfrm>
            <a:off x="571680" y="178128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1" name="Google Shape;321;p25" descr="image.png"/>
          <p:cNvPicPr/>
          <p:nvPr/>
        </p:nvPicPr>
        <p:blipFill>
          <a:blip r:embed="rId4"/>
          <a:stretch/>
        </p:blipFill>
        <p:spPr>
          <a:xfrm>
            <a:off x="571680" y="243828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2" name="Google Shape;322;p25" descr="image.png"/>
          <p:cNvPicPr/>
          <p:nvPr/>
        </p:nvPicPr>
        <p:blipFill>
          <a:blip r:embed="rId5"/>
          <a:stretch/>
        </p:blipFill>
        <p:spPr>
          <a:xfrm>
            <a:off x="571680" y="309564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3" name="Google Shape;323;p25" descr="image.png"/>
          <p:cNvPicPr/>
          <p:nvPr/>
        </p:nvPicPr>
        <p:blipFill>
          <a:blip r:embed="rId6"/>
          <a:stretch/>
        </p:blipFill>
        <p:spPr>
          <a:xfrm>
            <a:off x="571680" y="375300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4" name="Google Shape;324;p25" descr="image.png"/>
          <p:cNvPicPr/>
          <p:nvPr/>
        </p:nvPicPr>
        <p:blipFill>
          <a:blip r:embed="rId7"/>
          <a:stretch/>
        </p:blipFill>
        <p:spPr>
          <a:xfrm>
            <a:off x="6334200" y="112392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5" name="Google Shape;325;p25" descr="image.png"/>
          <p:cNvPicPr/>
          <p:nvPr/>
        </p:nvPicPr>
        <p:blipFill>
          <a:blip r:embed="rId8"/>
          <a:stretch/>
        </p:blipFill>
        <p:spPr>
          <a:xfrm>
            <a:off x="6334200" y="178128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6" name="Google Shape;326;p25" descr="image.png"/>
          <p:cNvPicPr/>
          <p:nvPr/>
        </p:nvPicPr>
        <p:blipFill>
          <a:blip r:embed="rId9"/>
          <a:stretch/>
        </p:blipFill>
        <p:spPr>
          <a:xfrm>
            <a:off x="6334200" y="243828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7" name="Google Shape;327;p25" descr="image.png"/>
          <p:cNvPicPr/>
          <p:nvPr/>
        </p:nvPicPr>
        <p:blipFill>
          <a:blip r:embed="rId10"/>
          <a:stretch/>
        </p:blipFill>
        <p:spPr>
          <a:xfrm>
            <a:off x="6334200" y="3095640"/>
            <a:ext cx="169920" cy="1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Google Shape;328;p25" descr="image.png"/>
          <p:cNvPicPr/>
          <p:nvPr/>
        </p:nvPicPr>
        <p:blipFill>
          <a:blip r:embed="rId11"/>
          <a:stretch/>
        </p:blipFill>
        <p:spPr>
          <a:xfrm>
            <a:off x="6334200" y="3753000"/>
            <a:ext cx="169920" cy="198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Application>LibreOffice/26.2.3.2$Windows_X86_64 LibreOffice_project/70e089b17412e4cb7773e41413306b17a2328c34</Application>
  <AppVersion>15.0000</AppVersion>
  <Words>1960</Words>
  <Paragraphs>262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Marcos Mattedi</dc:creator>
  <dc:description/>
  <dc:language>pt-BR</dc:language>
  <cp:lastModifiedBy/>
  <dcterms:modified xsi:type="dcterms:W3CDTF">2026-06-21T19:03:01Z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25</vt:i4>
  </property>
</Properties>
</file>