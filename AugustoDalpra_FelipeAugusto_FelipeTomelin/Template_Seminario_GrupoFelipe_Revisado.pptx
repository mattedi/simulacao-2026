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4" r:id="rId5"/>
    <p:sldId id="265" r:id="rId6"/>
    <p:sldId id="263" r:id="rId7"/>
    <p:sldId id="267" r:id="rId8"/>
    <p:sldId id="266" r:id="rId9"/>
    <p:sldId id="268" r:id="rId10"/>
    <p:sldId id="269" r:id="rId11"/>
    <p:sldId id="259" r:id="rId12"/>
    <p:sldId id="260" r:id="rId13"/>
    <p:sldId id="261" r:id="rId14"/>
    <p:sldId id="262" r:id="rId15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 varScale="1">
        <p:scale>
          <a:sx n="87" d="100"/>
          <a:sy n="87" d="100"/>
        </p:scale>
        <p:origin x="408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468437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>
            <a:extLst>
              <a:ext uri="{FF2B5EF4-FFF2-40B4-BE49-F238E27FC236}">
                <a16:creationId xmlns:a16="http://schemas.microsoft.com/office/drawing/2014/main" id="{CB716D76-4EE0-34BB-3FE4-746A7B7F99BA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73990" y="106734"/>
            <a:ext cx="461935" cy="235953"/>
          </a:xfrm>
          <a:prstGeom prst="rect">
            <a:avLst/>
          </a:prstGeom>
        </p:spPr>
      </p:pic>
      <p:pic>
        <p:nvPicPr>
          <p:cNvPr id="8" name="Imagem 7" descr="Uma imagem contendo placar, desenho  Descrição gerada automaticamente">
            <a:extLst>
              <a:ext uri="{FF2B5EF4-FFF2-40B4-BE49-F238E27FC236}">
                <a16:creationId xmlns:a16="http://schemas.microsoft.com/office/drawing/2014/main" id="{144D06B7-FB8A-8452-1AF8-C83CE1E98BFE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353" t="15342" r="9314" b="15342"/>
          <a:stretch/>
        </p:blipFill>
        <p:spPr>
          <a:xfrm>
            <a:off x="11676211" y="121127"/>
            <a:ext cx="341799" cy="219153"/>
          </a:xfrm>
          <a:prstGeom prst="rect">
            <a:avLst/>
          </a:prstGeom>
        </p:spPr>
      </p:pic>
      <p:sp>
        <p:nvSpPr>
          <p:cNvPr id="9" name="Retângulo 8">
            <a:extLst>
              <a:ext uri="{FF2B5EF4-FFF2-40B4-BE49-F238E27FC236}">
                <a16:creationId xmlns:a16="http://schemas.microsoft.com/office/drawing/2014/main" id="{501361FC-2F74-AE7E-3415-1ABF301AF2E0}"/>
              </a:ext>
            </a:extLst>
          </p:cNvPr>
          <p:cNvSpPr/>
          <p:nvPr userDrawn="1"/>
        </p:nvSpPr>
        <p:spPr>
          <a:xfrm>
            <a:off x="-1" y="96669"/>
            <a:ext cx="12192000" cy="318404"/>
          </a:xfrm>
          <a:prstGeom prst="rect">
            <a:avLst/>
          </a:prstGeom>
          <a:solidFill>
            <a:schemeClr val="bg1">
              <a:lumMod val="65000"/>
              <a:alpha val="13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b="1" dirty="0">
              <a:solidFill>
                <a:schemeClr val="tx2">
                  <a:lumMod val="90000"/>
                  <a:lumOff val="10000"/>
                </a:schemeClr>
              </a:solidFill>
            </a:endParaRPr>
          </a:p>
        </p:txBody>
      </p:sp>
      <p:pic>
        <p:nvPicPr>
          <p:cNvPr id="10" name="Imagem 9" descr="Interface gráfica do usuário, Texto  O conteúdo gerado por IA pode estar incorreto.">
            <a:extLst>
              <a:ext uri="{FF2B5EF4-FFF2-40B4-BE49-F238E27FC236}">
                <a16:creationId xmlns:a16="http://schemas.microsoft.com/office/drawing/2014/main" id="{EC9A2412-8527-050F-1760-1D795B65936E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858" b="41998"/>
          <a:stretch>
            <a:fillRect/>
          </a:stretch>
        </p:blipFill>
        <p:spPr>
          <a:xfrm>
            <a:off x="5840282" y="77509"/>
            <a:ext cx="511435" cy="2627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63590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>
            <a:extLst>
              <a:ext uri="{FF2B5EF4-FFF2-40B4-BE49-F238E27FC236}">
                <a16:creationId xmlns:a16="http://schemas.microsoft.com/office/drawing/2014/main" id="{411E991F-1419-1468-BE10-D2AF9BD832EA}"/>
              </a:ext>
            </a:extLst>
          </p:cNvPr>
          <p:cNvSpPr txBox="1"/>
          <p:nvPr/>
        </p:nvSpPr>
        <p:spPr>
          <a:xfrm>
            <a:off x="2794000" y="2455610"/>
            <a:ext cx="70307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Título: </a:t>
            </a:r>
          </a:p>
          <a:p>
            <a:endParaRPr lang="pt-BR" b="1" dirty="0">
              <a:solidFill>
                <a:schemeClr val="tx2">
                  <a:lumMod val="90000"/>
                  <a:lumOff val="10000"/>
                </a:schemeClr>
              </a:solidFill>
            </a:endParaRP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3B5BC1B5-ED1C-9832-E853-1E5DCBBF6E7D}"/>
              </a:ext>
            </a:extLst>
          </p:cNvPr>
          <p:cNvSpPr txBox="1"/>
          <p:nvPr/>
        </p:nvSpPr>
        <p:spPr>
          <a:xfrm>
            <a:off x="2086532" y="864415"/>
            <a:ext cx="773818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1650"/>
              </a:spcBef>
              <a:spcAft>
                <a:spcPts val="825"/>
              </a:spcAft>
              <a:buNone/>
            </a:pPr>
            <a:r>
              <a:rPr lang="pt-BR" b="1" i="0" dirty="0">
                <a:solidFill>
                  <a:schemeClr val="tx2">
                    <a:lumMod val="90000"/>
                    <a:lumOff val="1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MÓDULO V - SEMINÁRIO DE APRESETNTAÇÃO DOS RESULTADOS</a:t>
            </a:r>
            <a:endParaRPr lang="pt-BR" b="0" i="0" dirty="0">
              <a:solidFill>
                <a:schemeClr val="tx2">
                  <a:lumMod val="90000"/>
                  <a:lumOff val="10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07E728AB-E81F-068E-0D0C-8111400D7157}"/>
              </a:ext>
            </a:extLst>
          </p:cNvPr>
          <p:cNvSpPr txBox="1"/>
          <p:nvPr/>
        </p:nvSpPr>
        <p:spPr>
          <a:xfrm>
            <a:off x="7630677" y="3993765"/>
            <a:ext cx="34923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pt-BR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Autores: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113F2793-2F9E-906C-DEE3-567571E01F74}"/>
              </a:ext>
            </a:extLst>
          </p:cNvPr>
          <p:cNvSpPr txBox="1"/>
          <p:nvPr/>
        </p:nvSpPr>
        <p:spPr>
          <a:xfrm>
            <a:off x="4719217" y="5993585"/>
            <a:ext cx="26084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Junho de 2026</a:t>
            </a:r>
          </a:p>
        </p:txBody>
      </p:sp>
    </p:spTree>
    <p:extLst>
      <p:ext uri="{BB962C8B-B14F-4D97-AF65-F5344CB8AC3E}">
        <p14:creationId xmlns:p14="http://schemas.microsoft.com/office/powerpoint/2010/main" val="65292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A4752B93-B681-AFAB-6EB7-F01A288E8400}"/>
              </a:ext>
            </a:extLst>
          </p:cNvPr>
          <p:cNvSpPr txBox="1"/>
          <p:nvPr/>
        </p:nvSpPr>
        <p:spPr>
          <a:xfrm>
            <a:off x="2528595" y="905070"/>
            <a:ext cx="58969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Estrutura da Apresentação</a:t>
            </a:r>
          </a:p>
        </p:txBody>
      </p:sp>
      <p:graphicFrame>
        <p:nvGraphicFramePr>
          <p:cNvPr id="3" name="Tabela 2">
            <a:extLst>
              <a:ext uri="{FF2B5EF4-FFF2-40B4-BE49-F238E27FC236}">
                <a16:creationId xmlns:a16="http://schemas.microsoft.com/office/drawing/2014/main" id="{F3C4A689-4D83-44CA-EE9C-67A96D08DFE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3199999"/>
              </p:ext>
            </p:extLst>
          </p:nvPr>
        </p:nvGraphicFramePr>
        <p:xfrm>
          <a:off x="1259659" y="1448045"/>
          <a:ext cx="9377239" cy="4354870"/>
        </p:xfrm>
        <a:graphic>
          <a:graphicData uri="http://schemas.openxmlformats.org/drawingml/2006/table">
            <a:tbl>
              <a:tblPr/>
              <a:tblGrid>
                <a:gridCol w="858390">
                  <a:extLst>
                    <a:ext uri="{9D8B030D-6E8A-4147-A177-3AD203B41FA5}">
                      <a16:colId xmlns:a16="http://schemas.microsoft.com/office/drawing/2014/main" val="3535084583"/>
                    </a:ext>
                  </a:extLst>
                </a:gridCol>
                <a:gridCol w="2211355">
                  <a:extLst>
                    <a:ext uri="{9D8B030D-6E8A-4147-A177-3AD203B41FA5}">
                      <a16:colId xmlns:a16="http://schemas.microsoft.com/office/drawing/2014/main" val="1130658036"/>
                    </a:ext>
                  </a:extLst>
                </a:gridCol>
                <a:gridCol w="6307494">
                  <a:extLst>
                    <a:ext uri="{9D8B030D-6E8A-4147-A177-3AD203B41FA5}">
                      <a16:colId xmlns:a16="http://schemas.microsoft.com/office/drawing/2014/main" val="3729648614"/>
                    </a:ext>
                  </a:extLst>
                </a:gridCol>
              </a:tblGrid>
              <a:tr h="30009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500" b="1">
                          <a:solidFill>
                            <a:srgbClr val="FF0000"/>
                          </a:solidFill>
                        </a:rPr>
                        <a:t>Etapa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500" b="1">
                          <a:solidFill>
                            <a:srgbClr val="FF0000"/>
                          </a:solidFill>
                        </a:rPr>
                        <a:t>Nome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500" b="1" dirty="0">
                          <a:solidFill>
                            <a:srgbClr val="FF0000"/>
                          </a:solidFill>
                        </a:rPr>
                        <a:t>Descrição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59879018"/>
                  </a:ext>
                </a:extLst>
              </a:tr>
              <a:tr h="75023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500" b="1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1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5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Sistema de Referência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5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Define o problema real a ser estudado (</a:t>
                      </a:r>
                      <a:r>
                        <a:rPr lang="pt-BR" sz="1500" dirty="0" err="1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ex</a:t>
                      </a:r>
                      <a:r>
                        <a:rPr lang="pt-BR" sz="15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: evacuação de um prédio).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14737026"/>
                  </a:ext>
                </a:extLst>
              </a:tr>
              <a:tr h="75023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500" b="1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2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50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Modelagem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5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Representação simplificada do sistema real (regras, agentes, ambiente).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44944287"/>
                  </a:ext>
                </a:extLst>
              </a:tr>
              <a:tr h="75023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500" b="1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3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50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Formalismo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50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Tradução do modelo para linguagem formal/matemática ou lógica.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60143428"/>
                  </a:ext>
                </a:extLst>
              </a:tr>
              <a:tr h="75023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500" b="1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4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50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Computador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50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Implementação do modelo em código (programação da simulação).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22816725"/>
                  </a:ext>
                </a:extLst>
              </a:tr>
              <a:tr h="52516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500" b="1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5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50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Execução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5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Rodar a simulação com diferentes parâmetros e cenários.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49231444"/>
                  </a:ext>
                </a:extLst>
              </a:tr>
              <a:tr h="52516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500" b="1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6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5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Observação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5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Análise dos resultados obtidos (gráficos, métricas, conclusões).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2471269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54860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D20F32-FD66-0C26-75DA-A9DDED95F0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544EB669-D9BB-1EF5-9A40-55EB1D8A7DED}"/>
              </a:ext>
            </a:extLst>
          </p:cNvPr>
          <p:cNvSpPr txBox="1"/>
          <p:nvPr/>
        </p:nvSpPr>
        <p:spPr>
          <a:xfrm>
            <a:off x="2480387" y="2957805"/>
            <a:ext cx="723122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44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1. Sistema de Referência</a:t>
            </a:r>
          </a:p>
        </p:txBody>
      </p:sp>
    </p:spTree>
    <p:extLst>
      <p:ext uri="{BB962C8B-B14F-4D97-AF65-F5344CB8AC3E}">
        <p14:creationId xmlns:p14="http://schemas.microsoft.com/office/powerpoint/2010/main" val="19055649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ulo"/>
          <p:cNvSpPr txBox="1"/>
          <p:nvPr/>
        </p:nvSpPr>
        <p:spPr>
          <a:xfrm>
            <a:off x="700000" y="800000"/>
            <a:ext cx="10792000" cy="50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pt-BR" sz="28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Definição do Fenômeno</a:t>
            </a:r>
          </a:p>
        </p:txBody>
      </p:sp>
      <p:sp>
        <p:nvSpPr>
          <p:cNvPr id="3" name="Subtitulo"/>
          <p:cNvSpPr txBox="1"/>
          <p:nvPr/>
        </p:nvSpPr>
        <p:spPr>
          <a:xfrm>
            <a:off x="700000" y="1320000"/>
            <a:ext cx="10792000" cy="38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pt-BR" sz="1500" i="1" dirty="0">
                <a:solidFill>
                  <a:srgbClr val="595959"/>
                </a:solidFill>
              </a:rPr>
              <a:t>Edifício real de 30 andares em situação de incêndio — base empírica que orienta o ciclo de simulação.</a:t>
            </a:r>
          </a:p>
        </p:txBody>
      </p:sp>
      <p:sp>
        <p:nvSpPr>
          <p:cNvPr id="4" name="CardEsquerdo"/>
          <p:cNvSpPr/>
          <p:nvPr/>
        </p:nvSpPr>
        <p:spPr>
          <a:xfrm>
            <a:off x="700000" y="1900000"/>
            <a:ext cx="5246000" cy="4400000"/>
          </a:xfrm>
          <a:prstGeom prst="roundRect">
            <a:avLst>
              <a:gd name="adj" fmla="val 4000"/>
            </a:avLst>
          </a:prstGeom>
          <a:solidFill>
            <a:srgbClr val="F4F6FA"/>
          </a:solidFill>
          <a:ln>
            <a:noFill/>
          </a:ln>
        </p:spPr>
        <p:txBody>
          <a:bodyPr wrap="square" lIns="288000" tIns="288000" rIns="288000" bIns="288000" rtlCol="0" anchor="t"/>
          <a:lstStyle/>
          <a:p>
            <a:pPr algn="l">
              <a:buNone/>
            </a:pPr>
            <a:r>
              <a:rPr lang="pt-BR" sz="17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Distinção conceitual</a:t>
            </a:r>
          </a:p>
          <a:p>
            <a:pPr algn="l">
              <a:spcBef>
                <a:spcPts val="900"/>
              </a:spcBef>
              <a:buNone/>
            </a:pPr>
            <a:r>
              <a:rPr lang="pt-BR" sz="1300" b="1" dirty="0">
                <a:solidFill>
                  <a:srgbClr val="C0392B"/>
                </a:solidFill>
              </a:rPr>
              <a:t>Fogo — </a:t>
            </a:r>
            <a:r>
              <a:rPr lang="pt-BR" sz="1300" dirty="0">
                <a:solidFill>
                  <a:srgbClr val="333333"/>
                </a:solidFill>
              </a:rPr>
              <a:t>reação química exotérmica de combustão (combustível + comburente </a:t>
            </a:r>
            <a:r>
              <a:rPr lang="pt-BR" sz="1300">
                <a:solidFill>
                  <a:srgbClr val="333333"/>
                </a:solidFill>
              </a:rPr>
              <a:t>+ calor.</a:t>
            </a:r>
            <a:endParaRPr lang="pt-BR" sz="1300" dirty="0">
              <a:solidFill>
                <a:srgbClr val="333333"/>
              </a:solidFill>
            </a:endParaRPr>
          </a:p>
          <a:p>
            <a:pPr algn="l">
              <a:spcBef>
                <a:spcPts val="700"/>
              </a:spcBef>
              <a:buNone/>
            </a:pPr>
            <a:r>
              <a:rPr lang="pt-BR" sz="1300" b="1" dirty="0">
                <a:solidFill>
                  <a:srgbClr val="C0392B"/>
                </a:solidFill>
              </a:rPr>
              <a:t>Incêndio — </a:t>
            </a:r>
            <a:r>
              <a:rPr lang="pt-BR" sz="1300" dirty="0">
                <a:solidFill>
                  <a:srgbClr val="333333"/>
                </a:solidFill>
              </a:rPr>
              <a:t>fogo fora de controle, intenso, capaz de causar danos à vida, ao meio ambiente e ao patrimônio.</a:t>
            </a:r>
          </a:p>
          <a:p>
            <a:pPr algn="l">
              <a:spcBef>
                <a:spcPts val="700"/>
              </a:spcBef>
              <a:buNone/>
            </a:pPr>
            <a:r>
              <a:rPr lang="pt-BR" sz="1300" b="1" dirty="0">
                <a:solidFill>
                  <a:srgbClr val="C0392B"/>
                </a:solidFill>
              </a:rPr>
              <a:t>Incêndio em edificação — </a:t>
            </a:r>
            <a:r>
              <a:rPr lang="pt-BR" sz="1300" dirty="0">
                <a:solidFill>
                  <a:srgbClr val="333333"/>
                </a:solidFill>
              </a:rPr>
              <a:t>ocorrência no interior ou na estrutura de uma edificação, com potencial de atingir ocupantes, comprometer rotas de fuga e propagar-se entre ambientes.</a:t>
            </a:r>
          </a:p>
        </p:txBody>
      </p:sp>
      <p:sp>
        <p:nvSpPr>
          <p:cNvPr id="5" name="CardDireito"/>
          <p:cNvSpPr/>
          <p:nvPr/>
        </p:nvSpPr>
        <p:spPr>
          <a:xfrm>
            <a:off x="6246000" y="1900000"/>
            <a:ext cx="5246000" cy="4400000"/>
          </a:xfrm>
          <a:prstGeom prst="roundRect">
            <a:avLst>
              <a:gd name="adj" fmla="val 4000"/>
            </a:avLst>
          </a:prstGeom>
          <a:solidFill>
            <a:srgbClr val="F4F6FA"/>
          </a:solidFill>
          <a:ln>
            <a:noFill/>
          </a:ln>
        </p:spPr>
        <p:txBody>
          <a:bodyPr wrap="square" lIns="288000" tIns="288000" rIns="288000" bIns="288000" rtlCol="0" anchor="t"/>
          <a:lstStyle/>
          <a:p>
            <a:pPr algn="l">
              <a:buNone/>
            </a:pPr>
            <a:r>
              <a:rPr lang="pt-BR" sz="17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Classes de incêndio relevantes</a:t>
            </a:r>
          </a:p>
          <a:p>
            <a:pPr algn="l">
              <a:spcBef>
                <a:spcPts val="900"/>
              </a:spcBef>
              <a:buNone/>
            </a:pPr>
            <a:r>
              <a:rPr lang="pt-BR" sz="1300" b="1" dirty="0">
                <a:solidFill>
                  <a:srgbClr val="C0392B"/>
                </a:solidFill>
              </a:rPr>
              <a:t>Classe A — </a:t>
            </a:r>
            <a:r>
              <a:rPr lang="pt-BR" sz="1300" dirty="0">
                <a:solidFill>
                  <a:srgbClr val="333333"/>
                </a:solidFill>
              </a:rPr>
              <a:t>sólidos combustíveis (móveis, papel, tecidos). Principal fonte de carga em ambientes de escritório.</a:t>
            </a:r>
          </a:p>
          <a:p>
            <a:pPr algn="l">
              <a:spcBef>
                <a:spcPts val="700"/>
              </a:spcBef>
              <a:buNone/>
            </a:pPr>
            <a:r>
              <a:rPr lang="pt-BR" sz="1300" b="1" dirty="0">
                <a:solidFill>
                  <a:srgbClr val="C0392B"/>
                </a:solidFill>
              </a:rPr>
              <a:t>Classe B — </a:t>
            </a:r>
            <a:r>
              <a:rPr lang="pt-BR" sz="1300" dirty="0">
                <a:solidFill>
                  <a:srgbClr val="333333"/>
                </a:solidFill>
              </a:rPr>
              <a:t>líquidos e gases inflamáveis. Possível em garagens, depósitos ou cozinhas dos andares inferiores.</a:t>
            </a:r>
          </a:p>
          <a:p>
            <a:pPr algn="l">
              <a:spcBef>
                <a:spcPts val="700"/>
              </a:spcBef>
              <a:buNone/>
            </a:pPr>
            <a:r>
              <a:rPr lang="pt-BR" sz="1300" b="1" dirty="0">
                <a:solidFill>
                  <a:srgbClr val="C0392B"/>
                </a:solidFill>
              </a:rPr>
              <a:t>Classe C — </a:t>
            </a:r>
            <a:r>
              <a:rPr lang="pt-BR" sz="1300" dirty="0">
                <a:solidFill>
                  <a:srgbClr val="333333"/>
                </a:solidFill>
              </a:rPr>
              <a:t>equipamentos elétricos energizados (painéis, fiação, servidores). Relevantes em andares técnicos e salas de TI.</a:t>
            </a:r>
          </a:p>
          <a:p>
            <a:pPr algn="l">
              <a:spcBef>
                <a:spcPts val="900"/>
              </a:spcBef>
              <a:buNone/>
            </a:pPr>
            <a:r>
              <a:rPr lang="pt-BR" sz="1200" i="1" dirty="0">
                <a:solidFill>
                  <a:srgbClr val="595959"/>
                </a:solidFill>
              </a:rPr>
              <a:t>Cenário simulado: edifício de uso misto, com predominância das classes acima.</a:t>
            </a:r>
          </a:p>
        </p:txBody>
      </p:sp>
    </p:spTree>
    <p:extLst>
      <p:ext uri="{BB962C8B-B14F-4D97-AF65-F5344CB8AC3E}">
        <p14:creationId xmlns:p14="http://schemas.microsoft.com/office/powerpoint/2010/main" val="19055649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ulo"/>
          <p:cNvSpPr txBox="1"/>
          <p:nvPr/>
        </p:nvSpPr>
        <p:spPr>
          <a:xfrm>
            <a:off x="700000" y="800000"/>
            <a:ext cx="10792000" cy="50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pt-BR" sz="28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Parâmetros e Delimitação Analítica</a:t>
            </a:r>
          </a:p>
        </p:txBody>
      </p:sp>
      <p:sp>
        <p:nvSpPr>
          <p:cNvPr id="3" name="Subtitulo"/>
          <p:cNvSpPr txBox="1"/>
          <p:nvPr/>
        </p:nvSpPr>
        <p:spPr>
          <a:xfrm>
            <a:off x="700000" y="1320000"/>
            <a:ext cx="10792000" cy="38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pt-BR" sz="1500" i="1" dirty="0">
                <a:solidFill>
                  <a:srgbClr val="595959"/>
                </a:solidFill>
              </a:rPr>
              <a:t>Restrições baseadas na ABNT NBR 9077 e escopo causalmente relevante para a simulação.</a:t>
            </a:r>
          </a:p>
        </p:txBody>
      </p:sp>
      <p:graphicFrame>
        <p:nvGraphicFramePr>
          <p:cNvPr id="4" name="TabelaParametros"/>
          <p:cNvGraphicFramePr>
            <a:graphicFrameLocks noGrp="1"/>
          </p:cNvGraphicFramePr>
          <p:nvPr/>
        </p:nvGraphicFramePr>
        <p:xfrm>
          <a:off x="700000" y="1900000"/>
          <a:ext cx="5800000" cy="3380000"/>
        </p:xfrm>
        <a:graphic>
          <a:graphicData uri="http://schemas.openxmlformats.org/drawingml/2006/table">
            <a:tbl>
              <a:tblPr/>
              <a:tblGrid>
                <a:gridCol w="22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0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300" b="1">
                          <a:solidFill>
                            <a:srgbClr val="FFFFFF"/>
                          </a:solidFill>
                        </a:rPr>
                        <a:t>Parâmetro</a:t>
                      </a:r>
                    </a:p>
                  </a:txBody>
                  <a:tcPr marL="60000" marR="60000" marT="40000" marB="40000" anchor="ctr">
                    <a:solidFill>
                      <a:schemeClr val="tx2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300" b="1">
                          <a:solidFill>
                            <a:srgbClr val="FFFFFF"/>
                          </a:solidFill>
                        </a:rPr>
                        <a:t>Valor / Referência</a:t>
                      </a:r>
                    </a:p>
                  </a:txBody>
                  <a:tcPr marL="60000" marR="60000" marT="40000" marB="40000" anchor="ctr">
                    <a:solidFill>
                      <a:schemeClr val="tx2">
                        <a:lumMod val="90000"/>
                        <a:lumOff val="1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0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100" b="1">
                          <a:solidFill>
                            <a:srgbClr val="333333"/>
                          </a:solidFill>
                        </a:rPr>
                        <a:t>Nº de andares</a:t>
                      </a:r>
                    </a:p>
                  </a:txBody>
                  <a:tcPr marL="80000" marR="60000" marT="40000" marB="40000" anchor="ctr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100">
                          <a:solidFill>
                            <a:srgbClr val="333333"/>
                          </a:solidFill>
                        </a:rPr>
                        <a:t>30 andares (120 m), numerados de 0 a 29; térreo = 0</a:t>
                      </a:r>
                    </a:p>
                  </a:txBody>
                  <a:tcPr marL="80000" marR="60000" marT="40000" marB="40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0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100" b="1">
                          <a:solidFill>
                            <a:srgbClr val="333333"/>
                          </a:solidFill>
                        </a:rPr>
                        <a:t>Dimensão por andar</a:t>
                      </a:r>
                    </a:p>
                  </a:txBody>
                  <a:tcPr marL="80000" marR="60000" marT="40000" marB="40000" anchor="ctr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100">
                          <a:solidFill>
                            <a:srgbClr val="333333"/>
                          </a:solidFill>
                        </a:rPr>
                        <a:t>Grade mínima de 20×20 células</a:t>
                      </a:r>
                    </a:p>
                  </a:txBody>
                  <a:tcPr marL="80000" marR="60000" marT="40000" marB="40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0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100" b="1">
                          <a:solidFill>
                            <a:srgbClr val="333333"/>
                          </a:solidFill>
                        </a:rPr>
                        <a:t>Escadas / Saídas</a:t>
                      </a:r>
                    </a:p>
                  </a:txBody>
                  <a:tcPr marL="80000" marR="60000" marT="40000" marB="40000" anchor="ctr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100">
                          <a:solidFill>
                            <a:srgbClr val="333333"/>
                          </a:solidFill>
                        </a:rPr>
                        <a:t>Mín. 1 escada e 1 saída sinalizada por andar; evacuação no térreo</a:t>
                      </a:r>
                    </a:p>
                  </a:txBody>
                  <a:tcPr marL="80000" marR="60000" marT="40000" marB="40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0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100" b="1">
                          <a:solidFill>
                            <a:srgbClr val="333333"/>
                          </a:solidFill>
                        </a:rPr>
                        <a:t>Elevadores</a:t>
                      </a:r>
                    </a:p>
                  </a:txBody>
                  <a:tcPr marL="80000" marR="60000" marT="40000" marB="40000" anchor="ctr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100">
                          <a:solidFill>
                            <a:srgbClr val="333333"/>
                          </a:solidFill>
                        </a:rPr>
                        <a:t>Bloqueados durante o incêndio (ABNT NBR 9077)</a:t>
                      </a:r>
                    </a:p>
                  </a:txBody>
                  <a:tcPr marL="80000" marR="60000" marT="40000" marB="40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0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100" b="1">
                          <a:solidFill>
                            <a:srgbClr val="333333"/>
                          </a:solidFill>
                        </a:rPr>
                        <a:t>Perfis de ocupantes</a:t>
                      </a:r>
                    </a:p>
                  </a:txBody>
                  <a:tcPr marL="80000" marR="60000" marT="40000" marB="40000" anchor="ctr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100">
                          <a:solidFill>
                            <a:srgbClr val="333333"/>
                          </a:solidFill>
                        </a:rPr>
                        <a:t>Adultos padrão, idosos (vel. 60%), PcD (vel. 40%)</a:t>
                      </a:r>
                    </a:p>
                  </a:txBody>
                  <a:tcPr marL="80000" marR="60000" marT="40000" marB="40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0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100" b="1">
                          <a:solidFill>
                            <a:srgbClr val="333333"/>
                          </a:solidFill>
                        </a:rPr>
                        <a:t>Foco do incêndio</a:t>
                      </a:r>
                    </a:p>
                  </a:txBody>
                  <a:tcPr marL="80000" marR="60000" marT="40000" marB="40000" anchor="ctr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100">
                          <a:solidFill>
                            <a:srgbClr val="333333"/>
                          </a:solidFill>
                        </a:rPr>
                        <a:t>Parametrizável: andar e célula de origem configuráveis</a:t>
                      </a:r>
                    </a:p>
                  </a:txBody>
                  <a:tcPr marL="80000" marR="60000" marT="40000" marB="40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CardRepresentado"/>
          <p:cNvSpPr/>
          <p:nvPr/>
        </p:nvSpPr>
        <p:spPr>
          <a:xfrm>
            <a:off x="6700000" y="1900000"/>
            <a:ext cx="4792000" cy="2080000"/>
          </a:xfrm>
          <a:prstGeom prst="roundRect">
            <a:avLst>
              <a:gd name="adj" fmla="val 4000"/>
            </a:avLst>
          </a:prstGeom>
          <a:solidFill>
            <a:srgbClr val="EAF3EC"/>
          </a:solidFill>
          <a:ln>
            <a:noFill/>
          </a:ln>
        </p:spPr>
        <p:txBody>
          <a:bodyPr wrap="square" lIns="252000" tIns="216000" rIns="252000" bIns="216000" rtlCol="0" anchor="t"/>
          <a:lstStyle/>
          <a:p>
            <a:pPr algn="l">
              <a:buNone/>
            </a:pPr>
            <a:r>
              <a:rPr lang="pt-BR" sz="1500" b="1" dirty="0">
                <a:solidFill>
                  <a:srgbClr val="2C5F2D"/>
                </a:solidFill>
              </a:rPr>
              <a:t>✓  Será representado</a:t>
            </a:r>
          </a:p>
          <a:p>
            <a:pPr marL="180000" indent="-180000" algn="l">
              <a:spcBef>
                <a:spcPts val="600"/>
              </a:spcBef>
              <a:buChar char="•"/>
            </a:pPr>
            <a:r>
              <a:rPr lang="pt-BR" sz="1150" dirty="0">
                <a:solidFill>
                  <a:srgbClr val="333333"/>
                </a:solidFill>
              </a:rPr>
              <a:t>Propagação do fogo e da fumaça por células</a:t>
            </a:r>
          </a:p>
          <a:p>
            <a:pPr marL="180000" indent="-180000" algn="l">
              <a:spcBef>
                <a:spcPts val="300"/>
              </a:spcBef>
              <a:buChar char="•"/>
            </a:pPr>
            <a:r>
              <a:rPr lang="pt-BR" sz="1150" dirty="0">
                <a:solidFill>
                  <a:srgbClr val="333333"/>
                </a:solidFill>
              </a:rPr>
              <a:t>Deslocamento dos ocupantes às saídas</a:t>
            </a:r>
          </a:p>
          <a:p>
            <a:pPr marL="180000" indent="-180000" algn="l">
              <a:spcBef>
                <a:spcPts val="300"/>
              </a:spcBef>
              <a:buChar char="•"/>
            </a:pPr>
            <a:r>
              <a:rPr lang="pt-BR" sz="1150" dirty="0">
                <a:solidFill>
                  <a:srgbClr val="333333"/>
                </a:solidFill>
              </a:rPr>
              <a:t>Congestionamento e gargalos nas escadas</a:t>
            </a:r>
          </a:p>
          <a:p>
            <a:pPr marL="180000" indent="-180000" algn="l">
              <a:spcBef>
                <a:spcPts val="300"/>
              </a:spcBef>
              <a:buChar char="•"/>
            </a:pPr>
            <a:r>
              <a:rPr lang="pt-BR" sz="1150" dirty="0">
                <a:solidFill>
                  <a:srgbClr val="333333"/>
                </a:solidFill>
              </a:rPr>
              <a:t>Perfis diferenciados (adulto, idoso, PcD)</a:t>
            </a:r>
          </a:p>
          <a:p>
            <a:pPr marL="180000" indent="-180000" algn="l">
              <a:spcBef>
                <a:spcPts val="300"/>
              </a:spcBef>
              <a:buChar char="•"/>
            </a:pPr>
            <a:r>
              <a:rPr lang="pt-BR" sz="1150" dirty="0">
                <a:solidFill>
                  <a:srgbClr val="333333"/>
                </a:solidFill>
              </a:rPr>
              <a:t>Danos por exposição ao fogo (ferimento/morte)</a:t>
            </a:r>
          </a:p>
        </p:txBody>
      </p:sp>
      <p:sp>
        <p:nvSpPr>
          <p:cNvPr id="6" name="CardNaoRepresentado"/>
          <p:cNvSpPr/>
          <p:nvPr/>
        </p:nvSpPr>
        <p:spPr>
          <a:xfrm>
            <a:off x="6700000" y="4080000"/>
            <a:ext cx="4792000" cy="2220000"/>
          </a:xfrm>
          <a:prstGeom prst="roundRect">
            <a:avLst>
              <a:gd name="adj" fmla="val 4000"/>
            </a:avLst>
          </a:prstGeom>
          <a:solidFill>
            <a:srgbClr val="FBEDEB"/>
          </a:solidFill>
          <a:ln>
            <a:noFill/>
          </a:ln>
        </p:spPr>
        <p:txBody>
          <a:bodyPr wrap="square" lIns="252000" tIns="216000" rIns="252000" bIns="216000" rtlCol="0" anchor="t"/>
          <a:lstStyle/>
          <a:p>
            <a:pPr algn="l">
              <a:buNone/>
            </a:pPr>
            <a:r>
              <a:rPr lang="pt-BR" sz="1500" b="1" dirty="0">
                <a:solidFill>
                  <a:srgbClr val="C0392B"/>
                </a:solidFill>
              </a:rPr>
              <a:t>✗  Fora do escopo desta versão</a:t>
            </a:r>
          </a:p>
          <a:p>
            <a:pPr marL="180000" indent="-180000" algn="l">
              <a:spcBef>
                <a:spcPts val="600"/>
              </a:spcBef>
              <a:buChar char="•"/>
            </a:pPr>
            <a:r>
              <a:rPr lang="pt-BR" sz="1150" dirty="0">
                <a:solidFill>
                  <a:srgbClr val="333333"/>
                </a:solidFill>
              </a:rPr>
              <a:t>Colapso estrutural da edificação</a:t>
            </a:r>
          </a:p>
          <a:p>
            <a:pPr marL="180000" indent="-180000" algn="l">
              <a:spcBef>
                <a:spcPts val="300"/>
              </a:spcBef>
              <a:buChar char="•"/>
            </a:pPr>
            <a:r>
              <a:rPr lang="pt-BR" sz="1150" dirty="0">
                <a:solidFill>
                  <a:srgbClr val="333333"/>
                </a:solidFill>
              </a:rPr>
              <a:t>Ação hidráulica de combate (sprinklers, brigadistas)</a:t>
            </a:r>
          </a:p>
          <a:p>
            <a:pPr marL="180000" indent="-180000" algn="l">
              <a:spcBef>
                <a:spcPts val="300"/>
              </a:spcBef>
              <a:buChar char="•"/>
            </a:pPr>
            <a:r>
              <a:rPr lang="pt-BR" sz="1150" dirty="0">
                <a:solidFill>
                  <a:srgbClr val="333333"/>
                </a:solidFill>
              </a:rPr>
              <a:t>Variações térmicas detalhadas por zona</a:t>
            </a:r>
          </a:p>
          <a:p>
            <a:pPr marL="180000" indent="-180000" algn="l">
              <a:spcBef>
                <a:spcPts val="300"/>
              </a:spcBef>
              <a:buChar char="•"/>
            </a:pPr>
            <a:r>
              <a:rPr lang="pt-BR" sz="1150" dirty="0">
                <a:solidFill>
                  <a:srgbClr val="333333"/>
                </a:solidFill>
              </a:rPr>
              <a:t>Comportamento psicológico clínico (pânico, TEPT)</a:t>
            </a:r>
          </a:p>
          <a:p>
            <a:pPr algn="l">
              <a:spcBef>
                <a:spcPts val="800"/>
              </a:spcBef>
              <a:buNone/>
            </a:pPr>
            <a:r>
              <a:rPr lang="pt-BR" sz="1100" i="1" dirty="0">
                <a:solidFill>
                  <a:srgbClr val="595959"/>
                </a:solidFill>
              </a:rPr>
              <a:t>Horizonte: da ignição à evacuação total. Resolução: steps/ticks discretos.</a:t>
            </a:r>
          </a:p>
        </p:txBody>
      </p:sp>
    </p:spTree>
    <p:extLst>
      <p:ext uri="{BB962C8B-B14F-4D97-AF65-F5344CB8AC3E}">
        <p14:creationId xmlns:p14="http://schemas.microsoft.com/office/powerpoint/2010/main" val="19055649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FA29C7-645E-D5F5-D652-B5F1944755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BB722FD8-4BE1-DF7D-4ADC-581BB2C92B46}"/>
              </a:ext>
            </a:extLst>
          </p:cNvPr>
          <p:cNvSpPr txBox="1"/>
          <p:nvPr/>
        </p:nvSpPr>
        <p:spPr>
          <a:xfrm>
            <a:off x="2480387" y="2957805"/>
            <a:ext cx="723122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44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2. Modelagem</a:t>
            </a:r>
          </a:p>
        </p:txBody>
      </p:sp>
    </p:spTree>
    <p:extLst>
      <p:ext uri="{BB962C8B-B14F-4D97-AF65-F5344CB8AC3E}">
        <p14:creationId xmlns:p14="http://schemas.microsoft.com/office/powerpoint/2010/main" val="17649019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6CC594-B965-DA36-B883-39DFD887CE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ulo">
            <a:extLst>
              <a:ext uri="{FF2B5EF4-FFF2-40B4-BE49-F238E27FC236}">
                <a16:creationId xmlns:a16="http://schemas.microsoft.com/office/drawing/2014/main" id="{4A20111D-BC33-6F8E-0E5E-B03B81D49BF2}"/>
              </a:ext>
            </a:extLst>
          </p:cNvPr>
          <p:cNvSpPr txBox="1"/>
          <p:nvPr/>
        </p:nvSpPr>
        <p:spPr>
          <a:xfrm>
            <a:off x="383477" y="585503"/>
            <a:ext cx="3845623" cy="50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pt-BR" sz="28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Base consultadas</a:t>
            </a:r>
          </a:p>
        </p:txBody>
      </p:sp>
      <p:sp>
        <p:nvSpPr>
          <p:cNvPr id="3" name="Subtitulo">
            <a:extLst>
              <a:ext uri="{FF2B5EF4-FFF2-40B4-BE49-F238E27FC236}">
                <a16:creationId xmlns:a16="http://schemas.microsoft.com/office/drawing/2014/main" id="{D5430141-0E69-F0DD-D00B-B5434019CF9B}"/>
              </a:ext>
            </a:extLst>
          </p:cNvPr>
          <p:cNvSpPr txBox="1"/>
          <p:nvPr/>
        </p:nvSpPr>
        <p:spPr>
          <a:xfrm>
            <a:off x="1878169" y="1554497"/>
            <a:ext cx="6729500" cy="38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ctr"/>
            <a:r>
              <a:rPr lang="pt-BR" sz="1500" i="1" dirty="0">
                <a:solidFill>
                  <a:srgbClr val="595959"/>
                </a:solidFill>
              </a:rPr>
              <a:t>Detalhamento da identificação por base de dados.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97BAC047-00C4-D26E-24E5-A93C491793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7876" y="1934497"/>
            <a:ext cx="10594124" cy="23583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1424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596EB8-A983-389D-A45D-58CE079397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ulo">
            <a:extLst>
              <a:ext uri="{FF2B5EF4-FFF2-40B4-BE49-F238E27FC236}">
                <a16:creationId xmlns:a16="http://schemas.microsoft.com/office/drawing/2014/main" id="{589B7181-483E-D9A8-86A6-8C4677FBE3EC}"/>
              </a:ext>
            </a:extLst>
          </p:cNvPr>
          <p:cNvSpPr txBox="1"/>
          <p:nvPr/>
        </p:nvSpPr>
        <p:spPr>
          <a:xfrm>
            <a:off x="576907" y="659564"/>
            <a:ext cx="10792000" cy="50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pt-BR" sz="28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Filtro PRISMA</a:t>
            </a:r>
          </a:p>
        </p:txBody>
      </p:sp>
      <p:sp>
        <p:nvSpPr>
          <p:cNvPr id="3" name="Subtitulo">
            <a:extLst>
              <a:ext uri="{FF2B5EF4-FFF2-40B4-BE49-F238E27FC236}">
                <a16:creationId xmlns:a16="http://schemas.microsoft.com/office/drawing/2014/main" id="{804F9A44-6A87-5B18-91CE-36FB8446518F}"/>
              </a:ext>
            </a:extLst>
          </p:cNvPr>
          <p:cNvSpPr txBox="1"/>
          <p:nvPr/>
        </p:nvSpPr>
        <p:spPr>
          <a:xfrm>
            <a:off x="761546" y="1566185"/>
            <a:ext cx="10792000" cy="38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ctr"/>
            <a:r>
              <a:rPr lang="pt-BR" sz="1500" i="1" dirty="0">
                <a:solidFill>
                  <a:srgbClr val="595959"/>
                </a:solidFill>
              </a:rPr>
              <a:t>O fluxograma PRISMA abaixo resume o processo de identificação, triagem, elegibilidade e inclusão dos estudos.</a:t>
            </a: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1033C8D1-8136-CBEE-1303-05748D1DB7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9169" y="2020873"/>
            <a:ext cx="8647477" cy="38085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03447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608615-AC47-5EAD-D5B3-6AA5B7A347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ulo">
            <a:extLst>
              <a:ext uri="{FF2B5EF4-FFF2-40B4-BE49-F238E27FC236}">
                <a16:creationId xmlns:a16="http://schemas.microsoft.com/office/drawing/2014/main" id="{A38C97CA-E4D4-C141-ECC7-D845DF9F5AA4}"/>
              </a:ext>
            </a:extLst>
          </p:cNvPr>
          <p:cNvSpPr txBox="1"/>
          <p:nvPr/>
        </p:nvSpPr>
        <p:spPr>
          <a:xfrm>
            <a:off x="700000" y="518543"/>
            <a:ext cx="10792000" cy="50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pt-BR" sz="28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Matriz de extração</a:t>
            </a:r>
          </a:p>
        </p:txBody>
      </p:sp>
      <p:sp>
        <p:nvSpPr>
          <p:cNvPr id="3" name="Subtitulo">
            <a:extLst>
              <a:ext uri="{FF2B5EF4-FFF2-40B4-BE49-F238E27FC236}">
                <a16:creationId xmlns:a16="http://schemas.microsoft.com/office/drawing/2014/main" id="{E03B96C5-CA91-C0AA-9B37-9D481E53DA80}"/>
              </a:ext>
            </a:extLst>
          </p:cNvPr>
          <p:cNvSpPr txBox="1"/>
          <p:nvPr/>
        </p:nvSpPr>
        <p:spPr>
          <a:xfrm>
            <a:off x="700000" y="1118306"/>
            <a:ext cx="10792000" cy="50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pt-BR" sz="1400" i="1" dirty="0">
                <a:solidFill>
                  <a:srgbClr val="595959"/>
                </a:solidFill>
              </a:rPr>
              <a:t>Estas matrizes de extração organizam, de forma comparativa, as informações essenciais dos 10 artigos incluídos na revisão sistemática.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8BBBB01B-3482-63D7-9F46-979D43CFAC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7431" y="1435000"/>
            <a:ext cx="8977138" cy="4320914"/>
          </a:xfrm>
          <a:prstGeom prst="rect">
            <a:avLst/>
          </a:prstGeom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13B8F29D-5323-4A67-332E-9BC3E71D3A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5052" y="5755914"/>
            <a:ext cx="8969517" cy="11126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093088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5BC045-3308-15AA-1F26-004F44E658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ulo">
            <a:extLst>
              <a:ext uri="{FF2B5EF4-FFF2-40B4-BE49-F238E27FC236}">
                <a16:creationId xmlns:a16="http://schemas.microsoft.com/office/drawing/2014/main" id="{AC5188B2-239D-16E3-C3BE-9736ABC0AB02}"/>
              </a:ext>
            </a:extLst>
          </p:cNvPr>
          <p:cNvSpPr txBox="1"/>
          <p:nvPr/>
        </p:nvSpPr>
        <p:spPr>
          <a:xfrm>
            <a:off x="700000" y="602086"/>
            <a:ext cx="10792000" cy="50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pt-BR" sz="28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Matriz de extração</a:t>
            </a:r>
          </a:p>
        </p:txBody>
      </p:sp>
      <p:sp>
        <p:nvSpPr>
          <p:cNvPr id="3" name="Subtitulo">
            <a:extLst>
              <a:ext uri="{FF2B5EF4-FFF2-40B4-BE49-F238E27FC236}">
                <a16:creationId xmlns:a16="http://schemas.microsoft.com/office/drawing/2014/main" id="{3BA82B2F-9A2F-08FB-E589-7CBBDEE34F55}"/>
              </a:ext>
            </a:extLst>
          </p:cNvPr>
          <p:cNvSpPr txBox="1"/>
          <p:nvPr/>
        </p:nvSpPr>
        <p:spPr>
          <a:xfrm>
            <a:off x="700000" y="1018543"/>
            <a:ext cx="10792000" cy="50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pt-BR" sz="1400" i="1" dirty="0">
                <a:solidFill>
                  <a:srgbClr val="595959"/>
                </a:solidFill>
              </a:rPr>
              <a:t>Estas matrizes de extração organizam, de forma comparativa, as informações essenciais dos 10 artigos incluídos na revisão sistemática.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422673AA-6967-D9D5-0337-97298DD6E9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2189" y="1518543"/>
            <a:ext cx="9007621" cy="50677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629490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0A6C9F-62B3-9027-CE87-419B0ACD69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01C5FA92-C48F-00BD-8AF8-56DD40B18358}"/>
              </a:ext>
            </a:extLst>
          </p:cNvPr>
          <p:cNvSpPr txBox="1"/>
          <p:nvPr/>
        </p:nvSpPr>
        <p:spPr>
          <a:xfrm>
            <a:off x="2480387" y="2957805"/>
            <a:ext cx="723122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44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3. Formalismo</a:t>
            </a:r>
          </a:p>
        </p:txBody>
      </p:sp>
    </p:spTree>
    <p:extLst>
      <p:ext uri="{BB962C8B-B14F-4D97-AF65-F5344CB8AC3E}">
        <p14:creationId xmlns:p14="http://schemas.microsoft.com/office/powerpoint/2010/main" val="306211192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7FE23C-3C29-AB43-CC1C-29FC59C617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76E588AE-613D-0F01-5119-F2764DFE15B7}"/>
              </a:ext>
            </a:extLst>
          </p:cNvPr>
          <p:cNvSpPr txBox="1"/>
          <p:nvPr/>
        </p:nvSpPr>
        <p:spPr>
          <a:xfrm>
            <a:off x="2480387" y="2957805"/>
            <a:ext cx="723122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44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4. Computador</a:t>
            </a:r>
          </a:p>
        </p:txBody>
      </p:sp>
    </p:spTree>
    <p:extLst>
      <p:ext uri="{BB962C8B-B14F-4D97-AF65-F5344CB8AC3E}">
        <p14:creationId xmlns:p14="http://schemas.microsoft.com/office/powerpoint/2010/main" val="13804348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AFBE59-FE81-33A7-70E3-E0CBC48DFF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3832CDFC-286D-70E6-7117-22E38D31685C}"/>
              </a:ext>
            </a:extLst>
          </p:cNvPr>
          <p:cNvSpPr txBox="1"/>
          <p:nvPr/>
        </p:nvSpPr>
        <p:spPr>
          <a:xfrm>
            <a:off x="2480387" y="2957805"/>
            <a:ext cx="723122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44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5. Execução</a:t>
            </a:r>
          </a:p>
        </p:txBody>
      </p:sp>
    </p:spTree>
    <p:extLst>
      <p:ext uri="{BB962C8B-B14F-4D97-AF65-F5344CB8AC3E}">
        <p14:creationId xmlns:p14="http://schemas.microsoft.com/office/powerpoint/2010/main" val="374323991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50B3F0-BC85-C350-CE74-951AA51A84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5168FC49-E03F-BACA-EC63-7EF8D148230E}"/>
              </a:ext>
            </a:extLst>
          </p:cNvPr>
          <p:cNvSpPr txBox="1"/>
          <p:nvPr/>
        </p:nvSpPr>
        <p:spPr>
          <a:xfrm>
            <a:off x="2480387" y="2957805"/>
            <a:ext cx="723122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44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6. Observação</a:t>
            </a:r>
          </a:p>
        </p:txBody>
      </p:sp>
    </p:spTree>
    <p:extLst>
      <p:ext uri="{BB962C8B-B14F-4D97-AF65-F5344CB8AC3E}">
        <p14:creationId xmlns:p14="http://schemas.microsoft.com/office/powerpoint/2010/main" val="3101183892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104</TotalTime>
  <Words>562</Words>
  <Application>Microsoft Office PowerPoint</Application>
  <PresentationFormat>Widescreen</PresentationFormat>
  <Paragraphs>79</Paragraphs>
  <Slides>14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14</vt:i4>
      </vt:variant>
    </vt:vector>
  </HeadingPairs>
  <TitlesOfParts>
    <vt:vector size="18" baseType="lpstr">
      <vt:lpstr>Aptos</vt:lpstr>
      <vt:lpstr>Arial</vt:lpstr>
      <vt:lpstr>Calibri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Augusto Arraga</dc:creator>
  <cp:lastModifiedBy>Marcos Mattedi</cp:lastModifiedBy>
  <cp:revision>6</cp:revision>
  <dcterms:created xsi:type="dcterms:W3CDTF">2026-04-13T15:47:06Z</dcterms:created>
  <dcterms:modified xsi:type="dcterms:W3CDTF">2026-05-11T18:40:23Z</dcterms:modified>
</cp:coreProperties>
</file>