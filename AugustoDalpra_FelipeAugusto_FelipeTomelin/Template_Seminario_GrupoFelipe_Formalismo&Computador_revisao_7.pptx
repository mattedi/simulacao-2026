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7" r:id="rId8"/>
    <p:sldId id="266" r:id="rId9"/>
    <p:sldId id="268" r:id="rId10"/>
    <p:sldId id="269" r:id="rId11"/>
    <p:sldId id="259" r:id="rId12"/>
    <p:sldId id="270" r:id="rId13"/>
    <p:sldId id="271" r:id="rId14"/>
    <p:sldId id="272" r:id="rId15"/>
    <p:sldId id="273" r:id="rId16"/>
    <p:sldId id="274" r:id="rId17"/>
    <p:sldId id="260" r:id="rId18"/>
    <p:sldId id="275" r:id="rId19"/>
    <p:sldId id="276" r:id="rId20"/>
    <p:sldId id="261" r:id="rId21"/>
    <p:sldId id="262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</a:t>
                      </a:r>
                      <a:r>
                        <a:rPr lang="pt-BR" sz="15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</a:t>
                      </a: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Fogo — </a:t>
            </a:r>
            <a:r>
              <a:rPr lang="pt-BR" sz="1300" dirty="0">
                <a:solidFill>
                  <a:srgbClr val="333333"/>
                </a:solidFill>
              </a:rPr>
              <a:t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C594-B965-DA36-B883-39DFD887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A20111D-BC33-6F8E-0E5E-B03B81D49BF2}"/>
              </a:ext>
            </a:extLst>
          </p:cNvPr>
          <p:cNvSpPr txBox="1"/>
          <p:nvPr/>
        </p:nvSpPr>
        <p:spPr>
          <a:xfrm>
            <a:off x="383477" y="585503"/>
            <a:ext cx="3845623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Base consultadas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5430141-0E69-F0DD-D00B-B5434019CF9B}"/>
              </a:ext>
            </a:extLst>
          </p:cNvPr>
          <p:cNvSpPr txBox="1"/>
          <p:nvPr/>
        </p:nvSpPr>
        <p:spPr>
          <a:xfrm>
            <a:off x="1878169" y="1554497"/>
            <a:ext cx="67295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Detalhamento da identificação por base de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AC047-00C4-D26E-24E5-A93C4917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76" y="1934497"/>
            <a:ext cx="10594124" cy="23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6EB8-A983-389D-A45D-58CE0793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9B7181-483E-D9A8-86A6-8C4677FBE3EC}"/>
              </a:ext>
            </a:extLst>
          </p:cNvPr>
          <p:cNvSpPr txBox="1"/>
          <p:nvPr/>
        </p:nvSpPr>
        <p:spPr>
          <a:xfrm>
            <a:off x="576907" y="659564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Filtro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04F9A44-6A87-5B18-91CE-36FB8446518F}"/>
              </a:ext>
            </a:extLst>
          </p:cNvPr>
          <p:cNvSpPr txBox="1"/>
          <p:nvPr/>
        </p:nvSpPr>
        <p:spPr>
          <a:xfrm>
            <a:off x="761546" y="1566185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O fluxograma PRISMA abaixo resume o processo de identificação, triagem, elegibilidade e inclusão dos estudos.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33C8D1-8136-CBEE-1303-05748D1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69" y="2020873"/>
            <a:ext cx="8647477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615-AC47-5EAD-D5B3-6AA5B7A3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8C97CA-E4D4-C141-ECC7-D845DF9F5AA4}"/>
              </a:ext>
            </a:extLst>
          </p:cNvPr>
          <p:cNvSpPr txBox="1"/>
          <p:nvPr/>
        </p:nvSpPr>
        <p:spPr>
          <a:xfrm>
            <a:off x="700000" y="5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03B96C5-CA91-C0AA-9B37-9D481E53DA80}"/>
              </a:ext>
            </a:extLst>
          </p:cNvPr>
          <p:cNvSpPr txBox="1"/>
          <p:nvPr/>
        </p:nvSpPr>
        <p:spPr>
          <a:xfrm>
            <a:off x="700000" y="111830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BB01B-3482-63D7-9F46-979D43C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435000"/>
            <a:ext cx="8977138" cy="4320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B8F29D-5323-4A67-332E-9BC3E71D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2" y="5755914"/>
            <a:ext cx="896951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3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045-3308-15AA-1F26-004F44E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C5188B2-239D-16E3-C3BE-9736ABC0AB02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3BA82B2F-9A2F-08FB-E589-7CBBDEE34F55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2673AA-6967-D9D5-0337-97298DD6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1518543"/>
            <a:ext cx="900762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Tipo de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Abordagem híbrida que integra três paradigmas de modelagem para simular a evacuação.</a:t>
            </a:r>
          </a:p>
        </p:txBody>
      </p:sp>
      <p:sp>
        <p:nvSpPr>
          <p:cNvPr id="4" name="CardABM"/>
          <p:cNvSpPr/>
          <p:nvPr/>
        </p:nvSpPr>
        <p:spPr>
          <a:xfrm>
            <a:off x="700000" y="1900000"/>
            <a:ext cx="3397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ABM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Modelagem Baseada em Agentes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Comportamento individual dos ocupantes</a:t>
            </a:r>
          </a:p>
        </p:txBody>
      </p:sp>
      <p:sp>
        <p:nvSpPr>
          <p:cNvPr id="5" name="CardCA"/>
          <p:cNvSpPr/>
          <p:nvPr/>
        </p:nvSpPr>
        <p:spPr>
          <a:xfrm>
            <a:off x="4397000" y="1900000"/>
            <a:ext cx="3397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Autômatos Celulares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Movimentação espacial discreta no ambiente</a:t>
            </a:r>
          </a:p>
        </p:txBody>
      </p:sp>
      <p:sp>
        <p:nvSpPr>
          <p:cNvPr id="6" name="CardCFD"/>
          <p:cNvSpPr/>
          <p:nvPr/>
        </p:nvSpPr>
        <p:spPr>
          <a:xfrm>
            <a:off x="8094000" y="1900000"/>
            <a:ext cx="3398000" cy="1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16000" tIns="180000" rIns="216000" bIns="18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CFD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100" b="1" dirty="0">
                <a:solidFill>
                  <a:srgbClr val="C0392B"/>
                </a:solidFill>
              </a:rPr>
              <a:t>Dinâmica de Fluidos Computacional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100" dirty="0">
                <a:solidFill>
                  <a:srgbClr val="333333"/>
                </a:solidFill>
              </a:rPr>
              <a:t>Campos de temperatura, fumaça e gases tóxicos</a:t>
            </a:r>
          </a:p>
        </p:txBody>
      </p:sp>
      <p:sp>
        <p:nvSpPr>
          <p:cNvPr id="7" name="Seta1"/>
          <p:cNvSpPr/>
          <p:nvPr/>
        </p:nvSpPr>
        <p:spPr>
          <a:xfrm>
            <a:off x="5867400" y="3380000"/>
            <a:ext cx="457200" cy="360000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CardModelo"/>
          <p:cNvSpPr/>
          <p:nvPr/>
        </p:nvSpPr>
        <p:spPr>
          <a:xfrm>
            <a:off x="700000" y="3820000"/>
            <a:ext cx="10792000" cy="820000"/>
          </a:xfrm>
          <a:prstGeom prst="roundRect">
            <a:avLst>
              <a:gd name="adj" fmla="val 6000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txBody>
          <a:bodyPr wrap="square" lIns="216000" tIns="120000" rIns="216000" bIns="120000" rtlCol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FFFF"/>
                </a:solidFill>
              </a:rPr>
              <a:t>Modelo de Simulação de Evacuação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150" dirty="0">
                <a:solidFill>
                  <a:srgbClr val="CADCFC"/>
                </a:solidFill>
              </a:rPr>
              <a:t>Acoplamento ABM + CA + CFD em passos de tempo discretos (steps/ticks)</a:t>
            </a:r>
          </a:p>
        </p:txBody>
      </p:sp>
      <p:sp>
        <p:nvSpPr>
          <p:cNvPr id="9" name="Seta2"/>
          <p:cNvSpPr/>
          <p:nvPr/>
        </p:nvSpPr>
        <p:spPr>
          <a:xfrm>
            <a:off x="5867400" y="4720000"/>
            <a:ext cx="457200" cy="360000"/>
          </a:xfrm>
          <a:prstGeom prst="downArrow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dSaidas"/>
          <p:cNvSpPr/>
          <p:nvPr/>
        </p:nvSpPr>
        <p:spPr>
          <a:xfrm>
            <a:off x="700000" y="5160000"/>
            <a:ext cx="10792000" cy="8200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>
            <a:noFill/>
          </a:ln>
        </p:spPr>
        <p:txBody>
          <a:bodyPr wrap="square" lIns="216000" tIns="120000" rIns="216000" bIns="120000" rtlCol="0" anchor="ctr"/>
          <a:lstStyle/>
          <a:p>
            <a:pPr algn="ctr">
              <a:buNone/>
            </a:pPr>
            <a:r>
              <a:rPr lang="pt-BR" sz="1500" b="1" dirty="0">
                <a:solidFill>
                  <a:srgbClr val="2C5F2D"/>
                </a:solidFill>
              </a:rPr>
              <a:t>Saídas do modelo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150" dirty="0">
                <a:solidFill>
                  <a:srgbClr val="333333"/>
                </a:solidFill>
              </a:rPr>
              <a:t>Tempo total de evacuação, taxa de sobrevivência, trajetórias e gargalos</a:t>
            </a:r>
          </a:p>
        </p:txBody>
      </p:sp>
    </p:spTree>
    <p:extLst>
      <p:ext uri="{BB962C8B-B14F-4D97-AF65-F5344CB8AC3E}">
        <p14:creationId xmlns:p14="http://schemas.microsoft.com/office/powerpoint/2010/main" val="247921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Abordagem híbrida que combina três paradigmas, cada um responsável por uma dimensão do problema.</a:t>
            </a:r>
          </a:p>
        </p:txBody>
      </p:sp>
      <p:sp>
        <p:nvSpPr>
          <p:cNvPr id="4" name="CardABM"/>
          <p:cNvSpPr/>
          <p:nvPr/>
        </p:nvSpPr>
        <p:spPr>
          <a:xfrm>
            <a:off x="700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Modelagem Baseada em Agentes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ABM — comportamento dos ocupantes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Representa o comportamento individual dos ocupantes, permitindo heterogeneidade de decisões, percepção de risco e adaptação às condições do ambiente.</a:t>
            </a:r>
          </a:p>
        </p:txBody>
      </p:sp>
      <p:sp>
        <p:nvSpPr>
          <p:cNvPr id="5" name="CardCA"/>
          <p:cNvSpPr/>
          <p:nvPr/>
        </p:nvSpPr>
        <p:spPr>
          <a:xfrm>
            <a:off x="4397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Autômatos Celulares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CA — movimentação no espaço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Representam a movimentação espacial discreta dos agentes no ambiente construído, incluindo regras específicas para corredores, portas e escadas.</a:t>
            </a:r>
          </a:p>
        </p:txBody>
      </p:sp>
      <p:sp>
        <p:nvSpPr>
          <p:cNvPr id="6" name="CardCFD"/>
          <p:cNvSpPr/>
          <p:nvPr/>
        </p:nvSpPr>
        <p:spPr>
          <a:xfrm>
            <a:off x="8094000" y="1900000"/>
            <a:ext cx="3398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Dinâmica de Fluidos Computacional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b="1" dirty="0">
                <a:solidFill>
                  <a:srgbClr val="C0392B"/>
                </a:solidFill>
              </a:rPr>
              <a:t>CFD — ambiente de risco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Fornece os campos dinâmicos de temperatura, fumaça e gases tóxicos, usados para atualizar o estado fisiológico e cognitivo dos ocupantes.</a:t>
            </a:r>
          </a:p>
        </p:txBody>
      </p:sp>
    </p:spTree>
    <p:extLst>
      <p:ext uri="{BB962C8B-B14F-4D97-AF65-F5344CB8AC3E}">
        <p14:creationId xmlns:p14="http://schemas.microsoft.com/office/powerpoint/2010/main" val="41154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Entidades, parâmetros e variáveis que compõem o modelo.</a:t>
            </a:r>
          </a:p>
        </p:txBody>
      </p:sp>
      <p:sp>
        <p:nvSpPr>
          <p:cNvPr id="4" name="CardEntidades"/>
          <p:cNvSpPr/>
          <p:nvPr/>
        </p:nvSpPr>
        <p:spPr>
          <a:xfrm>
            <a:off x="700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Entidades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>Agentes ocupantes — </a:t>
            </a:r>
            <a:r>
              <a:rPr lang="pt-BR" sz="1250" dirty="0">
                <a:solidFill>
                  <a:srgbClr val="333333"/>
                </a:solidFill>
              </a:rPr>
              <a:t>indivíduos com mobilidade, percepção e resistência fisiológica heterogêneas.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>Ambiente físico — </a:t>
            </a:r>
            <a:r>
              <a:rPr lang="pt-BR" sz="1250" dirty="0">
                <a:solidFill>
                  <a:srgbClr val="333333"/>
                </a:solidFill>
              </a:rPr>
              <a:t>geometria do edifício: corredores, portas, escadas e saídas de emergência.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50" b="1" dirty="0">
                <a:solidFill>
                  <a:srgbClr val="C0392B"/>
                </a:solidFill>
              </a:rPr>
              <a:t>Agentes de risco — </a:t>
            </a:r>
            <a:r>
              <a:rPr lang="pt-BR" sz="1250" dirty="0">
                <a:solidFill>
                  <a:srgbClr val="333333"/>
                </a:solidFill>
              </a:rPr>
              <a:t>fogo, fumaça, temperatura e gases tóxicos distribuídos no espaço.</a:t>
            </a:r>
          </a:p>
        </p:txBody>
      </p:sp>
      <p:sp>
        <p:nvSpPr>
          <p:cNvPr id="5" name="CardParametros"/>
          <p:cNvSpPr/>
          <p:nvPr/>
        </p:nvSpPr>
        <p:spPr>
          <a:xfrm>
            <a:off x="4397000" y="1900000"/>
            <a:ext cx="3397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principais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Velocidade base dos agentes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Raio de visão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Capacidade de portas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Resistência fisiológica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Coeficiente de influência da fumaça</a:t>
            </a:r>
          </a:p>
        </p:txBody>
      </p:sp>
      <p:sp>
        <p:nvSpPr>
          <p:cNvPr id="6" name="CardVariaveis"/>
          <p:cNvSpPr/>
          <p:nvPr/>
        </p:nvSpPr>
        <p:spPr>
          <a:xfrm>
            <a:off x="8094000" y="1900000"/>
            <a:ext cx="3398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Variáveis dinâmicas</a:t>
            </a:r>
          </a:p>
          <a:p>
            <a:pPr marL="228600" indent="-228600" algn="l">
              <a:spcBef>
                <a:spcPts val="9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Posição espacial (x, y, z)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Velocidade instantânea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Fadiga acumulada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Estado de saúde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Nível de exposição à fumaça e ao calor</a:t>
            </a:r>
          </a:p>
        </p:txBody>
      </p:sp>
    </p:spTree>
    <p:extLst>
      <p:ext uri="{BB962C8B-B14F-4D97-AF65-F5344CB8AC3E}">
        <p14:creationId xmlns:p14="http://schemas.microsoft.com/office/powerpoint/2010/main" val="2707392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Mecanismos e regras operacionais que governam o comportamento dos agentes.</a:t>
            </a:r>
          </a:p>
        </p:txBody>
      </p:sp>
      <p:sp>
        <p:nvSpPr>
          <p:cNvPr id="4" name="CardCicl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Ciclo de comportamento do agente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1. Percepção — </a:t>
            </a:r>
            <a:r>
              <a:rPr lang="pt-BR" sz="1300" dirty="0">
                <a:solidFill>
                  <a:srgbClr val="333333"/>
                </a:solidFill>
              </a:rPr>
              <a:t>coleta de informações do ambiente (temperatura, densidade de fumaça e rotas de fuga).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2. Interpretação — </a:t>
            </a:r>
            <a:r>
              <a:rPr lang="pt-BR" sz="1300" dirty="0">
                <a:solidFill>
                  <a:srgbClr val="333333"/>
                </a:solidFill>
              </a:rPr>
              <a:t>avaliação do risco local.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3. Decisão — </a:t>
            </a:r>
            <a:r>
              <a:rPr lang="pt-BR" sz="1300" dirty="0">
                <a:solidFill>
                  <a:srgbClr val="333333"/>
                </a:solidFill>
              </a:rPr>
              <a:t>seleção da rota de evacuação de menor risco percebido.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4. Execução — </a:t>
            </a:r>
            <a:r>
              <a:rPr lang="pt-BR" sz="1300" dirty="0">
                <a:solidFill>
                  <a:srgbClr val="333333"/>
                </a:solidFill>
              </a:rPr>
              <a:t>movimentação espacial no ambiente.</a:t>
            </a:r>
          </a:p>
        </p:txBody>
      </p:sp>
      <p:sp>
        <p:nvSpPr>
          <p:cNvPr id="5" name="CardVelocidade"/>
          <p:cNvSpPr/>
          <p:nvPr/>
        </p:nvSpPr>
        <p:spPr>
          <a:xfrm>
            <a:off x="6246000" y="1900000"/>
            <a:ext cx="5246000" cy="208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Velocidade do agente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500" b="1" dirty="0">
                <a:solidFill>
                  <a:srgbClr val="C0392B"/>
                </a:solidFill>
              </a:rPr>
              <a:t>v(t) = v₀ · e^(−λ·S(t)) · (1 − γ·F(t))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100" dirty="0">
                <a:solidFill>
                  <a:srgbClr val="595959"/>
                </a:solidFill>
              </a:rPr>
              <a:t>v₀ = velocidade base; S(t) = densidade de fumaça; F(t) = fadiga acumulada.</a:t>
            </a:r>
          </a:p>
        </p:txBody>
      </p:sp>
      <p:sp>
        <p:nvSpPr>
          <p:cNvPr id="6" name="CardSaude"/>
          <p:cNvSpPr/>
          <p:nvPr/>
        </p:nvSpPr>
        <p:spPr>
          <a:xfrm>
            <a:off x="6246000" y="4395847"/>
            <a:ext cx="5246000" cy="208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Saúde do agente — Dose Efetiva Fracionária (FED)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C0392B"/>
                </a:solidFill>
              </a:rPr>
              <a:t>FED(t) = FED_CO + FED_CO₂ + FED_calor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400" b="1" dirty="0">
                <a:solidFill>
                  <a:srgbClr val="C0392B"/>
                </a:solidFill>
              </a:rPr>
              <a:t>H(t) = H₀ − β · FED(t)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100" dirty="0">
                <a:solidFill>
                  <a:srgbClr val="595959"/>
                </a:solidFill>
              </a:rPr>
              <a:t>A saúde reduz com a exposição acumulada a gases tóxicos e calor; em valores críticos, a velocidade do agente diminui.</a:t>
            </a:r>
          </a:p>
        </p:txBody>
      </p:sp>
    </p:spTree>
    <p:extLst>
      <p:ext uri="{BB962C8B-B14F-4D97-AF65-F5344CB8AC3E}">
        <p14:creationId xmlns:p14="http://schemas.microsoft.com/office/powerpoint/2010/main" val="270739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Descrição do Formalismo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Navegação dos agentes e saídas (resultados) produzidas pelo modelo.</a:t>
            </a:r>
          </a:p>
        </p:txBody>
      </p:sp>
      <p:sp>
        <p:nvSpPr>
          <p:cNvPr id="4" name="CardNavegaca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Navegação</a:t>
            </a:r>
          </a:p>
          <a:p>
            <a:pPr algn="l">
              <a:spcBef>
                <a:spcPts val="1000"/>
              </a:spcBef>
              <a:buNone/>
            </a:pPr>
            <a:r>
              <a:rPr lang="pt-BR" sz="1300" dirty="0">
                <a:solidFill>
                  <a:srgbClr val="333333"/>
                </a:solidFill>
              </a:rPr>
              <a:t>A navegação baseia-se em um mapa espacial dinâmico, em que o custo de deslocamento é atualizado continuamente.</a:t>
            </a:r>
          </a:p>
          <a:p>
            <a:pPr marL="228600" indent="-228600" algn="l">
              <a:spcBef>
                <a:spcPts val="800"/>
              </a:spcBef>
              <a:buChar char="•"/>
            </a:pPr>
            <a:r>
              <a:rPr lang="pt-BR" sz="1300" b="1" dirty="0">
                <a:solidFill>
                  <a:srgbClr val="C0392B"/>
                </a:solidFill>
              </a:rPr>
              <a:t>Custo atualizado por </a:t>
            </a:r>
            <a:r>
              <a:rPr lang="pt-BR" sz="1300" dirty="0">
                <a:solidFill>
                  <a:srgbClr val="333333"/>
                </a:solidFill>
              </a:rPr>
              <a:t>fumaça, calor e congestionamento.</a:t>
            </a:r>
          </a:p>
          <a:p>
            <a:pPr marL="228600" indent="-228600" algn="l">
              <a:spcBef>
                <a:spcPts val="500"/>
              </a:spcBef>
              <a:buChar char="•"/>
            </a:pPr>
            <a:r>
              <a:rPr lang="pt-BR" sz="1300" b="1" dirty="0">
                <a:solidFill>
                  <a:srgbClr val="C0392B"/>
                </a:solidFill>
              </a:rPr>
              <a:t>Prioridade </a:t>
            </a:r>
            <a:r>
              <a:rPr lang="pt-BR" sz="1300" dirty="0">
                <a:solidFill>
                  <a:srgbClr val="333333"/>
                </a:solidFill>
              </a:rPr>
              <a:t>para trajetórias de menor risco e menor distância até as saídas.</a:t>
            </a:r>
          </a:p>
        </p:txBody>
      </p:sp>
      <p:sp>
        <p:nvSpPr>
          <p:cNvPr id="5" name="CardSaidas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rgbClr val="2C5F2D"/>
                </a:solidFill>
              </a:rPr>
              <a:t>Saídas do modelo</a:t>
            </a:r>
          </a:p>
          <a:p>
            <a:pPr marL="228600" indent="-228600" algn="l">
              <a:spcBef>
                <a:spcPts val="1000"/>
              </a:spcBef>
              <a:buChar char="•"/>
            </a:pPr>
            <a:r>
              <a:rPr lang="pt-BR" sz="1300" b="1" dirty="0">
                <a:solidFill>
                  <a:srgbClr val="333333"/>
                </a:solidFill>
              </a:rPr>
              <a:t>Tempo Total de Evacuação (TET)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Taxa de sobrevivência dos ocupantes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Estado médio de saúde dos sobreviventes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Distribuição espacial das trajetórias de fuga</a:t>
            </a:r>
          </a:p>
          <a:p>
            <a:pPr marL="228600" indent="-228600" algn="l">
              <a:spcBef>
                <a:spcPts val="600"/>
              </a:spcBef>
              <a:buChar char="•"/>
            </a:pPr>
            <a:r>
              <a:rPr lang="pt-BR" sz="1300" dirty="0">
                <a:solidFill>
                  <a:srgbClr val="333333"/>
                </a:solidFill>
              </a:rPr>
              <a:t>Identificação de gargalos e áreas de congestionamento</a:t>
            </a:r>
          </a:p>
        </p:txBody>
      </p:sp>
    </p:spTree>
    <p:extLst>
      <p:ext uri="{BB962C8B-B14F-4D97-AF65-F5344CB8AC3E}">
        <p14:creationId xmlns:p14="http://schemas.microsoft.com/office/powerpoint/2010/main" val="2707392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4.1. Plataforma e Estrutura do Modelo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Implementação em NetLogo: cada paradigma do formalismo corresponde a um elemento da linguagem.</a:t>
            </a:r>
          </a:p>
        </p:txBody>
      </p:sp>
      <p:sp>
        <p:nvSpPr>
          <p:cNvPr id="4" name="CardAgentes"/>
          <p:cNvSpPr/>
          <p:nvPr/>
        </p:nvSpPr>
        <p:spPr>
          <a:xfrm>
            <a:off x="700000" y="1900000"/>
            <a:ext cx="3397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ABM → turtles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Agentes ocupantes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Cada ocupante é um agente com perfil, velocidade, fadiga, saúde e exposição próprios.</a:t>
            </a:r>
          </a:p>
        </p:txBody>
      </p:sp>
      <p:sp>
        <p:nvSpPr>
          <p:cNvPr id="5" name="CardCelulas"/>
          <p:cNvSpPr/>
          <p:nvPr/>
        </p:nvSpPr>
        <p:spPr>
          <a:xfrm>
            <a:off x="4397000" y="1900000"/>
            <a:ext cx="3397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 → patches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Células do ambiente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O edifício é uma grade de patches do tipo vazio, parede, saída ou foco do incêndio.</a:t>
            </a:r>
          </a:p>
        </p:txBody>
      </p:sp>
      <p:sp>
        <p:nvSpPr>
          <p:cNvPr id="6" name="CardCampos"/>
          <p:cNvSpPr/>
          <p:nvPr/>
        </p:nvSpPr>
        <p:spPr>
          <a:xfrm>
            <a:off x="8094000" y="1900000"/>
            <a:ext cx="3398000" cy="29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52000" rIns="252000" bIns="252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CFD → campos de patch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50" b="1" dirty="0">
                <a:solidFill>
                  <a:srgbClr val="C0392B"/>
                </a:solidFill>
              </a:rPr>
              <a:t>Aproximação dos fluidos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Cada célula guarda temperatura, fumaça, CO e CO₂ como campos dinâmicos atualizados a cada tick.</a:t>
            </a:r>
          </a:p>
        </p:txBody>
      </p:sp>
      <p:sp>
        <p:nvSpPr>
          <p:cNvPr id="7" name="CardEstrutura"/>
          <p:cNvSpPr/>
          <p:nvPr/>
        </p:nvSpPr>
        <p:spPr>
          <a:xfrm>
            <a:off x="700000" y="5000000"/>
            <a:ext cx="10792000" cy="1300000"/>
          </a:xfrm>
          <a:prstGeom prst="roundRect">
            <a:avLst>
              <a:gd name="adj" fmla="val 6000"/>
            </a:avLst>
          </a:prstGeom>
          <a:solidFill>
            <a:srgbClr val="EAF3EC"/>
          </a:solidFill>
          <a:ln>
            <a:noFill/>
          </a:ln>
        </p:spPr>
        <p:txBody>
          <a:bodyPr wrap="square" lIns="288000" tIns="216000" rIns="288000" bIns="216000" rtlCol="0" anchor="t"/>
          <a:lstStyle/>
          <a:p>
            <a:pPr algn="l">
              <a:buNone/>
            </a:pPr>
            <a:r>
              <a:rPr lang="pt-BR" sz="1400" b="1" dirty="0">
                <a:solidFill>
                  <a:srgbClr val="2C5F2D"/>
                </a:solidFill>
              </a:rPr>
              <a:t>Estrutura do código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50" b="1" dirty="0">
                <a:solidFill>
                  <a:srgbClr val="333333"/>
                </a:solidFill>
              </a:rPr>
              <a:t>globals: </a:t>
            </a:r>
            <a:r>
              <a:rPr lang="pt-BR" sz="1250" dirty="0">
                <a:solidFill>
                  <a:srgbClr val="333333"/>
                </a:solidFill>
              </a:rPr>
              <a:t>métricas globais (TET, evacuados, mortos, taxa de sobrevivência).   </a:t>
            </a:r>
            <a:r>
              <a:rPr lang="pt-BR" sz="1250" b="1" dirty="0">
                <a:solidFill>
                  <a:srgbClr val="333333"/>
                </a:solidFill>
              </a:rPr>
              <a:t>patches-own: </a:t>
            </a:r>
            <a:r>
              <a:rPr lang="pt-BR" sz="1250" dirty="0">
                <a:solidFill>
                  <a:srgbClr val="333333"/>
                </a:solidFill>
              </a:rPr>
              <a:t>estado do ambiente.   </a:t>
            </a:r>
            <a:r>
              <a:rPr lang="pt-BR" sz="1250" b="1" dirty="0">
                <a:solidFill>
                  <a:srgbClr val="333333"/>
                </a:solidFill>
              </a:rPr>
              <a:t>turtles-own: </a:t>
            </a:r>
            <a:r>
              <a:rPr lang="pt-BR" sz="1250" dirty="0">
                <a:solidFill>
                  <a:srgbClr val="333333"/>
                </a:solidFill>
              </a:rPr>
              <a:t>atributos de cada ocupante.</a:t>
            </a:r>
          </a:p>
        </p:txBody>
      </p:sp>
    </p:spTree>
    <p:extLst>
      <p:ext uri="{BB962C8B-B14F-4D97-AF65-F5344CB8AC3E}">
        <p14:creationId xmlns:p14="http://schemas.microsoft.com/office/powerpoint/2010/main" val="2707392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4.2. Mecanismos Implementados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Como as regras do formalismo foram traduzidas em procedimentos do modelo.</a:t>
            </a:r>
          </a:p>
        </p:txBody>
      </p:sp>
      <p:sp>
        <p:nvSpPr>
          <p:cNvPr id="4" name="CardNavegacao"/>
          <p:cNvSpPr/>
          <p:nvPr/>
        </p:nvSpPr>
        <p:spPr>
          <a:xfrm>
            <a:off x="700000" y="190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Navegação (campo de distância)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Uma busca em largura (BFS) calcula a distância de cada célula até a saída mais próxima; os agentes seguem o gradiente, evitando fumaça, calor e congestionamento.</a:t>
            </a:r>
          </a:p>
        </p:txBody>
      </p:sp>
      <p:sp>
        <p:nvSpPr>
          <p:cNvPr id="5" name="CardFogo"/>
          <p:cNvSpPr/>
          <p:nvPr/>
        </p:nvSpPr>
        <p:spPr>
          <a:xfrm>
            <a:off x="6246000" y="190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Propagação do fogo e da fumaça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Modelo de contágio: cada célula contamina as vizinhas e a fumaça sobe pelas escadas por convecção, tomando um andar em ~20 ticks.</a:t>
            </a:r>
          </a:p>
        </p:txBody>
      </p:sp>
      <p:sp>
        <p:nvSpPr>
          <p:cNvPr id="6" name="CardCA"/>
          <p:cNvSpPr/>
          <p:nvPr/>
        </p:nvSpPr>
        <p:spPr>
          <a:xfrm>
            <a:off x="700000" y="415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Regra de autômato celular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Um agente por célula no andar; escadas e saídas aceitam vários agentes, representando filas e o fluxo vertical de evacuação.</a:t>
            </a:r>
          </a:p>
        </p:txBody>
      </p:sp>
      <p:sp>
        <p:nvSpPr>
          <p:cNvPr id="7" name="CardSaude"/>
          <p:cNvSpPr/>
          <p:nvPr/>
        </p:nvSpPr>
        <p:spPr>
          <a:xfrm>
            <a:off x="6246000" y="4150000"/>
            <a:ext cx="5246000" cy="21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Saúde (FED) e perfis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200" dirty="0">
                <a:solidFill>
                  <a:srgbClr val="333333"/>
                </a:solidFill>
              </a:rPr>
              <a:t>O FED (CO + CO₂ + calor) leva o agente de saudável a ferido e a morto. Velocidade por perfil: adulto 100%, idoso 60%, PcD 40%.</a:t>
            </a:r>
          </a:p>
        </p:txBody>
      </p:sp>
    </p:spTree>
    <p:extLst>
      <p:ext uri="{BB962C8B-B14F-4D97-AF65-F5344CB8AC3E}">
        <p14:creationId xmlns:p14="http://schemas.microsoft.com/office/powerpoint/2010/main" val="2707392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1428</Words>
  <Application>Microsoft Office PowerPoint</Application>
  <PresentationFormat>Widescreen</PresentationFormat>
  <Paragraphs>172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Arraga</dc:creator>
  <cp:lastModifiedBy>Marcos Antonio Mattedi</cp:lastModifiedBy>
  <cp:revision>8</cp:revision>
  <dcterms:created xsi:type="dcterms:W3CDTF">2026-04-13T15:47:06Z</dcterms:created>
  <dcterms:modified xsi:type="dcterms:W3CDTF">2026-06-08T11:55:47Z</dcterms:modified>
</cp:coreProperties>
</file>