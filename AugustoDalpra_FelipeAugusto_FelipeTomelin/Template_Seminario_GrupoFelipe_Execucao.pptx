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4" r:id="rId5"/>
    <p:sldId id="265" r:id="rId6"/>
    <p:sldId id="263" r:id="rId7"/>
    <p:sldId id="267" r:id="rId8"/>
    <p:sldId id="266" r:id="rId9"/>
    <p:sldId id="268" r:id="rId10"/>
    <p:sldId id="269" r:id="rId11"/>
    <p:sldId id="259" r:id="rId12"/>
    <p:sldId id="270" r:id="rId13"/>
    <p:sldId id="271" r:id="rId14"/>
    <p:sldId id="272" r:id="rId15"/>
    <p:sldId id="273" r:id="rId16"/>
    <p:sldId id="274" r:id="rId17"/>
    <p:sldId id="260" r:id="rId18"/>
    <p:sldId id="275" r:id="rId19"/>
    <p:sldId id="276" r:id="rId20"/>
    <p:sldId id="261" r:id="rId21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62" r:id="rId2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40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684378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CB716D76-4EE0-34BB-3FE4-746A7B7F99B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73990" y="106734"/>
            <a:ext cx="461935" cy="235953"/>
          </a:xfrm>
          <a:prstGeom prst="rect">
            <a:avLst/>
          </a:prstGeom>
        </p:spPr>
      </p:pic>
      <p:pic>
        <p:nvPicPr>
          <p:cNvPr id="8" name="Imagem 7" descr="Uma imagem contendo placar, desenho  Descrição gerada automaticamente">
            <a:extLst>
              <a:ext uri="{FF2B5EF4-FFF2-40B4-BE49-F238E27FC236}">
                <a16:creationId xmlns:a16="http://schemas.microsoft.com/office/drawing/2014/main" id="{144D06B7-FB8A-8452-1AF8-C83CE1E98BF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3" t="15342" r="9314" b="15342"/>
          <a:stretch/>
        </p:blipFill>
        <p:spPr>
          <a:xfrm>
            <a:off x="11676211" y="121127"/>
            <a:ext cx="341799" cy="219153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501361FC-2F74-AE7E-3415-1ABF301AF2E0}"/>
              </a:ext>
            </a:extLst>
          </p:cNvPr>
          <p:cNvSpPr/>
          <p:nvPr userDrawn="1"/>
        </p:nvSpPr>
        <p:spPr>
          <a:xfrm>
            <a:off x="-1" y="96669"/>
            <a:ext cx="12192000" cy="318404"/>
          </a:xfrm>
          <a:prstGeom prst="rect">
            <a:avLst/>
          </a:prstGeom>
          <a:solidFill>
            <a:schemeClr val="bg1">
              <a:lumMod val="65000"/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10" name="Imagem 9" descr="Interface gráfica do usuário, Texto  O conteúdo gerado por IA pode estar incorreto.">
            <a:extLst>
              <a:ext uri="{FF2B5EF4-FFF2-40B4-BE49-F238E27FC236}">
                <a16:creationId xmlns:a16="http://schemas.microsoft.com/office/drawing/2014/main" id="{EC9A2412-8527-050F-1760-1D795B65936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58" b="41998"/>
          <a:stretch>
            <a:fillRect/>
          </a:stretch>
        </p:blipFill>
        <p:spPr>
          <a:xfrm>
            <a:off x="5840282" y="77509"/>
            <a:ext cx="511435" cy="262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359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411E991F-1419-1468-BE10-D2AF9BD832EA}"/>
              </a:ext>
            </a:extLst>
          </p:cNvPr>
          <p:cNvSpPr txBox="1"/>
          <p:nvPr/>
        </p:nvSpPr>
        <p:spPr>
          <a:xfrm>
            <a:off x="2794000" y="2455610"/>
            <a:ext cx="7030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 xml:space="preserve">Título: </a:t>
            </a:r>
          </a:p>
          <a:p>
            <a:endParaRPr lang="pt-BR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B5BC1B5-ED1C-9832-E853-1E5DCBBF6E7D}"/>
              </a:ext>
            </a:extLst>
          </p:cNvPr>
          <p:cNvSpPr txBox="1"/>
          <p:nvPr/>
        </p:nvSpPr>
        <p:spPr>
          <a:xfrm>
            <a:off x="2086532" y="864415"/>
            <a:ext cx="77381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650"/>
              </a:spcBef>
              <a:spcAft>
                <a:spcPts val="825"/>
              </a:spcAft>
              <a:buNone/>
            </a:pPr>
            <a:r>
              <a:rPr lang="pt-BR" b="1" i="0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MÓDULO V - SEMINÁRIO DE APRESETNTAÇÃO DOS RESULTADOS</a:t>
            </a:r>
            <a:endParaRPr lang="pt-BR" b="0" i="0" dirty="0">
              <a:solidFill>
                <a:schemeClr val="tx2">
                  <a:lumMod val="90000"/>
                  <a:lumOff val="1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7E728AB-E81F-068E-0D0C-8111400D7157}"/>
              </a:ext>
            </a:extLst>
          </p:cNvPr>
          <p:cNvSpPr txBox="1"/>
          <p:nvPr/>
        </p:nvSpPr>
        <p:spPr>
          <a:xfrm>
            <a:off x="7630677" y="3993765"/>
            <a:ext cx="3492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Autores: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13F2793-2F9E-906C-DEE3-567571E01F74}"/>
              </a:ext>
            </a:extLst>
          </p:cNvPr>
          <p:cNvSpPr txBox="1"/>
          <p:nvPr/>
        </p:nvSpPr>
        <p:spPr>
          <a:xfrm>
            <a:off x="4719217" y="5993585"/>
            <a:ext cx="2608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Junho de 2026</a:t>
            </a:r>
          </a:p>
        </p:txBody>
      </p:sp>
    </p:spTree>
    <p:extLst>
      <p:ext uri="{BB962C8B-B14F-4D97-AF65-F5344CB8AC3E}">
        <p14:creationId xmlns:p14="http://schemas.microsoft.com/office/powerpoint/2010/main" val="6529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4752B93-B681-AFAB-6EB7-F01A288E8400}"/>
              </a:ext>
            </a:extLst>
          </p:cNvPr>
          <p:cNvSpPr txBox="1"/>
          <p:nvPr/>
        </p:nvSpPr>
        <p:spPr>
          <a:xfrm>
            <a:off x="2528595" y="905070"/>
            <a:ext cx="5896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Estrutura da Apresentação</a:t>
            </a: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F3C4A689-4D83-44CA-EE9C-67A96D08D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199999"/>
              </p:ext>
            </p:extLst>
          </p:nvPr>
        </p:nvGraphicFramePr>
        <p:xfrm>
          <a:off x="1259659" y="1448045"/>
          <a:ext cx="9377239" cy="4354870"/>
        </p:xfrm>
        <a:graphic>
          <a:graphicData uri="http://schemas.openxmlformats.org/drawingml/2006/table">
            <a:tbl>
              <a:tblPr/>
              <a:tblGrid>
                <a:gridCol w="858390">
                  <a:extLst>
                    <a:ext uri="{9D8B030D-6E8A-4147-A177-3AD203B41FA5}">
                      <a16:colId xmlns:a16="http://schemas.microsoft.com/office/drawing/2014/main" val="3535084583"/>
                    </a:ext>
                  </a:extLst>
                </a:gridCol>
                <a:gridCol w="2211355">
                  <a:extLst>
                    <a:ext uri="{9D8B030D-6E8A-4147-A177-3AD203B41FA5}">
                      <a16:colId xmlns:a16="http://schemas.microsoft.com/office/drawing/2014/main" val="1130658036"/>
                    </a:ext>
                  </a:extLst>
                </a:gridCol>
                <a:gridCol w="6307494">
                  <a:extLst>
                    <a:ext uri="{9D8B030D-6E8A-4147-A177-3AD203B41FA5}">
                      <a16:colId xmlns:a16="http://schemas.microsoft.com/office/drawing/2014/main" val="3729648614"/>
                    </a:ext>
                  </a:extLst>
                </a:gridCol>
              </a:tblGrid>
              <a:tr h="3000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>
                          <a:solidFill>
                            <a:srgbClr val="FF0000"/>
                          </a:solidFill>
                        </a:rPr>
                        <a:t>Etapa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>
                          <a:solidFill>
                            <a:srgbClr val="FF0000"/>
                          </a:solidFill>
                        </a:rPr>
                        <a:t>Nome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rgbClr val="FF0000"/>
                          </a:solidFill>
                        </a:rPr>
                        <a:t>Descrição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9879018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1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Sistema de Referência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Define o problema real a ser estudado (</a:t>
                      </a:r>
                      <a:r>
                        <a:rPr lang="pt-BR" sz="1500" dirty="0" err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ex</a:t>
                      </a: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: evacuação de um prédio).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4737026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2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Modelagem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Representação simplificada do sistema real (regras, agentes, ambiente).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4944287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3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Formalismo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Tradução do modelo para linguagem formal/matemática ou lógica.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0143428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4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Computador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Implementação do modelo em código (programação da simulação).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2816725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5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Execução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Rodar a simulação com diferentes parâmetros e cenários.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9231444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6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Observação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Análise dos resultados obtidos (gráficos, métricas, conclusões).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47126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486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20F32-FD66-0C26-75DA-A9DDED95F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44EB669-D9BB-1EF5-9A40-55EB1D8A7DED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1. Sistema de Referência</a:t>
            </a:r>
          </a:p>
        </p:txBody>
      </p:sp>
    </p:spTree>
    <p:extLst>
      <p:ext uri="{BB962C8B-B14F-4D97-AF65-F5344CB8AC3E}">
        <p14:creationId xmlns:p14="http://schemas.microsoft.com/office/powerpoint/2010/main" val="1905564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700000" y="800000"/>
            <a:ext cx="107920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Definição do Fenômeno</a:t>
            </a:r>
          </a:p>
        </p:txBody>
      </p:sp>
      <p:sp>
        <p:nvSpPr>
          <p:cNvPr id="3" name="Subtitulo"/>
          <p:cNvSpPr txBox="1"/>
          <p:nvPr/>
        </p:nvSpPr>
        <p:spPr>
          <a:xfrm>
            <a:off x="700000" y="1320000"/>
            <a:ext cx="10792000" cy="3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1500" i="1" dirty="0">
                <a:solidFill>
                  <a:srgbClr val="595959"/>
                </a:solidFill>
              </a:rPr>
              <a:t>Edifício real de 30 andares em situação de incêndio — base empírica que orienta o ciclo de simulação.</a:t>
            </a:r>
          </a:p>
        </p:txBody>
      </p:sp>
      <p:sp>
        <p:nvSpPr>
          <p:cNvPr id="4" name="CardEsquerdo"/>
          <p:cNvSpPr/>
          <p:nvPr/>
        </p:nvSpPr>
        <p:spPr>
          <a:xfrm>
            <a:off x="700000" y="1900000"/>
            <a:ext cx="5246000" cy="44000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>
            <a:noFill/>
          </a:ln>
        </p:spPr>
        <p:txBody>
          <a:bodyPr wrap="square" lIns="288000" tIns="288000" rIns="288000" bIns="288000" rtlCol="0" anchor="t"/>
          <a:lstStyle/>
          <a:p>
            <a:pPr algn="l">
              <a:buNone/>
            </a:pPr>
            <a:r>
              <a:rPr lang="pt-BR" sz="17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Distinção conceitual</a:t>
            </a:r>
          </a:p>
          <a:p>
            <a:pPr algn="l">
              <a:spcBef>
                <a:spcPts val="900"/>
              </a:spcBef>
              <a:buNone/>
            </a:pPr>
            <a:r>
              <a:rPr lang="pt-BR" sz="1300" b="1" dirty="0">
                <a:solidFill>
                  <a:srgbClr val="C0392B"/>
                </a:solidFill>
              </a:rPr>
              <a:t xml:space="preserve">Fogo — </a:t>
            </a:r>
            <a:r>
              <a:rPr lang="pt-BR" sz="1300" dirty="0">
                <a:solidFill>
                  <a:srgbClr val="333333"/>
                </a:solidFill>
              </a:rPr>
              <a:t xml:space="preserve">reação química exotérmica de combustão (combustível + comburente </a:t>
            </a:r>
            <a:r>
              <a:rPr lang="pt-BR" sz="1300">
                <a:solidFill>
                  <a:srgbClr val="333333"/>
                </a:solidFill>
              </a:rPr>
              <a:t>+ calor.</a:t>
            </a:r>
            <a:endParaRPr lang="pt-BR" sz="1300" dirty="0">
              <a:solidFill>
                <a:srgbClr val="333333"/>
              </a:solidFill>
            </a:endParaRPr>
          </a:p>
          <a:p>
            <a:pPr algn="l">
              <a:spcBef>
                <a:spcPts val="700"/>
              </a:spcBef>
              <a:buNone/>
            </a:pPr>
            <a:r>
              <a:rPr lang="pt-BR" sz="1300" b="1" dirty="0">
                <a:solidFill>
                  <a:srgbClr val="C0392B"/>
                </a:solidFill>
              </a:rPr>
              <a:t xml:space="preserve">Incêndio — </a:t>
            </a:r>
            <a:r>
              <a:rPr lang="pt-BR" sz="1300" dirty="0">
                <a:solidFill>
                  <a:srgbClr val="333333"/>
                </a:solidFill>
              </a:rPr>
              <a:t>fogo fora de controle, intenso, capaz de causar danos à vida, ao meio ambiente e ao patrimônio.</a:t>
            </a:r>
          </a:p>
          <a:p>
            <a:pPr algn="l">
              <a:spcBef>
                <a:spcPts val="700"/>
              </a:spcBef>
              <a:buNone/>
            </a:pPr>
            <a:r>
              <a:rPr lang="pt-BR" sz="1300" b="1" dirty="0">
                <a:solidFill>
                  <a:srgbClr val="C0392B"/>
                </a:solidFill>
              </a:rPr>
              <a:t xml:space="preserve">Incêndio em edificação — </a:t>
            </a:r>
            <a:r>
              <a:rPr lang="pt-BR" sz="1300" dirty="0">
                <a:solidFill>
                  <a:srgbClr val="333333"/>
                </a:solidFill>
              </a:rPr>
              <a:t>ocorrência no interior ou na estrutura de uma edificação, com potencial de atingir ocupantes, comprometer rotas de fuga e propagar-se entre ambientes.</a:t>
            </a:r>
          </a:p>
        </p:txBody>
      </p:sp>
      <p:sp>
        <p:nvSpPr>
          <p:cNvPr id="5" name="CardDireito"/>
          <p:cNvSpPr/>
          <p:nvPr/>
        </p:nvSpPr>
        <p:spPr>
          <a:xfrm>
            <a:off x="6246000" y="1900000"/>
            <a:ext cx="5246000" cy="44000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>
            <a:noFill/>
          </a:ln>
        </p:spPr>
        <p:txBody>
          <a:bodyPr wrap="square" lIns="288000" tIns="288000" rIns="288000" bIns="288000" rtlCol="0" anchor="t"/>
          <a:lstStyle/>
          <a:p>
            <a:pPr algn="l">
              <a:buNone/>
            </a:pPr>
            <a:r>
              <a:rPr lang="pt-BR" sz="17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Classes de incêndio relevantes</a:t>
            </a:r>
          </a:p>
          <a:p>
            <a:pPr algn="l">
              <a:spcBef>
                <a:spcPts val="900"/>
              </a:spcBef>
              <a:buNone/>
            </a:pPr>
            <a:r>
              <a:rPr lang="pt-BR" sz="1300" b="1" dirty="0">
                <a:solidFill>
                  <a:srgbClr val="C0392B"/>
                </a:solidFill>
              </a:rPr>
              <a:t xml:space="preserve">Classe A — </a:t>
            </a:r>
            <a:r>
              <a:rPr lang="pt-BR" sz="1300" dirty="0">
                <a:solidFill>
                  <a:srgbClr val="333333"/>
                </a:solidFill>
              </a:rPr>
              <a:t>sólidos combustíveis (móveis, papel, tecidos). Principal fonte de carga em ambientes de escritório.</a:t>
            </a:r>
          </a:p>
          <a:p>
            <a:pPr algn="l">
              <a:spcBef>
                <a:spcPts val="700"/>
              </a:spcBef>
              <a:buNone/>
            </a:pPr>
            <a:r>
              <a:rPr lang="pt-BR" sz="1300" b="1" dirty="0">
                <a:solidFill>
                  <a:srgbClr val="C0392B"/>
                </a:solidFill>
              </a:rPr>
              <a:t xml:space="preserve">Classe B — </a:t>
            </a:r>
            <a:r>
              <a:rPr lang="pt-BR" sz="1300" dirty="0">
                <a:solidFill>
                  <a:srgbClr val="333333"/>
                </a:solidFill>
              </a:rPr>
              <a:t>líquidos e gases inflamáveis. Possível em garagens, depósitos ou cozinhas dos andares inferiores.</a:t>
            </a:r>
          </a:p>
          <a:p>
            <a:pPr algn="l">
              <a:spcBef>
                <a:spcPts val="700"/>
              </a:spcBef>
              <a:buNone/>
            </a:pPr>
            <a:r>
              <a:rPr lang="pt-BR" sz="1300" b="1" dirty="0">
                <a:solidFill>
                  <a:srgbClr val="C0392B"/>
                </a:solidFill>
              </a:rPr>
              <a:t xml:space="preserve">Classe C — </a:t>
            </a:r>
            <a:r>
              <a:rPr lang="pt-BR" sz="1300" dirty="0">
                <a:solidFill>
                  <a:srgbClr val="333333"/>
                </a:solidFill>
              </a:rPr>
              <a:t>equipamentos elétricos energizados (painéis, fiação, servidores). Relevantes em andares técnicos e salas de TI.</a:t>
            </a:r>
          </a:p>
          <a:p>
            <a:pPr algn="l">
              <a:spcBef>
                <a:spcPts val="900"/>
              </a:spcBef>
              <a:buNone/>
            </a:pPr>
            <a:r>
              <a:rPr lang="pt-BR" sz="1200" i="1" dirty="0">
                <a:solidFill>
                  <a:srgbClr val="595959"/>
                </a:solidFill>
              </a:rPr>
              <a:t>Cenário simulado: edifício de uso misto, com predominância das classes acima.</a:t>
            </a:r>
          </a:p>
        </p:txBody>
      </p:sp>
    </p:spTree>
    <p:extLst>
      <p:ext uri="{BB962C8B-B14F-4D97-AF65-F5344CB8AC3E}">
        <p14:creationId xmlns:p14="http://schemas.microsoft.com/office/powerpoint/2010/main" val="19055649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700000" y="800000"/>
            <a:ext cx="107920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Parâmetros e Delimitação Analítica</a:t>
            </a:r>
          </a:p>
        </p:txBody>
      </p:sp>
      <p:sp>
        <p:nvSpPr>
          <p:cNvPr id="3" name="Subtitulo"/>
          <p:cNvSpPr txBox="1"/>
          <p:nvPr/>
        </p:nvSpPr>
        <p:spPr>
          <a:xfrm>
            <a:off x="700000" y="1320000"/>
            <a:ext cx="10792000" cy="3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1500" i="1" dirty="0">
                <a:solidFill>
                  <a:srgbClr val="595959"/>
                </a:solidFill>
              </a:rPr>
              <a:t>Restrições baseadas na ABNT NBR 9077 e escopo causalmente relevante para a simulação.</a:t>
            </a:r>
          </a:p>
        </p:txBody>
      </p:sp>
      <p:graphicFrame>
        <p:nvGraphicFramePr>
          <p:cNvPr id="4" name="TabelaParametros"/>
          <p:cNvGraphicFramePr>
            <a:graphicFrameLocks noGrp="1"/>
          </p:cNvGraphicFramePr>
          <p:nvPr/>
        </p:nvGraphicFramePr>
        <p:xfrm>
          <a:off x="700000" y="1900000"/>
          <a:ext cx="5800000" cy="3380000"/>
        </p:xfrm>
        <a:graphic>
          <a:graphicData uri="http://schemas.openxmlformats.org/drawingml/2006/table">
            <a:tbl>
              <a:tblPr/>
              <a:tblGrid>
                <a:gridCol w="22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300" b="1">
                          <a:solidFill>
                            <a:srgbClr val="FFFFFF"/>
                          </a:solidFill>
                        </a:rPr>
                        <a:t>Parâmetro</a:t>
                      </a:r>
                    </a:p>
                  </a:txBody>
                  <a:tcPr marL="60000" marR="60000" marT="40000" marB="40000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300" b="1">
                          <a:solidFill>
                            <a:srgbClr val="FFFFFF"/>
                          </a:solidFill>
                        </a:rPr>
                        <a:t>Valor / Referência</a:t>
                      </a:r>
                    </a:p>
                  </a:txBody>
                  <a:tcPr marL="60000" marR="60000" marT="40000" marB="40000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100" b="1">
                          <a:solidFill>
                            <a:srgbClr val="333333"/>
                          </a:solidFill>
                        </a:rPr>
                        <a:t>Nº de andares</a:t>
                      </a:r>
                    </a:p>
                  </a:txBody>
                  <a:tcPr marL="80000" marR="60000" marT="40000" marB="400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100">
                          <a:solidFill>
                            <a:srgbClr val="333333"/>
                          </a:solidFill>
                        </a:rPr>
                        <a:t>30 andares (120 m), numerados de 0 a 29; térreo = 0</a:t>
                      </a:r>
                    </a:p>
                  </a:txBody>
                  <a:tcPr marL="80000" marR="60000" marT="40000" marB="4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100" b="1">
                          <a:solidFill>
                            <a:srgbClr val="333333"/>
                          </a:solidFill>
                        </a:rPr>
                        <a:t>Dimensão por andar</a:t>
                      </a:r>
                    </a:p>
                  </a:txBody>
                  <a:tcPr marL="80000" marR="60000" marT="40000" marB="400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100">
                          <a:solidFill>
                            <a:srgbClr val="333333"/>
                          </a:solidFill>
                        </a:rPr>
                        <a:t>Grade mínima de 20×20 células</a:t>
                      </a:r>
                    </a:p>
                  </a:txBody>
                  <a:tcPr marL="80000" marR="60000" marT="40000" marB="4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100" b="1">
                          <a:solidFill>
                            <a:srgbClr val="333333"/>
                          </a:solidFill>
                        </a:rPr>
                        <a:t>Escadas / Saídas</a:t>
                      </a:r>
                    </a:p>
                  </a:txBody>
                  <a:tcPr marL="80000" marR="60000" marT="40000" marB="400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100">
                          <a:solidFill>
                            <a:srgbClr val="333333"/>
                          </a:solidFill>
                        </a:rPr>
                        <a:t>Mín. 1 escada e 1 saída sinalizada por andar; evacuação no térreo</a:t>
                      </a:r>
                    </a:p>
                  </a:txBody>
                  <a:tcPr marL="80000" marR="60000" marT="40000" marB="4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100" b="1">
                          <a:solidFill>
                            <a:srgbClr val="333333"/>
                          </a:solidFill>
                        </a:rPr>
                        <a:t>Elevadores</a:t>
                      </a:r>
                    </a:p>
                  </a:txBody>
                  <a:tcPr marL="80000" marR="60000" marT="40000" marB="400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100">
                          <a:solidFill>
                            <a:srgbClr val="333333"/>
                          </a:solidFill>
                        </a:rPr>
                        <a:t>Bloqueados durante o incêndio (ABNT NBR 9077)</a:t>
                      </a:r>
                    </a:p>
                  </a:txBody>
                  <a:tcPr marL="80000" marR="60000" marT="40000" marB="4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100" b="1">
                          <a:solidFill>
                            <a:srgbClr val="333333"/>
                          </a:solidFill>
                        </a:rPr>
                        <a:t>Perfis de ocupantes</a:t>
                      </a:r>
                    </a:p>
                  </a:txBody>
                  <a:tcPr marL="80000" marR="60000" marT="40000" marB="400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100">
                          <a:solidFill>
                            <a:srgbClr val="333333"/>
                          </a:solidFill>
                        </a:rPr>
                        <a:t>Adultos padrão, idosos (vel. 60%), PcD (vel. 40%)</a:t>
                      </a:r>
                    </a:p>
                  </a:txBody>
                  <a:tcPr marL="80000" marR="60000" marT="40000" marB="4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100" b="1">
                          <a:solidFill>
                            <a:srgbClr val="333333"/>
                          </a:solidFill>
                        </a:rPr>
                        <a:t>Foco do incêndio</a:t>
                      </a:r>
                    </a:p>
                  </a:txBody>
                  <a:tcPr marL="80000" marR="60000" marT="40000" marB="400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100">
                          <a:solidFill>
                            <a:srgbClr val="333333"/>
                          </a:solidFill>
                        </a:rPr>
                        <a:t>Parametrizável: andar e célula de origem configuráveis</a:t>
                      </a:r>
                    </a:p>
                  </a:txBody>
                  <a:tcPr marL="80000" marR="60000" marT="40000" marB="4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CardRepresentado"/>
          <p:cNvSpPr/>
          <p:nvPr/>
        </p:nvSpPr>
        <p:spPr>
          <a:xfrm>
            <a:off x="6700000" y="1900000"/>
            <a:ext cx="4792000" cy="2080000"/>
          </a:xfrm>
          <a:prstGeom prst="roundRect">
            <a:avLst>
              <a:gd name="adj" fmla="val 4000"/>
            </a:avLst>
          </a:prstGeom>
          <a:solidFill>
            <a:srgbClr val="EAF3EC"/>
          </a:solidFill>
          <a:ln>
            <a:noFill/>
          </a:ln>
        </p:spPr>
        <p:txBody>
          <a:bodyPr wrap="square" lIns="252000" tIns="216000" rIns="252000" bIns="216000" rtlCol="0" anchor="t"/>
          <a:lstStyle/>
          <a:p>
            <a:pPr algn="l">
              <a:buNone/>
            </a:pPr>
            <a:r>
              <a:rPr lang="pt-BR" sz="1500" b="1" dirty="0">
                <a:solidFill>
                  <a:srgbClr val="2C5F2D"/>
                </a:solidFill>
              </a:rPr>
              <a:t>✓  Será representado</a:t>
            </a:r>
          </a:p>
          <a:p>
            <a:pPr marL="180000" indent="-180000" algn="l">
              <a:spcBef>
                <a:spcPts val="600"/>
              </a:spcBef>
              <a:buChar char="•"/>
            </a:pPr>
            <a:r>
              <a:rPr lang="pt-BR" sz="1150" dirty="0">
                <a:solidFill>
                  <a:srgbClr val="333333"/>
                </a:solidFill>
              </a:rPr>
              <a:t>Propagação do fogo e da fumaça por células</a:t>
            </a:r>
          </a:p>
          <a:p>
            <a:pPr marL="180000" indent="-180000" algn="l">
              <a:spcBef>
                <a:spcPts val="300"/>
              </a:spcBef>
              <a:buChar char="•"/>
            </a:pPr>
            <a:r>
              <a:rPr lang="pt-BR" sz="1150" dirty="0">
                <a:solidFill>
                  <a:srgbClr val="333333"/>
                </a:solidFill>
              </a:rPr>
              <a:t>Deslocamento dos ocupantes às saídas</a:t>
            </a:r>
          </a:p>
          <a:p>
            <a:pPr marL="180000" indent="-180000" algn="l">
              <a:spcBef>
                <a:spcPts val="300"/>
              </a:spcBef>
              <a:buChar char="•"/>
            </a:pPr>
            <a:r>
              <a:rPr lang="pt-BR" sz="1150" dirty="0">
                <a:solidFill>
                  <a:srgbClr val="333333"/>
                </a:solidFill>
              </a:rPr>
              <a:t>Congestionamento e gargalos nas escadas</a:t>
            </a:r>
          </a:p>
          <a:p>
            <a:pPr marL="180000" indent="-180000" algn="l">
              <a:spcBef>
                <a:spcPts val="300"/>
              </a:spcBef>
              <a:buChar char="•"/>
            </a:pPr>
            <a:r>
              <a:rPr lang="pt-BR" sz="1150" dirty="0">
                <a:solidFill>
                  <a:srgbClr val="333333"/>
                </a:solidFill>
              </a:rPr>
              <a:t>Perfis diferenciados (adulto, idoso, PcD)</a:t>
            </a:r>
          </a:p>
          <a:p>
            <a:pPr marL="180000" indent="-180000" algn="l">
              <a:spcBef>
                <a:spcPts val="300"/>
              </a:spcBef>
              <a:buChar char="•"/>
            </a:pPr>
            <a:r>
              <a:rPr lang="pt-BR" sz="1150" dirty="0">
                <a:solidFill>
                  <a:srgbClr val="333333"/>
                </a:solidFill>
              </a:rPr>
              <a:t>Danos por exposição ao fogo (ferimento/morte)</a:t>
            </a:r>
          </a:p>
        </p:txBody>
      </p:sp>
      <p:sp>
        <p:nvSpPr>
          <p:cNvPr id="6" name="CardNaoRepresentado"/>
          <p:cNvSpPr/>
          <p:nvPr/>
        </p:nvSpPr>
        <p:spPr>
          <a:xfrm>
            <a:off x="6700000" y="4080000"/>
            <a:ext cx="4792000" cy="2220000"/>
          </a:xfrm>
          <a:prstGeom prst="roundRect">
            <a:avLst>
              <a:gd name="adj" fmla="val 4000"/>
            </a:avLst>
          </a:prstGeom>
          <a:solidFill>
            <a:srgbClr val="FBEDEB"/>
          </a:solidFill>
          <a:ln>
            <a:noFill/>
          </a:ln>
        </p:spPr>
        <p:txBody>
          <a:bodyPr wrap="square" lIns="252000" tIns="216000" rIns="252000" bIns="216000" rtlCol="0" anchor="t"/>
          <a:lstStyle/>
          <a:p>
            <a:pPr algn="l">
              <a:buNone/>
            </a:pPr>
            <a:r>
              <a:rPr lang="pt-BR" sz="1500" b="1" dirty="0">
                <a:solidFill>
                  <a:srgbClr val="C0392B"/>
                </a:solidFill>
              </a:rPr>
              <a:t>✗  Fora do escopo desta versão</a:t>
            </a:r>
          </a:p>
          <a:p>
            <a:pPr marL="180000" indent="-180000" algn="l">
              <a:spcBef>
                <a:spcPts val="600"/>
              </a:spcBef>
              <a:buChar char="•"/>
            </a:pPr>
            <a:r>
              <a:rPr lang="pt-BR" sz="1150" dirty="0">
                <a:solidFill>
                  <a:srgbClr val="333333"/>
                </a:solidFill>
              </a:rPr>
              <a:t>Colapso estrutural da edificação</a:t>
            </a:r>
          </a:p>
          <a:p>
            <a:pPr marL="180000" indent="-180000" algn="l">
              <a:spcBef>
                <a:spcPts val="300"/>
              </a:spcBef>
              <a:buChar char="•"/>
            </a:pPr>
            <a:r>
              <a:rPr lang="pt-BR" sz="1150" dirty="0">
                <a:solidFill>
                  <a:srgbClr val="333333"/>
                </a:solidFill>
              </a:rPr>
              <a:t>Ação hidráulica de combate (sprinklers, brigadistas)</a:t>
            </a:r>
          </a:p>
          <a:p>
            <a:pPr marL="180000" indent="-180000" algn="l">
              <a:spcBef>
                <a:spcPts val="300"/>
              </a:spcBef>
              <a:buChar char="•"/>
            </a:pPr>
            <a:r>
              <a:rPr lang="pt-BR" sz="1150" dirty="0">
                <a:solidFill>
                  <a:srgbClr val="333333"/>
                </a:solidFill>
              </a:rPr>
              <a:t>Variações térmicas detalhadas por zona</a:t>
            </a:r>
          </a:p>
          <a:p>
            <a:pPr marL="180000" indent="-180000" algn="l">
              <a:spcBef>
                <a:spcPts val="300"/>
              </a:spcBef>
              <a:buChar char="•"/>
            </a:pPr>
            <a:r>
              <a:rPr lang="pt-BR" sz="1150" dirty="0">
                <a:solidFill>
                  <a:srgbClr val="333333"/>
                </a:solidFill>
              </a:rPr>
              <a:t>Comportamento psicológico clínico (pânico, TEPT)</a:t>
            </a:r>
          </a:p>
          <a:p>
            <a:pPr algn="l">
              <a:spcBef>
                <a:spcPts val="800"/>
              </a:spcBef>
              <a:buNone/>
            </a:pPr>
            <a:r>
              <a:rPr lang="pt-BR" sz="1100" i="1" dirty="0">
                <a:solidFill>
                  <a:srgbClr val="595959"/>
                </a:solidFill>
              </a:rPr>
              <a:t>Horizonte: da ignição à evacuação total. Resolução: steps/ticks discretos.</a:t>
            </a:r>
          </a:p>
        </p:txBody>
      </p:sp>
    </p:spTree>
    <p:extLst>
      <p:ext uri="{BB962C8B-B14F-4D97-AF65-F5344CB8AC3E}">
        <p14:creationId xmlns:p14="http://schemas.microsoft.com/office/powerpoint/2010/main" val="19055649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A29C7-645E-D5F5-D652-B5F194475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B722FD8-4BE1-DF7D-4ADC-581BB2C92B46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2. Modelagem</a:t>
            </a:r>
          </a:p>
        </p:txBody>
      </p:sp>
    </p:spTree>
    <p:extLst>
      <p:ext uri="{BB962C8B-B14F-4D97-AF65-F5344CB8AC3E}">
        <p14:creationId xmlns:p14="http://schemas.microsoft.com/office/powerpoint/2010/main" val="1764901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CC594-B965-DA36-B883-39DFD887C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4A20111D-BC33-6F8E-0E5E-B03B81D49BF2}"/>
              </a:ext>
            </a:extLst>
          </p:cNvPr>
          <p:cNvSpPr txBox="1"/>
          <p:nvPr/>
        </p:nvSpPr>
        <p:spPr>
          <a:xfrm>
            <a:off x="383477" y="585503"/>
            <a:ext cx="3845623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Base consultadas</a:t>
            </a:r>
          </a:p>
        </p:txBody>
      </p:sp>
      <p:sp>
        <p:nvSpPr>
          <p:cNvPr id="3" name="Subtitulo">
            <a:extLst>
              <a:ext uri="{FF2B5EF4-FFF2-40B4-BE49-F238E27FC236}">
                <a16:creationId xmlns:a16="http://schemas.microsoft.com/office/drawing/2014/main" id="{D5430141-0E69-F0DD-D00B-B5434019CF9B}"/>
              </a:ext>
            </a:extLst>
          </p:cNvPr>
          <p:cNvSpPr txBox="1"/>
          <p:nvPr/>
        </p:nvSpPr>
        <p:spPr>
          <a:xfrm>
            <a:off x="1878169" y="1554497"/>
            <a:ext cx="6729500" cy="3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/>
            <a:r>
              <a:rPr lang="pt-BR" sz="1500" i="1" dirty="0">
                <a:solidFill>
                  <a:srgbClr val="595959"/>
                </a:solidFill>
              </a:rPr>
              <a:t>Detalhamento da identificação por base de dados.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7BAC047-00C4-D26E-24E5-A93C491793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876" y="1934497"/>
            <a:ext cx="10594124" cy="2358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424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96EB8-A983-389D-A45D-58CE07939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589B7181-483E-D9A8-86A6-8C4677FBE3EC}"/>
              </a:ext>
            </a:extLst>
          </p:cNvPr>
          <p:cNvSpPr txBox="1"/>
          <p:nvPr/>
        </p:nvSpPr>
        <p:spPr>
          <a:xfrm>
            <a:off x="576907" y="659564"/>
            <a:ext cx="107920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Filtro PRISMA</a:t>
            </a:r>
          </a:p>
        </p:txBody>
      </p:sp>
      <p:sp>
        <p:nvSpPr>
          <p:cNvPr id="3" name="Subtitulo">
            <a:extLst>
              <a:ext uri="{FF2B5EF4-FFF2-40B4-BE49-F238E27FC236}">
                <a16:creationId xmlns:a16="http://schemas.microsoft.com/office/drawing/2014/main" id="{804F9A44-6A87-5B18-91CE-36FB8446518F}"/>
              </a:ext>
            </a:extLst>
          </p:cNvPr>
          <p:cNvSpPr txBox="1"/>
          <p:nvPr/>
        </p:nvSpPr>
        <p:spPr>
          <a:xfrm>
            <a:off x="761546" y="1566185"/>
            <a:ext cx="10792000" cy="3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/>
            <a:r>
              <a:rPr lang="pt-BR" sz="1500" i="1" dirty="0">
                <a:solidFill>
                  <a:srgbClr val="595959"/>
                </a:solidFill>
              </a:rPr>
              <a:t>O fluxograma PRISMA abaixo resume o processo de identificação, triagem, elegibilidade e inclusão dos estudos.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1033C8D1-8136-CBEE-1303-05748D1DB7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9169" y="2020873"/>
            <a:ext cx="8647477" cy="3808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3447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08615-AC47-5EAD-D5B3-6AA5B7A34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A38C97CA-E4D4-C141-ECC7-D845DF9F5AA4}"/>
              </a:ext>
            </a:extLst>
          </p:cNvPr>
          <p:cNvSpPr txBox="1"/>
          <p:nvPr/>
        </p:nvSpPr>
        <p:spPr>
          <a:xfrm>
            <a:off x="700000" y="518543"/>
            <a:ext cx="107920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Matriz de extração</a:t>
            </a:r>
          </a:p>
        </p:txBody>
      </p:sp>
      <p:sp>
        <p:nvSpPr>
          <p:cNvPr id="3" name="Subtitulo">
            <a:extLst>
              <a:ext uri="{FF2B5EF4-FFF2-40B4-BE49-F238E27FC236}">
                <a16:creationId xmlns:a16="http://schemas.microsoft.com/office/drawing/2014/main" id="{E03B96C5-CA91-C0AA-9B37-9D481E53DA80}"/>
              </a:ext>
            </a:extLst>
          </p:cNvPr>
          <p:cNvSpPr txBox="1"/>
          <p:nvPr/>
        </p:nvSpPr>
        <p:spPr>
          <a:xfrm>
            <a:off x="700000" y="1118306"/>
            <a:ext cx="107920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1400" i="1" dirty="0">
                <a:solidFill>
                  <a:srgbClr val="595959"/>
                </a:solidFill>
              </a:rPr>
              <a:t>Estas matrizes de extração organizam, de forma comparativa, as informações essenciais dos 10 artigos incluídos na revisão sistemática.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8BBBB01B-3482-63D7-9F46-979D43CFA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7431" y="1435000"/>
            <a:ext cx="8977138" cy="4320914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13B8F29D-5323-4A67-332E-9BC3E71D3A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5052" y="5755914"/>
            <a:ext cx="8969517" cy="1112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9308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BC045-3308-15AA-1F26-004F44E65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AC5188B2-239D-16E3-C3BE-9736ABC0AB02}"/>
              </a:ext>
            </a:extLst>
          </p:cNvPr>
          <p:cNvSpPr txBox="1"/>
          <p:nvPr/>
        </p:nvSpPr>
        <p:spPr>
          <a:xfrm>
            <a:off x="700000" y="602086"/>
            <a:ext cx="107920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Matriz de extração</a:t>
            </a:r>
          </a:p>
        </p:txBody>
      </p:sp>
      <p:sp>
        <p:nvSpPr>
          <p:cNvPr id="3" name="Subtitulo">
            <a:extLst>
              <a:ext uri="{FF2B5EF4-FFF2-40B4-BE49-F238E27FC236}">
                <a16:creationId xmlns:a16="http://schemas.microsoft.com/office/drawing/2014/main" id="{3BA82B2F-9A2F-08FB-E589-7CBBDEE34F55}"/>
              </a:ext>
            </a:extLst>
          </p:cNvPr>
          <p:cNvSpPr txBox="1"/>
          <p:nvPr/>
        </p:nvSpPr>
        <p:spPr>
          <a:xfrm>
            <a:off x="700000" y="1018543"/>
            <a:ext cx="107920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1400" i="1" dirty="0">
                <a:solidFill>
                  <a:srgbClr val="595959"/>
                </a:solidFill>
              </a:rPr>
              <a:t>Estas matrizes de extração organizam, de forma comparativa, as informações essenciais dos 10 artigos incluídos na revisão sistemática.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22673AA-6967-D9D5-0337-97298DD6E9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2189" y="1518543"/>
            <a:ext cx="9007621" cy="5067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2949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A6C9F-62B3-9027-CE87-419B0ACD6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1C5FA92-C48F-00BD-8AF8-56DD40B18358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 Formalismo</a:t>
            </a:r>
          </a:p>
        </p:txBody>
      </p:sp>
    </p:spTree>
    <p:extLst>
      <p:ext uri="{BB962C8B-B14F-4D97-AF65-F5344CB8AC3E}">
        <p14:creationId xmlns:p14="http://schemas.microsoft.com/office/powerpoint/2010/main" val="30621119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700000" y="800000"/>
            <a:ext cx="107920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3.1. Tipo de Formalismo</a:t>
            </a:r>
          </a:p>
        </p:txBody>
      </p:sp>
      <p:sp>
        <p:nvSpPr>
          <p:cNvPr id="3" name="Subtitulo"/>
          <p:cNvSpPr txBox="1"/>
          <p:nvPr/>
        </p:nvSpPr>
        <p:spPr>
          <a:xfrm>
            <a:off x="700000" y="1320000"/>
            <a:ext cx="10792000" cy="3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1500" i="1" dirty="0">
                <a:solidFill>
                  <a:srgbClr val="595959"/>
                </a:solidFill>
              </a:rPr>
              <a:t>Abordagem híbrida que integra três paradigmas de modelagem para simular a evacuação.</a:t>
            </a:r>
          </a:p>
        </p:txBody>
      </p:sp>
      <p:sp>
        <p:nvSpPr>
          <p:cNvPr id="4" name="CardABM"/>
          <p:cNvSpPr/>
          <p:nvPr/>
        </p:nvSpPr>
        <p:spPr>
          <a:xfrm>
            <a:off x="700000" y="1900000"/>
            <a:ext cx="3397000" cy="14000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>
            <a:noFill/>
          </a:ln>
        </p:spPr>
        <p:txBody>
          <a:bodyPr wrap="square" lIns="216000" tIns="180000" rIns="216000" bIns="180000" rtlCol="0" anchor="ctr"/>
          <a:lstStyle/>
          <a:p>
            <a:pPr algn="ctr">
              <a:buNone/>
            </a:pPr>
            <a:r>
              <a:rPr lang="pt-BR" sz="15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ABM</a:t>
            </a:r>
          </a:p>
          <a:p>
            <a:pPr algn="ctr">
              <a:spcBef>
                <a:spcPts val="300"/>
              </a:spcBef>
              <a:buNone/>
            </a:pPr>
            <a:r>
              <a:rPr lang="pt-BR" sz="1100" b="1" dirty="0">
                <a:solidFill>
                  <a:srgbClr val="C0392B"/>
                </a:solidFill>
              </a:rPr>
              <a:t>Modelagem Baseada em Agentes</a:t>
            </a:r>
          </a:p>
          <a:p>
            <a:pPr algn="ctr">
              <a:spcBef>
                <a:spcPts val="400"/>
              </a:spcBef>
              <a:buNone/>
            </a:pPr>
            <a:r>
              <a:rPr lang="pt-BR" sz="1100" dirty="0">
                <a:solidFill>
                  <a:srgbClr val="333333"/>
                </a:solidFill>
              </a:rPr>
              <a:t>Comportamento individual dos ocupantes</a:t>
            </a:r>
          </a:p>
        </p:txBody>
      </p:sp>
      <p:sp>
        <p:nvSpPr>
          <p:cNvPr id="5" name="CardCA"/>
          <p:cNvSpPr/>
          <p:nvPr/>
        </p:nvSpPr>
        <p:spPr>
          <a:xfrm>
            <a:off x="4397000" y="1900000"/>
            <a:ext cx="3397000" cy="14000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>
            <a:noFill/>
          </a:ln>
        </p:spPr>
        <p:txBody>
          <a:bodyPr wrap="square" lIns="216000" tIns="180000" rIns="216000" bIns="180000" rtlCol="0" anchor="ctr"/>
          <a:lstStyle/>
          <a:p>
            <a:pPr algn="ctr">
              <a:buNone/>
            </a:pPr>
            <a:r>
              <a:rPr lang="pt-BR" sz="15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CA</a:t>
            </a:r>
          </a:p>
          <a:p>
            <a:pPr algn="ctr">
              <a:spcBef>
                <a:spcPts val="300"/>
              </a:spcBef>
              <a:buNone/>
            </a:pPr>
            <a:r>
              <a:rPr lang="pt-BR" sz="1100" b="1" dirty="0">
                <a:solidFill>
                  <a:srgbClr val="C0392B"/>
                </a:solidFill>
              </a:rPr>
              <a:t>Autômatos Celulares</a:t>
            </a:r>
          </a:p>
          <a:p>
            <a:pPr algn="ctr">
              <a:spcBef>
                <a:spcPts val="400"/>
              </a:spcBef>
              <a:buNone/>
            </a:pPr>
            <a:r>
              <a:rPr lang="pt-BR" sz="1100" dirty="0">
                <a:solidFill>
                  <a:srgbClr val="333333"/>
                </a:solidFill>
              </a:rPr>
              <a:t>Movimentação espacial discreta no ambiente</a:t>
            </a:r>
          </a:p>
        </p:txBody>
      </p:sp>
      <p:sp>
        <p:nvSpPr>
          <p:cNvPr id="6" name="CardCFD"/>
          <p:cNvSpPr/>
          <p:nvPr/>
        </p:nvSpPr>
        <p:spPr>
          <a:xfrm>
            <a:off x="8094000" y="1900000"/>
            <a:ext cx="3398000" cy="14000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>
            <a:noFill/>
          </a:ln>
        </p:spPr>
        <p:txBody>
          <a:bodyPr wrap="square" lIns="216000" tIns="180000" rIns="216000" bIns="180000" rtlCol="0" anchor="ctr"/>
          <a:lstStyle/>
          <a:p>
            <a:pPr algn="ctr">
              <a:buNone/>
            </a:pPr>
            <a:r>
              <a:rPr lang="pt-BR" sz="15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CFD</a:t>
            </a:r>
          </a:p>
          <a:p>
            <a:pPr algn="ctr">
              <a:spcBef>
                <a:spcPts val="300"/>
              </a:spcBef>
              <a:buNone/>
            </a:pPr>
            <a:r>
              <a:rPr lang="pt-BR" sz="1100" b="1" dirty="0">
                <a:solidFill>
                  <a:srgbClr val="C0392B"/>
                </a:solidFill>
              </a:rPr>
              <a:t>Dinâmica de Fluidos Computacional</a:t>
            </a:r>
          </a:p>
          <a:p>
            <a:pPr algn="ctr">
              <a:spcBef>
                <a:spcPts val="400"/>
              </a:spcBef>
              <a:buNone/>
            </a:pPr>
            <a:r>
              <a:rPr lang="pt-BR" sz="1100" dirty="0">
                <a:solidFill>
                  <a:srgbClr val="333333"/>
                </a:solidFill>
              </a:rPr>
              <a:t>Campos de temperatura, fumaça e gases tóxicos</a:t>
            </a:r>
          </a:p>
        </p:txBody>
      </p:sp>
      <p:sp>
        <p:nvSpPr>
          <p:cNvPr id="7" name="Seta1"/>
          <p:cNvSpPr/>
          <p:nvPr/>
        </p:nvSpPr>
        <p:spPr>
          <a:xfrm>
            <a:off x="5867400" y="3380000"/>
            <a:ext cx="457200" cy="360000"/>
          </a:xfrm>
          <a:prstGeom prst="downArrow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8" name="CardModelo"/>
          <p:cNvSpPr/>
          <p:nvPr/>
        </p:nvSpPr>
        <p:spPr>
          <a:xfrm>
            <a:off x="700000" y="3820000"/>
            <a:ext cx="10792000" cy="820000"/>
          </a:xfrm>
          <a:prstGeom prst="roundRect">
            <a:avLst>
              <a:gd name="adj" fmla="val 6000"/>
            </a:avLst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txBody>
          <a:bodyPr wrap="square" lIns="216000" tIns="120000" rIns="216000" bIns="120000" rtlCol="0" anchor="ctr"/>
          <a:lstStyle/>
          <a:p>
            <a:pPr algn="ctr">
              <a:buNone/>
            </a:pPr>
            <a:r>
              <a:rPr lang="pt-BR" sz="1600" b="1" dirty="0">
                <a:solidFill>
                  <a:srgbClr val="FFFFFF"/>
                </a:solidFill>
              </a:rPr>
              <a:t>Modelo de Simulação de Evacuação</a:t>
            </a:r>
          </a:p>
          <a:p>
            <a:pPr algn="ctr">
              <a:spcBef>
                <a:spcPts val="200"/>
              </a:spcBef>
              <a:buNone/>
            </a:pPr>
            <a:r>
              <a:rPr lang="pt-BR" sz="1150" dirty="0">
                <a:solidFill>
                  <a:srgbClr val="CADCFC"/>
                </a:solidFill>
              </a:rPr>
              <a:t>Acoplamento ABM + CA + CFD em passos de tempo discretos (steps/ticks)</a:t>
            </a:r>
          </a:p>
        </p:txBody>
      </p:sp>
      <p:sp>
        <p:nvSpPr>
          <p:cNvPr id="9" name="Seta2"/>
          <p:cNvSpPr/>
          <p:nvPr/>
        </p:nvSpPr>
        <p:spPr>
          <a:xfrm>
            <a:off x="5867400" y="4720000"/>
            <a:ext cx="457200" cy="360000"/>
          </a:xfrm>
          <a:prstGeom prst="downArrow">
            <a:avLst/>
          </a:prstGeom>
          <a:solidFill>
            <a:srgbClr val="2C5F2D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" name="CardSaidas"/>
          <p:cNvSpPr/>
          <p:nvPr/>
        </p:nvSpPr>
        <p:spPr>
          <a:xfrm>
            <a:off x="700000" y="5160000"/>
            <a:ext cx="10792000" cy="820000"/>
          </a:xfrm>
          <a:prstGeom prst="roundRect">
            <a:avLst>
              <a:gd name="adj" fmla="val 6000"/>
            </a:avLst>
          </a:prstGeom>
          <a:solidFill>
            <a:srgbClr val="EAF3EC"/>
          </a:solidFill>
          <a:ln>
            <a:noFill/>
          </a:ln>
        </p:spPr>
        <p:txBody>
          <a:bodyPr wrap="square" lIns="216000" tIns="120000" rIns="216000" bIns="120000" rtlCol="0" anchor="ctr"/>
          <a:lstStyle/>
          <a:p>
            <a:pPr algn="ctr">
              <a:buNone/>
            </a:pPr>
            <a:r>
              <a:rPr lang="pt-BR" sz="1500" b="1" dirty="0">
                <a:solidFill>
                  <a:srgbClr val="2C5F2D"/>
                </a:solidFill>
              </a:rPr>
              <a:t>Saídas do modelo</a:t>
            </a:r>
          </a:p>
          <a:p>
            <a:pPr algn="ctr">
              <a:spcBef>
                <a:spcPts val="200"/>
              </a:spcBef>
              <a:buNone/>
            </a:pPr>
            <a:r>
              <a:rPr lang="pt-BR" sz="1150" dirty="0">
                <a:solidFill>
                  <a:srgbClr val="333333"/>
                </a:solidFill>
              </a:rPr>
              <a:t>Tempo total de evacuação, taxa de sobrevivência, trajetórias e gargalos</a:t>
            </a:r>
          </a:p>
        </p:txBody>
      </p:sp>
    </p:spTree>
    <p:extLst>
      <p:ext uri="{BB962C8B-B14F-4D97-AF65-F5344CB8AC3E}">
        <p14:creationId xmlns:p14="http://schemas.microsoft.com/office/powerpoint/2010/main" val="24792164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700000" y="800000"/>
            <a:ext cx="107920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3.1.1. Definição do Formalismo</a:t>
            </a:r>
          </a:p>
        </p:txBody>
      </p:sp>
      <p:sp>
        <p:nvSpPr>
          <p:cNvPr id="3" name="Subtitulo"/>
          <p:cNvSpPr txBox="1"/>
          <p:nvPr/>
        </p:nvSpPr>
        <p:spPr>
          <a:xfrm>
            <a:off x="700000" y="1320000"/>
            <a:ext cx="10792000" cy="3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1500" i="1" dirty="0">
                <a:solidFill>
                  <a:srgbClr val="595959"/>
                </a:solidFill>
              </a:rPr>
              <a:t>Abordagem híbrida que combina três paradigmas, cada um responsável por uma dimensão do problema.</a:t>
            </a:r>
          </a:p>
        </p:txBody>
      </p:sp>
      <p:sp>
        <p:nvSpPr>
          <p:cNvPr id="4" name="CardABM"/>
          <p:cNvSpPr/>
          <p:nvPr/>
        </p:nvSpPr>
        <p:spPr>
          <a:xfrm>
            <a:off x="700000" y="1900000"/>
            <a:ext cx="3397000" cy="44000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>
            <a:noFill/>
          </a:ln>
        </p:spPr>
        <p:txBody>
          <a:bodyPr wrap="square" lIns="252000" tIns="252000" rIns="252000" bIns="252000" rtlCol="0" anchor="t"/>
          <a:lstStyle/>
          <a:p>
            <a:pPr algn="l">
              <a:buNone/>
            </a:pPr>
            <a:r>
              <a:rPr lang="pt-BR" sz="16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Modelagem Baseada em Agentes</a:t>
            </a:r>
          </a:p>
          <a:p>
            <a:pPr algn="l">
              <a:spcBef>
                <a:spcPts val="400"/>
              </a:spcBef>
              <a:buNone/>
            </a:pPr>
            <a:r>
              <a:rPr lang="pt-BR" sz="1200" b="1" dirty="0">
                <a:solidFill>
                  <a:srgbClr val="C0392B"/>
                </a:solidFill>
              </a:rPr>
              <a:t>ABM — comportamento dos ocupantes</a:t>
            </a:r>
          </a:p>
          <a:p>
            <a:pPr algn="l">
              <a:spcBef>
                <a:spcPts val="900"/>
              </a:spcBef>
              <a:buNone/>
            </a:pPr>
            <a:r>
              <a:rPr lang="pt-BR" sz="1300" dirty="0">
                <a:solidFill>
                  <a:srgbClr val="333333"/>
                </a:solidFill>
              </a:rPr>
              <a:t>Representa o comportamento individual dos ocupantes, permitindo heterogeneidade de decisões, percepção de risco e adaptação às condições do ambiente.</a:t>
            </a:r>
          </a:p>
        </p:txBody>
      </p:sp>
      <p:sp>
        <p:nvSpPr>
          <p:cNvPr id="5" name="CardCA"/>
          <p:cNvSpPr/>
          <p:nvPr/>
        </p:nvSpPr>
        <p:spPr>
          <a:xfrm>
            <a:off x="4397000" y="1900000"/>
            <a:ext cx="3397000" cy="44000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>
            <a:noFill/>
          </a:ln>
        </p:spPr>
        <p:txBody>
          <a:bodyPr wrap="square" lIns="252000" tIns="252000" rIns="252000" bIns="252000" rtlCol="0" anchor="t"/>
          <a:lstStyle/>
          <a:p>
            <a:pPr algn="l">
              <a:buNone/>
            </a:pPr>
            <a:r>
              <a:rPr lang="pt-BR" sz="16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Autômatos Celulares</a:t>
            </a:r>
          </a:p>
          <a:p>
            <a:pPr algn="l">
              <a:spcBef>
                <a:spcPts val="400"/>
              </a:spcBef>
              <a:buNone/>
            </a:pPr>
            <a:r>
              <a:rPr lang="pt-BR" sz="1200" b="1" dirty="0">
                <a:solidFill>
                  <a:srgbClr val="C0392B"/>
                </a:solidFill>
              </a:rPr>
              <a:t>CA — movimentação no espaço</a:t>
            </a:r>
          </a:p>
          <a:p>
            <a:pPr algn="l">
              <a:spcBef>
                <a:spcPts val="900"/>
              </a:spcBef>
              <a:buNone/>
            </a:pPr>
            <a:r>
              <a:rPr lang="pt-BR" sz="1300" dirty="0">
                <a:solidFill>
                  <a:srgbClr val="333333"/>
                </a:solidFill>
              </a:rPr>
              <a:t>Representam a movimentação espacial discreta dos agentes no ambiente construído, incluindo regras específicas para corredores, portas e escadas.</a:t>
            </a:r>
          </a:p>
        </p:txBody>
      </p:sp>
      <p:sp>
        <p:nvSpPr>
          <p:cNvPr id="6" name="CardCFD"/>
          <p:cNvSpPr/>
          <p:nvPr/>
        </p:nvSpPr>
        <p:spPr>
          <a:xfrm>
            <a:off x="8094000" y="1900000"/>
            <a:ext cx="3398000" cy="44000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>
            <a:noFill/>
          </a:ln>
        </p:spPr>
        <p:txBody>
          <a:bodyPr wrap="square" lIns="252000" tIns="252000" rIns="252000" bIns="252000" rtlCol="0" anchor="t"/>
          <a:lstStyle/>
          <a:p>
            <a:pPr algn="l">
              <a:buNone/>
            </a:pPr>
            <a:r>
              <a:rPr lang="pt-BR" sz="16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Dinâmica de Fluidos Computacional</a:t>
            </a:r>
          </a:p>
          <a:p>
            <a:pPr algn="l">
              <a:spcBef>
                <a:spcPts val="400"/>
              </a:spcBef>
              <a:buNone/>
            </a:pPr>
            <a:r>
              <a:rPr lang="pt-BR" sz="1200" b="1" dirty="0">
                <a:solidFill>
                  <a:srgbClr val="C0392B"/>
                </a:solidFill>
              </a:rPr>
              <a:t>CFD — ambiente de risco</a:t>
            </a:r>
          </a:p>
          <a:p>
            <a:pPr algn="l">
              <a:spcBef>
                <a:spcPts val="900"/>
              </a:spcBef>
              <a:buNone/>
            </a:pPr>
            <a:r>
              <a:rPr lang="pt-BR" sz="1300" dirty="0">
                <a:solidFill>
                  <a:srgbClr val="333333"/>
                </a:solidFill>
              </a:rPr>
              <a:t>Fornece os campos dinâmicos de temperatura, fumaça e gases tóxicos, usados para atualizar o estado fisiológico e cognitivo dos ocupantes.</a:t>
            </a:r>
          </a:p>
        </p:txBody>
      </p:sp>
    </p:spTree>
    <p:extLst>
      <p:ext uri="{BB962C8B-B14F-4D97-AF65-F5344CB8AC3E}">
        <p14:creationId xmlns:p14="http://schemas.microsoft.com/office/powerpoint/2010/main" val="4115494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700000" y="800000"/>
            <a:ext cx="107920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3.1.2. Descrição do Formalismo</a:t>
            </a:r>
          </a:p>
        </p:txBody>
      </p:sp>
      <p:sp>
        <p:nvSpPr>
          <p:cNvPr id="3" name="Subtitulo"/>
          <p:cNvSpPr txBox="1"/>
          <p:nvPr/>
        </p:nvSpPr>
        <p:spPr>
          <a:xfrm>
            <a:off x="700000" y="1320000"/>
            <a:ext cx="10792000" cy="3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1500" i="1" dirty="0">
                <a:solidFill>
                  <a:srgbClr val="595959"/>
                </a:solidFill>
              </a:rPr>
              <a:t>Entidades, parâmetros e variáveis que compõem o modelo.</a:t>
            </a:r>
          </a:p>
        </p:txBody>
      </p:sp>
      <p:sp>
        <p:nvSpPr>
          <p:cNvPr id="4" name="CardEntidades"/>
          <p:cNvSpPr/>
          <p:nvPr/>
        </p:nvSpPr>
        <p:spPr>
          <a:xfrm>
            <a:off x="700000" y="1900000"/>
            <a:ext cx="3397000" cy="44000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>
            <a:noFill/>
          </a:ln>
        </p:spPr>
        <p:txBody>
          <a:bodyPr wrap="square" lIns="252000" tIns="252000" rIns="252000" bIns="252000" rtlCol="0" anchor="t"/>
          <a:lstStyle/>
          <a:p>
            <a:pPr algn="l">
              <a:buNone/>
            </a:pPr>
            <a:r>
              <a:rPr lang="pt-BR" sz="16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Entidades</a:t>
            </a:r>
          </a:p>
          <a:p>
            <a:pPr algn="l">
              <a:spcBef>
                <a:spcPts val="900"/>
              </a:spcBef>
              <a:buNone/>
            </a:pPr>
            <a:r>
              <a:rPr lang="pt-BR" sz="1250" b="1" dirty="0">
                <a:solidFill>
                  <a:srgbClr val="C0392B"/>
                </a:solidFill>
              </a:rPr>
              <a:t xml:space="preserve">Agentes ocupantes — </a:t>
            </a:r>
            <a:r>
              <a:rPr lang="pt-BR" sz="1250" dirty="0">
                <a:solidFill>
                  <a:srgbClr val="333333"/>
                </a:solidFill>
              </a:rPr>
              <a:t>indivíduos com mobilidade, percepção e resistência fisiológica heterogêneas.</a:t>
            </a:r>
          </a:p>
          <a:p>
            <a:pPr algn="l">
              <a:spcBef>
                <a:spcPts val="700"/>
              </a:spcBef>
              <a:buNone/>
            </a:pPr>
            <a:r>
              <a:rPr lang="pt-BR" sz="1250" b="1" dirty="0">
                <a:solidFill>
                  <a:srgbClr val="C0392B"/>
                </a:solidFill>
              </a:rPr>
              <a:t xml:space="preserve">Ambiente físico — </a:t>
            </a:r>
            <a:r>
              <a:rPr lang="pt-BR" sz="1250" dirty="0">
                <a:solidFill>
                  <a:srgbClr val="333333"/>
                </a:solidFill>
              </a:rPr>
              <a:t>geometria do edifício: corredores, portas, escadas e saídas de emergência.</a:t>
            </a:r>
          </a:p>
          <a:p>
            <a:pPr algn="l">
              <a:spcBef>
                <a:spcPts val="700"/>
              </a:spcBef>
              <a:buNone/>
            </a:pPr>
            <a:r>
              <a:rPr lang="pt-BR" sz="1250" b="1" dirty="0">
                <a:solidFill>
                  <a:srgbClr val="C0392B"/>
                </a:solidFill>
              </a:rPr>
              <a:t xml:space="preserve">Agentes de risco — </a:t>
            </a:r>
            <a:r>
              <a:rPr lang="pt-BR" sz="1250" dirty="0">
                <a:solidFill>
                  <a:srgbClr val="333333"/>
                </a:solidFill>
              </a:rPr>
              <a:t>fogo, fumaça, temperatura e gases tóxicos distribuídos no espaço.</a:t>
            </a:r>
          </a:p>
        </p:txBody>
      </p:sp>
      <p:sp>
        <p:nvSpPr>
          <p:cNvPr id="5" name="CardParametros"/>
          <p:cNvSpPr/>
          <p:nvPr/>
        </p:nvSpPr>
        <p:spPr>
          <a:xfrm>
            <a:off x="4397000" y="1900000"/>
            <a:ext cx="3397000" cy="44000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>
            <a:noFill/>
          </a:ln>
        </p:spPr>
        <p:txBody>
          <a:bodyPr wrap="square" lIns="252000" tIns="252000" rIns="252000" bIns="252000" rtlCol="0" anchor="t"/>
          <a:lstStyle/>
          <a:p>
            <a:pPr algn="l">
              <a:buNone/>
            </a:pPr>
            <a:r>
              <a:rPr lang="pt-BR" sz="16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Parâmetros principais</a:t>
            </a:r>
          </a:p>
          <a:p>
            <a:pPr marL="228600" indent="-228600" algn="l">
              <a:spcBef>
                <a:spcPts val="900"/>
              </a:spcBef>
              <a:buChar char="•"/>
            </a:pPr>
            <a:r>
              <a:rPr lang="pt-BR" sz="1300" dirty="0">
                <a:solidFill>
                  <a:srgbClr val="333333"/>
                </a:solidFill>
              </a:rPr>
              <a:t>Velocidade base dos agentes</a:t>
            </a:r>
          </a:p>
          <a:p>
            <a:pPr marL="228600" indent="-228600" algn="l">
              <a:spcBef>
                <a:spcPts val="500"/>
              </a:spcBef>
              <a:buChar char="•"/>
            </a:pPr>
            <a:r>
              <a:rPr lang="pt-BR" sz="1300" dirty="0">
                <a:solidFill>
                  <a:srgbClr val="333333"/>
                </a:solidFill>
              </a:rPr>
              <a:t>Raio de visão</a:t>
            </a:r>
          </a:p>
          <a:p>
            <a:pPr marL="228600" indent="-228600" algn="l">
              <a:spcBef>
                <a:spcPts val="500"/>
              </a:spcBef>
              <a:buChar char="•"/>
            </a:pPr>
            <a:r>
              <a:rPr lang="pt-BR" sz="1300" dirty="0">
                <a:solidFill>
                  <a:srgbClr val="333333"/>
                </a:solidFill>
              </a:rPr>
              <a:t>Capacidade de portas</a:t>
            </a:r>
          </a:p>
          <a:p>
            <a:pPr marL="228600" indent="-228600" algn="l">
              <a:spcBef>
                <a:spcPts val="500"/>
              </a:spcBef>
              <a:buChar char="•"/>
            </a:pPr>
            <a:r>
              <a:rPr lang="pt-BR" sz="1300" dirty="0">
                <a:solidFill>
                  <a:srgbClr val="333333"/>
                </a:solidFill>
              </a:rPr>
              <a:t>Resistência fisiológica</a:t>
            </a:r>
          </a:p>
          <a:p>
            <a:pPr marL="228600" indent="-228600" algn="l">
              <a:spcBef>
                <a:spcPts val="500"/>
              </a:spcBef>
              <a:buChar char="•"/>
            </a:pPr>
            <a:r>
              <a:rPr lang="pt-BR" sz="1300" dirty="0">
                <a:solidFill>
                  <a:srgbClr val="333333"/>
                </a:solidFill>
              </a:rPr>
              <a:t>Coeficiente de influência da fumaça</a:t>
            </a:r>
          </a:p>
        </p:txBody>
      </p:sp>
      <p:sp>
        <p:nvSpPr>
          <p:cNvPr id="6" name="CardVariaveis"/>
          <p:cNvSpPr/>
          <p:nvPr/>
        </p:nvSpPr>
        <p:spPr>
          <a:xfrm>
            <a:off x="8094000" y="1900000"/>
            <a:ext cx="3398000" cy="44000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>
            <a:noFill/>
          </a:ln>
        </p:spPr>
        <p:txBody>
          <a:bodyPr wrap="square" lIns="252000" tIns="252000" rIns="252000" bIns="252000" rtlCol="0" anchor="t"/>
          <a:lstStyle/>
          <a:p>
            <a:pPr algn="l">
              <a:buNone/>
            </a:pPr>
            <a:r>
              <a:rPr lang="pt-BR" sz="16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Variáveis dinâmicas</a:t>
            </a:r>
          </a:p>
          <a:p>
            <a:pPr marL="228600" indent="-228600" algn="l">
              <a:spcBef>
                <a:spcPts val="900"/>
              </a:spcBef>
              <a:buChar char="•"/>
            </a:pPr>
            <a:r>
              <a:rPr lang="pt-BR" sz="1300" dirty="0">
                <a:solidFill>
                  <a:srgbClr val="333333"/>
                </a:solidFill>
              </a:rPr>
              <a:t>Posição espacial (x, y, z)</a:t>
            </a:r>
          </a:p>
          <a:p>
            <a:pPr marL="228600" indent="-228600" algn="l">
              <a:spcBef>
                <a:spcPts val="500"/>
              </a:spcBef>
              <a:buChar char="•"/>
            </a:pPr>
            <a:r>
              <a:rPr lang="pt-BR" sz="1300" dirty="0">
                <a:solidFill>
                  <a:srgbClr val="333333"/>
                </a:solidFill>
              </a:rPr>
              <a:t>Velocidade instantânea</a:t>
            </a:r>
          </a:p>
          <a:p>
            <a:pPr marL="228600" indent="-228600" algn="l">
              <a:spcBef>
                <a:spcPts val="500"/>
              </a:spcBef>
              <a:buChar char="•"/>
            </a:pPr>
            <a:r>
              <a:rPr lang="pt-BR" sz="1300" dirty="0">
                <a:solidFill>
                  <a:srgbClr val="333333"/>
                </a:solidFill>
              </a:rPr>
              <a:t>Fadiga acumulada</a:t>
            </a:r>
          </a:p>
          <a:p>
            <a:pPr marL="228600" indent="-228600" algn="l">
              <a:spcBef>
                <a:spcPts val="500"/>
              </a:spcBef>
              <a:buChar char="•"/>
            </a:pPr>
            <a:r>
              <a:rPr lang="pt-BR" sz="1300" dirty="0">
                <a:solidFill>
                  <a:srgbClr val="333333"/>
                </a:solidFill>
              </a:rPr>
              <a:t>Estado de saúde</a:t>
            </a:r>
          </a:p>
          <a:p>
            <a:pPr marL="228600" indent="-228600" algn="l">
              <a:spcBef>
                <a:spcPts val="500"/>
              </a:spcBef>
              <a:buChar char="•"/>
            </a:pPr>
            <a:r>
              <a:rPr lang="pt-BR" sz="1300" dirty="0">
                <a:solidFill>
                  <a:srgbClr val="333333"/>
                </a:solidFill>
              </a:rPr>
              <a:t>Nível de exposição à fumaça e ao calor</a:t>
            </a:r>
          </a:p>
        </p:txBody>
      </p:sp>
    </p:spTree>
    <p:extLst>
      <p:ext uri="{BB962C8B-B14F-4D97-AF65-F5344CB8AC3E}">
        <p14:creationId xmlns:p14="http://schemas.microsoft.com/office/powerpoint/2010/main" val="27073927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700000" y="800000"/>
            <a:ext cx="107920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3.1.2. Descrição do Formalismo</a:t>
            </a:r>
          </a:p>
        </p:txBody>
      </p:sp>
      <p:sp>
        <p:nvSpPr>
          <p:cNvPr id="3" name="Subtitulo"/>
          <p:cNvSpPr txBox="1"/>
          <p:nvPr/>
        </p:nvSpPr>
        <p:spPr>
          <a:xfrm>
            <a:off x="700000" y="1320000"/>
            <a:ext cx="10792000" cy="3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1500" i="1" dirty="0">
                <a:solidFill>
                  <a:srgbClr val="595959"/>
                </a:solidFill>
              </a:rPr>
              <a:t>Mecanismos e regras operacionais que governam o comportamento dos agentes.</a:t>
            </a:r>
          </a:p>
        </p:txBody>
      </p:sp>
      <p:sp>
        <p:nvSpPr>
          <p:cNvPr id="4" name="CardCiclo"/>
          <p:cNvSpPr/>
          <p:nvPr/>
        </p:nvSpPr>
        <p:spPr>
          <a:xfrm>
            <a:off x="700000" y="1900000"/>
            <a:ext cx="5246000" cy="44000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>
            <a:noFill/>
          </a:ln>
        </p:spPr>
        <p:txBody>
          <a:bodyPr wrap="square" lIns="288000" tIns="288000" rIns="288000" bIns="288000" rtlCol="0" anchor="t"/>
          <a:lstStyle/>
          <a:p>
            <a:pPr algn="l">
              <a:buNone/>
            </a:pPr>
            <a:r>
              <a:rPr lang="pt-BR" sz="17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Ciclo de comportamento do agente</a:t>
            </a:r>
          </a:p>
          <a:p>
            <a:pPr algn="l">
              <a:spcBef>
                <a:spcPts val="1000"/>
              </a:spcBef>
              <a:buNone/>
            </a:pPr>
            <a:r>
              <a:rPr lang="pt-BR" sz="1300" b="1" dirty="0">
                <a:solidFill>
                  <a:srgbClr val="C0392B"/>
                </a:solidFill>
              </a:rPr>
              <a:t xml:space="preserve">1. Percepção — </a:t>
            </a:r>
            <a:r>
              <a:rPr lang="pt-BR" sz="1300" dirty="0">
                <a:solidFill>
                  <a:srgbClr val="333333"/>
                </a:solidFill>
              </a:rPr>
              <a:t>coleta de informações do ambiente (temperatura, densidade de fumaça e rotas de fuga).</a:t>
            </a:r>
          </a:p>
          <a:p>
            <a:pPr algn="l">
              <a:spcBef>
                <a:spcPts val="800"/>
              </a:spcBef>
              <a:buNone/>
            </a:pPr>
            <a:r>
              <a:rPr lang="pt-BR" sz="1300" b="1" dirty="0">
                <a:solidFill>
                  <a:srgbClr val="C0392B"/>
                </a:solidFill>
              </a:rPr>
              <a:t xml:space="preserve">2. Interpretação — </a:t>
            </a:r>
            <a:r>
              <a:rPr lang="pt-BR" sz="1300" dirty="0">
                <a:solidFill>
                  <a:srgbClr val="333333"/>
                </a:solidFill>
              </a:rPr>
              <a:t>avaliação do risco local.</a:t>
            </a:r>
          </a:p>
          <a:p>
            <a:pPr algn="l">
              <a:spcBef>
                <a:spcPts val="800"/>
              </a:spcBef>
              <a:buNone/>
            </a:pPr>
            <a:r>
              <a:rPr lang="pt-BR" sz="1300" b="1" dirty="0">
                <a:solidFill>
                  <a:srgbClr val="C0392B"/>
                </a:solidFill>
              </a:rPr>
              <a:t xml:space="preserve">3. Decisão — </a:t>
            </a:r>
            <a:r>
              <a:rPr lang="pt-BR" sz="1300" dirty="0">
                <a:solidFill>
                  <a:srgbClr val="333333"/>
                </a:solidFill>
              </a:rPr>
              <a:t>seleção da rota de evacuação de menor risco percebido.</a:t>
            </a:r>
          </a:p>
          <a:p>
            <a:pPr algn="l">
              <a:spcBef>
                <a:spcPts val="800"/>
              </a:spcBef>
              <a:buNone/>
            </a:pPr>
            <a:r>
              <a:rPr lang="pt-BR" sz="1300" b="1" dirty="0">
                <a:solidFill>
                  <a:srgbClr val="C0392B"/>
                </a:solidFill>
              </a:rPr>
              <a:t xml:space="preserve">4. Execução — </a:t>
            </a:r>
            <a:r>
              <a:rPr lang="pt-BR" sz="1300" dirty="0">
                <a:solidFill>
                  <a:srgbClr val="333333"/>
                </a:solidFill>
              </a:rPr>
              <a:t>movimentação espacial no ambiente.</a:t>
            </a:r>
          </a:p>
        </p:txBody>
      </p:sp>
      <p:sp>
        <p:nvSpPr>
          <p:cNvPr id="5" name="CardVelocidade"/>
          <p:cNvSpPr/>
          <p:nvPr/>
        </p:nvSpPr>
        <p:spPr>
          <a:xfrm>
            <a:off x="6246000" y="1900000"/>
            <a:ext cx="5246000" cy="2080000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>
            <a:noFill/>
          </a:ln>
        </p:spPr>
        <p:txBody>
          <a:bodyPr wrap="square" lIns="288000" tIns="216000" rIns="288000" bIns="216000" rtlCol="0" anchor="t"/>
          <a:lstStyle/>
          <a:p>
            <a:pPr algn="l">
              <a:buNone/>
            </a:pPr>
            <a:r>
              <a:rPr lang="pt-BR" sz="15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Velocidade do agente</a:t>
            </a:r>
          </a:p>
          <a:p>
            <a:pPr algn="ctr">
              <a:spcBef>
                <a:spcPts val="700"/>
              </a:spcBef>
              <a:buNone/>
            </a:pPr>
            <a:r>
              <a:rPr lang="pt-BR" sz="1500" b="1" dirty="0">
                <a:solidFill>
                  <a:srgbClr val="C0392B"/>
                </a:solidFill>
              </a:rPr>
              <a:t>v(t) = v₀ · e^(−λ·S(t)) · (1 − γ·F(t))</a:t>
            </a:r>
          </a:p>
          <a:p>
            <a:pPr algn="l">
              <a:spcBef>
                <a:spcPts val="700"/>
              </a:spcBef>
              <a:buNone/>
            </a:pPr>
            <a:r>
              <a:rPr lang="pt-BR" sz="1100" dirty="0">
                <a:solidFill>
                  <a:srgbClr val="595959"/>
                </a:solidFill>
              </a:rPr>
              <a:t>v₀ = velocidade base; S(t) = densidade de fumaça; F(t) = fadiga acumulada.</a:t>
            </a:r>
          </a:p>
        </p:txBody>
      </p:sp>
      <p:sp>
        <p:nvSpPr>
          <p:cNvPr id="6" name="CardSaude"/>
          <p:cNvSpPr/>
          <p:nvPr/>
        </p:nvSpPr>
        <p:spPr>
          <a:xfrm>
            <a:off x="6246000" y="4395847"/>
            <a:ext cx="5246000" cy="2080000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>
            <a:noFill/>
          </a:ln>
        </p:spPr>
        <p:txBody>
          <a:bodyPr wrap="square" lIns="288000" tIns="216000" rIns="288000" bIns="216000" rtlCol="0" anchor="t"/>
          <a:lstStyle/>
          <a:p>
            <a:pPr algn="l">
              <a:buNone/>
            </a:pPr>
            <a:r>
              <a:rPr lang="pt-BR" sz="15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Saúde do agente — Dose Efetiva Fracionária (FED)</a:t>
            </a:r>
          </a:p>
          <a:p>
            <a:pPr algn="ctr">
              <a:spcBef>
                <a:spcPts val="600"/>
              </a:spcBef>
              <a:buNone/>
            </a:pPr>
            <a:r>
              <a:rPr lang="pt-BR" sz="1400" b="1" dirty="0">
                <a:solidFill>
                  <a:srgbClr val="C0392B"/>
                </a:solidFill>
              </a:rPr>
              <a:t>FED(t) = FED_CO + FED_CO₂ + FED_calor</a:t>
            </a:r>
          </a:p>
          <a:p>
            <a:pPr algn="ctr">
              <a:spcBef>
                <a:spcPts val="300"/>
              </a:spcBef>
              <a:buNone/>
            </a:pPr>
            <a:r>
              <a:rPr lang="pt-BR" sz="1400" b="1" dirty="0">
                <a:solidFill>
                  <a:srgbClr val="C0392B"/>
                </a:solidFill>
              </a:rPr>
              <a:t>H(t) = H₀ − β · FED(t)</a:t>
            </a:r>
          </a:p>
          <a:p>
            <a:pPr algn="l">
              <a:spcBef>
                <a:spcPts val="500"/>
              </a:spcBef>
              <a:buNone/>
            </a:pPr>
            <a:r>
              <a:rPr lang="pt-BR" sz="1100" dirty="0">
                <a:solidFill>
                  <a:srgbClr val="595959"/>
                </a:solidFill>
              </a:rPr>
              <a:t>A saúde reduz com a exposição acumulada a gases tóxicos e calor; em valores críticos, a velocidade do agente diminui.</a:t>
            </a:r>
          </a:p>
        </p:txBody>
      </p:sp>
    </p:spTree>
    <p:extLst>
      <p:ext uri="{BB962C8B-B14F-4D97-AF65-F5344CB8AC3E}">
        <p14:creationId xmlns:p14="http://schemas.microsoft.com/office/powerpoint/2010/main" val="27073927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700000" y="800000"/>
            <a:ext cx="107920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3.1.2. Descrição do Formalismo</a:t>
            </a:r>
          </a:p>
        </p:txBody>
      </p:sp>
      <p:sp>
        <p:nvSpPr>
          <p:cNvPr id="3" name="Subtitulo"/>
          <p:cNvSpPr txBox="1"/>
          <p:nvPr/>
        </p:nvSpPr>
        <p:spPr>
          <a:xfrm>
            <a:off x="700000" y="1320000"/>
            <a:ext cx="10792000" cy="3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1500" i="1" dirty="0">
                <a:solidFill>
                  <a:srgbClr val="595959"/>
                </a:solidFill>
              </a:rPr>
              <a:t>Navegação dos agentes e saídas (resultados) produzidas pelo modelo.</a:t>
            </a:r>
          </a:p>
        </p:txBody>
      </p:sp>
      <p:sp>
        <p:nvSpPr>
          <p:cNvPr id="4" name="CardNavegacao"/>
          <p:cNvSpPr/>
          <p:nvPr/>
        </p:nvSpPr>
        <p:spPr>
          <a:xfrm>
            <a:off x="700000" y="1900000"/>
            <a:ext cx="5246000" cy="44000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>
            <a:noFill/>
          </a:ln>
        </p:spPr>
        <p:txBody>
          <a:bodyPr wrap="square" lIns="288000" tIns="288000" rIns="288000" bIns="288000" rtlCol="0" anchor="t"/>
          <a:lstStyle/>
          <a:p>
            <a:pPr algn="l">
              <a:buNone/>
            </a:pPr>
            <a:r>
              <a:rPr lang="pt-BR" sz="17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Navegação</a:t>
            </a:r>
          </a:p>
          <a:p>
            <a:pPr algn="l">
              <a:spcBef>
                <a:spcPts val="1000"/>
              </a:spcBef>
              <a:buNone/>
            </a:pPr>
            <a:r>
              <a:rPr lang="pt-BR" sz="1300" dirty="0">
                <a:solidFill>
                  <a:srgbClr val="333333"/>
                </a:solidFill>
              </a:rPr>
              <a:t>A navegação baseia-se em um mapa espacial dinâmico, em que o custo de deslocamento é atualizado continuamente.</a:t>
            </a:r>
          </a:p>
          <a:p>
            <a:pPr marL="228600" indent="-228600" algn="l">
              <a:spcBef>
                <a:spcPts val="800"/>
              </a:spcBef>
              <a:buChar char="•"/>
            </a:pPr>
            <a:r>
              <a:rPr lang="pt-BR" sz="1300" b="1" dirty="0">
                <a:solidFill>
                  <a:srgbClr val="C0392B"/>
                </a:solidFill>
              </a:rPr>
              <a:t xml:space="preserve">Custo atualizado por </a:t>
            </a:r>
            <a:r>
              <a:rPr lang="pt-BR" sz="1300" dirty="0">
                <a:solidFill>
                  <a:srgbClr val="333333"/>
                </a:solidFill>
              </a:rPr>
              <a:t>fumaça, calor e congestionamento.</a:t>
            </a:r>
          </a:p>
          <a:p>
            <a:pPr marL="228600" indent="-228600" algn="l">
              <a:spcBef>
                <a:spcPts val="500"/>
              </a:spcBef>
              <a:buChar char="•"/>
            </a:pPr>
            <a:r>
              <a:rPr lang="pt-BR" sz="1300" b="1" dirty="0">
                <a:solidFill>
                  <a:srgbClr val="C0392B"/>
                </a:solidFill>
              </a:rPr>
              <a:t xml:space="preserve">Prioridade </a:t>
            </a:r>
            <a:r>
              <a:rPr lang="pt-BR" sz="1300" dirty="0">
                <a:solidFill>
                  <a:srgbClr val="333333"/>
                </a:solidFill>
              </a:rPr>
              <a:t>para trajetórias de menor risco e menor distância até as saídas.</a:t>
            </a:r>
          </a:p>
        </p:txBody>
      </p:sp>
      <p:sp>
        <p:nvSpPr>
          <p:cNvPr id="5" name="CardSaidas"/>
          <p:cNvSpPr/>
          <p:nvPr/>
        </p:nvSpPr>
        <p:spPr>
          <a:xfrm>
            <a:off x="6246000" y="1900000"/>
            <a:ext cx="5246000" cy="4400000"/>
          </a:xfrm>
          <a:prstGeom prst="roundRect">
            <a:avLst>
              <a:gd name="adj" fmla="val 4000"/>
            </a:avLst>
          </a:prstGeom>
          <a:solidFill>
            <a:srgbClr val="EAF3EC"/>
          </a:solidFill>
          <a:ln>
            <a:noFill/>
          </a:ln>
        </p:spPr>
        <p:txBody>
          <a:bodyPr wrap="square" lIns="288000" tIns="288000" rIns="288000" bIns="288000" rtlCol="0" anchor="t"/>
          <a:lstStyle/>
          <a:p>
            <a:pPr algn="l">
              <a:buNone/>
            </a:pPr>
            <a:r>
              <a:rPr lang="pt-BR" sz="1700" b="1" dirty="0">
                <a:solidFill>
                  <a:srgbClr val="2C5F2D"/>
                </a:solidFill>
              </a:rPr>
              <a:t>Saídas do modelo</a:t>
            </a:r>
          </a:p>
          <a:p>
            <a:pPr marL="228600" indent="-228600" algn="l">
              <a:spcBef>
                <a:spcPts val="1000"/>
              </a:spcBef>
              <a:buChar char="•"/>
            </a:pPr>
            <a:r>
              <a:rPr lang="pt-BR" sz="1300" b="1" dirty="0">
                <a:solidFill>
                  <a:srgbClr val="333333"/>
                </a:solidFill>
              </a:rPr>
              <a:t>Tempo Total de Evacuação (TET)</a:t>
            </a:r>
          </a:p>
          <a:p>
            <a:pPr marL="228600" indent="-228600" algn="l">
              <a:spcBef>
                <a:spcPts val="600"/>
              </a:spcBef>
              <a:buChar char="•"/>
            </a:pPr>
            <a:r>
              <a:rPr lang="pt-BR" sz="1300" dirty="0">
                <a:solidFill>
                  <a:srgbClr val="333333"/>
                </a:solidFill>
              </a:rPr>
              <a:t>Taxa de sobrevivência dos ocupantes</a:t>
            </a:r>
          </a:p>
          <a:p>
            <a:pPr marL="228600" indent="-228600" algn="l">
              <a:spcBef>
                <a:spcPts val="600"/>
              </a:spcBef>
              <a:buChar char="•"/>
            </a:pPr>
            <a:r>
              <a:rPr lang="pt-BR" sz="1300" dirty="0">
                <a:solidFill>
                  <a:srgbClr val="333333"/>
                </a:solidFill>
              </a:rPr>
              <a:t>Estado médio de saúde dos sobreviventes</a:t>
            </a:r>
          </a:p>
          <a:p>
            <a:pPr marL="228600" indent="-228600" algn="l">
              <a:spcBef>
                <a:spcPts val="600"/>
              </a:spcBef>
              <a:buChar char="•"/>
            </a:pPr>
            <a:r>
              <a:rPr lang="pt-BR" sz="1300" dirty="0">
                <a:solidFill>
                  <a:srgbClr val="333333"/>
                </a:solidFill>
              </a:rPr>
              <a:t>Distribuição espacial das trajetórias de fuga</a:t>
            </a:r>
          </a:p>
          <a:p>
            <a:pPr marL="228600" indent="-228600" algn="l">
              <a:spcBef>
                <a:spcPts val="600"/>
              </a:spcBef>
              <a:buChar char="•"/>
            </a:pPr>
            <a:r>
              <a:rPr lang="pt-BR" sz="1300" dirty="0">
                <a:solidFill>
                  <a:srgbClr val="333333"/>
                </a:solidFill>
              </a:rPr>
              <a:t>Identificação de gargalos e áreas de congestionamento</a:t>
            </a:r>
          </a:p>
        </p:txBody>
      </p:sp>
    </p:spTree>
    <p:extLst>
      <p:ext uri="{BB962C8B-B14F-4D97-AF65-F5344CB8AC3E}">
        <p14:creationId xmlns:p14="http://schemas.microsoft.com/office/powerpoint/2010/main" val="27073927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FE23C-3C29-AB43-CC1C-29FC59C61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6E588AE-613D-0F01-5119-F2764DFE15B7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4. Computador</a:t>
            </a:r>
          </a:p>
        </p:txBody>
      </p:sp>
    </p:spTree>
    <p:extLst>
      <p:ext uri="{BB962C8B-B14F-4D97-AF65-F5344CB8AC3E}">
        <p14:creationId xmlns:p14="http://schemas.microsoft.com/office/powerpoint/2010/main" val="1380434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700000" y="800000"/>
            <a:ext cx="107920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4.1. Plataforma e Estrutura do Modelo</a:t>
            </a:r>
          </a:p>
        </p:txBody>
      </p:sp>
      <p:sp>
        <p:nvSpPr>
          <p:cNvPr id="3" name="Subtitulo"/>
          <p:cNvSpPr txBox="1"/>
          <p:nvPr/>
        </p:nvSpPr>
        <p:spPr>
          <a:xfrm>
            <a:off x="700000" y="1320000"/>
            <a:ext cx="10792000" cy="3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1500" i="1" dirty="0">
                <a:solidFill>
                  <a:srgbClr val="595959"/>
                </a:solidFill>
              </a:rPr>
              <a:t>Implementação em NetLogo: cada paradigma do formalismo corresponde a um elemento da linguagem.</a:t>
            </a:r>
          </a:p>
        </p:txBody>
      </p:sp>
      <p:sp>
        <p:nvSpPr>
          <p:cNvPr id="4" name="CardAgentes"/>
          <p:cNvSpPr/>
          <p:nvPr/>
        </p:nvSpPr>
        <p:spPr>
          <a:xfrm>
            <a:off x="700000" y="1900000"/>
            <a:ext cx="3397000" cy="29000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>
            <a:noFill/>
          </a:ln>
        </p:spPr>
        <p:txBody>
          <a:bodyPr wrap="square" lIns="252000" tIns="252000" rIns="252000" bIns="252000" rtlCol="0" anchor="t"/>
          <a:lstStyle/>
          <a:p>
            <a:pPr algn="l">
              <a:buNone/>
            </a:pPr>
            <a:r>
              <a:rPr lang="pt-BR" sz="15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ABM → turtles</a:t>
            </a:r>
          </a:p>
          <a:p>
            <a:pPr algn="l">
              <a:spcBef>
                <a:spcPts val="400"/>
              </a:spcBef>
              <a:buNone/>
            </a:pPr>
            <a:r>
              <a:rPr lang="pt-BR" sz="1150" b="1" dirty="0">
                <a:solidFill>
                  <a:srgbClr val="C0392B"/>
                </a:solidFill>
              </a:rPr>
              <a:t>Agentes ocupantes</a:t>
            </a:r>
          </a:p>
          <a:p>
            <a:pPr algn="l">
              <a:spcBef>
                <a:spcPts val="700"/>
              </a:spcBef>
              <a:buNone/>
            </a:pPr>
            <a:r>
              <a:rPr lang="pt-BR" sz="1200" dirty="0">
                <a:solidFill>
                  <a:srgbClr val="333333"/>
                </a:solidFill>
              </a:rPr>
              <a:t>Cada ocupante é um agente com perfil, velocidade, fadiga, saúde e exposição próprios.</a:t>
            </a:r>
          </a:p>
        </p:txBody>
      </p:sp>
      <p:sp>
        <p:nvSpPr>
          <p:cNvPr id="5" name="CardCelulas"/>
          <p:cNvSpPr/>
          <p:nvPr/>
        </p:nvSpPr>
        <p:spPr>
          <a:xfrm>
            <a:off x="4397000" y="1900000"/>
            <a:ext cx="3397000" cy="29000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>
            <a:noFill/>
          </a:ln>
        </p:spPr>
        <p:txBody>
          <a:bodyPr wrap="square" lIns="252000" tIns="252000" rIns="252000" bIns="252000" rtlCol="0" anchor="t"/>
          <a:lstStyle/>
          <a:p>
            <a:pPr algn="l">
              <a:buNone/>
            </a:pPr>
            <a:r>
              <a:rPr lang="pt-BR" sz="15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CA → patches</a:t>
            </a:r>
          </a:p>
          <a:p>
            <a:pPr algn="l">
              <a:spcBef>
                <a:spcPts val="400"/>
              </a:spcBef>
              <a:buNone/>
            </a:pPr>
            <a:r>
              <a:rPr lang="pt-BR" sz="1150" b="1" dirty="0">
                <a:solidFill>
                  <a:srgbClr val="C0392B"/>
                </a:solidFill>
              </a:rPr>
              <a:t>Células do ambiente</a:t>
            </a:r>
          </a:p>
          <a:p>
            <a:pPr algn="l">
              <a:spcBef>
                <a:spcPts val="700"/>
              </a:spcBef>
              <a:buNone/>
            </a:pPr>
            <a:r>
              <a:rPr lang="pt-BR" sz="1200" dirty="0">
                <a:solidFill>
                  <a:srgbClr val="333333"/>
                </a:solidFill>
              </a:rPr>
              <a:t>O edifício é uma grade de patches do tipo vazio, parede, saída ou foco do incêndio.</a:t>
            </a:r>
          </a:p>
        </p:txBody>
      </p:sp>
      <p:sp>
        <p:nvSpPr>
          <p:cNvPr id="6" name="CardCampos"/>
          <p:cNvSpPr/>
          <p:nvPr/>
        </p:nvSpPr>
        <p:spPr>
          <a:xfrm>
            <a:off x="8094000" y="1900000"/>
            <a:ext cx="3398000" cy="29000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>
            <a:noFill/>
          </a:ln>
        </p:spPr>
        <p:txBody>
          <a:bodyPr wrap="square" lIns="252000" tIns="252000" rIns="252000" bIns="252000" rtlCol="0" anchor="t"/>
          <a:lstStyle/>
          <a:p>
            <a:pPr algn="l">
              <a:buNone/>
            </a:pPr>
            <a:r>
              <a:rPr lang="pt-BR" sz="15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CFD → campos de patch</a:t>
            </a:r>
          </a:p>
          <a:p>
            <a:pPr algn="l">
              <a:spcBef>
                <a:spcPts val="400"/>
              </a:spcBef>
              <a:buNone/>
            </a:pPr>
            <a:r>
              <a:rPr lang="pt-BR" sz="1150" b="1" dirty="0">
                <a:solidFill>
                  <a:srgbClr val="C0392B"/>
                </a:solidFill>
              </a:rPr>
              <a:t>Aproximação dos fluidos</a:t>
            </a:r>
          </a:p>
          <a:p>
            <a:pPr algn="l">
              <a:spcBef>
                <a:spcPts val="700"/>
              </a:spcBef>
              <a:buNone/>
            </a:pPr>
            <a:r>
              <a:rPr lang="pt-BR" sz="1200" dirty="0">
                <a:solidFill>
                  <a:srgbClr val="333333"/>
                </a:solidFill>
              </a:rPr>
              <a:t>Cada célula guarda temperatura, fumaça, CO e CO₂ como campos dinâmicos atualizados a cada tick.</a:t>
            </a:r>
          </a:p>
        </p:txBody>
      </p:sp>
      <p:sp>
        <p:nvSpPr>
          <p:cNvPr id="7" name="CardEstrutura"/>
          <p:cNvSpPr/>
          <p:nvPr/>
        </p:nvSpPr>
        <p:spPr>
          <a:xfrm>
            <a:off x="700000" y="5000000"/>
            <a:ext cx="10792000" cy="1300000"/>
          </a:xfrm>
          <a:prstGeom prst="roundRect">
            <a:avLst>
              <a:gd name="adj" fmla="val 6000"/>
            </a:avLst>
          </a:prstGeom>
          <a:solidFill>
            <a:srgbClr val="EAF3EC"/>
          </a:solidFill>
          <a:ln>
            <a:noFill/>
          </a:ln>
        </p:spPr>
        <p:txBody>
          <a:bodyPr wrap="square" lIns="288000" tIns="216000" rIns="288000" bIns="216000" rtlCol="0" anchor="t"/>
          <a:lstStyle/>
          <a:p>
            <a:pPr algn="l">
              <a:buNone/>
            </a:pPr>
            <a:r>
              <a:rPr lang="pt-BR" sz="1400" b="1" dirty="0">
                <a:solidFill>
                  <a:srgbClr val="2C5F2D"/>
                </a:solidFill>
              </a:rPr>
              <a:t>Estrutura do código</a:t>
            </a:r>
          </a:p>
          <a:p>
            <a:pPr algn="l">
              <a:spcBef>
                <a:spcPts val="500"/>
              </a:spcBef>
              <a:buNone/>
            </a:pPr>
            <a:r>
              <a:rPr lang="pt-BR" sz="1250" b="1" dirty="0">
                <a:solidFill>
                  <a:srgbClr val="333333"/>
                </a:solidFill>
              </a:rPr>
              <a:t xml:space="preserve">globals: </a:t>
            </a:r>
            <a:r>
              <a:rPr lang="pt-BR" sz="1250" dirty="0">
                <a:solidFill>
                  <a:srgbClr val="333333"/>
                </a:solidFill>
              </a:rPr>
              <a:t xml:space="preserve">métricas globais (TET, evacuados, mortos, taxa de sobrevivência).   </a:t>
            </a:r>
            <a:r>
              <a:rPr lang="pt-BR" sz="1250" b="1" dirty="0">
                <a:solidFill>
                  <a:srgbClr val="333333"/>
                </a:solidFill>
              </a:rPr>
              <a:t xml:space="preserve">patches-own: </a:t>
            </a:r>
            <a:r>
              <a:rPr lang="pt-BR" sz="1250" dirty="0">
                <a:solidFill>
                  <a:srgbClr val="333333"/>
                </a:solidFill>
              </a:rPr>
              <a:t xml:space="preserve">estado do ambiente.   </a:t>
            </a:r>
            <a:r>
              <a:rPr lang="pt-BR" sz="1250" b="1" dirty="0">
                <a:solidFill>
                  <a:srgbClr val="333333"/>
                </a:solidFill>
              </a:rPr>
              <a:t xml:space="preserve">turtles-own: </a:t>
            </a:r>
            <a:r>
              <a:rPr lang="pt-BR" sz="1250" dirty="0">
                <a:solidFill>
                  <a:srgbClr val="333333"/>
                </a:solidFill>
              </a:rPr>
              <a:t>atributos de cada ocupante.</a:t>
            </a:r>
          </a:p>
        </p:txBody>
      </p:sp>
    </p:spTree>
    <p:extLst>
      <p:ext uri="{BB962C8B-B14F-4D97-AF65-F5344CB8AC3E}">
        <p14:creationId xmlns:p14="http://schemas.microsoft.com/office/powerpoint/2010/main" val="27073927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700000" y="800000"/>
            <a:ext cx="107920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4.2. Mecanismos Implementados</a:t>
            </a:r>
          </a:p>
        </p:txBody>
      </p:sp>
      <p:sp>
        <p:nvSpPr>
          <p:cNvPr id="3" name="Subtitulo"/>
          <p:cNvSpPr txBox="1"/>
          <p:nvPr/>
        </p:nvSpPr>
        <p:spPr>
          <a:xfrm>
            <a:off x="700000" y="1320000"/>
            <a:ext cx="10792000" cy="3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1500" i="1" dirty="0">
                <a:solidFill>
                  <a:srgbClr val="595959"/>
                </a:solidFill>
              </a:rPr>
              <a:t>Como as regras do formalismo foram traduzidas em procedimentos do modelo.</a:t>
            </a:r>
          </a:p>
        </p:txBody>
      </p:sp>
      <p:sp>
        <p:nvSpPr>
          <p:cNvPr id="4" name="CardNavegacao"/>
          <p:cNvSpPr/>
          <p:nvPr/>
        </p:nvSpPr>
        <p:spPr>
          <a:xfrm>
            <a:off x="700000" y="1900000"/>
            <a:ext cx="5246000" cy="2150000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>
            <a:noFill/>
          </a:ln>
        </p:spPr>
        <p:txBody>
          <a:bodyPr wrap="square" lIns="252000" tIns="216000" rIns="252000" bIns="216000" rtlCol="0" anchor="t"/>
          <a:lstStyle/>
          <a:p>
            <a:pPr algn="l">
              <a:buNone/>
            </a:pPr>
            <a:r>
              <a:rPr lang="pt-BR" sz="15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Navegação (campo de distância)</a:t>
            </a:r>
          </a:p>
          <a:p>
            <a:pPr algn="l">
              <a:spcBef>
                <a:spcPts val="500"/>
              </a:spcBef>
              <a:buNone/>
            </a:pPr>
            <a:r>
              <a:rPr lang="pt-BR" sz="1200" dirty="0">
                <a:solidFill>
                  <a:srgbClr val="333333"/>
                </a:solidFill>
              </a:rPr>
              <a:t>Uma busca em largura (BFS) calcula a distância de cada célula até a saída mais próxima; os agentes seguem o gradiente, evitando fumaça, calor e congestionamento.</a:t>
            </a:r>
          </a:p>
        </p:txBody>
      </p:sp>
      <p:sp>
        <p:nvSpPr>
          <p:cNvPr id="5" name="CardFogo"/>
          <p:cNvSpPr/>
          <p:nvPr/>
        </p:nvSpPr>
        <p:spPr>
          <a:xfrm>
            <a:off x="6246000" y="1900000"/>
            <a:ext cx="5246000" cy="2150000"/>
          </a:xfrm>
          <a:prstGeom prst="roundRect">
            <a:avLst>
              <a:gd name="adj" fmla="val 5000"/>
            </a:avLst>
          </a:prstGeom>
          <a:solidFill>
            <a:srgbClr val="FBEDEB"/>
          </a:solidFill>
          <a:ln>
            <a:noFill/>
          </a:ln>
        </p:spPr>
        <p:txBody>
          <a:bodyPr wrap="square" lIns="252000" tIns="216000" rIns="252000" bIns="216000" rtlCol="0" anchor="t"/>
          <a:lstStyle/>
          <a:p>
            <a:pPr algn="l">
              <a:buNone/>
            </a:pPr>
            <a:r>
              <a:rPr lang="pt-BR" sz="1500" b="1" dirty="0">
                <a:solidFill>
                  <a:srgbClr val="C0392B"/>
                </a:solidFill>
              </a:rPr>
              <a:t>Propagação do fogo e da fumaça</a:t>
            </a:r>
          </a:p>
          <a:p>
            <a:pPr algn="l">
              <a:spcBef>
                <a:spcPts val="500"/>
              </a:spcBef>
              <a:buNone/>
            </a:pPr>
            <a:r>
              <a:rPr lang="pt-BR" sz="1200" dirty="0">
                <a:solidFill>
                  <a:srgbClr val="333333"/>
                </a:solidFill>
              </a:rPr>
              <a:t>Modelo de contágio: cada célula contamina as vizinhas e a fumaça sobe pelas escadas por convecção, tomando um andar em ~20 ticks.</a:t>
            </a:r>
          </a:p>
        </p:txBody>
      </p:sp>
      <p:sp>
        <p:nvSpPr>
          <p:cNvPr id="6" name="CardCA"/>
          <p:cNvSpPr/>
          <p:nvPr/>
        </p:nvSpPr>
        <p:spPr>
          <a:xfrm>
            <a:off x="700000" y="4150000"/>
            <a:ext cx="5246000" cy="2150000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>
            <a:noFill/>
          </a:ln>
        </p:spPr>
        <p:txBody>
          <a:bodyPr wrap="square" lIns="252000" tIns="216000" rIns="252000" bIns="216000" rtlCol="0" anchor="t"/>
          <a:lstStyle/>
          <a:p>
            <a:pPr algn="l">
              <a:buNone/>
            </a:pPr>
            <a:r>
              <a:rPr lang="pt-BR" sz="15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Regra de autômato celular</a:t>
            </a:r>
          </a:p>
          <a:p>
            <a:pPr algn="l">
              <a:spcBef>
                <a:spcPts val="500"/>
              </a:spcBef>
              <a:buNone/>
            </a:pPr>
            <a:r>
              <a:rPr lang="pt-BR" sz="1200" dirty="0">
                <a:solidFill>
                  <a:srgbClr val="333333"/>
                </a:solidFill>
              </a:rPr>
              <a:t>Um agente por célula no andar; escadas e saídas aceitam vários agentes, representando filas e o fluxo vertical de evacuação.</a:t>
            </a:r>
          </a:p>
        </p:txBody>
      </p:sp>
      <p:sp>
        <p:nvSpPr>
          <p:cNvPr id="7" name="CardSaude"/>
          <p:cNvSpPr/>
          <p:nvPr/>
        </p:nvSpPr>
        <p:spPr>
          <a:xfrm>
            <a:off x="6246000" y="4150000"/>
            <a:ext cx="5246000" cy="2150000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>
            <a:noFill/>
          </a:ln>
        </p:spPr>
        <p:txBody>
          <a:bodyPr wrap="square" lIns="252000" tIns="216000" rIns="252000" bIns="216000" rtlCol="0" anchor="t"/>
          <a:lstStyle/>
          <a:p>
            <a:pPr algn="l">
              <a:buNone/>
            </a:pPr>
            <a:r>
              <a:rPr lang="pt-BR" sz="15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Saúde (FED) e perfis</a:t>
            </a:r>
          </a:p>
          <a:p>
            <a:pPr algn="l">
              <a:spcBef>
                <a:spcPts val="500"/>
              </a:spcBef>
              <a:buNone/>
            </a:pPr>
            <a:r>
              <a:rPr lang="pt-BR" sz="1200" dirty="0">
                <a:solidFill>
                  <a:srgbClr val="333333"/>
                </a:solidFill>
              </a:rPr>
              <a:t>O FED (CO + CO₂ + calor) leva o agente de saudável a ferido e a morto. Velocidade por perfil: adulto 100%, idoso 60%, PcD 40%.</a:t>
            </a:r>
          </a:p>
        </p:txBody>
      </p:sp>
    </p:spTree>
    <p:extLst>
      <p:ext uri="{BB962C8B-B14F-4D97-AF65-F5344CB8AC3E}">
        <p14:creationId xmlns:p14="http://schemas.microsoft.com/office/powerpoint/2010/main" val="27073927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FBE59-FE81-33A7-70E3-E0CBC48DF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832CDFC-286D-70E6-7117-22E38D31685C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5. Execução</a:t>
            </a:r>
          </a:p>
        </p:txBody>
      </p:sp>
    </p:spTree>
    <p:extLst>
      <p:ext uri="{BB962C8B-B14F-4D97-AF65-F5344CB8AC3E}">
        <p14:creationId xmlns:p14="http://schemas.microsoft.com/office/powerpoint/2010/main" val="37432399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0B3F0-BC85-C350-CE74-951AA51A8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168FC49-E03F-BACA-EC63-7EF8D148230E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6. Observação</a:t>
            </a:r>
          </a:p>
        </p:txBody>
      </p:sp>
    </p:spTree>
    <p:extLst>
      <p:ext uri="{BB962C8B-B14F-4D97-AF65-F5344CB8AC3E}">
        <p14:creationId xmlns:p14="http://schemas.microsoft.com/office/powerpoint/2010/main" val="31011838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700000" y="800000"/>
            <a:ext cx="107920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5.1. Configuração e Fluxo de Execução</a:t>
            </a:r>
          </a:p>
        </p:txBody>
      </p:sp>
      <p:sp>
        <p:nvSpPr>
          <p:cNvPr id="3" name="Subtitulo"/>
          <p:cNvSpPr txBox="1"/>
          <p:nvPr/>
        </p:nvSpPr>
        <p:spPr>
          <a:xfrm>
            <a:off x="700000" y="1320000"/>
            <a:ext cx="10792000" cy="3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1500" i="1" dirty="0">
                <a:solidFill>
                  <a:srgbClr val="595959"/>
                </a:solidFill>
              </a:rPr>
              <a:t>A simulação é executada em ciclos discretos (ticks), com parâmetros ajustáveis por sliders.</a:t>
            </a:r>
          </a:p>
        </p:txBody>
      </p:sp>
      <p:sp>
        <p:nvSpPr>
          <p:cNvPr id="4" name="CardFluxo"/>
          <p:cNvSpPr/>
          <p:nvPr/>
        </p:nvSpPr>
        <p:spPr>
          <a:xfrm>
            <a:off x="700000" y="1900000"/>
            <a:ext cx="5246000" cy="44000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>
            <a:noFill/>
          </a:ln>
        </p:spPr>
        <p:txBody>
          <a:bodyPr wrap="square" lIns="288000" tIns="288000" rIns="288000" bIns="288000" rtlCol="0" anchor="t"/>
          <a:lstStyle/>
          <a:p>
            <a:pPr algn="l">
              <a:buNone/>
            </a:pPr>
            <a:r>
              <a:rPr lang="pt-BR" sz="17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Fluxo de execução</a:t>
            </a:r>
          </a:p>
          <a:p>
            <a:pPr algn="l">
              <a:spcBef>
                <a:spcPts val="1000"/>
              </a:spcBef>
              <a:buNone/>
            </a:pPr>
            <a:r>
              <a:rPr lang="pt-BR" sz="1300" b="1" dirty="0">
                <a:solidFill>
                  <a:srgbClr val="C0392B"/>
                </a:solidFill>
              </a:rPr>
              <a:t xml:space="preserve">1. setup — </a:t>
            </a:r>
            <a:r>
              <a:rPr lang="pt-BR" sz="1300" dirty="0">
                <a:solidFill>
                  <a:srgbClr val="333333"/>
                </a:solidFill>
              </a:rPr>
              <a:t>constrói o edifício de 30 andares e calcula o campo de distância (BFS) até as saídas.</a:t>
            </a:r>
          </a:p>
          <a:p>
            <a:pPr algn="l">
              <a:spcBef>
                <a:spcPts val="800"/>
              </a:spcBef>
              <a:buNone/>
            </a:pPr>
            <a:r>
              <a:rPr lang="pt-BR" sz="1300" b="1" dirty="0">
                <a:solidFill>
                  <a:srgbClr val="C0392B"/>
                </a:solidFill>
              </a:rPr>
              <a:t xml:space="preserve">2. Sliders — </a:t>
            </a:r>
            <a:r>
              <a:rPr lang="pt-BR" sz="1300" dirty="0">
                <a:solidFill>
                  <a:srgbClr val="333333"/>
                </a:solidFill>
              </a:rPr>
              <a:t>ajuste dos parâmetros conforme o experimento desejado.</a:t>
            </a:r>
          </a:p>
          <a:p>
            <a:pPr algn="l">
              <a:spcBef>
                <a:spcPts val="800"/>
              </a:spcBef>
              <a:buNone/>
            </a:pPr>
            <a:r>
              <a:rPr lang="pt-BR" sz="1300" b="1" dirty="0">
                <a:solidFill>
                  <a:srgbClr val="C0392B"/>
                </a:solidFill>
              </a:rPr>
              <a:t xml:space="preserve">3. go — </a:t>
            </a:r>
            <a:r>
              <a:rPr lang="pt-BR" sz="1300" dirty="0">
                <a:solidFill>
                  <a:srgbClr val="333333"/>
                </a:solidFill>
              </a:rPr>
              <a:t>inicia o ciclo percepção → interpretação → decisão → execução a cada tick.</a:t>
            </a:r>
          </a:p>
          <a:p>
            <a:pPr algn="l">
              <a:spcBef>
                <a:spcPts val="800"/>
              </a:spcBef>
              <a:buNone/>
            </a:pPr>
            <a:r>
              <a:rPr lang="pt-BR" sz="1300" b="1" dirty="0">
                <a:solidFill>
                  <a:srgbClr val="C0392B"/>
                </a:solidFill>
              </a:rPr>
              <a:t xml:space="preserve">4. Acompanhamento — </a:t>
            </a:r>
            <a:r>
              <a:rPr lang="pt-BR" sz="1300" dirty="0">
                <a:solidFill>
                  <a:srgbClr val="333333"/>
                </a:solidFill>
              </a:rPr>
              <a:t>TET, taxa de sobrevivência, saúde média e gráficos atualizados em tempo real.</a:t>
            </a:r>
          </a:p>
        </p:txBody>
      </p:sp>
      <p:sp>
        <p:nvSpPr>
          <p:cNvPr id="5" name="CardParametros"/>
          <p:cNvSpPr/>
          <p:nvPr/>
        </p:nvSpPr>
        <p:spPr>
          <a:xfrm>
            <a:off x="6246000" y="1900000"/>
            <a:ext cx="5246000" cy="44000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>
            <a:noFill/>
          </a:ln>
        </p:spPr>
        <p:txBody>
          <a:bodyPr wrap="square" lIns="288000" tIns="288000" rIns="288000" bIns="288000" rtlCol="0" anchor="t"/>
          <a:lstStyle/>
          <a:p>
            <a:pPr algn="l">
              <a:buNone/>
            </a:pPr>
            <a:r>
              <a:rPr lang="pt-BR" sz="17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Parâmetros ajustáveis</a:t>
            </a:r>
          </a:p>
          <a:p>
            <a:pPr marL="228600" indent="-228600" algn="l">
              <a:spcBef>
                <a:spcPts val="1000"/>
              </a:spcBef>
              <a:buChar char="•"/>
            </a:pPr>
            <a:r>
              <a:rPr lang="pt-BR" sz="1300" b="1" dirty="0">
                <a:solidFill>
                  <a:srgbClr val="333333"/>
                </a:solidFill>
              </a:rPr>
              <a:t xml:space="preserve">Foco do incêndio — </a:t>
            </a:r>
            <a:r>
              <a:rPr lang="pt-BR" sz="1300" dirty="0">
                <a:solidFill>
                  <a:srgbClr val="333333"/>
                </a:solidFill>
              </a:rPr>
              <a:t>andar e célula de origem.</a:t>
            </a:r>
          </a:p>
          <a:p>
            <a:pPr marL="228600" indent="-228600" algn="l">
              <a:spcBef>
                <a:spcPts val="600"/>
              </a:spcBef>
              <a:buChar char="•"/>
            </a:pPr>
            <a:r>
              <a:rPr lang="pt-BR" sz="1300" b="1" dirty="0">
                <a:solidFill>
                  <a:srgbClr val="333333"/>
                </a:solidFill>
              </a:rPr>
              <a:t xml:space="preserve">Nº de ocupantes </a:t>
            </a:r>
            <a:r>
              <a:rPr lang="pt-BR" sz="1300" dirty="0">
                <a:solidFill>
                  <a:srgbClr val="333333"/>
                </a:solidFill>
              </a:rPr>
              <a:t>e proporção de perfis.</a:t>
            </a:r>
          </a:p>
          <a:p>
            <a:pPr marL="228600" indent="-228600" algn="l">
              <a:spcBef>
                <a:spcPts val="600"/>
              </a:spcBef>
              <a:buChar char="•"/>
            </a:pPr>
            <a:r>
              <a:rPr lang="pt-BR" sz="1300" b="1" dirty="0">
                <a:solidFill>
                  <a:srgbClr val="333333"/>
                </a:solidFill>
              </a:rPr>
              <a:t xml:space="preserve">λ </a:t>
            </a:r>
            <a:r>
              <a:rPr lang="pt-BR" sz="1300" dirty="0">
                <a:solidFill>
                  <a:srgbClr val="333333"/>
                </a:solidFill>
              </a:rPr>
              <a:t>— influência da fumaça na velocidade.</a:t>
            </a:r>
          </a:p>
          <a:p>
            <a:pPr marL="228600" indent="-228600" algn="l">
              <a:spcBef>
                <a:spcPts val="600"/>
              </a:spcBef>
              <a:buChar char="•"/>
            </a:pPr>
            <a:r>
              <a:rPr lang="pt-BR" sz="1300" b="1" dirty="0">
                <a:solidFill>
                  <a:srgbClr val="333333"/>
                </a:solidFill>
              </a:rPr>
              <a:t xml:space="preserve">γ </a:t>
            </a:r>
            <a:r>
              <a:rPr lang="pt-BR" sz="1300" dirty="0">
                <a:solidFill>
                  <a:srgbClr val="333333"/>
                </a:solidFill>
              </a:rPr>
              <a:t>— efeito da fadiga acumulada.</a:t>
            </a:r>
          </a:p>
          <a:p>
            <a:pPr marL="228600" indent="-228600" algn="l">
              <a:spcBef>
                <a:spcPts val="600"/>
              </a:spcBef>
              <a:buChar char="•"/>
            </a:pPr>
            <a:r>
              <a:rPr lang="pt-BR" sz="1300" b="1" dirty="0">
                <a:solidFill>
                  <a:srgbClr val="333333"/>
                </a:solidFill>
              </a:rPr>
              <a:t xml:space="preserve">β </a:t>
            </a:r>
            <a:r>
              <a:rPr lang="pt-BR" sz="1300" dirty="0">
                <a:solidFill>
                  <a:srgbClr val="333333"/>
                </a:solidFill>
              </a:rPr>
              <a:t>— sensibilidade da saúde ao FED.</a:t>
            </a:r>
          </a:p>
          <a:p>
            <a:pPr marL="228600" indent="-228600" algn="l">
              <a:spcBef>
                <a:spcPts val="600"/>
              </a:spcBef>
              <a:buChar char="•"/>
            </a:pPr>
            <a:r>
              <a:rPr lang="pt-BR" sz="1300" b="1" dirty="0">
                <a:solidFill>
                  <a:srgbClr val="333333"/>
                </a:solidFill>
              </a:rPr>
              <a:t xml:space="preserve">Velocidade de propagação </a:t>
            </a:r>
            <a:r>
              <a:rPr lang="pt-BR" sz="1300" dirty="0">
                <a:solidFill>
                  <a:srgbClr val="333333"/>
                </a:solidFill>
              </a:rPr>
              <a:t>do fogo e da fumaça.</a:t>
            </a:r>
          </a:p>
        </p:txBody>
      </p:sp>
    </p:spTree>
    <p:extLst>
      <p:ext uri="{BB962C8B-B14F-4D97-AF65-F5344CB8AC3E}">
        <p14:creationId xmlns:p14="http://schemas.microsoft.com/office/powerpoint/2010/main" val="27073927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700000" y="800000"/>
            <a:ext cx="107920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5.2. Visão Geral dos Cenários</a:t>
            </a:r>
          </a:p>
        </p:txBody>
      </p:sp>
      <p:sp>
        <p:nvSpPr>
          <p:cNvPr id="3" name="Subtitulo"/>
          <p:cNvSpPr txBox="1"/>
          <p:nvPr/>
        </p:nvSpPr>
        <p:spPr>
          <a:xfrm>
            <a:off x="700000" y="1320000"/>
            <a:ext cx="10792000" cy="3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1500" i="1" dirty="0">
                <a:solidFill>
                  <a:srgbClr val="595959"/>
                </a:solidFill>
              </a:rPr>
              <a:t>Cinco execuções com focos, perfis e toxicidade distintos — do caso de referência ao pior caso.</a:t>
            </a:r>
          </a:p>
        </p:txBody>
      </p:sp>
      <p:graphicFrame>
        <p:nvGraphicFramePr>
          <p:cNvPr id="4" name="TabelaCenarios"/>
          <p:cNvGraphicFramePr/>
          <p:nvPr/>
        </p:nvGraphicFramePr>
        <p:xfrm>
          <a:off x="700000" y="2050000"/>
          <a:ext cx="10792000" cy="3470000"/>
        </p:xfrm>
        <a:graphic>
          <a:graphicData uri="http://schemas.openxmlformats.org/drawingml/2006/table">
            <a:tbl>
              <a:tblPr firstRow="1" bandRow="1"/>
              <a:tblGrid>
                <a:gridCol w="2600000"/>
                <a:gridCol w="1740000"/>
                <a:gridCol w="1150000"/>
                <a:gridCol w="1100000"/>
                <a:gridCol w="1450000"/>
                <a:gridCol w="1140000"/>
                <a:gridCol w="1612000"/>
              </a:tblGrid>
              <a:tr h="470000">
                <a:tc>
                  <a:txBody>
                    <a:bodyPr/>
                    <a:lstStyle/>
                    <a:p>
                      <a:pPr algn="l"/>
                      <a:r>
                        <a:rPr lang="pt-BR" sz="1100" b="1" dirty="0">
                          <a:solidFill>
                            <a:srgbClr val="FFFFFF"/>
                          </a:solidFill>
                        </a:rPr>
                        <a:t>Cenário</a:t>
                      </a:r>
                    </a:p>
                  </a:txBody>
                  <a:tcPr marL="73152" marR="73152" marT="36576" marB="36576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rgbClr val="FFFFFF"/>
                          </a:solidFill>
                        </a:rPr>
                        <a:t>Ocupantes</a:t>
                      </a:r>
                    </a:p>
                  </a:txBody>
                  <a:tcPr marL="73152" marR="73152" marT="36576" marB="36576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rgbClr val="FFFFFF"/>
                          </a:solidFill>
                        </a:rPr>
                        <a:t>Foco (andar)</a:t>
                      </a:r>
                    </a:p>
                  </a:txBody>
                  <a:tcPr marL="73152" marR="73152" marT="36576" marB="36576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rgbClr val="FFFFFF"/>
                          </a:solidFill>
                        </a:rPr>
                        <a:t>TET</a:t>
                      </a:r>
                    </a:p>
                  </a:txBody>
                  <a:tcPr marL="73152" marR="73152" marT="36576" marB="36576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rgbClr val="FFFFFF"/>
                          </a:solidFill>
                        </a:rPr>
                        <a:t>Evacuados</a:t>
                      </a:r>
                    </a:p>
                  </a:txBody>
                  <a:tcPr marL="73152" marR="73152" marT="36576" marB="36576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rgbClr val="FFFFFF"/>
                          </a:solidFill>
                        </a:rPr>
                        <a:t>Mortos</a:t>
                      </a:r>
                    </a:p>
                  </a:txBody>
                  <a:tcPr marL="73152" marR="73152" marT="36576" marB="36576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rgbClr val="FFFFFF"/>
                          </a:solidFill>
                        </a:rPr>
                        <a:t>Sobrev.</a:t>
                      </a:r>
                    </a:p>
                  </a:txBody>
                  <a:tcPr marL="73152" marR="73152" marT="36576" marB="36576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lang="pt-BR" sz="1050" b="1" dirty="0">
                          <a:solidFill>
                            <a:srgbClr val="1F3A5F"/>
                          </a:solidFill>
                        </a:rPr>
                        <a:t>1 — Base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dirty="0">
                          <a:solidFill>
                            <a:srgbClr val="333333"/>
                          </a:solidFill>
                        </a:rPr>
                        <a:t>300 · 15%/5%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dirty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dirty="0">
                          <a:solidFill>
                            <a:srgbClr val="333333"/>
                          </a:solidFill>
                        </a:rPr>
                        <a:t>288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dirty="0">
                          <a:solidFill>
                            <a:srgbClr val="333333"/>
                          </a:solidFill>
                        </a:rPr>
                        <a:t>253 / 300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rgbClr val="C0392B"/>
                          </a:solidFill>
                        </a:rPr>
                        <a:t>47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50" b="1" dirty="0">
                          <a:solidFill>
                            <a:srgbClr val="5B8C3E"/>
                          </a:solidFill>
                        </a:rPr>
                        <a:t>84,3%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lang="pt-BR" sz="1050" b="1" dirty="0">
                          <a:solidFill>
                            <a:srgbClr val="1F3A5F"/>
                          </a:solidFill>
                        </a:rPr>
                        <a:t>2 — Topo, pop. vulnerável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dirty="0">
                          <a:solidFill>
                            <a:srgbClr val="333333"/>
                          </a:solidFill>
                        </a:rPr>
                        <a:t>300 · 40%/15%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dirty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dirty="0">
                          <a:solidFill>
                            <a:srgbClr val="333333"/>
                          </a:solidFill>
                        </a:rPr>
                        <a:t>318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dirty="0">
                          <a:solidFill>
                            <a:srgbClr val="333333"/>
                          </a:solidFill>
                        </a:rPr>
                        <a:t>284 / 300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rgbClr val="C0392B"/>
                          </a:solidFill>
                        </a:rPr>
                        <a:t>16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50" b="1" dirty="0">
                          <a:solidFill>
                            <a:srgbClr val="2C5F2D"/>
                          </a:solidFill>
                        </a:rPr>
                        <a:t>94,7%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4F6FA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lang="pt-BR" sz="1050" b="1" dirty="0">
                          <a:solidFill>
                            <a:srgbClr val="1F3A5F"/>
                          </a:solidFill>
                        </a:rPr>
                        <a:t>3 — Ambiente tóxico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dirty="0">
                          <a:solidFill>
                            <a:srgbClr val="333333"/>
                          </a:solidFill>
                        </a:rPr>
                        <a:t>300 · 10%/5%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dirty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dirty="0">
                          <a:solidFill>
                            <a:srgbClr val="333333"/>
                          </a:solidFill>
                        </a:rPr>
                        <a:t>161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dirty="0">
                          <a:solidFill>
                            <a:srgbClr val="333333"/>
                          </a:solidFill>
                        </a:rPr>
                        <a:t>178 / 300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rgbClr val="C0392B"/>
                          </a:solidFill>
                        </a:rPr>
                        <a:t>122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50" b="1" dirty="0">
                          <a:solidFill>
                            <a:srgbClr val="C0392B"/>
                          </a:solidFill>
                        </a:rPr>
                        <a:t>59,3%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lang="pt-BR" sz="1050" b="1" dirty="0">
                          <a:solidFill>
                            <a:srgbClr val="1F3A5F"/>
                          </a:solidFill>
                        </a:rPr>
                        <a:t>4 — Pânico e congestão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dirty="0">
                          <a:solidFill>
                            <a:srgbClr val="333333"/>
                          </a:solidFill>
                        </a:rPr>
                        <a:t>540 · 20%/10%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dirty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dirty="0">
                          <a:solidFill>
                            <a:srgbClr val="333333"/>
                          </a:solidFill>
                        </a:rPr>
                        <a:t>589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dirty="0">
                          <a:solidFill>
                            <a:srgbClr val="333333"/>
                          </a:solidFill>
                        </a:rPr>
                        <a:t>478 / 540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rgbClr val="C0392B"/>
                          </a:solidFill>
                        </a:rPr>
                        <a:t>62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50" b="1" dirty="0">
                          <a:solidFill>
                            <a:srgbClr val="2C5F2D"/>
                          </a:solidFill>
                        </a:rPr>
                        <a:t>88,5%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4F6FA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lang="pt-BR" sz="1050" b="1" dirty="0">
                          <a:solidFill>
                            <a:srgbClr val="1F3A5F"/>
                          </a:solidFill>
                        </a:rPr>
                        <a:t>5 — Catástrofe total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dirty="0">
                          <a:solidFill>
                            <a:srgbClr val="333333"/>
                          </a:solidFill>
                        </a:rPr>
                        <a:t>540 · 50%/20%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dirty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dirty="0">
                          <a:solidFill>
                            <a:srgbClr val="333333"/>
                          </a:solidFill>
                        </a:rPr>
                        <a:t>258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dirty="0">
                          <a:solidFill>
                            <a:srgbClr val="333333"/>
                          </a:solidFill>
                        </a:rPr>
                        <a:t>230 / 540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rgbClr val="C0392B"/>
                          </a:solidFill>
                        </a:rPr>
                        <a:t>310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50" b="1" dirty="0">
                          <a:solidFill>
                            <a:srgbClr val="C0392B"/>
                          </a:solidFill>
                        </a:rPr>
                        <a:t>42,6%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Nota"/>
          <p:cNvSpPr txBox="1"/>
          <p:nvPr/>
        </p:nvSpPr>
        <p:spPr>
          <a:xfrm>
            <a:off x="700000" y="5620000"/>
            <a:ext cx="10792000" cy="6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>
              <a:buNone/>
            </a:pPr>
            <a:r>
              <a:rPr lang="pt-BR" sz="1150" i="1" dirty="0">
                <a:solidFill>
                  <a:srgbClr val="595959"/>
                </a:solidFill>
              </a:rPr>
              <a:t>Ocupantes: total · % idosos / % PcD. Todos com 9273 células úteis e 0 inalcançáveis no BFS. Demais parâmetros detalhados nos slides seguintes.</a:t>
            </a:r>
          </a:p>
        </p:txBody>
      </p:sp>
    </p:spTree>
    <p:extLst>
      <p:ext uri="{BB962C8B-B14F-4D97-AF65-F5344CB8AC3E}">
        <p14:creationId xmlns:p14="http://schemas.microsoft.com/office/powerpoint/2010/main" val="27073929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700000" y="760000"/>
            <a:ext cx="10792000" cy="5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26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5.3. Cenário 1 — Base</a:t>
            </a:r>
          </a:p>
        </p:txBody>
      </p:sp>
      <p:sp>
        <p:nvSpPr>
          <p:cNvPr id="3" name="Subtitulo"/>
          <p:cNvSpPr txBox="1"/>
          <p:nvPr/>
        </p:nvSpPr>
        <p:spPr>
          <a:xfrm>
            <a:off x="700000" y="1300000"/>
            <a:ext cx="107920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1500" i="1" dirty="0">
                <a:solidFill>
                  <a:srgbClr val="595959"/>
                </a:solidFill>
              </a:rPr>
              <a:t>Configuração padrão equilibrada; serve de referência para comparar os demais.</a:t>
            </a:r>
          </a:p>
        </p:txBody>
      </p:sp>
      <p:sp>
        <p:nvSpPr>
          <p:cNvPr id="4" name="Config"/>
          <p:cNvSpPr/>
          <p:nvPr/>
        </p:nvSpPr>
        <p:spPr>
          <a:xfrm>
            <a:off x="700000" y="1980000"/>
            <a:ext cx="5246000" cy="35400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>
            <a:noFill/>
          </a:ln>
        </p:spPr>
        <p:txBody>
          <a:bodyPr wrap="square" lIns="252000" tIns="240000" rIns="252000" bIns="240000" rtlCol="0" anchor="t"/>
          <a:lstStyle/>
          <a:p>
            <a:pPr algn="l">
              <a:buNone/>
            </a:pPr>
            <a:r>
              <a:rPr lang="pt-BR" sz="16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Configuração do experimento</a:t>
            </a:r>
          </a:p>
          <a:p>
            <a:pPr marL="228600" indent="-228600" algn="l">
              <a:spcBef>
                <a:spcPts val="900"/>
              </a:spcBef>
              <a:buChar char="•"/>
            </a:pPr>
            <a:r>
              <a:rPr lang="pt-BR" sz="1300" b="1" dirty="0">
                <a:solidFill>
                  <a:srgbClr val="333333"/>
                </a:solidFill>
              </a:rPr>
              <a:t xml:space="preserve">Ocupantes: </a:t>
            </a:r>
            <a:r>
              <a:rPr lang="pt-BR" sz="1300" dirty="0">
                <a:solidFill>
                  <a:srgbClr val="333333"/>
                </a:solidFill>
              </a:rPr>
              <a:t>300 ocupantes — 15% idosos, 5% PcD</a:t>
            </a:r>
          </a:p>
          <a:p>
            <a:pPr marL="228600" indent="-228600" algn="l">
              <a:spcBef>
                <a:spcPts val="500"/>
              </a:spcBef>
              <a:buChar char="•"/>
            </a:pPr>
            <a:r>
              <a:rPr lang="pt-BR" sz="1300" b="1" dirty="0">
                <a:solidFill>
                  <a:srgbClr val="333333"/>
                </a:solidFill>
              </a:rPr>
              <a:t xml:space="preserve">Foco do incêndio: </a:t>
            </a:r>
            <a:r>
              <a:rPr lang="pt-BR" sz="1300" dirty="0">
                <a:solidFill>
                  <a:srgbClr val="333333"/>
                </a:solidFill>
              </a:rPr>
              <a:t>Andar 5 (intermediário-baixo)</a:t>
            </a:r>
          </a:p>
          <a:p>
            <a:pPr marL="228600" indent="-228600" algn="l">
              <a:spcBef>
                <a:spcPts val="500"/>
              </a:spcBef>
              <a:buChar char="•"/>
            </a:pPr>
            <a:r>
              <a:rPr lang="pt-BR" sz="1300" b="1" dirty="0">
                <a:solidFill>
                  <a:srgbClr val="333333"/>
                </a:solidFill>
              </a:rPr>
              <a:t xml:space="preserve">Comportamento: </a:t>
            </a:r>
            <a:r>
              <a:rPr lang="pt-BR" sz="1300" dirty="0">
                <a:solidFill>
                  <a:srgbClr val="333333"/>
                </a:solidFill>
              </a:rPr>
              <a:t>λ 1,5 · γ 0,40</a:t>
            </a:r>
          </a:p>
          <a:p>
            <a:pPr marL="228600" indent="-228600" algn="l">
              <a:spcBef>
                <a:spcPts val="500"/>
              </a:spcBef>
              <a:buChar char="•"/>
            </a:pPr>
            <a:r>
              <a:rPr lang="pt-BR" sz="1300" b="1" dirty="0">
                <a:solidFill>
                  <a:srgbClr val="333333"/>
                </a:solidFill>
              </a:rPr>
              <a:t xml:space="preserve">Pesos (fumaça/calor/congestão): </a:t>
            </a:r>
            <a:r>
              <a:rPr lang="pt-BR" sz="1300" dirty="0">
                <a:solidFill>
                  <a:srgbClr val="333333"/>
                </a:solidFill>
              </a:rPr>
              <a:t>20 / 15 / 3,0</a:t>
            </a:r>
          </a:p>
          <a:p>
            <a:pPr marL="228600" indent="-228600" algn="l">
              <a:spcBef>
                <a:spcPts val="500"/>
              </a:spcBef>
              <a:buChar char="•"/>
            </a:pPr>
            <a:r>
              <a:rPr lang="pt-BR" sz="1300" b="1" dirty="0">
                <a:solidFill>
                  <a:srgbClr val="333333"/>
                </a:solidFill>
              </a:rPr>
              <a:t xml:space="preserve">FED CO/CO₂/calor: </a:t>
            </a:r>
            <a:r>
              <a:rPr lang="pt-BR" sz="1300" dirty="0">
                <a:solidFill>
                  <a:srgbClr val="333333"/>
                </a:solidFill>
              </a:rPr>
              <a:t>0,003 / 0,002 / 0,004</a:t>
            </a:r>
          </a:p>
          <a:p>
            <a:pPr marL="228600" indent="-228600" algn="l">
              <a:spcBef>
                <a:spcPts val="500"/>
              </a:spcBef>
              <a:buChar char="•"/>
            </a:pPr>
            <a:r>
              <a:rPr lang="pt-BR" sz="1300" b="1" dirty="0">
                <a:solidFill>
                  <a:srgbClr val="333333"/>
                </a:solidFill>
              </a:rPr>
              <a:t xml:space="preserve">β (saúde): </a:t>
            </a:r>
            <a:r>
              <a:rPr lang="pt-BR" sz="1300" dirty="0">
                <a:solidFill>
                  <a:srgbClr val="333333"/>
                </a:solidFill>
              </a:rPr>
              <a:t>1,00</a:t>
            </a:r>
          </a:p>
        </p:txBody>
      </p:sp>
      <p:sp>
        <p:nvSpPr>
          <p:cNvPr id="5" name="Result"/>
          <p:cNvSpPr/>
          <p:nvPr/>
        </p:nvSpPr>
        <p:spPr>
          <a:xfrm>
            <a:off x="6246000" y="1980000"/>
            <a:ext cx="5246000" cy="3540000"/>
          </a:xfrm>
          <a:prstGeom prst="roundRect">
            <a:avLst>
              <a:gd name="adj" fmla="val 4000"/>
            </a:avLst>
          </a:prstGeom>
          <a:solidFill>
            <a:srgbClr val="EAF3EC"/>
          </a:solidFill>
          <a:ln>
            <a:noFill/>
          </a:ln>
        </p:spPr>
        <p:txBody>
          <a:bodyPr wrap="square" lIns="252000" tIns="240000" rIns="252000" bIns="240000" rtlCol="0" anchor="t"/>
          <a:lstStyle/>
          <a:p>
            <a:pPr algn="l">
              <a:buNone/>
            </a:pPr>
            <a:r>
              <a:rPr lang="pt-BR" sz="16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Resultados</a:t>
            </a:r>
          </a:p>
          <a:p>
            <a:pPr algn="l">
              <a:spcBef>
                <a:spcPts val="900"/>
              </a:spcBef>
              <a:buNone/>
            </a:pPr>
            <a:r>
              <a:rPr lang="pt-BR" sz="1400" dirty="0">
                <a:solidFill>
                  <a:srgbClr val="333333"/>
                </a:solidFill>
              </a:rPr>
              <a:t xml:space="preserve">Sobrevivência:  </a:t>
            </a:r>
            <a:r>
              <a:rPr lang="pt-BR" sz="2200" b="1" dirty="0">
                <a:solidFill>
                  <a:srgbClr val="5B8C3E"/>
                </a:solidFill>
              </a:rPr>
              <a:t>84,33%</a:t>
            </a:r>
          </a:p>
          <a:p>
            <a:pPr algn="l">
              <a:spcBef>
                <a:spcPts val="650"/>
              </a:spcBef>
              <a:buNone/>
            </a:pPr>
            <a:r>
              <a:rPr lang="pt-BR" sz="1350" dirty="0">
                <a:solidFill>
                  <a:srgbClr val="333333"/>
                </a:solidFill>
              </a:rPr>
              <a:t xml:space="preserve">Evacuados:  </a:t>
            </a:r>
            <a:r>
              <a:rPr lang="pt-BR" sz="1350" b="1" dirty="0">
                <a:solidFill>
                  <a:srgbClr val="1F3A5F"/>
                </a:solidFill>
              </a:rPr>
              <a:t>253 / 300</a:t>
            </a:r>
          </a:p>
          <a:p>
            <a:pPr algn="l">
              <a:spcBef>
                <a:spcPts val="600"/>
              </a:spcBef>
              <a:buNone/>
            </a:pPr>
            <a:r>
              <a:rPr lang="pt-BR" sz="1350" dirty="0">
                <a:solidFill>
                  <a:srgbClr val="333333"/>
                </a:solidFill>
              </a:rPr>
              <a:t xml:space="preserve">Mortos:  </a:t>
            </a:r>
            <a:r>
              <a:rPr lang="pt-BR" sz="1350" b="1" dirty="0">
                <a:solidFill>
                  <a:srgbClr val="C0392B"/>
                </a:solidFill>
              </a:rPr>
              <a:t>47</a:t>
            </a:r>
          </a:p>
          <a:p>
            <a:pPr algn="l">
              <a:spcBef>
                <a:spcPts val="600"/>
              </a:spcBef>
              <a:buNone/>
            </a:pPr>
            <a:r>
              <a:rPr lang="pt-BR" sz="1350" dirty="0">
                <a:solidFill>
                  <a:srgbClr val="333333"/>
                </a:solidFill>
              </a:rPr>
              <a:t xml:space="preserve">TET:  </a:t>
            </a:r>
            <a:r>
              <a:rPr lang="pt-BR" sz="1350" b="1" dirty="0">
                <a:solidFill>
                  <a:srgbClr val="1F3A5F"/>
                </a:solidFill>
              </a:rPr>
              <a:t>288 ticks</a:t>
            </a:r>
          </a:p>
          <a:p>
            <a:pPr algn="l">
              <a:spcBef>
                <a:spcPts val="600"/>
              </a:spcBef>
              <a:buNone/>
            </a:pPr>
            <a:r>
              <a:rPr lang="pt-BR" sz="1350" dirty="0">
                <a:solidFill>
                  <a:srgbClr val="333333"/>
                </a:solidFill>
              </a:rPr>
              <a:t xml:space="preserve">Saúde média dos sobreviventes:  </a:t>
            </a:r>
            <a:r>
              <a:rPr lang="pt-BR" sz="1350" b="1" dirty="0">
                <a:solidFill>
                  <a:srgbClr val="1F3A5F"/>
                </a:solidFill>
              </a:rPr>
              <a:t>0,887</a:t>
            </a:r>
          </a:p>
        </p:txBody>
      </p:sp>
      <p:sp>
        <p:nvSpPr>
          <p:cNvPr id="6" name="Leitura"/>
          <p:cNvSpPr txBox="1"/>
          <p:nvPr/>
        </p:nvSpPr>
        <p:spPr>
          <a:xfrm>
            <a:off x="700000" y="5640000"/>
            <a:ext cx="10792000" cy="6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>
              <a:buNone/>
            </a:pPr>
            <a:r>
              <a:rPr lang="pt-BR" sz="1250" b="1" i="1" dirty="0">
                <a:solidFill>
                  <a:srgbClr val="C0392B"/>
                </a:solidFill>
              </a:rPr>
              <a:t xml:space="preserve">Leitura:  </a:t>
            </a:r>
            <a:r>
              <a:rPr lang="pt-BR" sz="1250" i="1" dirty="0">
                <a:solidFill>
                  <a:srgbClr val="595959"/>
                </a:solidFill>
              </a:rPr>
              <a:t>Referência do modelo: evacuação ordenada, perdas moderadas concentradas perto do foco.</a:t>
            </a:r>
          </a:p>
        </p:txBody>
      </p:sp>
    </p:spTree>
    <p:extLst>
      <p:ext uri="{BB962C8B-B14F-4D97-AF65-F5344CB8AC3E}">
        <p14:creationId xmlns:p14="http://schemas.microsoft.com/office/powerpoint/2010/main" val="2707307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700000" y="760000"/>
            <a:ext cx="10792000" cy="5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26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5.4. Cenário 2 — Fogo no topo, população vulnerável</a:t>
            </a:r>
          </a:p>
        </p:txBody>
      </p:sp>
      <p:sp>
        <p:nvSpPr>
          <p:cNvPr id="3" name="Subtitulo"/>
          <p:cNvSpPr txBox="1"/>
          <p:nvPr/>
        </p:nvSpPr>
        <p:spPr>
          <a:xfrm>
            <a:off x="700000" y="1300000"/>
            <a:ext cx="107920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1500" i="1" dirty="0">
                <a:solidFill>
                  <a:srgbClr val="595959"/>
                </a:solidFill>
              </a:rPr>
              <a:t>Fogo no andar mais alto com muitos idosos e PcD: evacuação longa com população lenta e toxicidade moderadamente elevada.</a:t>
            </a:r>
          </a:p>
        </p:txBody>
      </p:sp>
      <p:sp>
        <p:nvSpPr>
          <p:cNvPr id="4" name="Config"/>
          <p:cNvSpPr/>
          <p:nvPr/>
        </p:nvSpPr>
        <p:spPr>
          <a:xfrm>
            <a:off x="700000" y="1980000"/>
            <a:ext cx="5246000" cy="35400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>
            <a:noFill/>
          </a:ln>
        </p:spPr>
        <p:txBody>
          <a:bodyPr wrap="square" lIns="252000" tIns="240000" rIns="252000" bIns="240000" rtlCol="0" anchor="t"/>
          <a:lstStyle/>
          <a:p>
            <a:pPr algn="l">
              <a:buNone/>
            </a:pPr>
            <a:r>
              <a:rPr lang="pt-BR" sz="16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Configuração do experimento</a:t>
            </a:r>
          </a:p>
          <a:p>
            <a:pPr marL="228600" indent="-228600" algn="l">
              <a:spcBef>
                <a:spcPts val="900"/>
              </a:spcBef>
              <a:buChar char="•"/>
            </a:pPr>
            <a:r>
              <a:rPr lang="pt-BR" sz="1300" b="1" dirty="0">
                <a:solidFill>
                  <a:srgbClr val="333333"/>
                </a:solidFill>
              </a:rPr>
              <a:t xml:space="preserve">Ocupantes: </a:t>
            </a:r>
            <a:r>
              <a:rPr lang="pt-BR" sz="1300" dirty="0">
                <a:solidFill>
                  <a:srgbClr val="333333"/>
                </a:solidFill>
              </a:rPr>
              <a:t>300 ocupantes — 40% idosos, 15% PcD</a:t>
            </a:r>
          </a:p>
          <a:p>
            <a:pPr marL="228600" indent="-228600" algn="l">
              <a:spcBef>
                <a:spcPts val="500"/>
              </a:spcBef>
              <a:buChar char="•"/>
            </a:pPr>
            <a:r>
              <a:rPr lang="pt-BR" sz="1300" b="1" dirty="0">
                <a:solidFill>
                  <a:srgbClr val="333333"/>
                </a:solidFill>
              </a:rPr>
              <a:t xml:space="preserve">Foco do incêndio: </a:t>
            </a:r>
            <a:r>
              <a:rPr lang="pt-BR" sz="1300" dirty="0">
                <a:solidFill>
                  <a:srgbClr val="333333"/>
                </a:solidFill>
              </a:rPr>
              <a:t>Andar 25 (alto)</a:t>
            </a:r>
          </a:p>
          <a:p>
            <a:pPr marL="228600" indent="-228600" algn="l">
              <a:spcBef>
                <a:spcPts val="500"/>
              </a:spcBef>
              <a:buChar char="•"/>
            </a:pPr>
            <a:r>
              <a:rPr lang="pt-BR" sz="1300" b="1" dirty="0">
                <a:solidFill>
                  <a:srgbClr val="333333"/>
                </a:solidFill>
              </a:rPr>
              <a:t xml:space="preserve">Comportamento: </a:t>
            </a:r>
            <a:r>
              <a:rPr lang="pt-BR" sz="1300" dirty="0">
                <a:solidFill>
                  <a:srgbClr val="333333"/>
                </a:solidFill>
              </a:rPr>
              <a:t>λ 2,0 · γ 0,60</a:t>
            </a:r>
          </a:p>
          <a:p>
            <a:pPr marL="228600" indent="-228600" algn="l">
              <a:spcBef>
                <a:spcPts val="500"/>
              </a:spcBef>
              <a:buChar char="•"/>
            </a:pPr>
            <a:r>
              <a:rPr lang="pt-BR" sz="1300" b="1" dirty="0">
                <a:solidFill>
                  <a:srgbClr val="333333"/>
                </a:solidFill>
              </a:rPr>
              <a:t xml:space="preserve">Pesos (fumaça/calor/congestão): </a:t>
            </a:r>
            <a:r>
              <a:rPr lang="pt-BR" sz="1300" dirty="0">
                <a:solidFill>
                  <a:srgbClr val="333333"/>
                </a:solidFill>
              </a:rPr>
              <a:t>30 / 25 / 5,0</a:t>
            </a:r>
          </a:p>
          <a:p>
            <a:pPr marL="228600" indent="-228600" algn="l">
              <a:spcBef>
                <a:spcPts val="500"/>
              </a:spcBef>
              <a:buChar char="•"/>
            </a:pPr>
            <a:r>
              <a:rPr lang="pt-BR" sz="1300" b="1" dirty="0">
                <a:solidFill>
                  <a:srgbClr val="333333"/>
                </a:solidFill>
              </a:rPr>
              <a:t xml:space="preserve">FED CO/CO₂/calor: </a:t>
            </a:r>
            <a:r>
              <a:rPr lang="pt-BR" sz="1300" dirty="0">
                <a:solidFill>
                  <a:srgbClr val="333333"/>
                </a:solidFill>
              </a:rPr>
              <a:t>0,004 / 0,003 / 0,005</a:t>
            </a:r>
          </a:p>
          <a:p>
            <a:pPr marL="228600" indent="-228600" algn="l">
              <a:spcBef>
                <a:spcPts val="500"/>
              </a:spcBef>
              <a:buChar char="•"/>
            </a:pPr>
            <a:r>
              <a:rPr lang="pt-BR" sz="1300" b="1" dirty="0">
                <a:solidFill>
                  <a:srgbClr val="333333"/>
                </a:solidFill>
              </a:rPr>
              <a:t xml:space="preserve">β (saúde): </a:t>
            </a:r>
            <a:r>
              <a:rPr lang="pt-BR" sz="1300" dirty="0">
                <a:solidFill>
                  <a:srgbClr val="333333"/>
                </a:solidFill>
              </a:rPr>
              <a:t>1,25</a:t>
            </a:r>
          </a:p>
        </p:txBody>
      </p:sp>
      <p:sp>
        <p:nvSpPr>
          <p:cNvPr id="5" name="Result"/>
          <p:cNvSpPr/>
          <p:nvPr/>
        </p:nvSpPr>
        <p:spPr>
          <a:xfrm>
            <a:off x="6246000" y="1980000"/>
            <a:ext cx="5246000" cy="3540000"/>
          </a:xfrm>
          <a:prstGeom prst="roundRect">
            <a:avLst>
              <a:gd name="adj" fmla="val 4000"/>
            </a:avLst>
          </a:prstGeom>
          <a:solidFill>
            <a:srgbClr val="EAF3EC"/>
          </a:solidFill>
          <a:ln>
            <a:noFill/>
          </a:ln>
        </p:spPr>
        <p:txBody>
          <a:bodyPr wrap="square" lIns="252000" tIns="240000" rIns="252000" bIns="240000" rtlCol="0" anchor="t"/>
          <a:lstStyle/>
          <a:p>
            <a:pPr algn="l">
              <a:buNone/>
            </a:pPr>
            <a:r>
              <a:rPr lang="pt-BR" sz="16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Resultados</a:t>
            </a:r>
          </a:p>
          <a:p>
            <a:pPr algn="l">
              <a:spcBef>
                <a:spcPts val="900"/>
              </a:spcBef>
              <a:buNone/>
            </a:pPr>
            <a:r>
              <a:rPr lang="pt-BR" sz="1400" dirty="0">
                <a:solidFill>
                  <a:srgbClr val="333333"/>
                </a:solidFill>
              </a:rPr>
              <a:t xml:space="preserve">Sobrevivência:  </a:t>
            </a:r>
            <a:r>
              <a:rPr lang="pt-BR" sz="2200" b="1" dirty="0">
                <a:solidFill>
                  <a:srgbClr val="2C5F2D"/>
                </a:solidFill>
              </a:rPr>
              <a:t>94,67%</a:t>
            </a:r>
          </a:p>
          <a:p>
            <a:pPr algn="l">
              <a:spcBef>
                <a:spcPts val="650"/>
              </a:spcBef>
              <a:buNone/>
            </a:pPr>
            <a:r>
              <a:rPr lang="pt-BR" sz="1350" dirty="0">
                <a:solidFill>
                  <a:srgbClr val="333333"/>
                </a:solidFill>
              </a:rPr>
              <a:t xml:space="preserve">Evacuados:  </a:t>
            </a:r>
            <a:r>
              <a:rPr lang="pt-BR" sz="1350" b="1" dirty="0">
                <a:solidFill>
                  <a:srgbClr val="1F3A5F"/>
                </a:solidFill>
              </a:rPr>
              <a:t>284 / 300</a:t>
            </a:r>
          </a:p>
          <a:p>
            <a:pPr algn="l">
              <a:spcBef>
                <a:spcPts val="600"/>
              </a:spcBef>
              <a:buNone/>
            </a:pPr>
            <a:r>
              <a:rPr lang="pt-BR" sz="1350" dirty="0">
                <a:solidFill>
                  <a:srgbClr val="333333"/>
                </a:solidFill>
              </a:rPr>
              <a:t xml:space="preserve">Mortos:  </a:t>
            </a:r>
            <a:r>
              <a:rPr lang="pt-BR" sz="1350" b="1" dirty="0">
                <a:solidFill>
                  <a:srgbClr val="C0392B"/>
                </a:solidFill>
              </a:rPr>
              <a:t>16</a:t>
            </a:r>
          </a:p>
          <a:p>
            <a:pPr algn="l">
              <a:spcBef>
                <a:spcPts val="600"/>
              </a:spcBef>
              <a:buNone/>
            </a:pPr>
            <a:r>
              <a:rPr lang="pt-BR" sz="1350" dirty="0">
                <a:solidFill>
                  <a:srgbClr val="333333"/>
                </a:solidFill>
              </a:rPr>
              <a:t xml:space="preserve">TET:  </a:t>
            </a:r>
            <a:r>
              <a:rPr lang="pt-BR" sz="1350" b="1" dirty="0">
                <a:solidFill>
                  <a:srgbClr val="1F3A5F"/>
                </a:solidFill>
              </a:rPr>
              <a:t>318 ticks</a:t>
            </a:r>
          </a:p>
          <a:p>
            <a:pPr algn="l">
              <a:spcBef>
                <a:spcPts val="600"/>
              </a:spcBef>
              <a:buNone/>
            </a:pPr>
            <a:r>
              <a:rPr lang="pt-BR" sz="1350" dirty="0">
                <a:solidFill>
                  <a:srgbClr val="333333"/>
                </a:solidFill>
              </a:rPr>
              <a:t xml:space="preserve">Saúde média dos sobreviventes:  </a:t>
            </a:r>
            <a:r>
              <a:rPr lang="pt-BR" sz="1350" b="1" dirty="0">
                <a:solidFill>
                  <a:srgbClr val="1F3A5F"/>
                </a:solidFill>
              </a:rPr>
              <a:t>0,986</a:t>
            </a:r>
          </a:p>
        </p:txBody>
      </p:sp>
      <p:sp>
        <p:nvSpPr>
          <p:cNvPr id="6" name="Leitura"/>
          <p:cNvSpPr txBox="1"/>
          <p:nvPr/>
        </p:nvSpPr>
        <p:spPr>
          <a:xfrm>
            <a:off x="700000" y="5640000"/>
            <a:ext cx="10792000" cy="6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>
              <a:buNone/>
            </a:pPr>
            <a:r>
              <a:rPr lang="pt-BR" sz="1250" b="1" i="1" dirty="0">
                <a:solidFill>
                  <a:srgbClr val="C0392B"/>
                </a:solidFill>
              </a:rPr>
              <a:t xml:space="preserve">Leitura:  </a:t>
            </a:r>
            <a:r>
              <a:rPr lang="pt-BR" sz="1250" i="1" dirty="0">
                <a:solidFill>
                  <a:srgbClr val="595959"/>
                </a:solidFill>
              </a:rPr>
              <a:t>Foco alto afasta a fumaça da rota de fuga: apesar da população lenta, a sobrevivência é a maior das cinco.</a:t>
            </a:r>
          </a:p>
        </p:txBody>
      </p:sp>
    </p:spTree>
    <p:extLst>
      <p:ext uri="{BB962C8B-B14F-4D97-AF65-F5344CB8AC3E}">
        <p14:creationId xmlns:p14="http://schemas.microsoft.com/office/powerpoint/2010/main" val="2707317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700000" y="760000"/>
            <a:ext cx="10792000" cy="5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26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5.5. Cenário 3 — Ambiente tóxico</a:t>
            </a:r>
          </a:p>
        </p:txBody>
      </p:sp>
      <p:sp>
        <p:nvSpPr>
          <p:cNvPr id="3" name="Subtitulo"/>
          <p:cNvSpPr txBox="1"/>
          <p:nvPr/>
        </p:nvSpPr>
        <p:spPr>
          <a:xfrm>
            <a:off x="700000" y="1300000"/>
            <a:ext cx="107920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1500" i="1" dirty="0">
                <a:solidFill>
                  <a:srgbClr val="595959"/>
                </a:solidFill>
              </a:rPr>
              <a:t>Fogo no meio do edifício com gases muito mais letais e fumaça densa. Poucos ocupantes, mas ambiente extremamente hostil.</a:t>
            </a:r>
          </a:p>
        </p:txBody>
      </p:sp>
      <p:sp>
        <p:nvSpPr>
          <p:cNvPr id="4" name="Config"/>
          <p:cNvSpPr/>
          <p:nvPr/>
        </p:nvSpPr>
        <p:spPr>
          <a:xfrm>
            <a:off x="700000" y="1980000"/>
            <a:ext cx="5246000" cy="35400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>
            <a:noFill/>
          </a:ln>
        </p:spPr>
        <p:txBody>
          <a:bodyPr wrap="square" lIns="252000" tIns="240000" rIns="252000" bIns="240000" rtlCol="0" anchor="t"/>
          <a:lstStyle/>
          <a:p>
            <a:pPr algn="l">
              <a:buNone/>
            </a:pPr>
            <a:r>
              <a:rPr lang="pt-BR" sz="16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Configuração do experimento</a:t>
            </a:r>
          </a:p>
          <a:p>
            <a:pPr marL="228600" indent="-228600" algn="l">
              <a:spcBef>
                <a:spcPts val="900"/>
              </a:spcBef>
              <a:buChar char="•"/>
            </a:pPr>
            <a:r>
              <a:rPr lang="pt-BR" sz="1300" b="1" dirty="0">
                <a:solidFill>
                  <a:srgbClr val="333333"/>
                </a:solidFill>
              </a:rPr>
              <a:t xml:space="preserve">Ocupantes: </a:t>
            </a:r>
            <a:r>
              <a:rPr lang="pt-BR" sz="1300" dirty="0">
                <a:solidFill>
                  <a:srgbClr val="333333"/>
                </a:solidFill>
              </a:rPr>
              <a:t>300 ocupantes — 10% idosos, 5% PcD</a:t>
            </a:r>
          </a:p>
          <a:p>
            <a:pPr marL="228600" indent="-228600" algn="l">
              <a:spcBef>
                <a:spcPts val="500"/>
              </a:spcBef>
              <a:buChar char="•"/>
            </a:pPr>
            <a:r>
              <a:rPr lang="pt-BR" sz="1300" b="1" dirty="0">
                <a:solidFill>
                  <a:srgbClr val="333333"/>
                </a:solidFill>
              </a:rPr>
              <a:t xml:space="preserve">Foco do incêndio: </a:t>
            </a:r>
            <a:r>
              <a:rPr lang="pt-BR" sz="1300" dirty="0">
                <a:solidFill>
                  <a:srgbClr val="333333"/>
                </a:solidFill>
              </a:rPr>
              <a:t>Andar 15 (central)</a:t>
            </a:r>
          </a:p>
          <a:p>
            <a:pPr marL="228600" indent="-228600" algn="l">
              <a:spcBef>
                <a:spcPts val="500"/>
              </a:spcBef>
              <a:buChar char="•"/>
            </a:pPr>
            <a:r>
              <a:rPr lang="pt-BR" sz="1300" b="1" dirty="0">
                <a:solidFill>
                  <a:srgbClr val="333333"/>
                </a:solidFill>
              </a:rPr>
              <a:t xml:space="preserve">Comportamento: </a:t>
            </a:r>
            <a:r>
              <a:rPr lang="pt-BR" sz="1300" dirty="0">
                <a:solidFill>
                  <a:srgbClr val="333333"/>
                </a:solidFill>
              </a:rPr>
              <a:t>λ 2,5 · γ 0,50</a:t>
            </a:r>
          </a:p>
          <a:p>
            <a:pPr marL="228600" indent="-228600" algn="l">
              <a:spcBef>
                <a:spcPts val="500"/>
              </a:spcBef>
              <a:buChar char="•"/>
            </a:pPr>
            <a:r>
              <a:rPr lang="pt-BR" sz="1300" b="1" dirty="0">
                <a:solidFill>
                  <a:srgbClr val="333333"/>
                </a:solidFill>
              </a:rPr>
              <a:t xml:space="preserve">Pesos (fumaça/calor/congestão): </a:t>
            </a:r>
            <a:r>
              <a:rPr lang="pt-BR" sz="1300" dirty="0">
                <a:solidFill>
                  <a:srgbClr val="333333"/>
                </a:solidFill>
              </a:rPr>
              <a:t>40 / 35 / 3,0</a:t>
            </a:r>
          </a:p>
          <a:p>
            <a:pPr marL="228600" indent="-228600" algn="l">
              <a:spcBef>
                <a:spcPts val="500"/>
              </a:spcBef>
              <a:buChar char="•"/>
            </a:pPr>
            <a:r>
              <a:rPr lang="pt-BR" sz="1300" b="1" dirty="0">
                <a:solidFill>
                  <a:srgbClr val="333333"/>
                </a:solidFill>
              </a:rPr>
              <a:t xml:space="preserve">FED CO/CO₂/calor: </a:t>
            </a:r>
            <a:r>
              <a:rPr lang="pt-BR" sz="1300" dirty="0">
                <a:solidFill>
                  <a:srgbClr val="333333"/>
                </a:solidFill>
              </a:rPr>
              <a:t>0,006 / 0,005 / 0,008</a:t>
            </a:r>
          </a:p>
          <a:p>
            <a:pPr marL="228600" indent="-228600" algn="l">
              <a:spcBef>
                <a:spcPts val="500"/>
              </a:spcBef>
              <a:buChar char="•"/>
            </a:pPr>
            <a:r>
              <a:rPr lang="pt-BR" sz="1300" b="1" dirty="0">
                <a:solidFill>
                  <a:srgbClr val="333333"/>
                </a:solidFill>
              </a:rPr>
              <a:t xml:space="preserve">β (saúde): </a:t>
            </a:r>
            <a:r>
              <a:rPr lang="pt-BR" sz="1300" dirty="0">
                <a:solidFill>
                  <a:srgbClr val="333333"/>
                </a:solidFill>
              </a:rPr>
              <a:t>1,50</a:t>
            </a:r>
          </a:p>
        </p:txBody>
      </p:sp>
      <p:sp>
        <p:nvSpPr>
          <p:cNvPr id="5" name="Result"/>
          <p:cNvSpPr/>
          <p:nvPr/>
        </p:nvSpPr>
        <p:spPr>
          <a:xfrm>
            <a:off x="6246000" y="1980000"/>
            <a:ext cx="5246000" cy="3540000"/>
          </a:xfrm>
          <a:prstGeom prst="roundRect">
            <a:avLst>
              <a:gd name="adj" fmla="val 4000"/>
            </a:avLst>
          </a:prstGeom>
          <a:solidFill>
            <a:srgbClr val="FBEDEB"/>
          </a:solidFill>
          <a:ln>
            <a:noFill/>
          </a:ln>
        </p:spPr>
        <p:txBody>
          <a:bodyPr wrap="square" lIns="252000" tIns="240000" rIns="252000" bIns="240000" rtlCol="0" anchor="t"/>
          <a:lstStyle/>
          <a:p>
            <a:pPr algn="l">
              <a:buNone/>
            </a:pPr>
            <a:r>
              <a:rPr lang="pt-BR" sz="16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Resultados</a:t>
            </a:r>
          </a:p>
          <a:p>
            <a:pPr algn="l">
              <a:spcBef>
                <a:spcPts val="900"/>
              </a:spcBef>
              <a:buNone/>
            </a:pPr>
            <a:r>
              <a:rPr lang="pt-BR" sz="1400" dirty="0">
                <a:solidFill>
                  <a:srgbClr val="333333"/>
                </a:solidFill>
              </a:rPr>
              <a:t xml:space="preserve">Sobrevivência:  </a:t>
            </a:r>
            <a:r>
              <a:rPr lang="pt-BR" sz="2200" b="1" dirty="0">
                <a:solidFill>
                  <a:srgbClr val="C0392B"/>
                </a:solidFill>
              </a:rPr>
              <a:t>59,33%</a:t>
            </a:r>
          </a:p>
          <a:p>
            <a:pPr algn="l">
              <a:spcBef>
                <a:spcPts val="650"/>
              </a:spcBef>
              <a:buNone/>
            </a:pPr>
            <a:r>
              <a:rPr lang="pt-BR" sz="1350" dirty="0">
                <a:solidFill>
                  <a:srgbClr val="333333"/>
                </a:solidFill>
              </a:rPr>
              <a:t xml:space="preserve">Evacuados:  </a:t>
            </a:r>
            <a:r>
              <a:rPr lang="pt-BR" sz="1350" b="1" dirty="0">
                <a:solidFill>
                  <a:srgbClr val="1F3A5F"/>
                </a:solidFill>
              </a:rPr>
              <a:t>178 / 300</a:t>
            </a:r>
          </a:p>
          <a:p>
            <a:pPr algn="l">
              <a:spcBef>
                <a:spcPts val="600"/>
              </a:spcBef>
              <a:buNone/>
            </a:pPr>
            <a:r>
              <a:rPr lang="pt-BR" sz="1350" dirty="0">
                <a:solidFill>
                  <a:srgbClr val="333333"/>
                </a:solidFill>
              </a:rPr>
              <a:t xml:space="preserve">Mortos:  </a:t>
            </a:r>
            <a:r>
              <a:rPr lang="pt-BR" sz="1350" b="1" dirty="0">
                <a:solidFill>
                  <a:srgbClr val="C0392B"/>
                </a:solidFill>
              </a:rPr>
              <a:t>122</a:t>
            </a:r>
          </a:p>
          <a:p>
            <a:pPr algn="l">
              <a:spcBef>
                <a:spcPts val="600"/>
              </a:spcBef>
              <a:buNone/>
            </a:pPr>
            <a:r>
              <a:rPr lang="pt-BR" sz="1350" dirty="0">
                <a:solidFill>
                  <a:srgbClr val="333333"/>
                </a:solidFill>
              </a:rPr>
              <a:t xml:space="preserve">TET:  </a:t>
            </a:r>
            <a:r>
              <a:rPr lang="pt-BR" sz="1350" b="1" dirty="0">
                <a:solidFill>
                  <a:srgbClr val="1F3A5F"/>
                </a:solidFill>
              </a:rPr>
              <a:t>161 ticks</a:t>
            </a:r>
          </a:p>
          <a:p>
            <a:pPr algn="l">
              <a:spcBef>
                <a:spcPts val="600"/>
              </a:spcBef>
              <a:buNone/>
            </a:pPr>
            <a:r>
              <a:rPr lang="pt-BR" sz="1350" dirty="0">
                <a:solidFill>
                  <a:srgbClr val="333333"/>
                </a:solidFill>
              </a:rPr>
              <a:t xml:space="preserve">Saúde média dos sobreviventes:  </a:t>
            </a:r>
            <a:r>
              <a:rPr lang="pt-BR" sz="1350" b="1" dirty="0">
                <a:solidFill>
                  <a:srgbClr val="1F3A5F"/>
                </a:solidFill>
              </a:rPr>
              <a:t>0,964</a:t>
            </a:r>
          </a:p>
        </p:txBody>
      </p:sp>
      <p:sp>
        <p:nvSpPr>
          <p:cNvPr id="6" name="Leitura"/>
          <p:cNvSpPr txBox="1"/>
          <p:nvPr/>
        </p:nvSpPr>
        <p:spPr>
          <a:xfrm>
            <a:off x="700000" y="5640000"/>
            <a:ext cx="10792000" cy="6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>
              <a:buNone/>
            </a:pPr>
            <a:r>
              <a:rPr lang="pt-BR" sz="1250" b="1" i="1" dirty="0">
                <a:solidFill>
                  <a:srgbClr val="C0392B"/>
                </a:solidFill>
              </a:rPr>
              <a:t xml:space="preserve">Leitura:  </a:t>
            </a:r>
            <a:r>
              <a:rPr lang="pt-BR" sz="1250" i="1" dirty="0">
                <a:solidFill>
                  <a:srgbClr val="595959"/>
                </a:solidFill>
              </a:rPr>
              <a:t>A toxicidade elevada mata rápido: TET curto não é bom sinal — muitos morrem antes de alcançar a saída.</a:t>
            </a:r>
          </a:p>
        </p:txBody>
      </p:sp>
    </p:spTree>
    <p:extLst>
      <p:ext uri="{BB962C8B-B14F-4D97-AF65-F5344CB8AC3E}">
        <p14:creationId xmlns:p14="http://schemas.microsoft.com/office/powerpoint/2010/main" val="2707327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700000" y="760000"/>
            <a:ext cx="10792000" cy="5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26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5.6. Cenário 4 — Pânico e congestão</a:t>
            </a:r>
          </a:p>
        </p:txBody>
      </p:sp>
      <p:sp>
        <p:nvSpPr>
          <p:cNvPr id="3" name="Subtitulo"/>
          <p:cNvSpPr txBox="1"/>
          <p:nvPr/>
        </p:nvSpPr>
        <p:spPr>
          <a:xfrm>
            <a:off x="700000" y="1300000"/>
            <a:ext cx="107920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1500" i="1" dirty="0">
                <a:solidFill>
                  <a:srgbClr val="595959"/>
                </a:solidFill>
              </a:rPr>
              <a:t>Edifício superlotado com fogo no meio; peso de congestão alto simula comportamento de pânico e gargalo nas escadas.</a:t>
            </a:r>
          </a:p>
        </p:txBody>
      </p:sp>
      <p:sp>
        <p:nvSpPr>
          <p:cNvPr id="4" name="Config"/>
          <p:cNvSpPr/>
          <p:nvPr/>
        </p:nvSpPr>
        <p:spPr>
          <a:xfrm>
            <a:off x="700000" y="1980000"/>
            <a:ext cx="5246000" cy="35400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>
            <a:noFill/>
          </a:ln>
        </p:spPr>
        <p:txBody>
          <a:bodyPr wrap="square" lIns="252000" tIns="240000" rIns="252000" bIns="240000" rtlCol="0" anchor="t"/>
          <a:lstStyle/>
          <a:p>
            <a:pPr algn="l">
              <a:buNone/>
            </a:pPr>
            <a:r>
              <a:rPr lang="pt-BR" sz="16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Configuração do experimento</a:t>
            </a:r>
          </a:p>
          <a:p>
            <a:pPr marL="228600" indent="-228600" algn="l">
              <a:spcBef>
                <a:spcPts val="900"/>
              </a:spcBef>
              <a:buChar char="•"/>
            </a:pPr>
            <a:r>
              <a:rPr lang="pt-BR" sz="1300" b="1" dirty="0">
                <a:solidFill>
                  <a:srgbClr val="333333"/>
                </a:solidFill>
              </a:rPr>
              <a:t xml:space="preserve">Ocupantes: </a:t>
            </a:r>
            <a:r>
              <a:rPr lang="pt-BR" sz="1300" dirty="0">
                <a:solidFill>
                  <a:srgbClr val="333333"/>
                </a:solidFill>
              </a:rPr>
              <a:t>540 ocupantes — 20% idosos, 10% PcD</a:t>
            </a:r>
          </a:p>
          <a:p>
            <a:pPr marL="228600" indent="-228600" algn="l">
              <a:spcBef>
                <a:spcPts val="500"/>
              </a:spcBef>
              <a:buChar char="•"/>
            </a:pPr>
            <a:r>
              <a:rPr lang="pt-BR" sz="1300" b="1" dirty="0">
                <a:solidFill>
                  <a:srgbClr val="333333"/>
                </a:solidFill>
              </a:rPr>
              <a:t xml:space="preserve">Foco do incêndio: </a:t>
            </a:r>
            <a:r>
              <a:rPr lang="pt-BR" sz="1300" dirty="0">
                <a:solidFill>
                  <a:srgbClr val="333333"/>
                </a:solidFill>
              </a:rPr>
              <a:t>Andar 10 (intermediário-baixo)</a:t>
            </a:r>
          </a:p>
          <a:p>
            <a:pPr marL="228600" indent="-228600" algn="l">
              <a:spcBef>
                <a:spcPts val="500"/>
              </a:spcBef>
              <a:buChar char="•"/>
            </a:pPr>
            <a:r>
              <a:rPr lang="pt-BR" sz="1300" b="1" dirty="0">
                <a:solidFill>
                  <a:srgbClr val="333333"/>
                </a:solidFill>
              </a:rPr>
              <a:t xml:space="preserve">Comportamento: </a:t>
            </a:r>
            <a:r>
              <a:rPr lang="pt-BR" sz="1300" dirty="0">
                <a:solidFill>
                  <a:srgbClr val="333333"/>
                </a:solidFill>
              </a:rPr>
              <a:t>λ 3,0 · γ 0,80</a:t>
            </a:r>
          </a:p>
          <a:p>
            <a:pPr marL="228600" indent="-228600" algn="l">
              <a:spcBef>
                <a:spcPts val="500"/>
              </a:spcBef>
              <a:buChar char="•"/>
            </a:pPr>
            <a:r>
              <a:rPr lang="pt-BR" sz="1300" b="1" dirty="0">
                <a:solidFill>
                  <a:srgbClr val="333333"/>
                </a:solidFill>
              </a:rPr>
              <a:t xml:space="preserve">Pesos (fumaça/calor/congestão): </a:t>
            </a:r>
            <a:r>
              <a:rPr lang="pt-BR" sz="1300" dirty="0">
                <a:solidFill>
                  <a:srgbClr val="333333"/>
                </a:solidFill>
              </a:rPr>
              <a:t>15 / 10 / 10,0</a:t>
            </a:r>
          </a:p>
          <a:p>
            <a:pPr marL="228600" indent="-228600" algn="l">
              <a:spcBef>
                <a:spcPts val="500"/>
              </a:spcBef>
              <a:buChar char="•"/>
            </a:pPr>
            <a:r>
              <a:rPr lang="pt-BR" sz="1300" b="1" dirty="0">
                <a:solidFill>
                  <a:srgbClr val="333333"/>
                </a:solidFill>
              </a:rPr>
              <a:t xml:space="preserve">FED CO/CO₂/calor: </a:t>
            </a:r>
            <a:r>
              <a:rPr lang="pt-BR" sz="1300" dirty="0">
                <a:solidFill>
                  <a:srgbClr val="333333"/>
                </a:solidFill>
              </a:rPr>
              <a:t>0,003 / 0,002 / 0,004</a:t>
            </a:r>
          </a:p>
          <a:p>
            <a:pPr marL="228600" indent="-228600" algn="l">
              <a:spcBef>
                <a:spcPts val="500"/>
              </a:spcBef>
              <a:buChar char="•"/>
            </a:pPr>
            <a:r>
              <a:rPr lang="pt-BR" sz="1300" b="1" dirty="0">
                <a:solidFill>
                  <a:srgbClr val="333333"/>
                </a:solidFill>
              </a:rPr>
              <a:t xml:space="preserve">β (saúde): </a:t>
            </a:r>
            <a:r>
              <a:rPr lang="pt-BR" sz="1300" dirty="0">
                <a:solidFill>
                  <a:srgbClr val="333333"/>
                </a:solidFill>
              </a:rPr>
              <a:t>1,00</a:t>
            </a:r>
          </a:p>
        </p:txBody>
      </p:sp>
      <p:sp>
        <p:nvSpPr>
          <p:cNvPr id="5" name="Result"/>
          <p:cNvSpPr/>
          <p:nvPr/>
        </p:nvSpPr>
        <p:spPr>
          <a:xfrm>
            <a:off x="6246000" y="1980000"/>
            <a:ext cx="5246000" cy="3540000"/>
          </a:xfrm>
          <a:prstGeom prst="roundRect">
            <a:avLst>
              <a:gd name="adj" fmla="val 4000"/>
            </a:avLst>
          </a:prstGeom>
          <a:solidFill>
            <a:srgbClr val="EAF3EC"/>
          </a:solidFill>
          <a:ln>
            <a:noFill/>
          </a:ln>
        </p:spPr>
        <p:txBody>
          <a:bodyPr wrap="square" lIns="252000" tIns="240000" rIns="252000" bIns="240000" rtlCol="0" anchor="t"/>
          <a:lstStyle/>
          <a:p>
            <a:pPr algn="l">
              <a:buNone/>
            </a:pPr>
            <a:r>
              <a:rPr lang="pt-BR" sz="16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Resultados</a:t>
            </a:r>
          </a:p>
          <a:p>
            <a:pPr algn="l">
              <a:spcBef>
                <a:spcPts val="900"/>
              </a:spcBef>
              <a:buNone/>
            </a:pPr>
            <a:r>
              <a:rPr lang="pt-BR" sz="1400" dirty="0">
                <a:solidFill>
                  <a:srgbClr val="333333"/>
                </a:solidFill>
              </a:rPr>
              <a:t xml:space="preserve">Sobrevivência:  </a:t>
            </a:r>
            <a:r>
              <a:rPr lang="pt-BR" sz="2200" b="1" dirty="0">
                <a:solidFill>
                  <a:srgbClr val="2C5F2D"/>
                </a:solidFill>
              </a:rPr>
              <a:t>88,52%</a:t>
            </a:r>
          </a:p>
          <a:p>
            <a:pPr algn="l">
              <a:spcBef>
                <a:spcPts val="650"/>
              </a:spcBef>
              <a:buNone/>
            </a:pPr>
            <a:r>
              <a:rPr lang="pt-BR" sz="1350" dirty="0">
                <a:solidFill>
                  <a:srgbClr val="333333"/>
                </a:solidFill>
              </a:rPr>
              <a:t xml:space="preserve">Evacuados:  </a:t>
            </a:r>
            <a:r>
              <a:rPr lang="pt-BR" sz="1350" b="1" dirty="0">
                <a:solidFill>
                  <a:srgbClr val="1F3A5F"/>
                </a:solidFill>
              </a:rPr>
              <a:t>478 / 540</a:t>
            </a:r>
          </a:p>
          <a:p>
            <a:pPr algn="l">
              <a:spcBef>
                <a:spcPts val="600"/>
              </a:spcBef>
              <a:buNone/>
            </a:pPr>
            <a:r>
              <a:rPr lang="pt-BR" sz="1350" dirty="0">
                <a:solidFill>
                  <a:srgbClr val="333333"/>
                </a:solidFill>
              </a:rPr>
              <a:t xml:space="preserve">Mortos:  </a:t>
            </a:r>
            <a:r>
              <a:rPr lang="pt-BR" sz="1350" b="1" dirty="0">
                <a:solidFill>
                  <a:srgbClr val="C0392B"/>
                </a:solidFill>
              </a:rPr>
              <a:t>62</a:t>
            </a:r>
          </a:p>
          <a:p>
            <a:pPr algn="l">
              <a:spcBef>
                <a:spcPts val="600"/>
              </a:spcBef>
              <a:buNone/>
            </a:pPr>
            <a:r>
              <a:rPr lang="pt-BR" sz="1350" dirty="0">
                <a:solidFill>
                  <a:srgbClr val="333333"/>
                </a:solidFill>
              </a:rPr>
              <a:t xml:space="preserve">TET:  </a:t>
            </a:r>
            <a:r>
              <a:rPr lang="pt-BR" sz="1350" b="1" dirty="0">
                <a:solidFill>
                  <a:srgbClr val="1F3A5F"/>
                </a:solidFill>
              </a:rPr>
              <a:t>589 ticks</a:t>
            </a:r>
          </a:p>
          <a:p>
            <a:pPr algn="l">
              <a:spcBef>
                <a:spcPts val="600"/>
              </a:spcBef>
              <a:buNone/>
            </a:pPr>
            <a:r>
              <a:rPr lang="pt-BR" sz="1350" dirty="0">
                <a:solidFill>
                  <a:srgbClr val="333333"/>
                </a:solidFill>
              </a:rPr>
              <a:t xml:space="preserve">Saúde média dos sobreviventes:  </a:t>
            </a:r>
            <a:r>
              <a:rPr lang="pt-BR" sz="1350" b="1" dirty="0">
                <a:solidFill>
                  <a:srgbClr val="1F3A5F"/>
                </a:solidFill>
              </a:rPr>
              <a:t>0,974</a:t>
            </a:r>
          </a:p>
        </p:txBody>
      </p:sp>
      <p:sp>
        <p:nvSpPr>
          <p:cNvPr id="6" name="Leitura"/>
          <p:cNvSpPr txBox="1"/>
          <p:nvPr/>
        </p:nvSpPr>
        <p:spPr>
          <a:xfrm>
            <a:off x="700000" y="5640000"/>
            <a:ext cx="10792000" cy="6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>
              <a:buNone/>
            </a:pPr>
            <a:r>
              <a:rPr lang="pt-BR" sz="1250" b="1" i="1" dirty="0">
                <a:solidFill>
                  <a:srgbClr val="C0392B"/>
                </a:solidFill>
              </a:rPr>
              <a:t xml:space="preserve">Leitura:  </a:t>
            </a:r>
            <a:r>
              <a:rPr lang="pt-BR" sz="1250" i="1" dirty="0">
                <a:solidFill>
                  <a:srgbClr val="595959"/>
                </a:solidFill>
              </a:rPr>
              <a:t>O gargalo nas escadas dispara o TET (o maior dos cinco), mas a baixa toxicidade preserva a maioria com vida.</a:t>
            </a:r>
          </a:p>
        </p:txBody>
      </p:sp>
    </p:spTree>
    <p:extLst>
      <p:ext uri="{BB962C8B-B14F-4D97-AF65-F5344CB8AC3E}">
        <p14:creationId xmlns:p14="http://schemas.microsoft.com/office/powerpoint/2010/main" val="2707337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700000" y="760000"/>
            <a:ext cx="10792000" cy="5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26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5.7. Cenário 5 — Catástrofe total</a:t>
            </a:r>
          </a:p>
        </p:txBody>
      </p:sp>
      <p:sp>
        <p:nvSpPr>
          <p:cNvPr id="3" name="Subtitulo"/>
          <p:cNvSpPr txBox="1"/>
          <p:nvPr/>
        </p:nvSpPr>
        <p:spPr>
          <a:xfrm>
            <a:off x="700000" y="1300000"/>
            <a:ext cx="107920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1500" i="1" dirty="0">
                <a:solidFill>
                  <a:srgbClr val="595959"/>
                </a:solidFill>
              </a:rPr>
              <a:t>Fogo no andar alto, população máxima com 50% de idosos e 20% de PcD, toxicidade máxima e fadiga intensa: pior caso do modelo.</a:t>
            </a:r>
          </a:p>
        </p:txBody>
      </p:sp>
      <p:sp>
        <p:nvSpPr>
          <p:cNvPr id="4" name="Config"/>
          <p:cNvSpPr/>
          <p:nvPr/>
        </p:nvSpPr>
        <p:spPr>
          <a:xfrm>
            <a:off x="700000" y="1980000"/>
            <a:ext cx="5246000" cy="35400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>
            <a:noFill/>
          </a:ln>
        </p:spPr>
        <p:txBody>
          <a:bodyPr wrap="square" lIns="252000" tIns="240000" rIns="252000" bIns="240000" rtlCol="0" anchor="t"/>
          <a:lstStyle/>
          <a:p>
            <a:pPr algn="l">
              <a:buNone/>
            </a:pPr>
            <a:r>
              <a:rPr lang="pt-BR" sz="16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Configuração do experimento</a:t>
            </a:r>
          </a:p>
          <a:p>
            <a:pPr marL="228600" indent="-228600" algn="l">
              <a:spcBef>
                <a:spcPts val="900"/>
              </a:spcBef>
              <a:buChar char="•"/>
            </a:pPr>
            <a:r>
              <a:rPr lang="pt-BR" sz="1300" b="1" dirty="0">
                <a:solidFill>
                  <a:srgbClr val="333333"/>
                </a:solidFill>
              </a:rPr>
              <a:t xml:space="preserve">Ocupantes: </a:t>
            </a:r>
            <a:r>
              <a:rPr lang="pt-BR" sz="1300" dirty="0">
                <a:solidFill>
                  <a:srgbClr val="333333"/>
                </a:solidFill>
              </a:rPr>
              <a:t>540 ocupantes — 50% idosos, 20% PcD</a:t>
            </a:r>
          </a:p>
          <a:p>
            <a:pPr marL="228600" indent="-228600" algn="l">
              <a:spcBef>
                <a:spcPts val="500"/>
              </a:spcBef>
              <a:buChar char="•"/>
            </a:pPr>
            <a:r>
              <a:rPr lang="pt-BR" sz="1300" b="1" dirty="0">
                <a:solidFill>
                  <a:srgbClr val="333333"/>
                </a:solidFill>
              </a:rPr>
              <a:t xml:space="preserve">Foco do incêndio: </a:t>
            </a:r>
            <a:r>
              <a:rPr lang="pt-BR" sz="1300" dirty="0">
                <a:solidFill>
                  <a:srgbClr val="333333"/>
                </a:solidFill>
              </a:rPr>
              <a:t>Andar 12 (central-alto)</a:t>
            </a:r>
          </a:p>
          <a:p>
            <a:pPr marL="228600" indent="-228600" algn="l">
              <a:spcBef>
                <a:spcPts val="500"/>
              </a:spcBef>
              <a:buChar char="•"/>
            </a:pPr>
            <a:r>
              <a:rPr lang="pt-BR" sz="1300" b="1" dirty="0">
                <a:solidFill>
                  <a:srgbClr val="333333"/>
                </a:solidFill>
              </a:rPr>
              <a:t xml:space="preserve">Comportamento: </a:t>
            </a:r>
            <a:r>
              <a:rPr lang="pt-BR" sz="1300" dirty="0">
                <a:solidFill>
                  <a:srgbClr val="333333"/>
                </a:solidFill>
              </a:rPr>
              <a:t>λ 3,0 · γ 1,00</a:t>
            </a:r>
          </a:p>
          <a:p>
            <a:pPr marL="228600" indent="-228600" algn="l">
              <a:spcBef>
                <a:spcPts val="500"/>
              </a:spcBef>
              <a:buChar char="•"/>
            </a:pPr>
            <a:r>
              <a:rPr lang="pt-BR" sz="1300" b="1" dirty="0">
                <a:solidFill>
                  <a:srgbClr val="333333"/>
                </a:solidFill>
              </a:rPr>
              <a:t xml:space="preserve">Pesos (fumaça/calor/congestão): </a:t>
            </a:r>
            <a:r>
              <a:rPr lang="pt-BR" sz="1300" dirty="0">
                <a:solidFill>
                  <a:srgbClr val="333333"/>
                </a:solidFill>
              </a:rPr>
              <a:t>50 / 50 / 10,0</a:t>
            </a:r>
          </a:p>
          <a:p>
            <a:pPr marL="228600" indent="-228600" algn="l">
              <a:spcBef>
                <a:spcPts val="500"/>
              </a:spcBef>
              <a:buChar char="•"/>
            </a:pPr>
            <a:r>
              <a:rPr lang="pt-BR" sz="1300" b="1" dirty="0">
                <a:solidFill>
                  <a:srgbClr val="333333"/>
                </a:solidFill>
              </a:rPr>
              <a:t xml:space="preserve">FED CO/CO₂/calor: </a:t>
            </a:r>
            <a:r>
              <a:rPr lang="pt-BR" sz="1300" dirty="0">
                <a:solidFill>
                  <a:srgbClr val="333333"/>
                </a:solidFill>
              </a:rPr>
              <a:t>0,008 / 0,006 / 0,010</a:t>
            </a:r>
          </a:p>
          <a:p>
            <a:pPr marL="228600" indent="-228600" algn="l">
              <a:spcBef>
                <a:spcPts val="500"/>
              </a:spcBef>
              <a:buChar char="•"/>
            </a:pPr>
            <a:r>
              <a:rPr lang="pt-BR" sz="1300" b="1" dirty="0">
                <a:solidFill>
                  <a:srgbClr val="333333"/>
                </a:solidFill>
              </a:rPr>
              <a:t xml:space="preserve">β (saúde): </a:t>
            </a:r>
            <a:r>
              <a:rPr lang="pt-BR" sz="1300" dirty="0">
                <a:solidFill>
                  <a:srgbClr val="333333"/>
                </a:solidFill>
              </a:rPr>
              <a:t>2,00</a:t>
            </a:r>
          </a:p>
        </p:txBody>
      </p:sp>
      <p:sp>
        <p:nvSpPr>
          <p:cNvPr id="5" name="Result"/>
          <p:cNvSpPr/>
          <p:nvPr/>
        </p:nvSpPr>
        <p:spPr>
          <a:xfrm>
            <a:off x="6246000" y="1980000"/>
            <a:ext cx="5246000" cy="3540000"/>
          </a:xfrm>
          <a:prstGeom prst="roundRect">
            <a:avLst>
              <a:gd name="adj" fmla="val 4000"/>
            </a:avLst>
          </a:prstGeom>
          <a:solidFill>
            <a:srgbClr val="FBEDEB"/>
          </a:solidFill>
          <a:ln>
            <a:noFill/>
          </a:ln>
        </p:spPr>
        <p:txBody>
          <a:bodyPr wrap="square" lIns="252000" tIns="240000" rIns="252000" bIns="240000" rtlCol="0" anchor="t"/>
          <a:lstStyle/>
          <a:p>
            <a:pPr algn="l">
              <a:buNone/>
            </a:pPr>
            <a:r>
              <a:rPr lang="pt-BR" sz="16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Resultados</a:t>
            </a:r>
          </a:p>
          <a:p>
            <a:pPr algn="l">
              <a:spcBef>
                <a:spcPts val="900"/>
              </a:spcBef>
              <a:buNone/>
            </a:pPr>
            <a:r>
              <a:rPr lang="pt-BR" sz="1400" dirty="0">
                <a:solidFill>
                  <a:srgbClr val="333333"/>
                </a:solidFill>
              </a:rPr>
              <a:t xml:space="preserve">Sobrevivência:  </a:t>
            </a:r>
            <a:r>
              <a:rPr lang="pt-BR" sz="2200" b="1" dirty="0">
                <a:solidFill>
                  <a:srgbClr val="C0392B"/>
                </a:solidFill>
              </a:rPr>
              <a:t>42,59%</a:t>
            </a:r>
          </a:p>
          <a:p>
            <a:pPr algn="l">
              <a:spcBef>
                <a:spcPts val="650"/>
              </a:spcBef>
              <a:buNone/>
            </a:pPr>
            <a:r>
              <a:rPr lang="pt-BR" sz="1350" dirty="0">
                <a:solidFill>
                  <a:srgbClr val="333333"/>
                </a:solidFill>
              </a:rPr>
              <a:t xml:space="preserve">Evacuados:  </a:t>
            </a:r>
            <a:r>
              <a:rPr lang="pt-BR" sz="1350" b="1" dirty="0">
                <a:solidFill>
                  <a:srgbClr val="1F3A5F"/>
                </a:solidFill>
              </a:rPr>
              <a:t>230 / 540</a:t>
            </a:r>
          </a:p>
          <a:p>
            <a:pPr algn="l">
              <a:spcBef>
                <a:spcPts val="600"/>
              </a:spcBef>
              <a:buNone/>
            </a:pPr>
            <a:r>
              <a:rPr lang="pt-BR" sz="1350" dirty="0">
                <a:solidFill>
                  <a:srgbClr val="333333"/>
                </a:solidFill>
              </a:rPr>
              <a:t xml:space="preserve">Mortos:  </a:t>
            </a:r>
            <a:r>
              <a:rPr lang="pt-BR" sz="1350" b="1" dirty="0">
                <a:solidFill>
                  <a:srgbClr val="C0392B"/>
                </a:solidFill>
              </a:rPr>
              <a:t>310</a:t>
            </a:r>
          </a:p>
          <a:p>
            <a:pPr algn="l">
              <a:spcBef>
                <a:spcPts val="600"/>
              </a:spcBef>
              <a:buNone/>
            </a:pPr>
            <a:r>
              <a:rPr lang="pt-BR" sz="1350" dirty="0">
                <a:solidFill>
                  <a:srgbClr val="333333"/>
                </a:solidFill>
              </a:rPr>
              <a:t xml:space="preserve">TET:  </a:t>
            </a:r>
            <a:r>
              <a:rPr lang="pt-BR" sz="1350" b="1" dirty="0">
                <a:solidFill>
                  <a:srgbClr val="1F3A5F"/>
                </a:solidFill>
              </a:rPr>
              <a:t>258 ticks</a:t>
            </a:r>
          </a:p>
          <a:p>
            <a:pPr algn="l">
              <a:spcBef>
                <a:spcPts val="600"/>
              </a:spcBef>
              <a:buNone/>
            </a:pPr>
            <a:r>
              <a:rPr lang="pt-BR" sz="1350" dirty="0">
                <a:solidFill>
                  <a:srgbClr val="333333"/>
                </a:solidFill>
              </a:rPr>
              <a:t xml:space="preserve">Saúde média dos sobreviventes:  </a:t>
            </a:r>
            <a:r>
              <a:rPr lang="pt-BR" sz="1350" b="1" dirty="0">
                <a:solidFill>
                  <a:srgbClr val="1F3A5F"/>
                </a:solidFill>
              </a:rPr>
              <a:t>0,99</a:t>
            </a:r>
          </a:p>
        </p:txBody>
      </p:sp>
      <p:sp>
        <p:nvSpPr>
          <p:cNvPr id="6" name="Leitura"/>
          <p:cNvSpPr txBox="1"/>
          <p:nvPr/>
        </p:nvSpPr>
        <p:spPr>
          <a:xfrm>
            <a:off x="700000" y="5640000"/>
            <a:ext cx="10792000" cy="6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>
              <a:buNone/>
            </a:pPr>
            <a:r>
              <a:rPr lang="pt-BR" sz="1250" b="1" i="1" dirty="0">
                <a:solidFill>
                  <a:srgbClr val="C0392B"/>
                </a:solidFill>
              </a:rPr>
              <a:t xml:space="preserve">Leitura:  </a:t>
            </a:r>
            <a:r>
              <a:rPr lang="pt-BR" sz="1250" i="1" dirty="0">
                <a:solidFill>
                  <a:srgbClr val="595959"/>
                </a:solidFill>
              </a:rPr>
              <a:t>Toxicidade e fadiga máximas com população lenta: menos da metade sobrevive — o limite crítico do sistema.</a:t>
            </a:r>
          </a:p>
        </p:txBody>
      </p:sp>
    </p:spTree>
    <p:extLst>
      <p:ext uri="{BB962C8B-B14F-4D97-AF65-F5344CB8AC3E}">
        <p14:creationId xmlns:p14="http://schemas.microsoft.com/office/powerpoint/2010/main" val="2707347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700000" y="760000"/>
            <a:ext cx="107920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5.8. Comparativo de Resultados</a:t>
            </a:r>
          </a:p>
        </p:txBody>
      </p:sp>
      <p:sp>
        <p:nvSpPr>
          <p:cNvPr id="3" name="Subtitulo"/>
          <p:cNvSpPr txBox="1"/>
          <p:nvPr/>
        </p:nvSpPr>
        <p:spPr>
          <a:xfrm>
            <a:off x="700000" y="1280000"/>
            <a:ext cx="10792000" cy="3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1500" i="1" dirty="0">
                <a:solidFill>
                  <a:srgbClr val="595959"/>
                </a:solidFill>
              </a:rPr>
              <a:t>Síntese das cinco execuções: sobrevivência, mortalidade e tempo de evacuação.</a:t>
            </a:r>
          </a:p>
        </p:txBody>
      </p:sp>
      <p:pic>
        <p:nvPicPr>
          <p:cNvPr id="4" name="GraficoComparativ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6000" y="1860000"/>
            <a:ext cx="9800000" cy="3302000"/>
          </a:xfrm>
          <a:prstGeom prst="rect">
            <a:avLst/>
          </a:prstGeom>
        </p:spPr>
      </p:pic>
      <p:sp>
        <p:nvSpPr>
          <p:cNvPr id="5" name="Sintese"/>
          <p:cNvSpPr/>
          <p:nvPr/>
        </p:nvSpPr>
        <p:spPr>
          <a:xfrm>
            <a:off x="700000" y="5300000"/>
            <a:ext cx="10792000" cy="1320000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>
            <a:noFill/>
          </a:ln>
        </p:spPr>
        <p:txBody>
          <a:bodyPr wrap="square" lIns="252000" tIns="180000" rIns="252000" bIns="180000" rtlCol="0" anchor="t"/>
          <a:lstStyle/>
          <a:p>
            <a:pPr algn="l">
              <a:buNone/>
            </a:pPr>
            <a:r>
              <a:rPr lang="pt-BR" sz="1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Síntese</a:t>
            </a:r>
          </a:p>
          <a:p>
            <a:pPr marL="228600" indent="-228600" algn="l">
              <a:spcBef>
                <a:spcPts val="400"/>
              </a:spcBef>
              <a:buChar char="•"/>
            </a:pPr>
            <a:r>
              <a:rPr lang="pt-BR" sz="1200" b="1" dirty="0">
                <a:solidFill>
                  <a:srgbClr val="C0392B"/>
                </a:solidFill>
              </a:rPr>
              <a:t xml:space="preserve">A toxicidade domina a mortalidade — </a:t>
            </a:r>
            <a:r>
              <a:rPr lang="pt-BR" sz="1200" dirty="0">
                <a:solidFill>
                  <a:srgbClr val="333333"/>
                </a:solidFill>
              </a:rPr>
              <a:t>C3 e C5 concentram as mortes; não é o tamanho da população, e sim os coeficientes de FED.</a:t>
            </a:r>
          </a:p>
          <a:p>
            <a:pPr marL="228600" indent="-228600" algn="l">
              <a:spcBef>
                <a:spcPts val="300"/>
              </a:spcBef>
              <a:buChar char="•"/>
            </a:pPr>
            <a:r>
              <a:rPr lang="pt-BR" sz="1200" b="1" dirty="0">
                <a:solidFill>
                  <a:srgbClr val="C0392B"/>
                </a:solidFill>
              </a:rPr>
              <a:t xml:space="preserve">A congestão alonga o tempo — </a:t>
            </a:r>
            <a:r>
              <a:rPr lang="pt-BR" sz="1200" dirty="0">
                <a:solidFill>
                  <a:srgbClr val="333333"/>
                </a:solidFill>
              </a:rPr>
              <a:t>C4 tem o maior TET (589), mas alta sobrevivência: o gargalo atrasa, enquanto a fumaça mata.</a:t>
            </a:r>
          </a:p>
          <a:p>
            <a:pPr marL="228600" indent="-228600" algn="l">
              <a:spcBef>
                <a:spcPts val="300"/>
              </a:spcBef>
              <a:buChar char="•"/>
            </a:pPr>
            <a:r>
              <a:rPr lang="pt-BR" sz="1200" b="1" dirty="0">
                <a:solidFill>
                  <a:srgbClr val="C0392B"/>
                </a:solidFill>
              </a:rPr>
              <a:t xml:space="preserve">O foco alto protege a rota de fuga — </a:t>
            </a:r>
            <a:r>
              <a:rPr lang="pt-BR" sz="1200" dirty="0">
                <a:solidFill>
                  <a:srgbClr val="333333"/>
                </a:solidFill>
              </a:rPr>
              <a:t>C2, mesmo com população mais lenta, atinge a maior sobrevivência (94,7%).</a:t>
            </a:r>
          </a:p>
        </p:txBody>
      </p:sp>
    </p:spTree>
    <p:extLst>
      <p:ext uri="{BB962C8B-B14F-4D97-AF65-F5344CB8AC3E}">
        <p14:creationId xmlns:p14="http://schemas.microsoft.com/office/powerpoint/2010/main" val="270735888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1428</Words>
  <Application>Microsoft Office PowerPoint</Application>
  <PresentationFormat>Widescreen</PresentationFormat>
  <Paragraphs>172</Paragraphs>
  <Slides>21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5" baseType="lpstr">
      <vt:lpstr>Aptos</vt:lpstr>
      <vt:lpstr>Arial</vt:lpstr>
      <vt:lpstr>Calibri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Augusto Arraga</dc:creator>
  <cp:lastModifiedBy>Marcos Antonio Mattedi</cp:lastModifiedBy>
  <cp:revision>8</cp:revision>
  <dcterms:created xsi:type="dcterms:W3CDTF">2026-04-13T15:47:06Z</dcterms:created>
  <dcterms:modified xsi:type="dcterms:W3CDTF">2026-06-08T11:55:47Z</dcterms:modified>
</cp:coreProperties>
</file>