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3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  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  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Definição do Fenômeno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Edifício real de 30 andares em situação de incêndio — base empírica que orienta o ciclo de simulação.</a:t>
            </a:r>
          </a:p>
        </p:txBody>
      </p:sp>
      <p:sp>
        <p:nvSpPr>
          <p:cNvPr id="4" name="CardEsquerd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Distinção conceitual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Fogo — </a:t>
            </a:r>
            <a:r>
              <a:rPr lang="pt-BR" sz="1300" dirty="0">
                <a:solidFill>
                  <a:srgbClr val="333333"/>
                </a:solidFill>
              </a:rPr>
              <a:t>reação química exotérmica de combustão (combustível + comburente </a:t>
            </a:r>
            <a:r>
              <a:rPr lang="pt-BR" sz="1300">
                <a:solidFill>
                  <a:srgbClr val="333333"/>
                </a:solidFill>
              </a:rPr>
              <a:t>+ calor.</a:t>
            </a:r>
            <a:endParaRPr lang="pt-BR" sz="1300" dirty="0">
              <a:solidFill>
                <a:srgbClr val="333333"/>
              </a:solidFill>
            </a:endParaRP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Incêndio — </a:t>
            </a:r>
            <a:r>
              <a:rPr lang="pt-BR" sz="1300" dirty="0">
                <a:solidFill>
                  <a:srgbClr val="333333"/>
                </a:solidFill>
              </a:rPr>
              <a:t>fogo fora de controle, intenso, capaz de causar danos à vida, ao meio ambiente e ao patrimônio.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Incêndio em edificação — </a:t>
            </a:r>
            <a:r>
              <a:rPr lang="pt-BR" sz="1300" dirty="0">
                <a:solidFill>
                  <a:srgbClr val="333333"/>
                </a:solidFill>
              </a:rPr>
              <a:t>ocorrência no interior ou na estrutura de uma edificação, com potencial de atingir ocupantes, comprometer rotas de fuga e propagar-se entre ambientes.</a:t>
            </a:r>
          </a:p>
        </p:txBody>
      </p:sp>
      <p:sp>
        <p:nvSpPr>
          <p:cNvPr id="5" name="CardDireito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Classes de incêndio relevantes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A — </a:t>
            </a:r>
            <a:r>
              <a:rPr lang="pt-BR" sz="1300" dirty="0">
                <a:solidFill>
                  <a:srgbClr val="333333"/>
                </a:solidFill>
              </a:rPr>
              <a:t>sólidos combustíveis (móveis, papel, tecidos). Principal fonte de carga em ambientes de escritório.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B — </a:t>
            </a:r>
            <a:r>
              <a:rPr lang="pt-BR" sz="1300" dirty="0">
                <a:solidFill>
                  <a:srgbClr val="333333"/>
                </a:solidFill>
              </a:rPr>
              <a:t>líquidos e gases inflamáveis. Possível em garagens, depósitos ou cozinhas dos andares inferiores.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C — </a:t>
            </a:r>
            <a:r>
              <a:rPr lang="pt-BR" sz="1300" dirty="0">
                <a:solidFill>
                  <a:srgbClr val="333333"/>
                </a:solidFill>
              </a:rPr>
              <a:t>equipamentos elétricos energizados (painéis, fiação, servidores). Relevantes em andares técnicos e salas de TI.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200" i="1" dirty="0">
                <a:solidFill>
                  <a:srgbClr val="595959"/>
                </a:solidFill>
              </a:rPr>
              <a:t>Cenário simulado: edifício de uso misto, com predominância das classes acima.</a:t>
            </a:r>
          </a:p>
        </p:txBody>
      </p:sp>
    </p:spTree>
    <p:extLst>
      <p:ext uri="{BB962C8B-B14F-4D97-AF65-F5344CB8AC3E}">
        <p14:creationId xmlns:p14="http://schemas.microsoft.com/office/powerpoint/2010/main" val="190556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e Delimitação Analítica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Restrições baseadas na ABNT NBR 9077 e escopo causalmente relevante para a simulação.</a:t>
            </a:r>
          </a:p>
        </p:txBody>
      </p:sp>
      <p:graphicFrame>
        <p:nvGraphicFramePr>
          <p:cNvPr id="4" name="TabelaParametros"/>
          <p:cNvGraphicFramePr>
            <a:graphicFrameLocks noGrp="1"/>
          </p:cNvGraphicFramePr>
          <p:nvPr/>
        </p:nvGraphicFramePr>
        <p:xfrm>
          <a:off x="700000" y="1900000"/>
          <a:ext cx="5800000" cy="3380000"/>
        </p:xfrm>
        <a:graphic>
          <a:graphicData uri="http://schemas.openxmlformats.org/drawingml/2006/table">
            <a:tbl>
              <a:tblPr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Parâmetro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Valor / Referência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Nº de andares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30 andares (120 m), numerados de 0 a 29; térreo = 0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Dimensão por andar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Grade mínima de 20×20 células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Escadas / Saídas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Mín. 1 escada e 1 saída sinalizada por andar; evacuação no térreo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Elevadores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Bloqueados durante o incêndio (ABNT NBR 9077)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Perfis de ocupantes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Adultos padrão, idosos (vel. 60%), PcD (vel. 40%)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Foco do incêndio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Parametrizável: andar e célula de origem configuráveis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ardRepresentado"/>
          <p:cNvSpPr/>
          <p:nvPr/>
        </p:nvSpPr>
        <p:spPr>
          <a:xfrm>
            <a:off x="6700000" y="1900000"/>
            <a:ext cx="4792000" cy="208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2C5F2D"/>
                </a:solidFill>
              </a:rPr>
              <a:t>✓  Será representado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Propagação do fogo e da fumaça por células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Deslocamento dos ocupantes às saídas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Congestionamento e gargalos nas escadas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Perfis diferenciados (adulto, idoso, PcD)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Danos por exposição ao fogo (ferimento/morte)</a:t>
            </a:r>
          </a:p>
        </p:txBody>
      </p:sp>
      <p:sp>
        <p:nvSpPr>
          <p:cNvPr id="6" name="CardNaoRepresentado"/>
          <p:cNvSpPr/>
          <p:nvPr/>
        </p:nvSpPr>
        <p:spPr>
          <a:xfrm>
            <a:off x="6700000" y="4080000"/>
            <a:ext cx="4792000" cy="2220000"/>
          </a:xfrm>
          <a:prstGeom prst="roundRect">
            <a:avLst>
              <a:gd name="adj" fmla="val 4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C0392B"/>
                </a:solidFill>
              </a:rPr>
              <a:t>✗  Fora do escopo desta versão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Colapso estrutural da edificação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Ação hidráulica de combate (sprinklers, brigadistas)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Variações térmicas detalhadas por zona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Comportamento psicológico clínico (pânico, TEPT)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100" i="1" dirty="0">
                <a:solidFill>
                  <a:srgbClr val="595959"/>
                </a:solidFill>
              </a:rPr>
              <a:t>Horizonte: da ignição à evacuação total. Resolução: steps/ticks discretos.</a:t>
            </a:r>
          </a:p>
        </p:txBody>
      </p:sp>
    </p:spTree>
    <p:extLst>
      <p:ext uri="{BB962C8B-B14F-4D97-AF65-F5344CB8AC3E}">
        <p14:creationId xmlns:p14="http://schemas.microsoft.com/office/powerpoint/2010/main" val="190556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484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Felipe Augusto de Carvalho de Araujo</cp:lastModifiedBy>
  <cp:revision>3</cp:revision>
  <dcterms:created xsi:type="dcterms:W3CDTF">2026-04-13T15:47:06Z</dcterms:created>
  <dcterms:modified xsi:type="dcterms:W3CDTF">2026-04-27T22:06:04Z</dcterms:modified>
</cp:coreProperties>
</file>