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7" r:id="rId8"/>
    <p:sldId id="266" r:id="rId9"/>
    <p:sldId id="268" r:id="rId10"/>
    <p:sldId id="269" r:id="rId11"/>
    <p:sldId id="259" r:id="rId12"/>
    <p:sldId id="270" r:id="rId13"/>
    <p:sldId id="271" r:id="rId14"/>
    <p:sldId id="272" r:id="rId15"/>
    <p:sldId id="273" r:id="rId16"/>
    <p:sldId id="274" r:id="rId17"/>
    <p:sldId id="260" r:id="rId18"/>
    <p:sldId id="275" r:id="rId19"/>
    <p:sldId id="276" r:id="rId20"/>
    <p:sldId id="261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62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  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  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</a:t>
                      </a:r>
                      <a:r>
                        <a:rPr lang="pt-BR" sz="15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</a:t>
                      </a: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Definição do Fenômeno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real de 30 andares em situação de incêndio — base empírica que orienta o ciclo de simulação.</a:t>
            </a:r>
          </a:p>
        </p:txBody>
      </p:sp>
      <p:sp>
        <p:nvSpPr>
          <p:cNvPr id="4" name="CardEsquerd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Distinção conceitual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Fogo — </a:t>
            </a:r>
            <a:r>
              <a:rPr lang="pt-BR" sz="1300" dirty="0">
                <a:solidFill>
                  <a:srgbClr val="333333"/>
                </a:solidFill>
              </a:rPr>
              <a:t>reação química exotérmica de combustão (combustível + comburente </a:t>
            </a:r>
            <a:r>
              <a:rPr lang="pt-BR" sz="1300">
                <a:solidFill>
                  <a:srgbClr val="333333"/>
                </a:solidFill>
              </a:rPr>
              <a:t>+ calor.</a:t>
            </a:r>
            <a:endParaRPr lang="pt-BR" sz="1300" dirty="0">
              <a:solidFill>
                <a:srgbClr val="333333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— </a:t>
            </a:r>
            <a:r>
              <a:rPr lang="pt-BR" sz="1300" dirty="0">
                <a:solidFill>
                  <a:srgbClr val="333333"/>
                </a:solidFill>
              </a:rPr>
              <a:t>fogo fora de controle, intenso, capaz de causar danos à vida, ao meio ambiente e ao patrimônio.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em edificação — </a:t>
            </a:r>
            <a:r>
              <a:rPr lang="pt-BR" sz="1300" dirty="0">
                <a:solidFill>
                  <a:srgbClr val="333333"/>
                </a:solidFill>
              </a:rPr>
              <a:t>ocorrência no interior ou na estrutura de uma edificação, com potencial de atingir ocupantes, comprometer rotas de fuga e propagar-se entre ambientes.</a:t>
            </a:r>
          </a:p>
        </p:txBody>
      </p:sp>
      <p:sp>
        <p:nvSpPr>
          <p:cNvPr id="5" name="CardDireito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Classes de incêndio relevantes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A — </a:t>
            </a:r>
            <a:r>
              <a:rPr lang="pt-BR" sz="1300" dirty="0">
                <a:solidFill>
                  <a:srgbClr val="333333"/>
                </a:solidFill>
              </a:rPr>
              <a:t>sólidos combustíveis (móveis, papel, tecidos). Principal fonte de carga em ambientes de escritório.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B — </a:t>
            </a:r>
            <a:r>
              <a:rPr lang="pt-BR" sz="1300" dirty="0">
                <a:solidFill>
                  <a:srgbClr val="333333"/>
                </a:solidFill>
              </a:rPr>
              <a:t>líquidos e gases inflamáveis. Possível em garagens, depósitos ou cozinhas dos andares inferiores.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C — </a:t>
            </a:r>
            <a:r>
              <a:rPr lang="pt-BR" sz="1300" dirty="0">
                <a:solidFill>
                  <a:srgbClr val="333333"/>
                </a:solidFill>
              </a:rPr>
              <a:t>equipamentos elétricos energizados (painéis, fiação, servidores). Relevantes em andares técnicos e salas de TI.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00" i="1" dirty="0">
                <a:solidFill>
                  <a:srgbClr val="595959"/>
                </a:solidFill>
              </a:rPr>
              <a:t>Cenário simulado: edifício de uso misto, com predominância das classes acima.</a:t>
            </a:r>
          </a:p>
        </p:txBody>
      </p:sp>
    </p:spTree>
    <p:extLst>
      <p:ext uri="{BB962C8B-B14F-4D97-AF65-F5344CB8AC3E}">
        <p14:creationId xmlns:p14="http://schemas.microsoft.com/office/powerpoint/2010/main" val="19055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e Delimitação Analítica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Restrições baseadas na ABNT NBR 9077 e escopo causalmente relevante para a simulação.</a:t>
            </a:r>
          </a:p>
        </p:txBody>
      </p:sp>
      <p:graphicFrame>
        <p:nvGraphicFramePr>
          <p:cNvPr id="4" name="TabelaParametros"/>
          <p:cNvGraphicFramePr>
            <a:graphicFrameLocks noGrp="1"/>
          </p:cNvGraphicFramePr>
          <p:nvPr/>
        </p:nvGraphicFramePr>
        <p:xfrm>
          <a:off x="700000" y="1900000"/>
          <a:ext cx="5800000" cy="338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Representado"/>
          <p:cNvSpPr/>
          <p:nvPr/>
        </p:nvSpPr>
        <p:spPr>
          <a:xfrm>
            <a:off x="6700000" y="1900000"/>
            <a:ext cx="4792000" cy="208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2C5F2D"/>
                </a:solidFill>
              </a:rPr>
              <a:t>✓  Será representado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Propagação do fogo e da fumaça por células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Deslocamento dos ocupantes às saídas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Congestionamento e gargalos nas escadas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Perfis diferenciados (adulto, idoso, PcD)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Danos por exposição ao fogo (ferimento/morte)</a:t>
            </a:r>
          </a:p>
        </p:txBody>
      </p:sp>
      <p:sp>
        <p:nvSpPr>
          <p:cNvPr id="6" name="CardNaoRepresentado"/>
          <p:cNvSpPr/>
          <p:nvPr/>
        </p:nvSpPr>
        <p:spPr>
          <a:xfrm>
            <a:off x="6700000" y="4080000"/>
            <a:ext cx="4792000" cy="222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✗  Fora do escopo desta versão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Colapso estrutural da edificação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Ação hidráulica de combate (sprinklers, brigadistas)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Variações térmicas detalhadas por zona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Comportamento psicológico clínico (pânico, TEPT)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100" i="1" dirty="0">
                <a:solidFill>
                  <a:srgbClr val="595959"/>
                </a:solidFill>
              </a:rPr>
              <a:t>Horizonte: da ignição à evacuação total. Resolução: steps/ticks discretos.</a:t>
            </a:r>
          </a:p>
        </p:txBody>
      </p:sp>
    </p:spTree>
    <p:extLst>
      <p:ext uri="{BB962C8B-B14F-4D97-AF65-F5344CB8AC3E}">
        <p14:creationId xmlns:p14="http://schemas.microsoft.com/office/powerpoint/2010/main" val="19055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C594-B965-DA36-B883-39DFD887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A20111D-BC33-6F8E-0E5E-B03B81D49BF2}"/>
              </a:ext>
            </a:extLst>
          </p:cNvPr>
          <p:cNvSpPr txBox="1"/>
          <p:nvPr/>
        </p:nvSpPr>
        <p:spPr>
          <a:xfrm>
            <a:off x="383477" y="585503"/>
            <a:ext cx="3845623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Base consultadas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D5430141-0E69-F0DD-D00B-B5434019CF9B}"/>
              </a:ext>
            </a:extLst>
          </p:cNvPr>
          <p:cNvSpPr txBox="1"/>
          <p:nvPr/>
        </p:nvSpPr>
        <p:spPr>
          <a:xfrm>
            <a:off x="1878169" y="1554497"/>
            <a:ext cx="67295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Detalhamento da identificação por base de dados.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BAC047-00C4-D26E-24E5-A93C4917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76" y="1934497"/>
            <a:ext cx="10594124" cy="235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6EB8-A983-389D-A45D-58CE0793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89B7181-483E-D9A8-86A6-8C4677FBE3EC}"/>
              </a:ext>
            </a:extLst>
          </p:cNvPr>
          <p:cNvSpPr txBox="1"/>
          <p:nvPr/>
        </p:nvSpPr>
        <p:spPr>
          <a:xfrm>
            <a:off x="576907" y="659564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Filtro PRISMA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04F9A44-6A87-5B18-91CE-36FB8446518F}"/>
              </a:ext>
            </a:extLst>
          </p:cNvPr>
          <p:cNvSpPr txBox="1"/>
          <p:nvPr/>
        </p:nvSpPr>
        <p:spPr>
          <a:xfrm>
            <a:off x="761546" y="1566185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O fluxograma PRISMA abaixo resume o processo de identificação, triagem, elegibilidade e inclusão dos estudos.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33C8D1-8136-CBEE-1303-05748D1D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69" y="2020873"/>
            <a:ext cx="8647477" cy="3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4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615-AC47-5EAD-D5B3-6AA5B7A3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38C97CA-E4D4-C141-ECC7-D845DF9F5AA4}"/>
              </a:ext>
            </a:extLst>
          </p:cNvPr>
          <p:cNvSpPr txBox="1"/>
          <p:nvPr/>
        </p:nvSpPr>
        <p:spPr>
          <a:xfrm>
            <a:off x="700000" y="5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E03B96C5-CA91-C0AA-9B37-9D481E53DA80}"/>
              </a:ext>
            </a:extLst>
          </p:cNvPr>
          <p:cNvSpPr txBox="1"/>
          <p:nvPr/>
        </p:nvSpPr>
        <p:spPr>
          <a:xfrm>
            <a:off x="700000" y="111830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BBB01B-3482-63D7-9F46-979D43CF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1435000"/>
            <a:ext cx="8977138" cy="43209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B8F29D-5323-4A67-332E-9BC3E71D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52" y="5755914"/>
            <a:ext cx="8969517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3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C045-3308-15AA-1F26-004F44E6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C5188B2-239D-16E3-C3BE-9736ABC0AB02}"/>
              </a:ext>
            </a:extLst>
          </p:cNvPr>
          <p:cNvSpPr txBox="1"/>
          <p:nvPr/>
        </p:nvSpPr>
        <p:spPr>
          <a:xfrm>
            <a:off x="700000" y="60208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3BA82B2F-9A2F-08FB-E589-7CBBDEE34F55}"/>
              </a:ext>
            </a:extLst>
          </p:cNvPr>
          <p:cNvSpPr txBox="1"/>
          <p:nvPr/>
        </p:nvSpPr>
        <p:spPr>
          <a:xfrm>
            <a:off x="700000" y="10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2673AA-6967-D9D5-0337-97298DD6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9" y="1518543"/>
            <a:ext cx="900762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Tipo de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Abordagem híbrida que integra três paradigmas de modelagem para simular a evacuação.</a:t>
            </a:r>
          </a:p>
        </p:txBody>
      </p:sp>
      <p:sp>
        <p:nvSpPr>
          <p:cNvPr id="4" name="CardABM"/>
          <p:cNvSpPr/>
          <p:nvPr/>
        </p:nvSpPr>
        <p:spPr>
          <a:xfrm>
            <a:off x="700000" y="1900000"/>
            <a:ext cx="3397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ABM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Modelagem Baseada em Agentes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Comportamento individual dos ocupantes</a:t>
            </a:r>
          </a:p>
        </p:txBody>
      </p:sp>
      <p:sp>
        <p:nvSpPr>
          <p:cNvPr id="5" name="CardCA"/>
          <p:cNvSpPr/>
          <p:nvPr/>
        </p:nvSpPr>
        <p:spPr>
          <a:xfrm>
            <a:off x="4397000" y="1900000"/>
            <a:ext cx="3397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Autômatos Celulares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Movimentação espacial discreta no ambiente</a:t>
            </a:r>
          </a:p>
        </p:txBody>
      </p:sp>
      <p:sp>
        <p:nvSpPr>
          <p:cNvPr id="6" name="CardCFD"/>
          <p:cNvSpPr/>
          <p:nvPr/>
        </p:nvSpPr>
        <p:spPr>
          <a:xfrm>
            <a:off x="8094000" y="1900000"/>
            <a:ext cx="3398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CFD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Dinâmica de Fluidos Computacional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Campos de temperatura, fumaça e gases tóxicos</a:t>
            </a:r>
          </a:p>
        </p:txBody>
      </p:sp>
      <p:sp>
        <p:nvSpPr>
          <p:cNvPr id="7" name="Seta1"/>
          <p:cNvSpPr/>
          <p:nvPr/>
        </p:nvSpPr>
        <p:spPr>
          <a:xfrm>
            <a:off x="5867400" y="3380000"/>
            <a:ext cx="457200" cy="360000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CardModelo"/>
          <p:cNvSpPr/>
          <p:nvPr/>
        </p:nvSpPr>
        <p:spPr>
          <a:xfrm>
            <a:off x="700000" y="3820000"/>
            <a:ext cx="10792000" cy="820000"/>
          </a:xfrm>
          <a:prstGeom prst="roundRect">
            <a:avLst>
              <a:gd name="adj" fmla="val 6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 wrap="square" lIns="216000" tIns="120000" rIns="216000" bIns="120000" rtlCol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FFFFF"/>
                </a:solidFill>
              </a:rPr>
              <a:t>Modelo de Simulação de Evacuação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150" dirty="0">
                <a:solidFill>
                  <a:srgbClr val="CADCFC"/>
                </a:solidFill>
              </a:rPr>
              <a:t>Acoplamento ABM + CA + CFD em passos de tempo discretos (steps/ticks)</a:t>
            </a:r>
          </a:p>
        </p:txBody>
      </p:sp>
      <p:sp>
        <p:nvSpPr>
          <p:cNvPr id="9" name="Seta2"/>
          <p:cNvSpPr/>
          <p:nvPr/>
        </p:nvSpPr>
        <p:spPr>
          <a:xfrm>
            <a:off x="5867400" y="4720000"/>
            <a:ext cx="457200" cy="360000"/>
          </a:xfrm>
          <a:prstGeom prst="downArrow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CardSaidas"/>
          <p:cNvSpPr/>
          <p:nvPr/>
        </p:nvSpPr>
        <p:spPr>
          <a:xfrm>
            <a:off x="700000" y="5160000"/>
            <a:ext cx="10792000" cy="8200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>
            <a:noFill/>
          </a:ln>
        </p:spPr>
        <p:txBody>
          <a:bodyPr wrap="square" lIns="216000" tIns="120000" rIns="216000" bIns="12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rgbClr val="2C5F2D"/>
                </a:solidFill>
              </a:rPr>
              <a:t>Saídas do modelo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150" dirty="0">
                <a:solidFill>
                  <a:srgbClr val="333333"/>
                </a:solidFill>
              </a:rPr>
              <a:t>Tempo total de evacuação, taxa de sobrevivência, trajetórias e gargalos</a:t>
            </a:r>
          </a:p>
        </p:txBody>
      </p:sp>
    </p:spTree>
    <p:extLst>
      <p:ext uri="{BB962C8B-B14F-4D97-AF65-F5344CB8AC3E}">
        <p14:creationId xmlns:p14="http://schemas.microsoft.com/office/powerpoint/2010/main" val="247921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Abordagem híbrida que combina três paradigmas, cada um responsável por uma dimensão do problema.</a:t>
            </a:r>
          </a:p>
        </p:txBody>
      </p:sp>
      <p:sp>
        <p:nvSpPr>
          <p:cNvPr id="4" name="CardABM"/>
          <p:cNvSpPr/>
          <p:nvPr/>
        </p:nvSpPr>
        <p:spPr>
          <a:xfrm>
            <a:off x="700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Modelagem Baseada em Agentes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ABM — comportamento dos ocupantes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Representa o comportamento individual dos ocupantes, permitindo heterogeneidade de decisões, percepção de risco e adaptação às condições do ambiente.</a:t>
            </a:r>
          </a:p>
        </p:txBody>
      </p:sp>
      <p:sp>
        <p:nvSpPr>
          <p:cNvPr id="5" name="CardCA"/>
          <p:cNvSpPr/>
          <p:nvPr/>
        </p:nvSpPr>
        <p:spPr>
          <a:xfrm>
            <a:off x="4397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Autômatos Celulares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CA — movimentação no espaço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Representam a movimentação espacial discreta dos agentes no ambiente construído, incluindo regras específicas para corredores, portas e escadas.</a:t>
            </a:r>
          </a:p>
        </p:txBody>
      </p:sp>
      <p:sp>
        <p:nvSpPr>
          <p:cNvPr id="6" name="CardCFD"/>
          <p:cNvSpPr/>
          <p:nvPr/>
        </p:nvSpPr>
        <p:spPr>
          <a:xfrm>
            <a:off x="8094000" y="1900000"/>
            <a:ext cx="3398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Dinâmica de Fluidos Computacional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CFD — ambiente de risco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Fornece os campos dinâmicos de temperatura, fumaça e gases tóxicos, usados para atualizar o estado fisiológico e cognitivo dos ocupantes.</a:t>
            </a:r>
          </a:p>
        </p:txBody>
      </p:sp>
    </p:spTree>
    <p:extLst>
      <p:ext uri="{BB962C8B-B14F-4D97-AF65-F5344CB8AC3E}">
        <p14:creationId xmlns:p14="http://schemas.microsoft.com/office/powerpoint/2010/main" val="41154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Entidades, parâmetros e variáveis que compõem o modelo.</a:t>
            </a:r>
          </a:p>
        </p:txBody>
      </p:sp>
      <p:sp>
        <p:nvSpPr>
          <p:cNvPr id="4" name="CardEntidades"/>
          <p:cNvSpPr/>
          <p:nvPr/>
        </p:nvSpPr>
        <p:spPr>
          <a:xfrm>
            <a:off x="700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Entidades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>Agentes ocupantes — </a:t>
            </a:r>
            <a:r>
              <a:rPr lang="pt-BR" sz="1250" dirty="0">
                <a:solidFill>
                  <a:srgbClr val="333333"/>
                </a:solidFill>
              </a:rPr>
              <a:t>indivíduos com mobilidade, percepção e resistência fisiológica heterogêneas.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>Ambiente físico — </a:t>
            </a:r>
            <a:r>
              <a:rPr lang="pt-BR" sz="1250" dirty="0">
                <a:solidFill>
                  <a:srgbClr val="333333"/>
                </a:solidFill>
              </a:rPr>
              <a:t>geometria do edifício: corredores, portas, escadas e saídas de emergência.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>Agentes de risco — </a:t>
            </a:r>
            <a:r>
              <a:rPr lang="pt-BR" sz="1250" dirty="0">
                <a:solidFill>
                  <a:srgbClr val="333333"/>
                </a:solidFill>
              </a:rPr>
              <a:t>fogo, fumaça, temperatura e gases tóxicos distribuídos no espaço.</a:t>
            </a:r>
          </a:p>
        </p:txBody>
      </p:sp>
      <p:sp>
        <p:nvSpPr>
          <p:cNvPr id="5" name="CardParametros"/>
          <p:cNvSpPr/>
          <p:nvPr/>
        </p:nvSpPr>
        <p:spPr>
          <a:xfrm>
            <a:off x="4397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principais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Velocidade base dos agentes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Raio de visão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Capacidade de portas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Resistência fisiológica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Coeficiente de influência da fumaça</a:t>
            </a:r>
          </a:p>
        </p:txBody>
      </p:sp>
      <p:sp>
        <p:nvSpPr>
          <p:cNvPr id="6" name="CardVariaveis"/>
          <p:cNvSpPr/>
          <p:nvPr/>
        </p:nvSpPr>
        <p:spPr>
          <a:xfrm>
            <a:off x="8094000" y="1900000"/>
            <a:ext cx="3398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Variáveis dinâmicas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Posição espacial (x, y, z)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Velocidade instantânea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Fadiga acumulada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Estado de saúde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Nível de exposição à fumaça e ao calor</a:t>
            </a:r>
          </a:p>
        </p:txBody>
      </p:sp>
    </p:spTree>
    <p:extLst>
      <p:ext uri="{BB962C8B-B14F-4D97-AF65-F5344CB8AC3E}">
        <p14:creationId xmlns:p14="http://schemas.microsoft.com/office/powerpoint/2010/main" val="2707392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Mecanismos e regras operacionais que governam o comportamento dos agentes.</a:t>
            </a:r>
          </a:p>
        </p:txBody>
      </p:sp>
      <p:sp>
        <p:nvSpPr>
          <p:cNvPr id="4" name="CardCicl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Ciclo de comportamento do agente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1. Percepção — </a:t>
            </a:r>
            <a:r>
              <a:rPr lang="pt-BR" sz="1300" dirty="0">
                <a:solidFill>
                  <a:srgbClr val="333333"/>
                </a:solidFill>
              </a:rPr>
              <a:t>coleta de informações do ambiente (temperatura, densidade de fumaça e rotas de fuga).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2. Interpretação — </a:t>
            </a:r>
            <a:r>
              <a:rPr lang="pt-BR" sz="1300" dirty="0">
                <a:solidFill>
                  <a:srgbClr val="333333"/>
                </a:solidFill>
              </a:rPr>
              <a:t>avaliação do risco local.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3. Decisão — </a:t>
            </a:r>
            <a:r>
              <a:rPr lang="pt-BR" sz="1300" dirty="0">
                <a:solidFill>
                  <a:srgbClr val="333333"/>
                </a:solidFill>
              </a:rPr>
              <a:t>seleção da rota de evacuação de menor risco percebido.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4. Execução — </a:t>
            </a:r>
            <a:r>
              <a:rPr lang="pt-BR" sz="1300" dirty="0">
                <a:solidFill>
                  <a:srgbClr val="333333"/>
                </a:solidFill>
              </a:rPr>
              <a:t>movimentação espacial no ambiente.</a:t>
            </a:r>
          </a:p>
        </p:txBody>
      </p:sp>
      <p:sp>
        <p:nvSpPr>
          <p:cNvPr id="5" name="CardVelocidade"/>
          <p:cNvSpPr/>
          <p:nvPr/>
        </p:nvSpPr>
        <p:spPr>
          <a:xfrm>
            <a:off x="6246000" y="1900000"/>
            <a:ext cx="5246000" cy="208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Velocidade do agente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500" b="1" dirty="0">
                <a:solidFill>
                  <a:srgbClr val="C0392B"/>
                </a:solidFill>
              </a:rPr>
              <a:t>v(t) = v₀ · e^(−λ·S(t)) · (1 − γ·F(t))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100" dirty="0">
                <a:solidFill>
                  <a:srgbClr val="595959"/>
                </a:solidFill>
              </a:rPr>
              <a:t>v₀ = velocidade base; S(t) = densidade de fumaça; F(t) = fadiga acumulada.</a:t>
            </a:r>
          </a:p>
        </p:txBody>
      </p:sp>
      <p:sp>
        <p:nvSpPr>
          <p:cNvPr id="6" name="CardSaude"/>
          <p:cNvSpPr/>
          <p:nvPr/>
        </p:nvSpPr>
        <p:spPr>
          <a:xfrm>
            <a:off x="6246000" y="4395847"/>
            <a:ext cx="5246000" cy="208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Saúde do agente — Dose Efetiva Fracionária (FED)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C0392B"/>
                </a:solidFill>
              </a:rPr>
              <a:t>FED(t) = FED_CO + FED_CO₂ + FED_calor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400" b="1" dirty="0">
                <a:solidFill>
                  <a:srgbClr val="C0392B"/>
                </a:solidFill>
              </a:rPr>
              <a:t>H(t) = H₀ − β · FED(t)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100" dirty="0">
                <a:solidFill>
                  <a:srgbClr val="595959"/>
                </a:solidFill>
              </a:rPr>
              <a:t>A saúde reduz com a exposição acumulada a gases tóxicos e calor; em valores críticos, a velocidade do agente diminui.</a:t>
            </a:r>
          </a:p>
        </p:txBody>
      </p:sp>
    </p:spTree>
    <p:extLst>
      <p:ext uri="{BB962C8B-B14F-4D97-AF65-F5344CB8AC3E}">
        <p14:creationId xmlns:p14="http://schemas.microsoft.com/office/powerpoint/2010/main" val="270739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Navegação dos agentes e saídas (resultados) produzidas pelo modelo.</a:t>
            </a:r>
          </a:p>
        </p:txBody>
      </p:sp>
      <p:sp>
        <p:nvSpPr>
          <p:cNvPr id="4" name="CardNavegaca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Navegação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A navegação baseia-se em um mapa espacial dinâmico, em que o custo de deslocamento é atualizado continuamente.</a:t>
            </a:r>
          </a:p>
          <a:p>
            <a:pPr marL="228600" indent="-228600" algn="l">
              <a:spcBef>
                <a:spcPts val="800"/>
              </a:spcBef>
              <a:buChar char="•"/>
            </a:pPr>
            <a:r>
              <a:rPr lang="pt-BR" sz="1300" b="1" dirty="0">
                <a:solidFill>
                  <a:srgbClr val="C0392B"/>
                </a:solidFill>
              </a:rPr>
              <a:t>Custo atualizado por </a:t>
            </a:r>
            <a:r>
              <a:rPr lang="pt-BR" sz="1300" dirty="0">
                <a:solidFill>
                  <a:srgbClr val="333333"/>
                </a:solidFill>
              </a:rPr>
              <a:t>fumaça, calor e congestionamento.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C0392B"/>
                </a:solidFill>
              </a:rPr>
              <a:t>Prioridade </a:t>
            </a:r>
            <a:r>
              <a:rPr lang="pt-BR" sz="1300" dirty="0">
                <a:solidFill>
                  <a:srgbClr val="333333"/>
                </a:solidFill>
              </a:rPr>
              <a:t>para trajetórias de menor risco e menor distância até as saídas.</a:t>
            </a:r>
          </a:p>
        </p:txBody>
      </p:sp>
      <p:sp>
        <p:nvSpPr>
          <p:cNvPr id="5" name="CardSaidas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rgbClr val="2C5F2D"/>
                </a:solidFill>
              </a:rPr>
              <a:t>Saídas do modelo</a:t>
            </a:r>
          </a:p>
          <a:p>
            <a:pPr marL="228600" indent="-228600" algn="l">
              <a:spcBef>
                <a:spcPts val="10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Tempo Total de Evacuação (TET)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Taxa de sobrevivência dos ocupantes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Estado médio de saúde dos sobreviventes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Distribuição espacial das trajetórias de fuga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Identificação de gargalos e áreas de congestionamento</a:t>
            </a:r>
          </a:p>
        </p:txBody>
      </p:sp>
    </p:spTree>
    <p:extLst>
      <p:ext uri="{BB962C8B-B14F-4D97-AF65-F5344CB8AC3E}">
        <p14:creationId xmlns:p14="http://schemas.microsoft.com/office/powerpoint/2010/main" val="2707392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4.1. Plataforma e Estrutura do Modelo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Implementação em NetLogo: cada paradigma do formalismo corresponde a um elemento da linguagem.</a:t>
            </a:r>
          </a:p>
        </p:txBody>
      </p:sp>
      <p:sp>
        <p:nvSpPr>
          <p:cNvPr id="4" name="CardAgentes"/>
          <p:cNvSpPr/>
          <p:nvPr/>
        </p:nvSpPr>
        <p:spPr>
          <a:xfrm>
            <a:off x="700000" y="1900000"/>
            <a:ext cx="3397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ABM → turtles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Agentes ocupantes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Cada ocupante é um agente com perfil, velocidade, fadiga, saúde e exposição próprios.</a:t>
            </a:r>
          </a:p>
        </p:txBody>
      </p:sp>
      <p:sp>
        <p:nvSpPr>
          <p:cNvPr id="5" name="CardCelulas"/>
          <p:cNvSpPr/>
          <p:nvPr/>
        </p:nvSpPr>
        <p:spPr>
          <a:xfrm>
            <a:off x="4397000" y="1900000"/>
            <a:ext cx="3397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 → patches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Células do ambiente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O edifício é uma grade de patches do tipo vazio, parede, saída ou foco do incêndio.</a:t>
            </a:r>
          </a:p>
        </p:txBody>
      </p:sp>
      <p:sp>
        <p:nvSpPr>
          <p:cNvPr id="6" name="CardCampos"/>
          <p:cNvSpPr/>
          <p:nvPr/>
        </p:nvSpPr>
        <p:spPr>
          <a:xfrm>
            <a:off x="8094000" y="1900000"/>
            <a:ext cx="3398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CFD → campos de patch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Aproximação dos fluidos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Cada célula guarda temperatura, fumaça, CO e CO₂ como campos dinâmicos atualizados a cada tick.</a:t>
            </a:r>
          </a:p>
        </p:txBody>
      </p:sp>
      <p:sp>
        <p:nvSpPr>
          <p:cNvPr id="7" name="CardEstrutura"/>
          <p:cNvSpPr/>
          <p:nvPr/>
        </p:nvSpPr>
        <p:spPr>
          <a:xfrm>
            <a:off x="700000" y="5000000"/>
            <a:ext cx="10792000" cy="13000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400" b="1" dirty="0">
                <a:solidFill>
                  <a:srgbClr val="2C5F2D"/>
                </a:solidFill>
              </a:rPr>
              <a:t>Estrutura do código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50" b="1" dirty="0">
                <a:solidFill>
                  <a:srgbClr val="333333"/>
                </a:solidFill>
              </a:rPr>
              <a:t>globals: </a:t>
            </a:r>
            <a:r>
              <a:rPr lang="pt-BR" sz="1250" dirty="0">
                <a:solidFill>
                  <a:srgbClr val="333333"/>
                </a:solidFill>
              </a:rPr>
              <a:t>métricas globais (TET, evacuados, mortos, taxa de sobrevivência).   </a:t>
            </a:r>
            <a:r>
              <a:rPr lang="pt-BR" sz="1250" b="1" dirty="0">
                <a:solidFill>
                  <a:srgbClr val="333333"/>
                </a:solidFill>
              </a:rPr>
              <a:t>patches-own: </a:t>
            </a:r>
            <a:r>
              <a:rPr lang="pt-BR" sz="1250" dirty="0">
                <a:solidFill>
                  <a:srgbClr val="333333"/>
                </a:solidFill>
              </a:rPr>
              <a:t>estado do ambiente.   </a:t>
            </a:r>
            <a:r>
              <a:rPr lang="pt-BR" sz="1250" b="1" dirty="0">
                <a:solidFill>
                  <a:srgbClr val="333333"/>
                </a:solidFill>
              </a:rPr>
              <a:t>turtles-own: </a:t>
            </a:r>
            <a:r>
              <a:rPr lang="pt-BR" sz="1250" dirty="0">
                <a:solidFill>
                  <a:srgbClr val="333333"/>
                </a:solidFill>
              </a:rPr>
              <a:t>atributos de cada ocupante.</a:t>
            </a:r>
          </a:p>
        </p:txBody>
      </p:sp>
    </p:spTree>
    <p:extLst>
      <p:ext uri="{BB962C8B-B14F-4D97-AF65-F5344CB8AC3E}">
        <p14:creationId xmlns:p14="http://schemas.microsoft.com/office/powerpoint/2010/main" val="2707392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4.2. Mecanismos Implementados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Como as regras do formalismo foram traduzidas em procedimentos do modelo.</a:t>
            </a:r>
          </a:p>
        </p:txBody>
      </p:sp>
      <p:sp>
        <p:nvSpPr>
          <p:cNvPr id="4" name="CardNavegacao"/>
          <p:cNvSpPr/>
          <p:nvPr/>
        </p:nvSpPr>
        <p:spPr>
          <a:xfrm>
            <a:off x="700000" y="190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Navegação (campo de distância)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Uma busca em largura (BFS) calcula a distância de cada célula até a saída mais próxima; os agentes seguem o gradiente, evitando fumaça, calor e congestionamento.</a:t>
            </a:r>
          </a:p>
        </p:txBody>
      </p:sp>
      <p:sp>
        <p:nvSpPr>
          <p:cNvPr id="5" name="CardFogo"/>
          <p:cNvSpPr/>
          <p:nvPr/>
        </p:nvSpPr>
        <p:spPr>
          <a:xfrm>
            <a:off x="6246000" y="190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Propagação do fogo e da fumaça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Modelo de contágio: cada célula contamina as vizinhas e a fumaça sobe pelas escadas por convecção, tomando um andar em ~20 ticks.</a:t>
            </a:r>
          </a:p>
        </p:txBody>
      </p:sp>
      <p:sp>
        <p:nvSpPr>
          <p:cNvPr id="6" name="CardCA"/>
          <p:cNvSpPr/>
          <p:nvPr/>
        </p:nvSpPr>
        <p:spPr>
          <a:xfrm>
            <a:off x="700000" y="415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Regra de autômato celular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Um agente por célula no andar; escadas e saídas aceitam vários agentes, representando filas e o fluxo vertical de evacuação.</a:t>
            </a:r>
          </a:p>
        </p:txBody>
      </p:sp>
      <p:sp>
        <p:nvSpPr>
          <p:cNvPr id="7" name="CardSaude"/>
          <p:cNvSpPr/>
          <p:nvPr/>
        </p:nvSpPr>
        <p:spPr>
          <a:xfrm>
            <a:off x="6246000" y="415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Saúde (FED) e perfis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O FED (CO + CO₂ + calor) leva o agente de saudável a ferido e a morto. Velocidade por perfil: adulto 100%, idoso 60%, PcD 40%.</a:t>
            </a:r>
          </a:p>
        </p:txBody>
      </p:sp>
    </p:spTree>
    <p:extLst>
      <p:ext uri="{BB962C8B-B14F-4D97-AF65-F5344CB8AC3E}">
        <p14:creationId xmlns:p14="http://schemas.microsoft.com/office/powerpoint/2010/main" val="2707392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5.1. Configuração e Fluxo de Execução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 simulação é executada em ciclos discretos (ticks), com parâmetros ajustáveis por sliders.</a:t>
            </a:r>
          </a:p>
        </p:txBody>
      </p:sp>
      <p:sp>
        <p:nvSpPr>
          <p:cNvPr id="4" name="CardFlux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Fluxo de execução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1. setup — </a:t>
            </a:r>
            <a:r>
              <a:rPr lang="pt-BR" sz="1300" dirty="0">
                <a:solidFill>
                  <a:srgbClr val="333333"/>
                </a:solidFill>
              </a:rPr>
              <a:t>constrói o edifício de 30 andares e calcula o campo de distância (BFS) até as saídas.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2. Sliders — </a:t>
            </a:r>
            <a:r>
              <a:rPr lang="pt-BR" sz="1300" dirty="0">
                <a:solidFill>
                  <a:srgbClr val="333333"/>
                </a:solidFill>
              </a:rPr>
              <a:t>ajuste dos parâmetros conforme o experimento desejado.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3. go — </a:t>
            </a:r>
            <a:r>
              <a:rPr lang="pt-BR" sz="1300" dirty="0">
                <a:solidFill>
                  <a:srgbClr val="333333"/>
                </a:solidFill>
              </a:rPr>
              <a:t>inicia o ciclo percepção → interpretação → decisão → execução a cada tick.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4. Acompanhamento — </a:t>
            </a:r>
            <a:r>
              <a:rPr lang="pt-BR" sz="1300" dirty="0">
                <a:solidFill>
                  <a:srgbClr val="333333"/>
                </a:solidFill>
              </a:rPr>
              <a:t>TET, taxa de sobrevivência, saúde média e gráficos atualizados em tempo real.</a:t>
            </a:r>
          </a:p>
        </p:txBody>
      </p:sp>
      <p:sp>
        <p:nvSpPr>
          <p:cNvPr id="5" name="CardParametros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ajustáveis</a:t>
            </a:r>
          </a:p>
          <a:p>
            <a:pPr marL="228600" indent="-228600" algn="l">
              <a:spcBef>
                <a:spcPts val="10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Foco do incêndio — </a:t>
            </a:r>
            <a:r>
              <a:rPr lang="pt-BR" sz="1300" dirty="0">
                <a:solidFill>
                  <a:srgbClr val="333333"/>
                </a:solidFill>
              </a:rPr>
              <a:t>andar e célula de origem.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Nº de ocupantes </a:t>
            </a:r>
            <a:r>
              <a:rPr lang="pt-BR" sz="1300" dirty="0">
                <a:solidFill>
                  <a:srgbClr val="333333"/>
                </a:solidFill>
              </a:rPr>
              <a:t>e proporção de perfis.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λ </a:t>
            </a:r>
            <a:r>
              <a:rPr lang="pt-BR" sz="1300" dirty="0">
                <a:solidFill>
                  <a:srgbClr val="333333"/>
                </a:solidFill>
              </a:rPr>
              <a:t>— influência da fumaça na velocidade.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γ </a:t>
            </a:r>
            <a:r>
              <a:rPr lang="pt-BR" sz="1300" dirty="0">
                <a:solidFill>
                  <a:srgbClr val="333333"/>
                </a:solidFill>
              </a:rPr>
              <a:t>— efeito da fadiga acumulada.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β </a:t>
            </a:r>
            <a:r>
              <a:rPr lang="pt-BR" sz="1300" dirty="0">
                <a:solidFill>
                  <a:srgbClr val="333333"/>
                </a:solidFill>
              </a:rPr>
              <a:t>— sensibilidade da saúde ao FED.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Velocidade de propagação </a:t>
            </a:r>
            <a:r>
              <a:rPr lang="pt-BR" sz="1300" dirty="0">
                <a:solidFill>
                  <a:srgbClr val="333333"/>
                </a:solidFill>
              </a:rPr>
              <a:t>do fogo e da fumaça.</a:t>
            </a:r>
          </a:p>
        </p:txBody>
      </p:sp>
    </p:spTree>
    <p:extLst>
      <p:ext uri="{BB962C8B-B14F-4D97-AF65-F5344CB8AC3E}">
        <p14:creationId xmlns:p14="http://schemas.microsoft.com/office/powerpoint/2010/main" val="2707392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5.2. Visão Geral dos Cenários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Cinco execuções com focos, perfis e toxicidade distintos — do caso de referência ao pior caso.</a:t>
            </a:r>
          </a:p>
        </p:txBody>
      </p:sp>
      <p:graphicFrame>
        <p:nvGraphicFramePr>
          <p:cNvPr id="4" name="TabelaCenarios"/>
          <p:cNvGraphicFramePr/>
          <p:nvPr/>
        </p:nvGraphicFramePr>
        <p:xfrm>
          <a:off x="700000" y="2050000"/>
          <a:ext cx="10792000" cy="3470000"/>
        </p:xfrm>
        <a:graphic>
          <a:graphicData uri="http://schemas.openxmlformats.org/drawingml/2006/table">
            <a:tbl>
              <a:tblPr firstRow="1" bandRow="1"/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Cenário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Ocupantes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Foco (andar)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TET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Evacuados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Mortos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Sobrev.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1 — Base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300 · 15%/5%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288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253 / 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47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5B8C3E"/>
                          </a:solidFill>
                        </a:rPr>
                        <a:t>84,3%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2 — Topo, pop. vulnerável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300 · 40%/15%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318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284 / 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16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2C5F2D"/>
                          </a:solidFill>
                        </a:rPr>
                        <a:t>94,7%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3 — Ambiente tóxico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300 · 10%/5%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161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178 / 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122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C0392B"/>
                          </a:solidFill>
                        </a:rPr>
                        <a:t>59,3%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4 — Pânico e congestão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540 · 20%/10%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589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478 / 540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62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2C5F2D"/>
                          </a:solidFill>
                        </a:rPr>
                        <a:t>88,5%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5 — Catástrofe total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540 · 50%/20%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258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230 / 540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310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C0392B"/>
                          </a:solidFill>
                        </a:rPr>
                        <a:t>42,6%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Nota"/>
          <p:cNvSpPr txBox="1"/>
          <p:nvPr/>
        </p:nvSpPr>
        <p:spPr>
          <a:xfrm>
            <a:off x="700000" y="562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150" i="1" dirty="0">
                <a:solidFill>
                  <a:srgbClr val="595959"/>
                </a:solidFill>
              </a:rPr>
              <a:t>Ocupantes: total · % idosos / % PcD. Todos com 9273 células úteis e 0 inalcançáveis no BFS. Demais parâmetros detalhados nos slides seguintes.</a:t>
            </a:r>
          </a:p>
        </p:txBody>
      </p:sp>
    </p:spTree>
    <p:extLst>
      <p:ext uri="{BB962C8B-B14F-4D97-AF65-F5344CB8AC3E}">
        <p14:creationId xmlns:p14="http://schemas.microsoft.com/office/powerpoint/2010/main" val="2707392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5.3. Cenário 1 — Base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Configuração padrão equilibrada; serve de referência para comparar os demais.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Ocupantes: </a:t>
            </a:r>
            <a:r>
              <a:rPr lang="pt-BR" sz="1300" dirty="0">
                <a:solidFill>
                  <a:srgbClr val="333333"/>
                </a:solidFill>
              </a:rPr>
              <a:t>300 ocupantes — 15% idosos, 5%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Foco do incêndio: </a:t>
            </a:r>
            <a:r>
              <a:rPr lang="pt-BR" sz="1300" dirty="0">
                <a:solidFill>
                  <a:srgbClr val="333333"/>
                </a:solidFill>
              </a:rPr>
              <a:t>Andar 5 (intermediário-baixo)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Comportamento: </a:t>
            </a:r>
            <a:r>
              <a:rPr lang="pt-BR" sz="1300" dirty="0">
                <a:solidFill>
                  <a:srgbClr val="333333"/>
                </a:solidFill>
              </a:rPr>
              <a:t>λ 1,5 · γ 0,40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20 / 15 / 3,0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FED CO/CO₂/calor: </a:t>
            </a:r>
            <a:r>
              <a:rPr lang="pt-BR" sz="1300" dirty="0">
                <a:solidFill>
                  <a:srgbClr val="333333"/>
                </a:solidFill>
              </a:rPr>
              <a:t>0,003 / 0,002 / 0,004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β (saúde): </a:t>
            </a:r>
            <a:r>
              <a:rPr lang="pt-BR" sz="1300" dirty="0">
                <a:solidFill>
                  <a:srgbClr val="333333"/>
                </a:solidFill>
              </a:rPr>
              <a:t>1,00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>Sobrevivência:  </a:t>
            </a:r>
            <a:r>
              <a:rPr lang="pt-BR" sz="2200" b="1" dirty="0">
                <a:solidFill>
                  <a:srgbClr val="5B8C3E"/>
                </a:solidFill>
              </a:rPr>
              <a:t>84,33%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Evacuados:  </a:t>
            </a:r>
            <a:r>
              <a:rPr lang="pt-BR" sz="1350" b="1" dirty="0">
                <a:solidFill>
                  <a:srgbClr val="1F3A5F"/>
                </a:solidFill>
              </a:rPr>
              <a:t>253 / 300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Mortos:  </a:t>
            </a:r>
            <a:r>
              <a:rPr lang="pt-BR" sz="1350" b="1" dirty="0">
                <a:solidFill>
                  <a:srgbClr val="C0392B"/>
                </a:solidFill>
              </a:rPr>
              <a:t>47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TET:  </a:t>
            </a:r>
            <a:r>
              <a:rPr lang="pt-BR" sz="1350" b="1" dirty="0">
                <a:solidFill>
                  <a:srgbClr val="1F3A5F"/>
                </a:solidFill>
              </a:rPr>
              <a:t>288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0,887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>Leitura:  </a:t>
            </a:r>
            <a:r>
              <a:rPr lang="pt-BR" sz="1250" i="1" dirty="0">
                <a:solidFill>
                  <a:srgbClr val="595959"/>
                </a:solidFill>
              </a:rPr>
              <a:t>Referência do modelo: evacuação ordenada, perdas moderadas concentradas perto do foco.</a:t>
            </a:r>
          </a:p>
        </p:txBody>
      </p:sp>
    </p:spTree>
    <p:extLst>
      <p:ext uri="{BB962C8B-B14F-4D97-AF65-F5344CB8AC3E}">
        <p14:creationId xmlns:p14="http://schemas.microsoft.com/office/powerpoint/2010/main" val="270730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5.4. Cenário 2 — Fogo no topo, população vulnerável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Fogo no andar mais alto com muitos idosos e PcD: evacuação longa com população lenta e toxicidade moderadamente elevada.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Ocupantes: </a:t>
            </a:r>
            <a:r>
              <a:rPr lang="pt-BR" sz="1300" dirty="0">
                <a:solidFill>
                  <a:srgbClr val="333333"/>
                </a:solidFill>
              </a:rPr>
              <a:t>300 ocupantes — 40% idosos, 15%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Foco do incêndio: </a:t>
            </a:r>
            <a:r>
              <a:rPr lang="pt-BR" sz="1300" dirty="0">
                <a:solidFill>
                  <a:srgbClr val="333333"/>
                </a:solidFill>
              </a:rPr>
              <a:t>Andar 25 (alto)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Comportamento: </a:t>
            </a:r>
            <a:r>
              <a:rPr lang="pt-BR" sz="1300" dirty="0">
                <a:solidFill>
                  <a:srgbClr val="333333"/>
                </a:solidFill>
              </a:rPr>
              <a:t>λ 2,0 · γ 0,60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30 / 25 / 5,0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FED CO/CO₂/calor: </a:t>
            </a:r>
            <a:r>
              <a:rPr lang="pt-BR" sz="1300" dirty="0">
                <a:solidFill>
                  <a:srgbClr val="333333"/>
                </a:solidFill>
              </a:rPr>
              <a:t>0,004 / 0,003 / 0,005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β (saúde): </a:t>
            </a:r>
            <a:r>
              <a:rPr lang="pt-BR" sz="1300" dirty="0">
                <a:solidFill>
                  <a:srgbClr val="333333"/>
                </a:solidFill>
              </a:rPr>
              <a:t>1,25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>Sobrevivência:  </a:t>
            </a:r>
            <a:r>
              <a:rPr lang="pt-BR" sz="2200" b="1" dirty="0">
                <a:solidFill>
                  <a:srgbClr val="2C5F2D"/>
                </a:solidFill>
              </a:rPr>
              <a:t>94,67%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Evacuados:  </a:t>
            </a:r>
            <a:r>
              <a:rPr lang="pt-BR" sz="1350" b="1" dirty="0">
                <a:solidFill>
                  <a:srgbClr val="1F3A5F"/>
                </a:solidFill>
              </a:rPr>
              <a:t>284 / 300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Mortos:  </a:t>
            </a:r>
            <a:r>
              <a:rPr lang="pt-BR" sz="1350" b="1" dirty="0">
                <a:solidFill>
                  <a:srgbClr val="C0392B"/>
                </a:solidFill>
              </a:rPr>
              <a:t>16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TET:  </a:t>
            </a:r>
            <a:r>
              <a:rPr lang="pt-BR" sz="1350" b="1" dirty="0">
                <a:solidFill>
                  <a:srgbClr val="1F3A5F"/>
                </a:solidFill>
              </a:rPr>
              <a:t>318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0,986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>Leitura:  </a:t>
            </a:r>
            <a:r>
              <a:rPr lang="pt-BR" sz="1250" i="1" dirty="0">
                <a:solidFill>
                  <a:srgbClr val="595959"/>
                </a:solidFill>
              </a:rPr>
              <a:t>Foco alto afasta a fumaça da rota de fuga: apesar da população lenta, a sobrevivência é a maior das cinco.</a:t>
            </a:r>
          </a:p>
        </p:txBody>
      </p:sp>
    </p:spTree>
    <p:extLst>
      <p:ext uri="{BB962C8B-B14F-4D97-AF65-F5344CB8AC3E}">
        <p14:creationId xmlns:p14="http://schemas.microsoft.com/office/powerpoint/2010/main" val="270731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5.5. Cenário 3 — Ambiente tóxico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Fogo no meio do edifício com gases muito mais letais e fumaça densa. Poucos ocupantes, mas ambiente extremamente hostil.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Ocupantes: </a:t>
            </a:r>
            <a:r>
              <a:rPr lang="pt-BR" sz="1300" dirty="0">
                <a:solidFill>
                  <a:srgbClr val="333333"/>
                </a:solidFill>
              </a:rPr>
              <a:t>300 ocupantes — 10% idosos, 5%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Foco do incêndio: </a:t>
            </a:r>
            <a:r>
              <a:rPr lang="pt-BR" sz="1300" dirty="0">
                <a:solidFill>
                  <a:srgbClr val="333333"/>
                </a:solidFill>
              </a:rPr>
              <a:t>Andar 15 (central)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Comportamento: </a:t>
            </a:r>
            <a:r>
              <a:rPr lang="pt-BR" sz="1300" dirty="0">
                <a:solidFill>
                  <a:srgbClr val="333333"/>
                </a:solidFill>
              </a:rPr>
              <a:t>λ 2,5 · γ 0,50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40 / 35 / 3,0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FED CO/CO₂/calor: </a:t>
            </a:r>
            <a:r>
              <a:rPr lang="pt-BR" sz="1300" dirty="0">
                <a:solidFill>
                  <a:srgbClr val="333333"/>
                </a:solidFill>
              </a:rPr>
              <a:t>0,006 / 0,005 / 0,008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β (saúde): </a:t>
            </a:r>
            <a:r>
              <a:rPr lang="pt-BR" sz="1300" dirty="0">
                <a:solidFill>
                  <a:srgbClr val="333333"/>
                </a:solidFill>
              </a:rPr>
              <a:t>1,50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>Sobrevivência:  </a:t>
            </a:r>
            <a:r>
              <a:rPr lang="pt-BR" sz="2200" b="1" dirty="0">
                <a:solidFill>
                  <a:srgbClr val="C0392B"/>
                </a:solidFill>
              </a:rPr>
              <a:t>59,33%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Evacuados:  </a:t>
            </a:r>
            <a:r>
              <a:rPr lang="pt-BR" sz="1350" b="1" dirty="0">
                <a:solidFill>
                  <a:srgbClr val="1F3A5F"/>
                </a:solidFill>
              </a:rPr>
              <a:t>178 / 300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Mortos:  </a:t>
            </a:r>
            <a:r>
              <a:rPr lang="pt-BR" sz="1350" b="1" dirty="0">
                <a:solidFill>
                  <a:srgbClr val="C0392B"/>
                </a:solidFill>
              </a:rPr>
              <a:t>122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TET:  </a:t>
            </a:r>
            <a:r>
              <a:rPr lang="pt-BR" sz="1350" b="1" dirty="0">
                <a:solidFill>
                  <a:srgbClr val="1F3A5F"/>
                </a:solidFill>
              </a:rPr>
              <a:t>161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0,964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>Leitura:  </a:t>
            </a:r>
            <a:r>
              <a:rPr lang="pt-BR" sz="1250" i="1" dirty="0">
                <a:solidFill>
                  <a:srgbClr val="595959"/>
                </a:solidFill>
              </a:rPr>
              <a:t>A toxicidade elevada mata rápido: TET curto não é bom sinal — muitos morrem antes de alcançar a saída.</a:t>
            </a:r>
          </a:p>
        </p:txBody>
      </p:sp>
    </p:spTree>
    <p:extLst>
      <p:ext uri="{BB962C8B-B14F-4D97-AF65-F5344CB8AC3E}">
        <p14:creationId xmlns:p14="http://schemas.microsoft.com/office/powerpoint/2010/main" val="270732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5.6. Cenário 4 — Pânico e congestão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superlotado com fogo no meio; peso de congestão alto simula comportamento de pânico e gargalo nas escadas.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Ocupantes: </a:t>
            </a:r>
            <a:r>
              <a:rPr lang="pt-BR" sz="1300" dirty="0">
                <a:solidFill>
                  <a:srgbClr val="333333"/>
                </a:solidFill>
              </a:rPr>
              <a:t>540 ocupantes — 20% idosos, 10%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Foco do incêndio: </a:t>
            </a:r>
            <a:r>
              <a:rPr lang="pt-BR" sz="1300" dirty="0">
                <a:solidFill>
                  <a:srgbClr val="333333"/>
                </a:solidFill>
              </a:rPr>
              <a:t>Andar 10 (intermediário-baixo)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Comportamento: </a:t>
            </a:r>
            <a:r>
              <a:rPr lang="pt-BR" sz="1300" dirty="0">
                <a:solidFill>
                  <a:srgbClr val="333333"/>
                </a:solidFill>
              </a:rPr>
              <a:t>λ 3,0 · γ 0,80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15 / 10 / 10,0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FED CO/CO₂/calor: </a:t>
            </a:r>
            <a:r>
              <a:rPr lang="pt-BR" sz="1300" dirty="0">
                <a:solidFill>
                  <a:srgbClr val="333333"/>
                </a:solidFill>
              </a:rPr>
              <a:t>0,003 / 0,002 / 0,004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β (saúde): </a:t>
            </a:r>
            <a:r>
              <a:rPr lang="pt-BR" sz="1300" dirty="0">
                <a:solidFill>
                  <a:srgbClr val="333333"/>
                </a:solidFill>
              </a:rPr>
              <a:t>1,00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>Sobrevivência:  </a:t>
            </a:r>
            <a:r>
              <a:rPr lang="pt-BR" sz="2200" b="1" dirty="0">
                <a:solidFill>
                  <a:srgbClr val="2C5F2D"/>
                </a:solidFill>
              </a:rPr>
              <a:t>88,52%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Evacuados:  </a:t>
            </a:r>
            <a:r>
              <a:rPr lang="pt-BR" sz="1350" b="1" dirty="0">
                <a:solidFill>
                  <a:srgbClr val="1F3A5F"/>
                </a:solidFill>
              </a:rPr>
              <a:t>478 / 540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Mortos:  </a:t>
            </a:r>
            <a:r>
              <a:rPr lang="pt-BR" sz="1350" b="1" dirty="0">
                <a:solidFill>
                  <a:srgbClr val="C0392B"/>
                </a:solidFill>
              </a:rPr>
              <a:t>62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TET:  </a:t>
            </a:r>
            <a:r>
              <a:rPr lang="pt-BR" sz="1350" b="1" dirty="0">
                <a:solidFill>
                  <a:srgbClr val="1F3A5F"/>
                </a:solidFill>
              </a:rPr>
              <a:t>589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0,974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>Leitura:  </a:t>
            </a:r>
            <a:r>
              <a:rPr lang="pt-BR" sz="1250" i="1" dirty="0">
                <a:solidFill>
                  <a:srgbClr val="595959"/>
                </a:solidFill>
              </a:rPr>
              <a:t>O gargalo nas escadas dispara o TET (o maior dos cinco), mas a baixa toxicidade preserva a maioria com vida.</a:t>
            </a:r>
          </a:p>
        </p:txBody>
      </p:sp>
    </p:spTree>
    <p:extLst>
      <p:ext uri="{BB962C8B-B14F-4D97-AF65-F5344CB8AC3E}">
        <p14:creationId xmlns:p14="http://schemas.microsoft.com/office/powerpoint/2010/main" val="270733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5.7. Cenário 5 — Catástrofe total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Fogo no andar alto, população máxima com 50% de idosos e 20% de PcD, toxicidade máxima e fadiga intensa: pior caso do modelo.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Ocupantes: </a:t>
            </a:r>
            <a:r>
              <a:rPr lang="pt-BR" sz="1300" dirty="0">
                <a:solidFill>
                  <a:srgbClr val="333333"/>
                </a:solidFill>
              </a:rPr>
              <a:t>540 ocupantes — 50% idosos, 20%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Foco do incêndio: </a:t>
            </a:r>
            <a:r>
              <a:rPr lang="pt-BR" sz="1300" dirty="0">
                <a:solidFill>
                  <a:srgbClr val="333333"/>
                </a:solidFill>
              </a:rPr>
              <a:t>Andar 12 (central-alto)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Comportamento: </a:t>
            </a:r>
            <a:r>
              <a:rPr lang="pt-BR" sz="1300" dirty="0">
                <a:solidFill>
                  <a:srgbClr val="333333"/>
                </a:solidFill>
              </a:rPr>
              <a:t>λ 3,0 · γ 1,00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50 / 50 / 10,0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FED CO/CO₂/calor: </a:t>
            </a:r>
            <a:r>
              <a:rPr lang="pt-BR" sz="1300" dirty="0">
                <a:solidFill>
                  <a:srgbClr val="333333"/>
                </a:solidFill>
              </a:rPr>
              <a:t>0,008 / 0,006 / 0,010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β (saúde): </a:t>
            </a:r>
            <a:r>
              <a:rPr lang="pt-BR" sz="1300" dirty="0">
                <a:solidFill>
                  <a:srgbClr val="333333"/>
                </a:solidFill>
              </a:rPr>
              <a:t>2,00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>Sobrevivência:  </a:t>
            </a:r>
            <a:r>
              <a:rPr lang="pt-BR" sz="2200" b="1" dirty="0">
                <a:solidFill>
                  <a:srgbClr val="C0392B"/>
                </a:solidFill>
              </a:rPr>
              <a:t>42,59%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Evacuados:  </a:t>
            </a:r>
            <a:r>
              <a:rPr lang="pt-BR" sz="1350" b="1" dirty="0">
                <a:solidFill>
                  <a:srgbClr val="1F3A5F"/>
                </a:solidFill>
              </a:rPr>
              <a:t>230 / 540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Mortos:  </a:t>
            </a:r>
            <a:r>
              <a:rPr lang="pt-BR" sz="1350" b="1" dirty="0">
                <a:solidFill>
                  <a:srgbClr val="C0392B"/>
                </a:solidFill>
              </a:rPr>
              <a:t>310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TET:  </a:t>
            </a:r>
            <a:r>
              <a:rPr lang="pt-BR" sz="1350" b="1" dirty="0">
                <a:solidFill>
                  <a:srgbClr val="1F3A5F"/>
                </a:solidFill>
              </a:rPr>
              <a:t>258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0,99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>Leitura:  </a:t>
            </a:r>
            <a:r>
              <a:rPr lang="pt-BR" sz="1250" i="1" dirty="0">
                <a:solidFill>
                  <a:srgbClr val="595959"/>
                </a:solidFill>
              </a:rPr>
              <a:t>Toxicidade e fadiga máximas com população lenta: menos da metade sobrevive — o limite crítico do sistema.</a:t>
            </a:r>
          </a:p>
        </p:txBody>
      </p:sp>
    </p:spTree>
    <p:extLst>
      <p:ext uri="{BB962C8B-B14F-4D97-AF65-F5344CB8AC3E}">
        <p14:creationId xmlns:p14="http://schemas.microsoft.com/office/powerpoint/2010/main" val="270734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5.8. Comparativo de Resultados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28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Síntese das cinco execuções: sobrevivência, mortalidade e tempo de evacuação.</a:t>
            </a:r>
          </a:p>
        </p:txBody>
      </p:sp>
      <p:pic>
        <p:nvPicPr>
          <p:cNvPr id="4" name="GraficoComparativ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00" y="1860000"/>
            <a:ext cx="9800000" cy="3302000"/>
          </a:xfrm>
          <a:prstGeom prst="rect">
            <a:avLst/>
          </a:prstGeom>
        </p:spPr>
      </p:pic>
      <p:sp>
        <p:nvSpPr>
          <p:cNvPr id="5" name="Sintese"/>
          <p:cNvSpPr/>
          <p:nvPr/>
        </p:nvSpPr>
        <p:spPr>
          <a:xfrm>
            <a:off x="700000" y="5300000"/>
            <a:ext cx="10792000" cy="132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180000" rIns="252000" bIns="180000" rtlCol="0" anchor="t"/>
          <a:lstStyle/>
          <a:p>
            <a:pPr algn="l">
              <a:buNone/>
            </a:pP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Síntese</a:t>
            </a:r>
          </a:p>
          <a:p>
            <a:pPr marL="228600" indent="-228600" algn="l">
              <a:spcBef>
                <a:spcPts val="400"/>
              </a:spcBef>
              <a:buChar char="•"/>
            </a:pPr>
            <a:r>
              <a:rPr lang="pt-BR" sz="1200" b="1" dirty="0">
                <a:solidFill>
                  <a:srgbClr val="C0392B"/>
                </a:solidFill>
              </a:rPr>
              <a:t>A toxicidade domina a mortalidade — </a:t>
            </a:r>
            <a:r>
              <a:rPr lang="pt-BR" sz="1200" dirty="0">
                <a:solidFill>
                  <a:srgbClr val="333333"/>
                </a:solidFill>
              </a:rPr>
              <a:t>C3 e C5 concentram as mortes; não é o tamanho da população, e sim os coeficientes de FED.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pt-BR" sz="1200" b="1" dirty="0">
                <a:solidFill>
                  <a:srgbClr val="C0392B"/>
                </a:solidFill>
              </a:rPr>
              <a:t>A congestão alonga o tempo — </a:t>
            </a:r>
            <a:r>
              <a:rPr lang="pt-BR" sz="1200" dirty="0">
                <a:solidFill>
                  <a:srgbClr val="333333"/>
                </a:solidFill>
              </a:rPr>
              <a:t>C4 tem o maior TET (589), mas alta sobrevivência: o gargalo atrasa, enquanto a fumaça mata.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pt-BR" sz="1200" b="1" dirty="0">
                <a:solidFill>
                  <a:srgbClr val="C0392B"/>
                </a:solidFill>
              </a:rPr>
              <a:t>O foco alto protege a rota de fuga — </a:t>
            </a:r>
            <a:r>
              <a:rPr lang="pt-BR" sz="1200" dirty="0">
                <a:solidFill>
                  <a:srgbClr val="333333"/>
                </a:solidFill>
              </a:rPr>
              <a:t>C2, mesmo com população mais lenta, atinge a maior sobrevivência (94,7%).</a:t>
            </a:r>
          </a:p>
        </p:txBody>
      </p:sp>
    </p:spTree>
    <p:extLst>
      <p:ext uri="{BB962C8B-B14F-4D97-AF65-F5344CB8AC3E}">
        <p14:creationId xmlns:p14="http://schemas.microsoft.com/office/powerpoint/2010/main" val="2707358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9B39D9B-C50D-F06F-6888-B1DBC2715419}"/>
              </a:ext>
            </a:extLst>
          </p:cNvPr>
          <p:cNvSpPr txBox="1"/>
          <p:nvPr/>
        </p:nvSpPr>
        <p:spPr>
          <a:xfrm>
            <a:off x="914399" y="1477108"/>
            <a:ext cx="668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 que diferencia os quatro cenários e explica as diferenças?</a:t>
            </a:r>
          </a:p>
        </p:txBody>
      </p:sp>
    </p:spTree>
    <p:extLst>
      <p:ext uri="{BB962C8B-B14F-4D97-AF65-F5344CB8AC3E}">
        <p14:creationId xmlns:p14="http://schemas.microsoft.com/office/powerpoint/2010/main" val="45917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2520</Words>
  <Application>Microsoft Office PowerPoint</Application>
  <PresentationFormat>Widescreen</PresentationFormat>
  <Paragraphs>318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Arraga</dc:creator>
  <cp:lastModifiedBy>Marcos Antonio Mattedi</cp:lastModifiedBy>
  <cp:revision>9</cp:revision>
  <dcterms:created xsi:type="dcterms:W3CDTF">2026-04-13T15:47:06Z</dcterms:created>
  <dcterms:modified xsi:type="dcterms:W3CDTF">2026-06-15T12:41:02Z</dcterms:modified>
</cp:coreProperties>
</file>