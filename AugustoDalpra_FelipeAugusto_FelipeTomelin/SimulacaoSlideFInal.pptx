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Imagem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989" y="106734"/>
            <a:ext cx="461936" cy="235953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7" descr="Imagem 7"/>
          <p:cNvPicPr>
            <a:picLocks noChangeAspect="1"/>
          </p:cNvPicPr>
          <p:nvPr/>
        </p:nvPicPr>
        <p:blipFill>
          <a:blip r:embed="rId3">
            <a:extLst/>
          </a:blip>
          <a:srcRect l="7353" t="15342" r="9313" b="15342"/>
          <a:stretch>
            <a:fillRect/>
          </a:stretch>
        </p:blipFill>
        <p:spPr>
          <a:xfrm>
            <a:off x="11676211" y="121127"/>
            <a:ext cx="341800" cy="21915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tângulo 8"/>
          <p:cNvSpPr/>
          <p:nvPr/>
        </p:nvSpPr>
        <p:spPr>
          <a:xfrm>
            <a:off x="-2" y="96668"/>
            <a:ext cx="12192001" cy="318406"/>
          </a:xfrm>
          <a:prstGeom prst="rect">
            <a:avLst/>
          </a:prstGeom>
          <a:solidFill>
            <a:srgbClr val="A6A6A6">
              <a:alpha val="13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solidFill>
                  <a:srgbClr val="163E64"/>
                </a:solidFill>
              </a:defRPr>
            </a:pPr>
          </a:p>
        </p:txBody>
      </p:sp>
      <p:pic>
        <p:nvPicPr>
          <p:cNvPr id="5" name="Imagem 9" descr="Imagem 9"/>
          <p:cNvPicPr>
            <a:picLocks noChangeAspect="1"/>
          </p:cNvPicPr>
          <p:nvPr/>
        </p:nvPicPr>
        <p:blipFill>
          <a:blip r:embed="rId4">
            <a:extLst/>
          </a:blip>
          <a:srcRect l="0" t="16858" r="0" b="41998"/>
          <a:stretch>
            <a:fillRect/>
          </a:stretch>
        </p:blipFill>
        <p:spPr>
          <a:xfrm>
            <a:off x="5840281" y="77508"/>
            <a:ext cx="511436" cy="26277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o do Título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do Título</a:t>
            </a:r>
          </a:p>
        </p:txBody>
      </p:sp>
      <p:sp>
        <p:nvSpPr>
          <p:cNvPr id="7" name="Nível de Corpo Um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" name="Número do Slid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3"/>
          <p:cNvSpPr txBox="1"/>
          <p:nvPr/>
        </p:nvSpPr>
        <p:spPr>
          <a:xfrm>
            <a:off x="2839720" y="2455609"/>
            <a:ext cx="6939279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63E64"/>
                </a:solidFill>
              </a:defRPr>
            </a:lvl1pPr>
          </a:lstStyle>
          <a:p>
            <a:pPr/>
            <a:r>
              <a:t>Título: Simulação de incêndio em prédio de 30 andares no NetLogo.</a:t>
            </a:r>
          </a:p>
        </p:txBody>
      </p:sp>
      <p:sp>
        <p:nvSpPr>
          <p:cNvPr id="25" name="CaixaDeTexto 5"/>
          <p:cNvSpPr txBox="1"/>
          <p:nvPr/>
        </p:nvSpPr>
        <p:spPr>
          <a:xfrm>
            <a:off x="2132251" y="864414"/>
            <a:ext cx="76467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1600"/>
              </a:spcBef>
              <a:defRPr b="1">
                <a:solidFill>
                  <a:srgbClr val="163E6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MÓDULO V - SEMINÁRIO DE APRESETNTAÇÃO DOS RESULTADOS</a:t>
            </a:r>
          </a:p>
        </p:txBody>
      </p:sp>
      <p:sp>
        <p:nvSpPr>
          <p:cNvPr id="26" name="CaixaDeTexto 6"/>
          <p:cNvSpPr txBox="1"/>
          <p:nvPr/>
        </p:nvSpPr>
        <p:spPr>
          <a:xfrm>
            <a:off x="7676396" y="3993765"/>
            <a:ext cx="3400906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b="1">
                <a:solidFill>
                  <a:srgbClr val="163E64"/>
                </a:solidFill>
              </a:defRPr>
            </a:pPr>
            <a:r>
              <a:t>Autores:</a:t>
            </a:r>
          </a:p>
          <a:p>
            <a:pPr algn="r">
              <a:defRPr b="1">
                <a:solidFill>
                  <a:srgbClr val="163E64"/>
                </a:solidFill>
              </a:defRPr>
            </a:pPr>
            <a:r>
              <a:t>Augusto</a:t>
            </a:r>
          </a:p>
          <a:p>
            <a:pPr algn="r">
              <a:defRPr b="1">
                <a:solidFill>
                  <a:srgbClr val="163E64"/>
                </a:solidFill>
              </a:defRPr>
            </a:pPr>
            <a:r>
              <a:t>Felipe Augusto</a:t>
            </a:r>
          </a:p>
          <a:p>
            <a:pPr algn="r">
              <a:defRPr b="1">
                <a:solidFill>
                  <a:srgbClr val="163E64"/>
                </a:solidFill>
              </a:defRPr>
            </a:pPr>
            <a:r>
              <a:t>Felipe Tomelin</a:t>
            </a:r>
          </a:p>
        </p:txBody>
      </p:sp>
      <p:sp>
        <p:nvSpPr>
          <p:cNvPr id="27" name="CaixaDeTexto 7"/>
          <p:cNvSpPr txBox="1"/>
          <p:nvPr/>
        </p:nvSpPr>
        <p:spPr>
          <a:xfrm>
            <a:off x="4764936" y="5993584"/>
            <a:ext cx="25169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63E64"/>
                </a:solidFill>
              </a:defRPr>
            </a:lvl1pPr>
          </a:lstStyle>
          <a:p>
            <a:pPr/>
            <a:r>
              <a:t>Junho de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1"/>
          <p:cNvSpPr txBox="1"/>
          <p:nvPr/>
        </p:nvSpPr>
        <p:spPr>
          <a:xfrm>
            <a:off x="2574315" y="905070"/>
            <a:ext cx="58055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163E64"/>
                </a:solidFill>
              </a:defRPr>
            </a:lvl1pPr>
          </a:lstStyle>
          <a:p>
            <a:pPr/>
            <a:r>
              <a:t>Estrutura da Apresentação</a:t>
            </a:r>
          </a:p>
        </p:txBody>
      </p:sp>
      <p:graphicFrame>
        <p:nvGraphicFramePr>
          <p:cNvPr id="30" name="Tabela 2"/>
          <p:cNvGraphicFramePr/>
          <p:nvPr/>
        </p:nvGraphicFramePr>
        <p:xfrm>
          <a:off x="1259658" y="1448045"/>
          <a:ext cx="9377241" cy="435133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58390"/>
                <a:gridCol w="2211355"/>
                <a:gridCol w="6307494"/>
              </a:tblGrid>
              <a:tr h="3000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7502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1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Sistema de Referência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502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2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Modelagem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502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3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Formalismo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5023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4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Computador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51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5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Execução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51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63E64"/>
                          </a:solidFill>
                        </a:rPr>
                        <a:t>6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Observação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163E64"/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37512" marR="37512" marT="37512" marB="37512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1"/>
          <p:cNvSpPr txBox="1"/>
          <p:nvPr/>
        </p:nvSpPr>
        <p:spPr>
          <a:xfrm>
            <a:off x="2526106" y="2957804"/>
            <a:ext cx="7139787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163E64"/>
                </a:solidFill>
              </a:defRPr>
            </a:lvl1pPr>
          </a:lstStyle>
          <a:p>
            <a:pPr/>
            <a:r>
              <a:t>1. Sistema de Referência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Definição do Fenômeno</a:t>
            </a:r>
          </a:p>
        </p:txBody>
      </p:sp>
      <p:sp>
        <p:nvSpPr>
          <p:cNvPr id="35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Edifício real de 30 andares em situação de incêndio — base empírica que orienta o ciclo de simulação.</a:t>
            </a:r>
          </a:p>
        </p:txBody>
      </p:sp>
      <p:grpSp>
        <p:nvGrpSpPr>
          <p:cNvPr id="38" name="CardEsquerdo"/>
          <p:cNvGrpSpPr/>
          <p:nvPr/>
        </p:nvGrpSpPr>
        <p:grpSpPr>
          <a:xfrm>
            <a:off x="700000" y="1899999"/>
            <a:ext cx="5246000" cy="4400001"/>
            <a:chOff x="0" y="0"/>
            <a:chExt cx="5245999" cy="4400000"/>
          </a:xfrm>
        </p:grpSpPr>
        <p:sp>
          <p:nvSpPr>
            <p:cNvPr id="36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37" name="Distinção conceitual…"/>
            <p:cNvSpPr txBox="1"/>
            <p:nvPr/>
          </p:nvSpPr>
          <p:spPr>
            <a:xfrm>
              <a:off x="51549" y="51548"/>
              <a:ext cx="5142902" cy="27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Distinção conceitual</a:t>
              </a:r>
            </a:p>
            <a:p>
              <a:pPr>
                <a:spcBef>
                  <a:spcPts val="9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Fogo — </a:t>
              </a:r>
              <a:r>
                <a:rPr b="0">
                  <a:solidFill>
                    <a:srgbClr val="333333"/>
                  </a:solidFill>
                </a:rPr>
                <a:t>reação química exotérmica de combustão (combustível + comburente + calor.</a:t>
              </a:r>
              <a:endParaRPr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Incêndio — </a:t>
              </a:r>
              <a:r>
                <a:rPr b="0">
                  <a:solidFill>
                    <a:srgbClr val="333333"/>
                  </a:solidFill>
                </a:rPr>
                <a:t>fogo fora de controle, intenso, capaz de causar danos à vida, ao meio ambiente e ao patrimônio.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Incêndio em edificação — </a:t>
              </a:r>
              <a:r>
                <a:rPr b="0">
                  <a:solidFill>
                    <a:srgbClr val="333333"/>
                  </a:solidFill>
                </a:rPr>
                <a:t>ocorrência no interior ou na estrutura de uma edificação, com potencial de atingir ocupantes, comprometer rotas de fuga e propagar-se entre ambientes.</a:t>
              </a:r>
            </a:p>
          </p:txBody>
        </p:sp>
      </p:grpSp>
      <p:grpSp>
        <p:nvGrpSpPr>
          <p:cNvPr id="41" name="CardDireito"/>
          <p:cNvGrpSpPr/>
          <p:nvPr/>
        </p:nvGrpSpPr>
        <p:grpSpPr>
          <a:xfrm>
            <a:off x="6246000" y="1899999"/>
            <a:ext cx="5246001" cy="4400001"/>
            <a:chOff x="0" y="0"/>
            <a:chExt cx="5245999" cy="4400000"/>
          </a:xfrm>
        </p:grpSpPr>
        <p:sp>
          <p:nvSpPr>
            <p:cNvPr id="39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</a:pPr>
            </a:p>
          </p:txBody>
        </p:sp>
        <p:sp>
          <p:nvSpPr>
            <p:cNvPr id="40" name="Classes de incêndio relevantes…"/>
            <p:cNvSpPr txBox="1"/>
            <p:nvPr/>
          </p:nvSpPr>
          <p:spPr>
            <a:xfrm>
              <a:off x="51549" y="51548"/>
              <a:ext cx="5142902" cy="30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Classes de incêndio relevantes</a:t>
              </a:r>
            </a:p>
            <a:p>
              <a:pPr>
                <a:spcBef>
                  <a:spcPts val="9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Classe A — </a:t>
              </a:r>
              <a:r>
                <a:rPr b="0">
                  <a:solidFill>
                    <a:srgbClr val="333333"/>
                  </a:solidFill>
                </a:rPr>
                <a:t>sólidos combustíveis (móveis, papel, tecidos). Principal fonte de carga em ambientes de escritório.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Classe B — </a:t>
              </a:r>
              <a:r>
                <a:rPr b="0">
                  <a:solidFill>
                    <a:srgbClr val="333333"/>
                  </a:solidFill>
                </a:rPr>
                <a:t>líquidos e gases inflamáveis. Possível em garagens, depósitos ou cozinhas dos andares inferiores.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Classe C — </a:t>
              </a:r>
              <a:r>
                <a:rPr b="0">
                  <a:solidFill>
                    <a:srgbClr val="333333"/>
                  </a:solidFill>
                </a:rPr>
                <a:t>equipamentos elétricos energizados (painéis, fiação, servidores). Relevantes em andares técnicos e salas de TI.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900"/>
                </a:spcBef>
                <a:defRPr i="1" sz="1200">
                  <a:solidFill>
                    <a:srgbClr val="595959"/>
                  </a:solidFill>
                </a:defRPr>
              </a:pPr>
              <a:r>
                <a:t>Cenário simulado: edifício de uso misto, com predominância das classes acima.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Parâmetros e Delimitação Analítica</a:t>
            </a:r>
          </a:p>
        </p:txBody>
      </p:sp>
      <p:sp>
        <p:nvSpPr>
          <p:cNvPr id="44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Restrições baseadas na ABNT NBR 9077 e escopo causalmente relevante para a simulação.</a:t>
            </a:r>
          </a:p>
        </p:txBody>
      </p:sp>
      <p:graphicFrame>
        <p:nvGraphicFramePr>
          <p:cNvPr id="45" name="TabelaParametros"/>
          <p:cNvGraphicFramePr/>
          <p:nvPr/>
        </p:nvGraphicFramePr>
        <p:xfrm>
          <a:off x="700000" y="1899999"/>
          <a:ext cx="5800000" cy="3380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00000"/>
                <a:gridCol w="3600000"/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40000" marR="40000" marT="40000" marB="400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8" name="CardRepresentado"/>
          <p:cNvGrpSpPr/>
          <p:nvPr/>
        </p:nvGrpSpPr>
        <p:grpSpPr>
          <a:xfrm>
            <a:off x="6700000" y="1899999"/>
            <a:ext cx="4792001" cy="2080001"/>
            <a:chOff x="0" y="0"/>
            <a:chExt cx="4792000" cy="2079999"/>
          </a:xfrm>
        </p:grpSpPr>
        <p:sp>
          <p:nvSpPr>
            <p:cNvPr id="46" name="Retângulo Arredondado"/>
            <p:cNvSpPr/>
            <p:nvPr/>
          </p:nvSpPr>
          <p:spPr>
            <a:xfrm>
              <a:off x="0" y="0"/>
              <a:ext cx="4792001" cy="2080000"/>
            </a:xfrm>
            <a:prstGeom prst="roundRect">
              <a:avLst>
                <a:gd name="adj" fmla="val 4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300"/>
                </a:spcBef>
              </a:pPr>
            </a:p>
          </p:txBody>
        </p:sp>
        <p:sp>
          <p:nvSpPr>
            <p:cNvPr id="47" name="✓  Será representado…"/>
            <p:cNvSpPr txBox="1"/>
            <p:nvPr/>
          </p:nvSpPr>
          <p:spPr>
            <a:xfrm>
              <a:off x="60368" y="24368"/>
              <a:ext cx="4671264" cy="1718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2C5F2D"/>
                  </a:solidFill>
                </a:defRPr>
              </a:pPr>
              <a:r>
                <a:t>✓  Será representado</a:t>
              </a:r>
            </a:p>
            <a:p>
              <a:pPr marL="179999" indent="-179999">
                <a:spcBef>
                  <a:spcPts val="6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Propagação do fogo e da fumaça por células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Deslocamento dos ocupantes às saídas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Congestionamento e gargalos nas escadas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Perfis diferenciados (adulto, idoso, PcD)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Danos por exposição ao fogo (ferimento/morte)</a:t>
              </a:r>
            </a:p>
          </p:txBody>
        </p:sp>
      </p:grpSp>
      <p:grpSp>
        <p:nvGrpSpPr>
          <p:cNvPr id="51" name="CardNaoRepresentado"/>
          <p:cNvGrpSpPr/>
          <p:nvPr/>
        </p:nvGrpSpPr>
        <p:grpSpPr>
          <a:xfrm>
            <a:off x="6700000" y="4080000"/>
            <a:ext cx="4792001" cy="2220001"/>
            <a:chOff x="0" y="0"/>
            <a:chExt cx="4792000" cy="2219999"/>
          </a:xfrm>
        </p:grpSpPr>
        <p:sp>
          <p:nvSpPr>
            <p:cNvPr id="49" name="Retângulo Arredondado"/>
            <p:cNvSpPr/>
            <p:nvPr/>
          </p:nvSpPr>
          <p:spPr>
            <a:xfrm>
              <a:off x="0" y="0"/>
              <a:ext cx="4792001" cy="2220000"/>
            </a:xfrm>
            <a:prstGeom prst="roundRect">
              <a:avLst>
                <a:gd name="adj" fmla="val 4000"/>
              </a:avLst>
            </a:prstGeom>
            <a:solidFill>
              <a:srgbClr val="FBEDE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800"/>
                </a:spcBef>
              </a:pPr>
            </a:p>
          </p:txBody>
        </p:sp>
        <p:sp>
          <p:nvSpPr>
            <p:cNvPr id="50" name="✗  Fora do escopo desta versão…"/>
            <p:cNvSpPr txBox="1"/>
            <p:nvPr/>
          </p:nvSpPr>
          <p:spPr>
            <a:xfrm>
              <a:off x="62009" y="26008"/>
              <a:ext cx="4667982" cy="1943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C0392B"/>
                  </a:solidFill>
                </a:defRPr>
              </a:pPr>
              <a:r>
                <a:t>✗  Fora do escopo desta versão</a:t>
              </a:r>
            </a:p>
            <a:p>
              <a:pPr marL="179999" indent="-179999">
                <a:spcBef>
                  <a:spcPts val="6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Colapso estrutural da edificação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Ação hidráulica de combate (sprinklers, brigadistas)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Variações térmicas detalhadas por zona</a:t>
              </a:r>
            </a:p>
            <a:p>
              <a:pPr marL="179999" indent="-179999">
                <a:spcBef>
                  <a:spcPts val="300"/>
                </a:spcBef>
                <a:buSzPct val="100000"/>
                <a:buChar char="•"/>
                <a:defRPr sz="1100">
                  <a:solidFill>
                    <a:srgbClr val="333333"/>
                  </a:solidFill>
                </a:defRPr>
              </a:pPr>
              <a:r>
                <a:t>Comportamento psicológico clínico (pânico, TEPT)</a:t>
              </a:r>
            </a:p>
            <a:p>
              <a:pPr>
                <a:spcBef>
                  <a:spcPts val="800"/>
                </a:spcBef>
                <a:defRPr i="1" sz="1100">
                  <a:solidFill>
                    <a:srgbClr val="595959"/>
                  </a:solidFill>
                </a:defRPr>
              </a:pPr>
              <a:r>
                <a:t>Horizonte: da ignição à evacuação total. Resolução: steps/ticks discretos.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aixaDeTexto 1"/>
          <p:cNvSpPr txBox="1"/>
          <p:nvPr/>
        </p:nvSpPr>
        <p:spPr>
          <a:xfrm>
            <a:off x="2526106" y="2957804"/>
            <a:ext cx="7139787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163E64"/>
                </a:solidFill>
              </a:defRPr>
            </a:lvl1pPr>
          </a:lstStyle>
          <a:p>
            <a:pPr/>
            <a:r>
              <a:t>2. Modelagem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ulo"/>
          <p:cNvSpPr txBox="1"/>
          <p:nvPr/>
        </p:nvSpPr>
        <p:spPr>
          <a:xfrm>
            <a:off x="429196" y="585503"/>
            <a:ext cx="375418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Base consultadas</a:t>
            </a:r>
          </a:p>
        </p:txBody>
      </p:sp>
      <p:sp>
        <p:nvSpPr>
          <p:cNvPr id="56" name="Subtitulo"/>
          <p:cNvSpPr txBox="1"/>
          <p:nvPr/>
        </p:nvSpPr>
        <p:spPr>
          <a:xfrm>
            <a:off x="1923889" y="1554496"/>
            <a:ext cx="66380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Detalhamento da identificação por base de dados.</a:t>
            </a:r>
          </a:p>
        </p:txBody>
      </p:sp>
      <p:pic>
        <p:nvPicPr>
          <p:cNvPr id="57" name="Imagem 4" descr="Imagem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ulo"/>
          <p:cNvSpPr txBox="1"/>
          <p:nvPr/>
        </p:nvSpPr>
        <p:spPr>
          <a:xfrm>
            <a:off x="622626" y="659564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Filtro PRISMA</a:t>
            </a:r>
          </a:p>
        </p:txBody>
      </p:sp>
      <p:sp>
        <p:nvSpPr>
          <p:cNvPr id="60" name="Subtitulo"/>
          <p:cNvSpPr txBox="1"/>
          <p:nvPr/>
        </p:nvSpPr>
        <p:spPr>
          <a:xfrm>
            <a:off x="807265" y="1566185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O fluxograma PRISMA abaixo resume o processo de identificação, triagem, elegibilidade e inclusão dos estudos.</a:t>
            </a:r>
          </a:p>
        </p:txBody>
      </p:sp>
      <p:pic>
        <p:nvPicPr>
          <p:cNvPr id="61" name="Imagem 7" descr="Imagem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9168" y="2020872"/>
            <a:ext cx="8647478" cy="38085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ulo"/>
          <p:cNvSpPr txBox="1"/>
          <p:nvPr/>
        </p:nvSpPr>
        <p:spPr>
          <a:xfrm>
            <a:off x="745719" y="518543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Matriz de extração</a:t>
            </a:r>
          </a:p>
        </p:txBody>
      </p:sp>
      <p:sp>
        <p:nvSpPr>
          <p:cNvPr id="64" name="Subtitulo"/>
          <p:cNvSpPr txBox="1"/>
          <p:nvPr/>
        </p:nvSpPr>
        <p:spPr>
          <a:xfrm>
            <a:off x="745719" y="1118305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400">
                <a:solidFill>
                  <a:srgbClr val="595959"/>
                </a:solidFill>
              </a:defRPr>
            </a:lvl1pPr>
          </a:lstStyle>
          <a:p>
            <a:pPr/>
            <a: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5" name="Imagem 5" descr="Imagem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7430" y="1435000"/>
            <a:ext cx="8977140" cy="432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Imagem 7" descr="Imagem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15052" y="5755914"/>
            <a:ext cx="8969517" cy="1112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ulo"/>
          <p:cNvSpPr txBox="1"/>
          <p:nvPr/>
        </p:nvSpPr>
        <p:spPr>
          <a:xfrm>
            <a:off x="745719" y="602086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Matriz de extração</a:t>
            </a:r>
          </a:p>
        </p:txBody>
      </p:sp>
      <p:sp>
        <p:nvSpPr>
          <p:cNvPr id="69" name="Subtitulo"/>
          <p:cNvSpPr txBox="1"/>
          <p:nvPr/>
        </p:nvSpPr>
        <p:spPr>
          <a:xfrm>
            <a:off x="745719" y="1018542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400">
                <a:solidFill>
                  <a:srgbClr val="595959"/>
                </a:solidFill>
              </a:defRPr>
            </a:lvl1pPr>
          </a:lstStyle>
          <a:p>
            <a:pPr/>
            <a: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70" name="Imagem 4" descr="Imagem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2188" y="1518542"/>
            <a:ext cx="9007622" cy="50677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1"/>
          <p:cNvSpPr txBox="1"/>
          <p:nvPr/>
        </p:nvSpPr>
        <p:spPr>
          <a:xfrm>
            <a:off x="2526106" y="2957804"/>
            <a:ext cx="7139787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163E64"/>
                </a:solidFill>
              </a:defRPr>
            </a:lvl1pPr>
          </a:lstStyle>
          <a:p>
            <a:pPr/>
            <a:r>
              <a:t>3. Formalismo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3.1. Tipo de Formalismo</a:t>
            </a:r>
          </a:p>
        </p:txBody>
      </p:sp>
      <p:sp>
        <p:nvSpPr>
          <p:cNvPr id="75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Abordagem híbrida que integra três paradigmas de modelagem para simular a evacuação.</a:t>
            </a:r>
          </a:p>
        </p:txBody>
      </p:sp>
      <p:grpSp>
        <p:nvGrpSpPr>
          <p:cNvPr id="78" name="CardABM"/>
          <p:cNvGrpSpPr/>
          <p:nvPr/>
        </p:nvGrpSpPr>
        <p:grpSpPr>
          <a:xfrm>
            <a:off x="700000" y="1899999"/>
            <a:ext cx="3397001" cy="1400001"/>
            <a:chOff x="0" y="0"/>
            <a:chExt cx="3397000" cy="1400000"/>
          </a:xfrm>
        </p:grpSpPr>
        <p:sp>
          <p:nvSpPr>
            <p:cNvPr id="76" name="Retângulo Arredondado"/>
            <p:cNvSpPr/>
            <p:nvPr/>
          </p:nvSpPr>
          <p:spPr>
            <a:xfrm>
              <a:off x="0" y="0"/>
              <a:ext cx="3397001" cy="1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400"/>
                </a:spcBef>
              </a:pPr>
            </a:p>
          </p:txBody>
        </p:sp>
        <p:sp>
          <p:nvSpPr>
            <p:cNvPr id="77" name="ABM…"/>
            <p:cNvSpPr txBox="1"/>
            <p:nvPr/>
          </p:nvSpPr>
          <p:spPr>
            <a:xfrm>
              <a:off x="52401" y="196150"/>
              <a:ext cx="3292198" cy="100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79999" tIns="179999" rIns="179999" bIns="179999" numCol="1" anchor="ctr">
              <a:spAutoFit/>
            </a:bodyPr>
            <a:lstStyle/>
            <a:p>
              <a:pPr algn="ctr">
                <a:defRPr b="1" sz="1500">
                  <a:solidFill>
                    <a:srgbClr val="163E64"/>
                  </a:solidFill>
                </a:defRPr>
              </a:pPr>
              <a:r>
                <a:t>ABM</a:t>
              </a:r>
            </a:p>
            <a:p>
              <a:pPr algn="ctr">
                <a:spcBef>
                  <a:spcPts val="3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Modelagem Baseada em Agentes</a:t>
              </a:r>
            </a:p>
            <a:p>
              <a:pPr algn="ctr">
                <a:spcBef>
                  <a:spcPts val="400"/>
                </a:spcBef>
                <a:defRPr sz="1100">
                  <a:solidFill>
                    <a:srgbClr val="333333"/>
                  </a:solidFill>
                </a:defRPr>
              </a:pPr>
              <a:r>
                <a:t>Comportamento individual dos ocupantes</a:t>
              </a:r>
            </a:p>
          </p:txBody>
        </p:sp>
      </p:grpSp>
      <p:grpSp>
        <p:nvGrpSpPr>
          <p:cNvPr id="81" name="CardCA"/>
          <p:cNvGrpSpPr/>
          <p:nvPr/>
        </p:nvGrpSpPr>
        <p:grpSpPr>
          <a:xfrm>
            <a:off x="4396999" y="1899999"/>
            <a:ext cx="3397001" cy="1400001"/>
            <a:chOff x="0" y="0"/>
            <a:chExt cx="3397000" cy="1400000"/>
          </a:xfrm>
        </p:grpSpPr>
        <p:sp>
          <p:nvSpPr>
            <p:cNvPr id="79" name="Retângulo Arredondado"/>
            <p:cNvSpPr/>
            <p:nvPr/>
          </p:nvSpPr>
          <p:spPr>
            <a:xfrm>
              <a:off x="0" y="0"/>
              <a:ext cx="3397001" cy="1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400"/>
                </a:spcBef>
              </a:pPr>
            </a:p>
          </p:txBody>
        </p:sp>
        <p:sp>
          <p:nvSpPr>
            <p:cNvPr id="80" name="CA…"/>
            <p:cNvSpPr txBox="1"/>
            <p:nvPr/>
          </p:nvSpPr>
          <p:spPr>
            <a:xfrm>
              <a:off x="52401" y="196150"/>
              <a:ext cx="3292198" cy="100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79999" tIns="179999" rIns="179999" bIns="179999" numCol="1" anchor="ctr">
              <a:spAutoFit/>
            </a:bodyPr>
            <a:lstStyle/>
            <a:p>
              <a:pPr algn="ctr">
                <a:defRPr b="1" sz="1500">
                  <a:solidFill>
                    <a:srgbClr val="163E64"/>
                  </a:solidFill>
                </a:defRPr>
              </a:pPr>
              <a:r>
                <a:t>CA</a:t>
              </a:r>
            </a:p>
            <a:p>
              <a:pPr algn="ctr">
                <a:spcBef>
                  <a:spcPts val="3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Autômatos Celulares</a:t>
              </a:r>
            </a:p>
            <a:p>
              <a:pPr algn="ctr">
                <a:spcBef>
                  <a:spcPts val="400"/>
                </a:spcBef>
                <a:defRPr sz="1100">
                  <a:solidFill>
                    <a:srgbClr val="333333"/>
                  </a:solidFill>
                </a:defRPr>
              </a:pPr>
              <a:r>
                <a:t>Movimentação espacial discreta no ambiente</a:t>
              </a:r>
            </a:p>
          </p:txBody>
        </p:sp>
      </p:grpSp>
      <p:grpSp>
        <p:nvGrpSpPr>
          <p:cNvPr id="84" name="CardCFD"/>
          <p:cNvGrpSpPr/>
          <p:nvPr/>
        </p:nvGrpSpPr>
        <p:grpSpPr>
          <a:xfrm>
            <a:off x="8093999" y="1899999"/>
            <a:ext cx="3398001" cy="1400001"/>
            <a:chOff x="0" y="0"/>
            <a:chExt cx="3397999" cy="1400000"/>
          </a:xfrm>
        </p:grpSpPr>
        <p:sp>
          <p:nvSpPr>
            <p:cNvPr id="82" name="Retângulo Arredondado"/>
            <p:cNvSpPr/>
            <p:nvPr/>
          </p:nvSpPr>
          <p:spPr>
            <a:xfrm>
              <a:off x="0" y="0"/>
              <a:ext cx="3398000" cy="1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400"/>
                </a:spcBef>
              </a:pPr>
            </a:p>
          </p:txBody>
        </p:sp>
        <p:sp>
          <p:nvSpPr>
            <p:cNvPr id="83" name="CFD…"/>
            <p:cNvSpPr txBox="1"/>
            <p:nvPr/>
          </p:nvSpPr>
          <p:spPr>
            <a:xfrm>
              <a:off x="52401" y="113600"/>
              <a:ext cx="3293198" cy="117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79999" tIns="179999" rIns="179999" bIns="179999" numCol="1" anchor="ctr">
              <a:spAutoFit/>
            </a:bodyPr>
            <a:lstStyle/>
            <a:p>
              <a:pPr algn="ctr">
                <a:defRPr b="1" sz="1500">
                  <a:solidFill>
                    <a:srgbClr val="163E64"/>
                  </a:solidFill>
                </a:defRPr>
              </a:pPr>
              <a:r>
                <a:t>CFD</a:t>
              </a:r>
            </a:p>
            <a:p>
              <a:pPr algn="ctr">
                <a:spcBef>
                  <a:spcPts val="3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Dinâmica de Fluidos Computacional</a:t>
              </a:r>
            </a:p>
            <a:p>
              <a:pPr algn="ctr">
                <a:spcBef>
                  <a:spcPts val="400"/>
                </a:spcBef>
                <a:defRPr sz="1100">
                  <a:solidFill>
                    <a:srgbClr val="333333"/>
                  </a:solidFill>
                </a:defRPr>
              </a:pPr>
              <a:r>
                <a:t>Campos de temperatura, fumaça e gases tóxicos</a:t>
              </a:r>
            </a:p>
          </p:txBody>
        </p:sp>
      </p:grpSp>
      <p:sp>
        <p:nvSpPr>
          <p:cNvPr id="85" name="Seta1"/>
          <p:cNvSpPr/>
          <p:nvPr/>
        </p:nvSpPr>
        <p:spPr>
          <a:xfrm>
            <a:off x="5867400" y="3379999"/>
            <a:ext cx="457201" cy="36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63E6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88" name="CardModelo"/>
          <p:cNvGrpSpPr/>
          <p:nvPr/>
        </p:nvGrpSpPr>
        <p:grpSpPr>
          <a:xfrm>
            <a:off x="700000" y="3820000"/>
            <a:ext cx="10792001" cy="820001"/>
            <a:chOff x="0" y="0"/>
            <a:chExt cx="10792000" cy="820000"/>
          </a:xfrm>
        </p:grpSpPr>
        <p:sp>
          <p:nvSpPr>
            <p:cNvPr id="86" name="Retângulo Arredondado"/>
            <p:cNvSpPr/>
            <p:nvPr/>
          </p:nvSpPr>
          <p:spPr>
            <a:xfrm>
              <a:off x="0" y="0"/>
              <a:ext cx="10792001" cy="820001"/>
            </a:xfrm>
            <a:prstGeom prst="roundRect">
              <a:avLst>
                <a:gd name="adj" fmla="val 6000"/>
              </a:avLst>
            </a:prstGeom>
            <a:solidFill>
              <a:srgbClr val="163E6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</a:pPr>
            </a:p>
          </p:txBody>
        </p:sp>
        <p:sp>
          <p:nvSpPr>
            <p:cNvPr id="87" name="Modelo de Simulação de Evacuação…"/>
            <p:cNvSpPr txBox="1"/>
            <p:nvPr/>
          </p:nvSpPr>
          <p:spPr>
            <a:xfrm>
              <a:off x="110409" y="74100"/>
              <a:ext cx="10571182" cy="67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0000" tIns="120000" rIns="120000" bIns="120000" numCol="1" anchor="ctr">
              <a:sp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Modelo de Simulação de Evacuação</a:t>
              </a:r>
            </a:p>
            <a:p>
              <a:pPr algn="ctr">
                <a:spcBef>
                  <a:spcPts val="200"/>
                </a:spcBef>
                <a:defRPr sz="1100">
                  <a:solidFill>
                    <a:srgbClr val="CADCFC"/>
                  </a:solidFill>
                </a:defRPr>
              </a:pPr>
              <a:r>
                <a:t>Acoplamento ABM + CA + CFD em passos de tempo discretos (steps/ticks)</a:t>
              </a:r>
            </a:p>
          </p:txBody>
        </p:sp>
      </p:grpSp>
      <p:sp>
        <p:nvSpPr>
          <p:cNvPr id="89" name="Seta2"/>
          <p:cNvSpPr/>
          <p:nvPr/>
        </p:nvSpPr>
        <p:spPr>
          <a:xfrm>
            <a:off x="5867400" y="4719999"/>
            <a:ext cx="457201" cy="36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2" name="CardSaidas"/>
          <p:cNvGrpSpPr/>
          <p:nvPr/>
        </p:nvGrpSpPr>
        <p:grpSpPr>
          <a:xfrm>
            <a:off x="700000" y="5160000"/>
            <a:ext cx="10792001" cy="820001"/>
            <a:chOff x="0" y="0"/>
            <a:chExt cx="10792000" cy="820000"/>
          </a:xfrm>
        </p:grpSpPr>
        <p:sp>
          <p:nvSpPr>
            <p:cNvPr id="90" name="Retângulo Arredondado"/>
            <p:cNvSpPr/>
            <p:nvPr/>
          </p:nvSpPr>
          <p:spPr>
            <a:xfrm>
              <a:off x="0" y="0"/>
              <a:ext cx="10792001" cy="820001"/>
            </a:xfrm>
            <a:prstGeom prst="roundRect">
              <a:avLst>
                <a:gd name="adj" fmla="val 6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</a:pPr>
            </a:p>
          </p:txBody>
        </p:sp>
        <p:sp>
          <p:nvSpPr>
            <p:cNvPr id="91" name="Saídas do modelo…"/>
            <p:cNvSpPr txBox="1"/>
            <p:nvPr/>
          </p:nvSpPr>
          <p:spPr>
            <a:xfrm>
              <a:off x="110409" y="80449"/>
              <a:ext cx="10571182" cy="659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0000" tIns="120000" rIns="120000" bIns="120000" numCol="1" anchor="ctr">
              <a:spAutoFit/>
            </a:bodyPr>
            <a:lstStyle/>
            <a:p>
              <a:pPr algn="ctr">
                <a:defRPr b="1" sz="1500">
                  <a:solidFill>
                    <a:srgbClr val="2C5F2D"/>
                  </a:solidFill>
                </a:defRPr>
              </a:pPr>
              <a:r>
                <a:t>Saídas do modelo</a:t>
              </a:r>
            </a:p>
            <a:p>
              <a:pPr algn="ctr">
                <a:spcBef>
                  <a:spcPts val="200"/>
                </a:spcBef>
                <a:defRPr sz="1100">
                  <a:solidFill>
                    <a:srgbClr val="333333"/>
                  </a:solidFill>
                </a:defRPr>
              </a:pPr>
              <a:r>
                <a:t>Tempo total de evacuação, taxa de sobrevivência, trajetórias e gargalos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3.1.1. Definição do Formalismo</a:t>
            </a:r>
          </a:p>
        </p:txBody>
      </p:sp>
      <p:sp>
        <p:nvSpPr>
          <p:cNvPr id="95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Abordagem híbrida que combina três paradigmas, cada um responsável por uma dimensão do problema.</a:t>
            </a:r>
          </a:p>
        </p:txBody>
      </p:sp>
      <p:grpSp>
        <p:nvGrpSpPr>
          <p:cNvPr id="98" name="CardABM"/>
          <p:cNvGrpSpPr/>
          <p:nvPr/>
        </p:nvGrpSpPr>
        <p:grpSpPr>
          <a:xfrm>
            <a:off x="700000" y="1899999"/>
            <a:ext cx="3397001" cy="4400001"/>
            <a:chOff x="0" y="0"/>
            <a:chExt cx="3397000" cy="4400000"/>
          </a:xfrm>
        </p:grpSpPr>
        <p:sp>
          <p:nvSpPr>
            <p:cNvPr id="96" name="Retângulo Arredondado"/>
            <p:cNvSpPr/>
            <p:nvPr/>
          </p:nvSpPr>
          <p:spPr>
            <a:xfrm>
              <a:off x="0" y="0"/>
              <a:ext cx="3397001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</a:pPr>
            </a:p>
          </p:txBody>
        </p:sp>
        <p:sp>
          <p:nvSpPr>
            <p:cNvPr id="97" name="Modelagem Baseada em Agentes…"/>
            <p:cNvSpPr txBox="1"/>
            <p:nvPr/>
          </p:nvSpPr>
          <p:spPr>
            <a:xfrm>
              <a:off x="39797" y="39797"/>
              <a:ext cx="3317406" cy="2523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Modelagem Baseada em Agentes</a:t>
              </a:r>
            </a:p>
            <a:p>
              <a:pPr>
                <a:spcBef>
                  <a:spcPts val="4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ABM — comportamento dos ocupantes</a:t>
              </a:r>
            </a:p>
            <a:p>
              <a:pPr>
                <a:spcBef>
                  <a:spcPts val="900"/>
                </a:spcBef>
                <a:defRPr sz="1300">
                  <a:solidFill>
                    <a:srgbClr val="333333"/>
                  </a:solidFill>
                </a:defRPr>
              </a:pPr>
              <a:r>
                <a:t>Representa o comportamento individual dos ocupantes, permitindo heterogeneidade de decisões, percepção de risco e adaptação às condições do ambiente.</a:t>
              </a:r>
            </a:p>
          </p:txBody>
        </p:sp>
      </p:grpSp>
      <p:grpSp>
        <p:nvGrpSpPr>
          <p:cNvPr id="101" name="CardCA"/>
          <p:cNvGrpSpPr/>
          <p:nvPr/>
        </p:nvGrpSpPr>
        <p:grpSpPr>
          <a:xfrm>
            <a:off x="4396999" y="1899999"/>
            <a:ext cx="3397001" cy="4400001"/>
            <a:chOff x="0" y="0"/>
            <a:chExt cx="3397000" cy="4400000"/>
          </a:xfrm>
        </p:grpSpPr>
        <p:sp>
          <p:nvSpPr>
            <p:cNvPr id="99" name="Retângulo Arredondado"/>
            <p:cNvSpPr/>
            <p:nvPr/>
          </p:nvSpPr>
          <p:spPr>
            <a:xfrm>
              <a:off x="0" y="0"/>
              <a:ext cx="3397001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</a:pPr>
            </a:p>
          </p:txBody>
        </p:sp>
        <p:sp>
          <p:nvSpPr>
            <p:cNvPr id="100" name="Autômatos Celulares…"/>
            <p:cNvSpPr txBox="1"/>
            <p:nvPr/>
          </p:nvSpPr>
          <p:spPr>
            <a:xfrm>
              <a:off x="39797" y="39797"/>
              <a:ext cx="3317406" cy="210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Autômatos Celulares</a:t>
              </a:r>
            </a:p>
            <a:p>
              <a:pPr>
                <a:spcBef>
                  <a:spcPts val="4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CA — movimentação no espaço</a:t>
              </a:r>
            </a:p>
            <a:p>
              <a:pPr>
                <a:spcBef>
                  <a:spcPts val="900"/>
                </a:spcBef>
                <a:defRPr sz="1300">
                  <a:solidFill>
                    <a:srgbClr val="333333"/>
                  </a:solidFill>
                </a:defRPr>
              </a:pPr>
              <a:r>
                <a:t>Representam a movimentação espacial discreta dos agentes no ambiente construído, incluindo regras específicas para corredores, portas e escadas.</a:t>
              </a:r>
            </a:p>
          </p:txBody>
        </p:sp>
      </p:grpSp>
      <p:grpSp>
        <p:nvGrpSpPr>
          <p:cNvPr id="104" name="CardCFD"/>
          <p:cNvGrpSpPr/>
          <p:nvPr/>
        </p:nvGrpSpPr>
        <p:grpSpPr>
          <a:xfrm>
            <a:off x="8093999" y="1899999"/>
            <a:ext cx="3398001" cy="4400001"/>
            <a:chOff x="0" y="0"/>
            <a:chExt cx="3397999" cy="4400000"/>
          </a:xfrm>
        </p:grpSpPr>
        <p:sp>
          <p:nvSpPr>
            <p:cNvPr id="102" name="Retângulo Arredondado"/>
            <p:cNvSpPr/>
            <p:nvPr/>
          </p:nvSpPr>
          <p:spPr>
            <a:xfrm>
              <a:off x="0" y="0"/>
              <a:ext cx="3398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</a:pPr>
            </a:p>
          </p:txBody>
        </p:sp>
        <p:sp>
          <p:nvSpPr>
            <p:cNvPr id="103" name="Dinâmica de Fluidos Computacional…"/>
            <p:cNvSpPr txBox="1"/>
            <p:nvPr/>
          </p:nvSpPr>
          <p:spPr>
            <a:xfrm>
              <a:off x="39809" y="39809"/>
              <a:ext cx="3318382" cy="214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Dinâmica de Fluidos Computacional</a:t>
              </a:r>
            </a:p>
            <a:p>
              <a:pPr>
                <a:spcBef>
                  <a:spcPts val="4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CFD — ambiente de risco</a:t>
              </a:r>
            </a:p>
            <a:p>
              <a:pPr>
                <a:spcBef>
                  <a:spcPts val="900"/>
                </a:spcBef>
                <a:defRPr sz="1300">
                  <a:solidFill>
                    <a:srgbClr val="333333"/>
                  </a:solidFill>
                </a:defRPr>
              </a:pPr>
              <a:r>
                <a:t>Fornece os campos dinâmicos de temperatura, fumaça e gases tóxicos, usados para atualizar o estado fisiológico e cognitivo dos ocupantes.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3.1.2. Descrição do Formalismo</a:t>
            </a:r>
          </a:p>
        </p:txBody>
      </p:sp>
      <p:sp>
        <p:nvSpPr>
          <p:cNvPr id="107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Entidades, parâmetros e variáveis que compõem o modelo.</a:t>
            </a:r>
          </a:p>
        </p:txBody>
      </p:sp>
      <p:grpSp>
        <p:nvGrpSpPr>
          <p:cNvPr id="110" name="CardEntidades"/>
          <p:cNvGrpSpPr/>
          <p:nvPr/>
        </p:nvGrpSpPr>
        <p:grpSpPr>
          <a:xfrm>
            <a:off x="700000" y="1899999"/>
            <a:ext cx="3397001" cy="4400001"/>
            <a:chOff x="0" y="0"/>
            <a:chExt cx="3397000" cy="4400000"/>
          </a:xfrm>
        </p:grpSpPr>
        <p:sp>
          <p:nvSpPr>
            <p:cNvPr id="108" name="Retângulo Arredondado"/>
            <p:cNvSpPr/>
            <p:nvPr/>
          </p:nvSpPr>
          <p:spPr>
            <a:xfrm>
              <a:off x="0" y="0"/>
              <a:ext cx="3397001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109" name="Entidades…"/>
            <p:cNvSpPr txBox="1"/>
            <p:nvPr/>
          </p:nvSpPr>
          <p:spPr>
            <a:xfrm>
              <a:off x="39797" y="39797"/>
              <a:ext cx="3317406" cy="2637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Entidades</a:t>
              </a:r>
            </a:p>
            <a:p>
              <a:pPr>
                <a:spcBef>
                  <a:spcPts val="9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Agentes ocupantes — </a:t>
              </a:r>
              <a:r>
                <a:rPr b="0">
                  <a:solidFill>
                    <a:srgbClr val="333333"/>
                  </a:solidFill>
                </a:rPr>
                <a:t>indivíduos com mobilidade, percepção e resistência fisiológica heterogêneas.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Ambiente físico — </a:t>
              </a:r>
              <a:r>
                <a:rPr b="0">
                  <a:solidFill>
                    <a:srgbClr val="333333"/>
                  </a:solidFill>
                </a:rPr>
                <a:t>geometria do edifício: corredores, portas, escadas e saídas de emergência.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700"/>
                </a:spcBef>
                <a:defRPr b="1" sz="1200">
                  <a:solidFill>
                    <a:srgbClr val="C0392B"/>
                  </a:solidFill>
                </a:defRPr>
              </a:pPr>
              <a:r>
                <a:t>Agentes de risco — </a:t>
              </a:r>
              <a:r>
                <a:rPr b="0">
                  <a:solidFill>
                    <a:srgbClr val="333333"/>
                  </a:solidFill>
                </a:rPr>
                <a:t>fogo, fumaça, temperatura e gases tóxicos distribuídos no espaço.</a:t>
              </a:r>
            </a:p>
          </p:txBody>
        </p:sp>
      </p:grpSp>
      <p:grpSp>
        <p:nvGrpSpPr>
          <p:cNvPr id="113" name="CardParametros"/>
          <p:cNvGrpSpPr/>
          <p:nvPr/>
        </p:nvGrpSpPr>
        <p:grpSpPr>
          <a:xfrm>
            <a:off x="4396999" y="1899999"/>
            <a:ext cx="3397001" cy="4400001"/>
            <a:chOff x="0" y="0"/>
            <a:chExt cx="3397000" cy="4400000"/>
          </a:xfrm>
        </p:grpSpPr>
        <p:sp>
          <p:nvSpPr>
            <p:cNvPr id="111" name="Retângulo Arredondado"/>
            <p:cNvSpPr/>
            <p:nvPr/>
          </p:nvSpPr>
          <p:spPr>
            <a:xfrm>
              <a:off x="0" y="0"/>
              <a:ext cx="3397001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12" name="Parâmetros principais…"/>
            <p:cNvSpPr txBox="1"/>
            <p:nvPr/>
          </p:nvSpPr>
          <p:spPr>
            <a:xfrm>
              <a:off x="39797" y="39797"/>
              <a:ext cx="3317406" cy="23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Parâmetros principais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Velocidade base dos agentes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Raio de visão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Capacidade de portas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Resistência fisiológica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Coeficiente de influência da fumaça</a:t>
              </a:r>
            </a:p>
          </p:txBody>
        </p:sp>
      </p:grpSp>
      <p:grpSp>
        <p:nvGrpSpPr>
          <p:cNvPr id="116" name="CardVariaveis"/>
          <p:cNvGrpSpPr/>
          <p:nvPr/>
        </p:nvGrpSpPr>
        <p:grpSpPr>
          <a:xfrm>
            <a:off x="8093999" y="1899999"/>
            <a:ext cx="3398001" cy="4400001"/>
            <a:chOff x="0" y="0"/>
            <a:chExt cx="3397999" cy="4400000"/>
          </a:xfrm>
        </p:grpSpPr>
        <p:sp>
          <p:nvSpPr>
            <p:cNvPr id="114" name="Retângulo Arredondado"/>
            <p:cNvSpPr/>
            <p:nvPr/>
          </p:nvSpPr>
          <p:spPr>
            <a:xfrm>
              <a:off x="0" y="0"/>
              <a:ext cx="3398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15" name="Variáveis dinâmicas…"/>
            <p:cNvSpPr txBox="1"/>
            <p:nvPr/>
          </p:nvSpPr>
          <p:spPr>
            <a:xfrm>
              <a:off x="39809" y="39809"/>
              <a:ext cx="3318382" cy="23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Variáveis dinâmicas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Posição espacial (x, y, z)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Velocidade instantânea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Fadiga acumulada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Estado de saúde</a:t>
              </a: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Nível de exposição à fumaça e ao calor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3.1.2. Descrição do Formalismo</a:t>
            </a:r>
          </a:p>
        </p:txBody>
      </p:sp>
      <p:sp>
        <p:nvSpPr>
          <p:cNvPr id="119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Mecanismos e regras operacionais que governam o comportamento dos agentes.</a:t>
            </a:r>
          </a:p>
        </p:txBody>
      </p:sp>
      <p:grpSp>
        <p:nvGrpSpPr>
          <p:cNvPr id="122" name="CardCiclo"/>
          <p:cNvGrpSpPr/>
          <p:nvPr/>
        </p:nvGrpSpPr>
        <p:grpSpPr>
          <a:xfrm>
            <a:off x="700000" y="1899999"/>
            <a:ext cx="5246000" cy="4400001"/>
            <a:chOff x="0" y="0"/>
            <a:chExt cx="5245999" cy="4400000"/>
          </a:xfrm>
        </p:grpSpPr>
        <p:sp>
          <p:nvSpPr>
            <p:cNvPr id="120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800"/>
                </a:spcBef>
              </a:pPr>
            </a:p>
          </p:txBody>
        </p:sp>
        <p:sp>
          <p:nvSpPr>
            <p:cNvPr id="121" name="Ciclo de comportamento do agente…"/>
            <p:cNvSpPr txBox="1"/>
            <p:nvPr/>
          </p:nvSpPr>
          <p:spPr>
            <a:xfrm>
              <a:off x="51549" y="51548"/>
              <a:ext cx="5142902" cy="24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Ciclo de comportamento do agente</a:t>
              </a:r>
            </a:p>
            <a:p>
              <a:pPr>
                <a:spcBef>
                  <a:spcPts val="10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1. Percepção — </a:t>
              </a:r>
              <a:r>
                <a:rPr b="0">
                  <a:solidFill>
                    <a:srgbClr val="333333"/>
                  </a:solidFill>
                </a:rPr>
                <a:t>coleta de informações do ambiente (temperatura, densidade de fumaça e rotas de fuga).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2. Interpretação — </a:t>
              </a:r>
              <a:r>
                <a:rPr b="0">
                  <a:solidFill>
                    <a:srgbClr val="333333"/>
                  </a:solidFill>
                </a:rPr>
                <a:t>avaliação do risco local.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3. Decisão — </a:t>
              </a:r>
              <a:r>
                <a:rPr b="0">
                  <a:solidFill>
                    <a:srgbClr val="333333"/>
                  </a:solidFill>
                </a:rPr>
                <a:t>seleção da rota de evacuação de menor risco percebido.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4. Execução — </a:t>
              </a:r>
              <a:r>
                <a:rPr b="0">
                  <a:solidFill>
                    <a:srgbClr val="333333"/>
                  </a:solidFill>
                </a:rPr>
                <a:t>movimentação espacial no ambiente.</a:t>
              </a:r>
            </a:p>
          </p:txBody>
        </p:sp>
      </p:grpSp>
      <p:grpSp>
        <p:nvGrpSpPr>
          <p:cNvPr id="125" name="CardVelocidade"/>
          <p:cNvGrpSpPr/>
          <p:nvPr/>
        </p:nvGrpSpPr>
        <p:grpSpPr>
          <a:xfrm>
            <a:off x="6246000" y="1899999"/>
            <a:ext cx="5246001" cy="2080001"/>
            <a:chOff x="0" y="0"/>
            <a:chExt cx="5245999" cy="2079999"/>
          </a:xfrm>
        </p:grpSpPr>
        <p:sp>
          <p:nvSpPr>
            <p:cNvPr id="123" name="Retângulo Arredondado"/>
            <p:cNvSpPr/>
            <p:nvPr/>
          </p:nvSpPr>
          <p:spPr>
            <a:xfrm>
              <a:off x="0" y="0"/>
              <a:ext cx="5246000" cy="208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124" name="Velocidade do agente…"/>
            <p:cNvSpPr txBox="1"/>
            <p:nvPr/>
          </p:nvSpPr>
          <p:spPr>
            <a:xfrm>
              <a:off x="102460" y="30460"/>
              <a:ext cx="5041080" cy="139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Velocidade do agente</a:t>
              </a:r>
            </a:p>
            <a:p>
              <a:pPr algn="ctr">
                <a:spcBef>
                  <a:spcPts val="700"/>
                </a:spcBef>
                <a:defRPr b="1" sz="1500">
                  <a:solidFill>
                    <a:srgbClr val="C0392B"/>
                  </a:solidFill>
                </a:defRPr>
              </a:pPr>
              <a:r>
                <a:t>v(t) = v₀ · e^(−λ·S(t)) · (1 − γ·F(t))</a:t>
              </a:r>
            </a:p>
            <a:p>
              <a:pPr>
                <a:spcBef>
                  <a:spcPts val="700"/>
                </a:spcBef>
                <a:defRPr sz="1100">
                  <a:solidFill>
                    <a:srgbClr val="595959"/>
                  </a:solidFill>
                </a:defRPr>
              </a:pPr>
              <a:r>
                <a:t>v₀ = velocidade base; S(t) = densidade de fumaça; F(t) = fadiga acumulada.</a:t>
              </a:r>
            </a:p>
          </p:txBody>
        </p:sp>
      </p:grpSp>
      <p:grpSp>
        <p:nvGrpSpPr>
          <p:cNvPr id="128" name="CardSaude"/>
          <p:cNvGrpSpPr/>
          <p:nvPr/>
        </p:nvGrpSpPr>
        <p:grpSpPr>
          <a:xfrm>
            <a:off x="6246000" y="4395847"/>
            <a:ext cx="5246001" cy="2080001"/>
            <a:chOff x="0" y="0"/>
            <a:chExt cx="5245999" cy="2079999"/>
          </a:xfrm>
        </p:grpSpPr>
        <p:sp>
          <p:nvSpPr>
            <p:cNvPr id="126" name="Retângulo Arredondado"/>
            <p:cNvSpPr/>
            <p:nvPr/>
          </p:nvSpPr>
          <p:spPr>
            <a:xfrm>
              <a:off x="0" y="0"/>
              <a:ext cx="5246000" cy="208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27" name="Saúde do agente — Dose Efetiva Fracionária (FED)…"/>
            <p:cNvSpPr txBox="1"/>
            <p:nvPr/>
          </p:nvSpPr>
          <p:spPr>
            <a:xfrm>
              <a:off x="102460" y="30460"/>
              <a:ext cx="5041080" cy="1600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Saúde do agente — Dose Efetiva Fracionária (FED)</a:t>
              </a:r>
            </a:p>
            <a:p>
              <a:pPr algn="ctr">
                <a:spcBef>
                  <a:spcPts val="600"/>
                </a:spcBef>
                <a:defRPr b="1" sz="1400">
                  <a:solidFill>
                    <a:srgbClr val="C0392B"/>
                  </a:solidFill>
                </a:defRPr>
              </a:pPr>
              <a:r>
                <a:t>FED(t) = FED_CO + FED_CO₂ + FED_calor</a:t>
              </a:r>
            </a:p>
            <a:p>
              <a:pPr algn="ctr">
                <a:spcBef>
                  <a:spcPts val="300"/>
                </a:spcBef>
                <a:defRPr b="1" sz="1400">
                  <a:solidFill>
                    <a:srgbClr val="C0392B"/>
                  </a:solidFill>
                </a:defRPr>
              </a:pPr>
              <a:r>
                <a:t>H(t) = H₀ − β · FED(t)</a:t>
              </a:r>
            </a:p>
            <a:p>
              <a:pPr>
                <a:spcBef>
                  <a:spcPts val="500"/>
                </a:spcBef>
                <a:defRPr sz="1100">
                  <a:solidFill>
                    <a:srgbClr val="595959"/>
                  </a:solidFill>
                </a:defRPr>
              </a:pPr>
              <a:r>
                <a:t>A saúde reduz com a exposição acumulada a gases tóxicos e calor; em valores críticos, a velocidade do agente diminui.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3.1.2. Descrição do Formalismo</a:t>
            </a:r>
          </a:p>
        </p:txBody>
      </p:sp>
      <p:sp>
        <p:nvSpPr>
          <p:cNvPr id="131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Navegação dos agentes e saídas (resultados) produzidas pelo modelo.</a:t>
            </a:r>
          </a:p>
        </p:txBody>
      </p:sp>
      <p:grpSp>
        <p:nvGrpSpPr>
          <p:cNvPr id="134" name="CardNavegacao"/>
          <p:cNvGrpSpPr/>
          <p:nvPr/>
        </p:nvGrpSpPr>
        <p:grpSpPr>
          <a:xfrm>
            <a:off x="700000" y="1899999"/>
            <a:ext cx="5246000" cy="4400001"/>
            <a:chOff x="0" y="0"/>
            <a:chExt cx="5245999" cy="4400000"/>
          </a:xfrm>
        </p:grpSpPr>
        <p:sp>
          <p:nvSpPr>
            <p:cNvPr id="132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33" name="Navegação…"/>
            <p:cNvSpPr txBox="1"/>
            <p:nvPr/>
          </p:nvSpPr>
          <p:spPr>
            <a:xfrm>
              <a:off x="51549" y="51548"/>
              <a:ext cx="5142902" cy="2138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Navegação</a:t>
              </a:r>
            </a:p>
            <a:p>
              <a:pPr>
                <a:spcBef>
                  <a:spcPts val="1000"/>
                </a:spcBef>
                <a:defRPr sz="1300">
                  <a:solidFill>
                    <a:srgbClr val="333333"/>
                  </a:solidFill>
                </a:defRPr>
              </a:pPr>
              <a:r>
                <a:t>A navegação baseia-se em um mapa espacial dinâmico, em que o custo de deslocamento é atualizado continuamente.</a:t>
              </a:r>
            </a:p>
            <a:p>
              <a:pPr marL="228600" indent="-228600">
                <a:spcBef>
                  <a:spcPts val="800"/>
                </a:spcBef>
                <a:buSzPct val="100000"/>
                <a:buChar char="•"/>
                <a:defRPr b="1" sz="1300">
                  <a:solidFill>
                    <a:srgbClr val="C0392B"/>
                  </a:solidFill>
                </a:defRPr>
              </a:pPr>
              <a:r>
                <a:t>Custo atualizado por </a:t>
              </a:r>
              <a:r>
                <a:rPr b="0">
                  <a:solidFill>
                    <a:srgbClr val="333333"/>
                  </a:solidFill>
                </a:rPr>
                <a:t>fumaça, calor e congestionamento.</a:t>
              </a:r>
              <a:endParaRPr b="0">
                <a:solidFill>
                  <a:srgbClr val="333333"/>
                </a:solidFill>
              </a:endParaRPr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C0392B"/>
                  </a:solidFill>
                </a:defRPr>
              </a:pPr>
              <a:r>
                <a:t>Prioridade </a:t>
              </a:r>
              <a:r>
                <a:rPr b="0">
                  <a:solidFill>
                    <a:srgbClr val="333333"/>
                  </a:solidFill>
                </a:rPr>
                <a:t>para trajetórias de menor risco e menor distância até as saídas.</a:t>
              </a:r>
            </a:p>
          </p:txBody>
        </p:sp>
      </p:grpSp>
      <p:grpSp>
        <p:nvGrpSpPr>
          <p:cNvPr id="137" name="CardSaidas"/>
          <p:cNvGrpSpPr/>
          <p:nvPr/>
        </p:nvGrpSpPr>
        <p:grpSpPr>
          <a:xfrm>
            <a:off x="6246000" y="1899999"/>
            <a:ext cx="5246001" cy="4400001"/>
            <a:chOff x="0" y="0"/>
            <a:chExt cx="5245999" cy="4400000"/>
          </a:xfrm>
        </p:grpSpPr>
        <p:sp>
          <p:nvSpPr>
            <p:cNvPr id="135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136" name="Saídas do modelo…"/>
            <p:cNvSpPr txBox="1"/>
            <p:nvPr/>
          </p:nvSpPr>
          <p:spPr>
            <a:xfrm>
              <a:off x="51549" y="51548"/>
              <a:ext cx="5142902" cy="227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2C5F2D"/>
                  </a:solidFill>
                </a:defRPr>
              </a:pPr>
              <a:r>
                <a:t>Saídas do modelo</a:t>
              </a:r>
            </a:p>
            <a:p>
              <a:pPr marL="228600" indent="-228600">
                <a:spcBef>
                  <a:spcPts val="10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Tempo Total de Evacuação (TET)</a:t>
              </a:r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Taxa de sobrevivência dos ocupantes</a:t>
              </a:r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Estado médio de saúde dos sobreviventes</a:t>
              </a:r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Distribuição espacial das trajetórias de fuga</a:t>
              </a:r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sz="1300">
                  <a:solidFill>
                    <a:srgbClr val="333333"/>
                  </a:solidFill>
                </a:defRPr>
              </a:pPr>
              <a:r>
                <a:t>Identificação de gargalos e áreas de congestionamento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"/>
          <p:cNvSpPr txBox="1"/>
          <p:nvPr/>
        </p:nvSpPr>
        <p:spPr>
          <a:xfrm>
            <a:off x="2526106" y="2957804"/>
            <a:ext cx="7139787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163E64"/>
                </a:solidFill>
              </a:defRPr>
            </a:lvl1pPr>
          </a:lstStyle>
          <a:p>
            <a:pPr/>
            <a:r>
              <a:t>4. Computador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4.1. Plataforma e Estrutura do Modelo</a:t>
            </a:r>
          </a:p>
        </p:txBody>
      </p:sp>
      <p:sp>
        <p:nvSpPr>
          <p:cNvPr id="142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Implementação em NetLogo: cada paradigma do formalismo corresponde a um elemento da linguagem.</a:t>
            </a:r>
          </a:p>
        </p:txBody>
      </p:sp>
      <p:grpSp>
        <p:nvGrpSpPr>
          <p:cNvPr id="145" name="CardAgentes"/>
          <p:cNvGrpSpPr/>
          <p:nvPr/>
        </p:nvGrpSpPr>
        <p:grpSpPr>
          <a:xfrm>
            <a:off x="700000" y="1899999"/>
            <a:ext cx="3397001" cy="2900001"/>
            <a:chOff x="0" y="0"/>
            <a:chExt cx="3397000" cy="2899999"/>
          </a:xfrm>
        </p:grpSpPr>
        <p:sp>
          <p:nvSpPr>
            <p:cNvPr id="143" name="Retângulo Arredondado"/>
            <p:cNvSpPr/>
            <p:nvPr/>
          </p:nvSpPr>
          <p:spPr>
            <a:xfrm>
              <a:off x="0" y="0"/>
              <a:ext cx="3397001" cy="290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144" name="ABM → turtles…"/>
            <p:cNvSpPr txBox="1"/>
            <p:nvPr/>
          </p:nvSpPr>
          <p:spPr>
            <a:xfrm>
              <a:off x="33975" y="33974"/>
              <a:ext cx="3329050" cy="1574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ABM → turtles</a:t>
              </a:r>
            </a:p>
            <a:p>
              <a:pPr>
                <a:spcBef>
                  <a:spcPts val="4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Agentes ocupantes</a:t>
              </a:r>
            </a:p>
            <a:p>
              <a:pPr>
                <a:spcBef>
                  <a:spcPts val="700"/>
                </a:spcBef>
                <a:defRPr sz="1200">
                  <a:solidFill>
                    <a:srgbClr val="333333"/>
                  </a:solidFill>
                </a:defRPr>
              </a:pPr>
              <a:r>
                <a:t>Cada ocupante é um agente com perfil, velocidade, fadiga, saúde e exposição próprios.</a:t>
              </a:r>
            </a:p>
          </p:txBody>
        </p:sp>
      </p:grpSp>
      <p:grpSp>
        <p:nvGrpSpPr>
          <p:cNvPr id="148" name="CardCelulas"/>
          <p:cNvGrpSpPr/>
          <p:nvPr/>
        </p:nvGrpSpPr>
        <p:grpSpPr>
          <a:xfrm>
            <a:off x="4396999" y="1899999"/>
            <a:ext cx="3397001" cy="2900001"/>
            <a:chOff x="0" y="0"/>
            <a:chExt cx="3397000" cy="2899999"/>
          </a:xfrm>
        </p:grpSpPr>
        <p:sp>
          <p:nvSpPr>
            <p:cNvPr id="146" name="Retângulo Arredondado"/>
            <p:cNvSpPr/>
            <p:nvPr/>
          </p:nvSpPr>
          <p:spPr>
            <a:xfrm>
              <a:off x="0" y="0"/>
              <a:ext cx="3397001" cy="290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147" name="CA → patches…"/>
            <p:cNvSpPr txBox="1"/>
            <p:nvPr/>
          </p:nvSpPr>
          <p:spPr>
            <a:xfrm>
              <a:off x="33975" y="33974"/>
              <a:ext cx="3329050" cy="1574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CA → patches</a:t>
              </a:r>
            </a:p>
            <a:p>
              <a:pPr>
                <a:spcBef>
                  <a:spcPts val="4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Células do ambiente</a:t>
              </a:r>
            </a:p>
            <a:p>
              <a:pPr>
                <a:spcBef>
                  <a:spcPts val="700"/>
                </a:spcBef>
                <a:defRPr sz="1200">
                  <a:solidFill>
                    <a:srgbClr val="333333"/>
                  </a:solidFill>
                </a:defRPr>
              </a:pPr>
              <a:r>
                <a:t>O edifício é uma grade de patches do tipo vazio, parede, saída ou foco do incêndio.</a:t>
              </a:r>
            </a:p>
          </p:txBody>
        </p:sp>
      </p:grpSp>
      <p:grpSp>
        <p:nvGrpSpPr>
          <p:cNvPr id="151" name="CardCampos"/>
          <p:cNvGrpSpPr/>
          <p:nvPr/>
        </p:nvGrpSpPr>
        <p:grpSpPr>
          <a:xfrm>
            <a:off x="8093999" y="1899999"/>
            <a:ext cx="3398001" cy="2900001"/>
            <a:chOff x="0" y="0"/>
            <a:chExt cx="3397999" cy="2899999"/>
          </a:xfrm>
        </p:grpSpPr>
        <p:sp>
          <p:nvSpPr>
            <p:cNvPr id="149" name="Retângulo Arredondado"/>
            <p:cNvSpPr/>
            <p:nvPr/>
          </p:nvSpPr>
          <p:spPr>
            <a:xfrm>
              <a:off x="0" y="0"/>
              <a:ext cx="3398000" cy="290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700"/>
                </a:spcBef>
              </a:pPr>
            </a:p>
          </p:txBody>
        </p:sp>
        <p:sp>
          <p:nvSpPr>
            <p:cNvPr id="150" name="CFD → campos de patch…"/>
            <p:cNvSpPr txBox="1"/>
            <p:nvPr/>
          </p:nvSpPr>
          <p:spPr>
            <a:xfrm>
              <a:off x="33974" y="33974"/>
              <a:ext cx="3330052" cy="1574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52000" tIns="252000" rIns="252000" bIns="252000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CFD → campos de patch</a:t>
              </a:r>
            </a:p>
            <a:p>
              <a:pPr>
                <a:spcBef>
                  <a:spcPts val="400"/>
                </a:spcBef>
                <a:defRPr b="1" sz="1100">
                  <a:solidFill>
                    <a:srgbClr val="C0392B"/>
                  </a:solidFill>
                </a:defRPr>
              </a:pPr>
              <a:r>
                <a:t>Aproximação dos fluidos</a:t>
              </a:r>
            </a:p>
            <a:p>
              <a:pPr>
                <a:spcBef>
                  <a:spcPts val="700"/>
                </a:spcBef>
                <a:defRPr sz="1200">
                  <a:solidFill>
                    <a:srgbClr val="333333"/>
                  </a:solidFill>
                </a:defRPr>
              </a:pPr>
              <a:r>
                <a:t>Cada célula guarda temperatura, fumaça, CO e CO₂ como campos dinâmicos atualizados a cada tick.</a:t>
              </a:r>
            </a:p>
          </p:txBody>
        </p:sp>
      </p:grpSp>
      <p:grpSp>
        <p:nvGrpSpPr>
          <p:cNvPr id="154" name="CardEstrutura"/>
          <p:cNvGrpSpPr/>
          <p:nvPr/>
        </p:nvGrpSpPr>
        <p:grpSpPr>
          <a:xfrm>
            <a:off x="700000" y="4999999"/>
            <a:ext cx="10792001" cy="1300001"/>
            <a:chOff x="0" y="0"/>
            <a:chExt cx="10792000" cy="1300000"/>
          </a:xfrm>
        </p:grpSpPr>
        <p:sp>
          <p:nvSpPr>
            <p:cNvPr id="152" name="Retângulo Arredondado"/>
            <p:cNvSpPr/>
            <p:nvPr/>
          </p:nvSpPr>
          <p:spPr>
            <a:xfrm>
              <a:off x="0" y="0"/>
              <a:ext cx="10792001" cy="1300001"/>
            </a:xfrm>
            <a:prstGeom prst="roundRect">
              <a:avLst>
                <a:gd name="adj" fmla="val 6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53" name="Estrutura do código…"/>
            <p:cNvSpPr txBox="1"/>
            <p:nvPr/>
          </p:nvSpPr>
          <p:spPr>
            <a:xfrm>
              <a:off x="94845" y="22844"/>
              <a:ext cx="10602310" cy="106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400">
                  <a:solidFill>
                    <a:srgbClr val="2C5F2D"/>
                  </a:solidFill>
                </a:defRPr>
              </a:pPr>
              <a:r>
                <a:t>Estrutura do código</a:t>
              </a:r>
            </a:p>
            <a:p>
              <a:pPr>
                <a:spcBef>
                  <a:spcPts val="500"/>
                </a:spcBef>
                <a:defRPr b="1" sz="1200">
                  <a:solidFill>
                    <a:srgbClr val="333333"/>
                  </a:solidFill>
                </a:defRPr>
              </a:pPr>
              <a:r>
                <a:t>globals: </a:t>
              </a:r>
              <a:r>
                <a:rPr b="0"/>
                <a:t>métricas globais (TET, evacuados, mortos, taxa de sobrevivência).   </a:t>
              </a:r>
              <a:r>
                <a:t>patches-own: </a:t>
              </a:r>
              <a:r>
                <a:rPr b="0"/>
                <a:t>estado do ambiente.   </a:t>
              </a:r>
              <a:r>
                <a:t>turtles-own: </a:t>
              </a:r>
              <a:r>
                <a:rPr b="0"/>
                <a:t>atributos de cada ocupante.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4.2. Mecanismos Implementados</a:t>
            </a:r>
          </a:p>
        </p:txBody>
      </p:sp>
      <p:sp>
        <p:nvSpPr>
          <p:cNvPr id="157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Como as regras do formalismo foram traduzidas em procedimentos do modelo.</a:t>
            </a:r>
          </a:p>
        </p:txBody>
      </p:sp>
      <p:grpSp>
        <p:nvGrpSpPr>
          <p:cNvPr id="160" name="CardNavegacao"/>
          <p:cNvGrpSpPr/>
          <p:nvPr/>
        </p:nvGrpSpPr>
        <p:grpSpPr>
          <a:xfrm>
            <a:off x="700000" y="1899999"/>
            <a:ext cx="5246000" cy="2150001"/>
            <a:chOff x="0" y="0"/>
            <a:chExt cx="5245999" cy="2149999"/>
          </a:xfrm>
        </p:grpSpPr>
        <p:sp>
          <p:nvSpPr>
            <p:cNvPr id="158" name="Retângulo Arredondado"/>
            <p:cNvSpPr/>
            <p:nvPr/>
          </p:nvSpPr>
          <p:spPr>
            <a:xfrm>
              <a:off x="0" y="0"/>
              <a:ext cx="5246000" cy="215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59" name="Navegação (campo de distância)…"/>
            <p:cNvSpPr txBox="1"/>
            <p:nvPr/>
          </p:nvSpPr>
          <p:spPr>
            <a:xfrm>
              <a:off x="67485" y="31485"/>
              <a:ext cx="5111030" cy="125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Navegação (campo de distância)</a:t>
              </a:r>
            </a:p>
            <a:p>
              <a:pPr>
                <a:spcBef>
                  <a:spcPts val="500"/>
                </a:spcBef>
                <a:defRPr sz="1200">
                  <a:solidFill>
                    <a:srgbClr val="333333"/>
                  </a:solidFill>
                </a:defRPr>
              </a:pPr>
              <a:r>
                <a:t>Uma busca em largura (BFS) calcula a distância de cada célula até a saída mais próxima; os agentes seguem o gradiente, evitando fumaça, calor e congestionamento.</a:t>
              </a:r>
            </a:p>
          </p:txBody>
        </p:sp>
      </p:grpSp>
      <p:grpSp>
        <p:nvGrpSpPr>
          <p:cNvPr id="163" name="CardFogo"/>
          <p:cNvGrpSpPr/>
          <p:nvPr/>
        </p:nvGrpSpPr>
        <p:grpSpPr>
          <a:xfrm>
            <a:off x="6246000" y="1899999"/>
            <a:ext cx="5246001" cy="2150001"/>
            <a:chOff x="0" y="0"/>
            <a:chExt cx="5245999" cy="2149999"/>
          </a:xfrm>
        </p:grpSpPr>
        <p:sp>
          <p:nvSpPr>
            <p:cNvPr id="161" name="Retângulo Arredondado"/>
            <p:cNvSpPr/>
            <p:nvPr/>
          </p:nvSpPr>
          <p:spPr>
            <a:xfrm>
              <a:off x="0" y="0"/>
              <a:ext cx="5246000" cy="2150000"/>
            </a:xfrm>
            <a:prstGeom prst="roundRect">
              <a:avLst>
                <a:gd name="adj" fmla="val 5000"/>
              </a:avLst>
            </a:prstGeom>
            <a:solidFill>
              <a:srgbClr val="FBEDE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62" name="Propagação do fogo e da fumaça…"/>
            <p:cNvSpPr txBox="1"/>
            <p:nvPr/>
          </p:nvSpPr>
          <p:spPr>
            <a:xfrm>
              <a:off x="67485" y="31485"/>
              <a:ext cx="5111030" cy="125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C0392B"/>
                  </a:solidFill>
                </a:defRPr>
              </a:pPr>
              <a:r>
                <a:t>Propagação do fogo e da fumaça</a:t>
              </a:r>
            </a:p>
            <a:p>
              <a:pPr>
                <a:spcBef>
                  <a:spcPts val="500"/>
                </a:spcBef>
                <a:defRPr sz="1200">
                  <a:solidFill>
                    <a:srgbClr val="333333"/>
                  </a:solidFill>
                </a:defRPr>
              </a:pPr>
              <a:r>
                <a:t>Modelo de contágio: cada célula contamina as vizinhas e a fumaça sobe pelas escadas por convecção, tomando um andar em ~20 ticks.</a:t>
              </a:r>
            </a:p>
          </p:txBody>
        </p:sp>
      </p:grpSp>
      <p:grpSp>
        <p:nvGrpSpPr>
          <p:cNvPr id="166" name="CardCA"/>
          <p:cNvGrpSpPr/>
          <p:nvPr/>
        </p:nvGrpSpPr>
        <p:grpSpPr>
          <a:xfrm>
            <a:off x="700000" y="4150000"/>
            <a:ext cx="5246000" cy="2150001"/>
            <a:chOff x="0" y="0"/>
            <a:chExt cx="5245999" cy="2149999"/>
          </a:xfrm>
        </p:grpSpPr>
        <p:sp>
          <p:nvSpPr>
            <p:cNvPr id="164" name="Retângulo Arredondado"/>
            <p:cNvSpPr/>
            <p:nvPr/>
          </p:nvSpPr>
          <p:spPr>
            <a:xfrm>
              <a:off x="0" y="0"/>
              <a:ext cx="5246000" cy="215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65" name="Regra de autômato celular…"/>
            <p:cNvSpPr txBox="1"/>
            <p:nvPr/>
          </p:nvSpPr>
          <p:spPr>
            <a:xfrm>
              <a:off x="67485" y="31485"/>
              <a:ext cx="5111030" cy="107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Regra de autômato celular</a:t>
              </a:r>
            </a:p>
            <a:p>
              <a:pPr>
                <a:spcBef>
                  <a:spcPts val="500"/>
                </a:spcBef>
                <a:defRPr sz="1200">
                  <a:solidFill>
                    <a:srgbClr val="333333"/>
                  </a:solidFill>
                </a:defRPr>
              </a:pPr>
              <a:r>
                <a:t>Um agente por célula no andar; escadas e saídas aceitam vários agentes, representando filas e o fluxo vertical de evacuação.</a:t>
              </a:r>
            </a:p>
          </p:txBody>
        </p:sp>
      </p:grpSp>
      <p:grpSp>
        <p:nvGrpSpPr>
          <p:cNvPr id="169" name="CardSaude"/>
          <p:cNvGrpSpPr/>
          <p:nvPr/>
        </p:nvGrpSpPr>
        <p:grpSpPr>
          <a:xfrm>
            <a:off x="6246000" y="4150000"/>
            <a:ext cx="5246001" cy="2150001"/>
            <a:chOff x="0" y="0"/>
            <a:chExt cx="5245999" cy="2149999"/>
          </a:xfrm>
        </p:grpSpPr>
        <p:sp>
          <p:nvSpPr>
            <p:cNvPr id="167" name="Retângulo Arredondado"/>
            <p:cNvSpPr/>
            <p:nvPr/>
          </p:nvSpPr>
          <p:spPr>
            <a:xfrm>
              <a:off x="0" y="0"/>
              <a:ext cx="5246000" cy="215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68" name="Saúde (FED) e perfis…"/>
            <p:cNvSpPr txBox="1"/>
            <p:nvPr/>
          </p:nvSpPr>
          <p:spPr>
            <a:xfrm>
              <a:off x="67485" y="31485"/>
              <a:ext cx="5111030" cy="107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15999" tIns="215999" rIns="215999" bIns="215999" numCol="1" anchor="t">
              <a:spAutoFit/>
            </a:bodyPr>
            <a:lstStyle/>
            <a:p>
              <a:pPr>
                <a:defRPr b="1" sz="1500">
                  <a:solidFill>
                    <a:srgbClr val="163E64"/>
                  </a:solidFill>
                </a:defRPr>
              </a:pPr>
              <a:r>
                <a:t>Saúde (FED) e perfis</a:t>
              </a:r>
            </a:p>
            <a:p>
              <a:pPr>
                <a:spcBef>
                  <a:spcPts val="500"/>
                </a:spcBef>
                <a:defRPr sz="1200">
                  <a:solidFill>
                    <a:srgbClr val="333333"/>
                  </a:solidFill>
                </a:defRPr>
              </a:pPr>
              <a:r>
                <a:t>O FED (CO + CO₂ + calor) leva o agente de saudável a ferido e a morto. Velocidade por perfil: adulto 100%, idoso 60%, PcD 40%.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"/>
          <p:cNvSpPr txBox="1"/>
          <p:nvPr/>
        </p:nvSpPr>
        <p:spPr>
          <a:xfrm>
            <a:off x="2526106" y="2957804"/>
            <a:ext cx="7139787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400">
                <a:solidFill>
                  <a:srgbClr val="163E64"/>
                </a:solidFill>
              </a:defRPr>
            </a:lvl1pPr>
          </a:lstStyle>
          <a:p>
            <a:pPr/>
            <a:r>
              <a:t>5. Execução e Observação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5.1. Configuração e Fluxo de Execução</a:t>
            </a:r>
          </a:p>
        </p:txBody>
      </p:sp>
      <p:sp>
        <p:nvSpPr>
          <p:cNvPr id="174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A simulação é executada em ciclos discretos (ticks), com parâmetros ajustáveis por sliders.</a:t>
            </a:r>
          </a:p>
        </p:txBody>
      </p:sp>
      <p:grpSp>
        <p:nvGrpSpPr>
          <p:cNvPr id="177" name="CardFluxo"/>
          <p:cNvGrpSpPr/>
          <p:nvPr/>
        </p:nvGrpSpPr>
        <p:grpSpPr>
          <a:xfrm>
            <a:off x="700000" y="1899999"/>
            <a:ext cx="5246000" cy="4400001"/>
            <a:chOff x="0" y="0"/>
            <a:chExt cx="5245999" cy="4400000"/>
          </a:xfrm>
        </p:grpSpPr>
        <p:sp>
          <p:nvSpPr>
            <p:cNvPr id="175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800"/>
                </a:spcBef>
              </a:pPr>
            </a:p>
          </p:txBody>
        </p:sp>
        <p:sp>
          <p:nvSpPr>
            <p:cNvPr id="176" name="Fluxo de execução…"/>
            <p:cNvSpPr txBox="1"/>
            <p:nvPr/>
          </p:nvSpPr>
          <p:spPr>
            <a:xfrm>
              <a:off x="51549" y="51548"/>
              <a:ext cx="5142902" cy="289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Fluxo de execução</a:t>
              </a:r>
            </a:p>
            <a:p>
              <a:pPr>
                <a:spcBef>
                  <a:spcPts val="10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1. setup — </a:t>
              </a:r>
              <a:r>
                <a:rPr b="0">
                  <a:solidFill>
                    <a:srgbClr val="333333"/>
                  </a:solidFill>
                </a:rPr>
                <a:t>constrói o edifício de 30 andares e calcula o campo de distância (BFS) até as saídas.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2. Sliders — </a:t>
              </a:r>
              <a:r>
                <a:rPr b="0">
                  <a:solidFill>
                    <a:srgbClr val="333333"/>
                  </a:solidFill>
                </a:rPr>
                <a:t>ajuste dos parâmetros conforme o experimento desejado.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3. go — </a:t>
              </a:r>
              <a:r>
                <a:rPr b="0">
                  <a:solidFill>
                    <a:srgbClr val="333333"/>
                  </a:solidFill>
                </a:rPr>
                <a:t>inicia o ciclo percepção → interpretação → decisão → execução a cada tick.</a:t>
              </a:r>
              <a:endParaRPr b="0">
                <a:solidFill>
                  <a:srgbClr val="333333"/>
                </a:solidFill>
              </a:endParaRPr>
            </a:p>
            <a:p>
              <a:pPr>
                <a:spcBef>
                  <a:spcPts val="800"/>
                </a:spcBef>
                <a:defRPr b="1" sz="1300">
                  <a:solidFill>
                    <a:srgbClr val="C0392B"/>
                  </a:solidFill>
                </a:defRPr>
              </a:pPr>
              <a:r>
                <a:t>4. Acompanhamento — </a:t>
              </a:r>
              <a:r>
                <a:rPr b="0">
                  <a:solidFill>
                    <a:srgbClr val="333333"/>
                  </a:solidFill>
                </a:rPr>
                <a:t>TET, taxa de sobrevivência, saúde média e gráficos atualizados em tempo real.</a:t>
              </a:r>
            </a:p>
          </p:txBody>
        </p:sp>
      </p:grpSp>
      <p:grpSp>
        <p:nvGrpSpPr>
          <p:cNvPr id="180" name="CardParametros"/>
          <p:cNvGrpSpPr/>
          <p:nvPr/>
        </p:nvGrpSpPr>
        <p:grpSpPr>
          <a:xfrm>
            <a:off x="6246000" y="1899999"/>
            <a:ext cx="5246001" cy="4400001"/>
            <a:chOff x="0" y="0"/>
            <a:chExt cx="5245999" cy="4400000"/>
          </a:xfrm>
        </p:grpSpPr>
        <p:sp>
          <p:nvSpPr>
            <p:cNvPr id="178" name="Retângulo Arredondado"/>
            <p:cNvSpPr/>
            <p:nvPr/>
          </p:nvSpPr>
          <p:spPr>
            <a:xfrm>
              <a:off x="0" y="0"/>
              <a:ext cx="5246000" cy="4400001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179" name="Parâmetros ajustáveis…"/>
            <p:cNvSpPr txBox="1"/>
            <p:nvPr/>
          </p:nvSpPr>
          <p:spPr>
            <a:xfrm>
              <a:off x="51549" y="51548"/>
              <a:ext cx="5142902" cy="255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88000" tIns="288000" rIns="288000" bIns="288000" numCol="1" anchor="t">
              <a:spAutoFit/>
            </a:bodyPr>
            <a:lstStyle/>
            <a:p>
              <a:pPr>
                <a:defRPr b="1" sz="1700">
                  <a:solidFill>
                    <a:srgbClr val="163E64"/>
                  </a:solidFill>
                </a:defRPr>
              </a:pPr>
              <a:r>
                <a:t>Parâmetros ajustáveis</a:t>
              </a:r>
            </a:p>
            <a:p>
              <a:pPr marL="228600" indent="-228600">
                <a:spcBef>
                  <a:spcPts val="10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 — </a:t>
              </a:r>
              <a:r>
                <a:rPr b="0"/>
                <a:t>andar e célula de origem.</a:t>
              </a:r>
              <a:endParaRPr b="0"/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Nº de ocupantes </a:t>
              </a:r>
              <a:r>
                <a:rPr b="0"/>
                <a:t>e proporção de perfis.</a:t>
              </a:r>
              <a:endParaRPr b="0"/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λ </a:t>
              </a:r>
              <a:r>
                <a:rPr b="0"/>
                <a:t>— influência da fumaça na velocidade.</a:t>
              </a:r>
              <a:endParaRPr b="0"/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γ </a:t>
              </a:r>
              <a:r>
                <a:rPr b="0"/>
                <a:t>— efeito da fadiga acumulada.</a:t>
              </a:r>
              <a:endParaRPr b="0"/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</a:t>
              </a:r>
              <a:r>
                <a:rPr b="0"/>
                <a:t>— sensibilidade da saúde ao FED.</a:t>
              </a:r>
              <a:endParaRPr b="0"/>
            </a:p>
            <a:p>
              <a:pPr marL="228600" indent="-228600">
                <a:spcBef>
                  <a:spcPts val="6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Velocidade de propagação </a:t>
              </a:r>
              <a:r>
                <a:rPr b="0"/>
                <a:t>do fogo e da fumaça.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ulo"/>
          <p:cNvSpPr txBox="1"/>
          <p:nvPr/>
        </p:nvSpPr>
        <p:spPr>
          <a:xfrm>
            <a:off x="745719" y="800000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5.2. Visão Geral dos Cenários</a:t>
            </a:r>
          </a:p>
        </p:txBody>
      </p:sp>
      <p:sp>
        <p:nvSpPr>
          <p:cNvPr id="183" name="Subtitulo"/>
          <p:cNvSpPr txBox="1"/>
          <p:nvPr/>
        </p:nvSpPr>
        <p:spPr>
          <a:xfrm>
            <a:off x="745719" y="131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Cinco execuções com focos, perfis e toxicidade distintos — do caso de referência ao pior caso.</a:t>
            </a:r>
          </a:p>
        </p:txBody>
      </p:sp>
      <p:graphicFrame>
        <p:nvGraphicFramePr>
          <p:cNvPr id="184" name="TabelaCenarios"/>
          <p:cNvGraphicFramePr/>
          <p:nvPr/>
        </p:nvGraphicFramePr>
        <p:xfrm>
          <a:off x="700000" y="2050000"/>
          <a:ext cx="10792001" cy="3470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2600000"/>
                <a:gridCol w="1740000"/>
                <a:gridCol w="1150000"/>
                <a:gridCol w="1100000"/>
                <a:gridCol w="1450000"/>
                <a:gridCol w="1140000"/>
                <a:gridCol w="1612000"/>
              </a:tblGrid>
              <a:tr h="47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Ocupantes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Foco (andar)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TET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Evacuados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Mortos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Sobrev.</a:t>
                      </a:r>
                    </a:p>
                  </a:txBody>
                  <a:tcPr marL="36576" marR="36576" marT="36576" marB="3657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63E6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F3A5F"/>
                          </a:solidFill>
                        </a:rPr>
                        <a:t>1 — Base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300 · 15%/5%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288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253 / 300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47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5B8C3E"/>
                          </a:solidFill>
                        </a:rPr>
                        <a:t>84,3%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12700">
                      <a:miter lim="400000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F3A5F"/>
                          </a:solidFill>
                        </a:rPr>
                        <a:t>2 — Topo, pop. vulnerável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300 · 40%/15%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318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284 / 300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16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C5F2D"/>
                          </a:solidFill>
                        </a:rPr>
                        <a:t>94,7%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F3A5F"/>
                          </a:solidFill>
                        </a:rPr>
                        <a:t>3 — Ambiente tóxico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300 · 10%/5%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161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178 / 300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122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59,3%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F3A5F"/>
                          </a:solidFill>
                        </a:rPr>
                        <a:t>4 — Pânico e congestão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540 · 20%/10%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589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478 / 540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62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C5F2D"/>
                          </a:solidFill>
                        </a:rPr>
                        <a:t>88,5%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F3A5F"/>
                          </a:solidFill>
                        </a:rPr>
                        <a:t>5 — Catástrofe total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540 · 50%/20%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258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333333"/>
                          </a:solidFill>
                        </a:rPr>
                        <a:t>230 / 540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310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C0392B"/>
                          </a:solidFill>
                        </a:rPr>
                        <a:t>42,6%</a:t>
                      </a:r>
                    </a:p>
                  </a:txBody>
                  <a:tcPr marL="36576" marR="36576" marT="36576" marB="36576" anchor="ctr" anchorCtr="0" horzOverflow="overflow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Nota"/>
          <p:cNvSpPr txBox="1"/>
          <p:nvPr/>
        </p:nvSpPr>
        <p:spPr>
          <a:xfrm>
            <a:off x="745719" y="5619999"/>
            <a:ext cx="107005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100">
                <a:solidFill>
                  <a:srgbClr val="595959"/>
                </a:solidFill>
              </a:defRPr>
            </a:lvl1pPr>
          </a:lstStyle>
          <a:p>
            <a:pPr/>
            <a:r>
              <a:t>Ocupantes: total · % idosos / % PcD. Todos com 9273 células úteis e 0 inalcançáveis no BFS. Demais parâmetros detalhados nos slides seguintes.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ulo"/>
          <p:cNvSpPr txBox="1"/>
          <p:nvPr/>
        </p:nvSpPr>
        <p:spPr>
          <a:xfrm>
            <a:off x="745719" y="759999"/>
            <a:ext cx="1070056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163E64"/>
                </a:solidFill>
              </a:defRPr>
            </a:lvl1pPr>
          </a:lstStyle>
          <a:p>
            <a:pPr/>
            <a:r>
              <a:t>5.3. Cenário 1 — Base</a:t>
            </a:r>
          </a:p>
        </p:txBody>
      </p:sp>
      <p:sp>
        <p:nvSpPr>
          <p:cNvPr id="188" name="Subtitulo"/>
          <p:cNvSpPr txBox="1"/>
          <p:nvPr/>
        </p:nvSpPr>
        <p:spPr>
          <a:xfrm>
            <a:off x="745719" y="1300000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Configuração padrão equilibrada; serve de referência para comparar os demais.</a:t>
            </a:r>
          </a:p>
        </p:txBody>
      </p:sp>
      <p:grpSp>
        <p:nvGrpSpPr>
          <p:cNvPr id="191" name="Config"/>
          <p:cNvGrpSpPr/>
          <p:nvPr/>
        </p:nvGrpSpPr>
        <p:grpSpPr>
          <a:xfrm>
            <a:off x="700000" y="1980000"/>
            <a:ext cx="5246000" cy="3540000"/>
            <a:chOff x="0" y="0"/>
            <a:chExt cx="5245999" cy="3539999"/>
          </a:xfrm>
        </p:grpSpPr>
        <p:sp>
          <p:nvSpPr>
            <p:cNvPr id="189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190" name="Configuração do experimento…"/>
            <p:cNvSpPr txBox="1"/>
            <p:nvPr/>
          </p:nvSpPr>
          <p:spPr>
            <a:xfrm>
              <a:off x="53472" y="41473"/>
              <a:ext cx="5139056" cy="237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Configuração do experimento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Ocupantes: </a:t>
              </a:r>
              <a:r>
                <a:rPr b="0"/>
                <a:t>300 ocupantes — 15% idosos, 5% PcD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incêndio: </a:t>
              </a:r>
              <a:r>
                <a:rPr b="0"/>
                <a:t>Andar 5 (intermediário-baixo)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Comportamento: </a:t>
              </a:r>
              <a:r>
                <a:rPr b="0"/>
                <a:t>λ 1,5 · γ 0,40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Pesos (fumaça/calor/congestão): </a:t>
              </a:r>
              <a:r>
                <a:rPr b="0"/>
                <a:t>20 / 15 / 3,0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FED CO/CO₂/calor: </a:t>
              </a:r>
              <a:r>
                <a:rPr b="0"/>
                <a:t>0,003 / 0,002 / 0,004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(saúde): </a:t>
              </a:r>
              <a:r>
                <a:rPr b="0"/>
                <a:t>1,00</a:t>
              </a:r>
            </a:p>
          </p:txBody>
        </p:sp>
      </p:grpSp>
      <p:grpSp>
        <p:nvGrpSpPr>
          <p:cNvPr id="194" name="Result"/>
          <p:cNvGrpSpPr/>
          <p:nvPr/>
        </p:nvGrpSpPr>
        <p:grpSpPr>
          <a:xfrm>
            <a:off x="6246000" y="1980000"/>
            <a:ext cx="5246001" cy="3540000"/>
            <a:chOff x="0" y="0"/>
            <a:chExt cx="5245999" cy="3539999"/>
          </a:xfrm>
        </p:grpSpPr>
        <p:sp>
          <p:nvSpPr>
            <p:cNvPr id="192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193" name="Resultados…"/>
            <p:cNvSpPr txBox="1"/>
            <p:nvPr/>
          </p:nvSpPr>
          <p:spPr>
            <a:xfrm>
              <a:off x="53472" y="41473"/>
              <a:ext cx="5139056" cy="2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Resultados</a:t>
              </a:r>
            </a:p>
            <a:p>
              <a:pPr>
                <a:spcBef>
                  <a:spcPts val="900"/>
                </a:spcBef>
                <a:defRPr sz="1400">
                  <a:solidFill>
                    <a:srgbClr val="333333"/>
                  </a:solidFill>
                </a:defRPr>
              </a:pPr>
              <a:r>
                <a:t>Sobrevivência:  </a:t>
              </a:r>
              <a:r>
                <a:rPr b="1" sz="2200">
                  <a:solidFill>
                    <a:srgbClr val="5B8C3E"/>
                  </a:solidFill>
                </a:rPr>
                <a:t>84,33%</a:t>
              </a:r>
              <a:endParaRPr b="1" sz="2200">
                <a:solidFill>
                  <a:srgbClr val="5B8C3E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Evacuados:  </a:t>
              </a:r>
              <a:r>
                <a:rPr b="1">
                  <a:solidFill>
                    <a:srgbClr val="1F3A5F"/>
                  </a:solidFill>
                </a:rPr>
                <a:t>253 / 300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Mortos:  </a:t>
              </a:r>
              <a:r>
                <a:rPr b="1">
                  <a:solidFill>
                    <a:srgbClr val="C0392B"/>
                  </a:solidFill>
                </a:rPr>
                <a:t>47</a:t>
              </a:r>
              <a:endParaRPr b="1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TET:  </a:t>
              </a:r>
              <a:r>
                <a:rPr b="1">
                  <a:solidFill>
                    <a:srgbClr val="1F3A5F"/>
                  </a:solidFill>
                </a:rPr>
                <a:t>288 ticks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Saúde média dos sobreviventes:  </a:t>
              </a:r>
              <a:r>
                <a:rPr b="1">
                  <a:solidFill>
                    <a:srgbClr val="1F3A5F"/>
                  </a:solidFill>
                </a:rPr>
                <a:t>0,887</a:t>
              </a:r>
            </a:p>
          </p:txBody>
        </p:sp>
      </p:grpSp>
      <p:sp>
        <p:nvSpPr>
          <p:cNvPr id="195" name="Leitura"/>
          <p:cNvSpPr txBox="1"/>
          <p:nvPr/>
        </p:nvSpPr>
        <p:spPr>
          <a:xfrm>
            <a:off x="745719" y="5639999"/>
            <a:ext cx="107005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200">
                <a:solidFill>
                  <a:srgbClr val="C0392B"/>
                </a:solidFill>
              </a:defRPr>
            </a:pPr>
            <a:r>
              <a:t>Leitura:  </a:t>
            </a:r>
            <a:r>
              <a:rPr b="0">
                <a:solidFill>
                  <a:srgbClr val="595959"/>
                </a:solidFill>
              </a:rPr>
              <a:t>Referência do modelo: evacuação ordenada, perdas moderadas concentradas perto do foco.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ulo"/>
          <p:cNvSpPr txBox="1"/>
          <p:nvPr/>
        </p:nvSpPr>
        <p:spPr>
          <a:xfrm>
            <a:off x="745719" y="759999"/>
            <a:ext cx="1070056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163E64"/>
                </a:solidFill>
              </a:defRPr>
            </a:lvl1pPr>
          </a:lstStyle>
          <a:p>
            <a:pPr/>
            <a:r>
              <a:t>5.4. Cenário 2 — Fogo no topo, população vulnerável</a:t>
            </a:r>
          </a:p>
        </p:txBody>
      </p:sp>
      <p:sp>
        <p:nvSpPr>
          <p:cNvPr id="198" name="Subtitulo"/>
          <p:cNvSpPr txBox="1"/>
          <p:nvPr/>
        </p:nvSpPr>
        <p:spPr>
          <a:xfrm>
            <a:off x="745719" y="1300000"/>
            <a:ext cx="1070056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Fogo no andar mais alto com muitos idosos e PcD: evacuação longa com população lenta e toxicidade moderadamente elevada.</a:t>
            </a:r>
          </a:p>
        </p:txBody>
      </p:sp>
      <p:grpSp>
        <p:nvGrpSpPr>
          <p:cNvPr id="201" name="Config"/>
          <p:cNvGrpSpPr/>
          <p:nvPr/>
        </p:nvGrpSpPr>
        <p:grpSpPr>
          <a:xfrm>
            <a:off x="700000" y="1980000"/>
            <a:ext cx="5246000" cy="3540000"/>
            <a:chOff x="0" y="0"/>
            <a:chExt cx="5245999" cy="3539999"/>
          </a:xfrm>
        </p:grpSpPr>
        <p:sp>
          <p:nvSpPr>
            <p:cNvPr id="199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200" name="Configuração do experimento…"/>
            <p:cNvSpPr txBox="1"/>
            <p:nvPr/>
          </p:nvSpPr>
          <p:spPr>
            <a:xfrm>
              <a:off x="53472" y="41473"/>
              <a:ext cx="5139056" cy="237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Configuração do experimento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Ocupantes: </a:t>
              </a:r>
              <a:r>
                <a:rPr b="0"/>
                <a:t>300 ocupantes — 40% idosos, 15% PcD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incêndio: </a:t>
              </a:r>
              <a:r>
                <a:rPr b="0"/>
                <a:t>Andar 25 (alto)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Comportamento: </a:t>
              </a:r>
              <a:r>
                <a:rPr b="0"/>
                <a:t>λ 2,0 · γ 0,60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Pesos (fumaça/calor/congestão): </a:t>
              </a:r>
              <a:r>
                <a:rPr b="0"/>
                <a:t>30 / 25 / 5,0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FED CO/CO₂/calor: </a:t>
              </a:r>
              <a:r>
                <a:rPr b="0"/>
                <a:t>0,004 / 0,003 / 0,005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(saúde): </a:t>
              </a:r>
              <a:r>
                <a:rPr b="0"/>
                <a:t>1,25</a:t>
              </a:r>
            </a:p>
          </p:txBody>
        </p:sp>
      </p:grpSp>
      <p:grpSp>
        <p:nvGrpSpPr>
          <p:cNvPr id="204" name="Result"/>
          <p:cNvGrpSpPr/>
          <p:nvPr/>
        </p:nvGrpSpPr>
        <p:grpSpPr>
          <a:xfrm>
            <a:off x="6246000" y="1980000"/>
            <a:ext cx="5246001" cy="3540000"/>
            <a:chOff x="0" y="0"/>
            <a:chExt cx="5245999" cy="3539999"/>
          </a:xfrm>
        </p:grpSpPr>
        <p:sp>
          <p:nvSpPr>
            <p:cNvPr id="202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203" name="Resultados…"/>
            <p:cNvSpPr txBox="1"/>
            <p:nvPr/>
          </p:nvSpPr>
          <p:spPr>
            <a:xfrm>
              <a:off x="53472" y="41473"/>
              <a:ext cx="5139056" cy="2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Resultados</a:t>
              </a:r>
            </a:p>
            <a:p>
              <a:pPr>
                <a:spcBef>
                  <a:spcPts val="900"/>
                </a:spcBef>
                <a:defRPr sz="1400">
                  <a:solidFill>
                    <a:srgbClr val="333333"/>
                  </a:solidFill>
                </a:defRPr>
              </a:pPr>
              <a:r>
                <a:t>Sobrevivência:  </a:t>
              </a:r>
              <a:r>
                <a:rPr b="1" sz="2200">
                  <a:solidFill>
                    <a:srgbClr val="2C5F2D"/>
                  </a:solidFill>
                </a:rPr>
                <a:t>94,67%</a:t>
              </a:r>
              <a:endParaRPr b="1" sz="2200">
                <a:solidFill>
                  <a:srgbClr val="2C5F2D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Evacuados:  </a:t>
              </a:r>
              <a:r>
                <a:rPr b="1">
                  <a:solidFill>
                    <a:srgbClr val="1F3A5F"/>
                  </a:solidFill>
                </a:rPr>
                <a:t>284 / 300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Mortos:  </a:t>
              </a:r>
              <a:r>
                <a:rPr b="1">
                  <a:solidFill>
                    <a:srgbClr val="C0392B"/>
                  </a:solidFill>
                </a:rPr>
                <a:t>16</a:t>
              </a:r>
              <a:endParaRPr b="1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TET:  </a:t>
              </a:r>
              <a:r>
                <a:rPr b="1">
                  <a:solidFill>
                    <a:srgbClr val="1F3A5F"/>
                  </a:solidFill>
                </a:rPr>
                <a:t>318 ticks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Saúde média dos sobreviventes:  </a:t>
              </a:r>
              <a:r>
                <a:rPr b="1">
                  <a:solidFill>
                    <a:srgbClr val="1F3A5F"/>
                  </a:solidFill>
                </a:rPr>
                <a:t>0,986</a:t>
              </a:r>
            </a:p>
          </p:txBody>
        </p:sp>
      </p:grpSp>
      <p:sp>
        <p:nvSpPr>
          <p:cNvPr id="205" name="Leitura"/>
          <p:cNvSpPr txBox="1"/>
          <p:nvPr/>
        </p:nvSpPr>
        <p:spPr>
          <a:xfrm>
            <a:off x="745719" y="5639999"/>
            <a:ext cx="107005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200">
                <a:solidFill>
                  <a:srgbClr val="C0392B"/>
                </a:solidFill>
              </a:defRPr>
            </a:pPr>
            <a:r>
              <a:t>Leitura:  </a:t>
            </a:r>
            <a:r>
              <a:rPr b="0">
                <a:solidFill>
                  <a:srgbClr val="595959"/>
                </a:solidFill>
              </a:rPr>
              <a:t>Foco alto afasta a fumaça da rota de fuga: apesar da população lenta, a sobrevivência é a maior das cinco.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ulo"/>
          <p:cNvSpPr txBox="1"/>
          <p:nvPr/>
        </p:nvSpPr>
        <p:spPr>
          <a:xfrm>
            <a:off x="745719" y="759999"/>
            <a:ext cx="1070056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163E64"/>
                </a:solidFill>
              </a:defRPr>
            </a:lvl1pPr>
          </a:lstStyle>
          <a:p>
            <a:pPr/>
            <a:r>
              <a:t>5.5. Cenário 3 — Ambiente tóxico</a:t>
            </a:r>
          </a:p>
        </p:txBody>
      </p:sp>
      <p:sp>
        <p:nvSpPr>
          <p:cNvPr id="208" name="Subtitulo"/>
          <p:cNvSpPr txBox="1"/>
          <p:nvPr/>
        </p:nvSpPr>
        <p:spPr>
          <a:xfrm>
            <a:off x="745719" y="1300000"/>
            <a:ext cx="1070056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Fogo no meio do edifício com gases muito mais letais e fumaça densa. Poucos ocupantes, mas ambiente extremamente hostil.</a:t>
            </a:r>
          </a:p>
        </p:txBody>
      </p:sp>
      <p:grpSp>
        <p:nvGrpSpPr>
          <p:cNvPr id="211" name="Config"/>
          <p:cNvGrpSpPr/>
          <p:nvPr/>
        </p:nvGrpSpPr>
        <p:grpSpPr>
          <a:xfrm>
            <a:off x="700000" y="1980000"/>
            <a:ext cx="5246000" cy="3540000"/>
            <a:chOff x="0" y="0"/>
            <a:chExt cx="5245999" cy="3539999"/>
          </a:xfrm>
        </p:grpSpPr>
        <p:sp>
          <p:nvSpPr>
            <p:cNvPr id="209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210" name="Configuração do experimento…"/>
            <p:cNvSpPr txBox="1"/>
            <p:nvPr/>
          </p:nvSpPr>
          <p:spPr>
            <a:xfrm>
              <a:off x="53472" y="41473"/>
              <a:ext cx="5139056" cy="237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Configuração do experimento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Ocupantes: </a:t>
              </a:r>
              <a:r>
                <a:rPr b="0"/>
                <a:t>300 ocupantes — 10% idosos, 5% PcD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incêndio: </a:t>
              </a:r>
              <a:r>
                <a:rPr b="0"/>
                <a:t>Andar 15 (central)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Comportamento: </a:t>
              </a:r>
              <a:r>
                <a:rPr b="0"/>
                <a:t>λ 2,5 · γ 0,50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Pesos (fumaça/calor/congestão): </a:t>
              </a:r>
              <a:r>
                <a:rPr b="0"/>
                <a:t>40 / 35 / 3,0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FED CO/CO₂/calor: </a:t>
              </a:r>
              <a:r>
                <a:rPr b="0"/>
                <a:t>0,006 / 0,005 / 0,008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(saúde): </a:t>
              </a:r>
              <a:r>
                <a:rPr b="0"/>
                <a:t>1,50</a:t>
              </a:r>
            </a:p>
          </p:txBody>
        </p:sp>
      </p:grpSp>
      <p:grpSp>
        <p:nvGrpSpPr>
          <p:cNvPr id="214" name="Result"/>
          <p:cNvGrpSpPr/>
          <p:nvPr/>
        </p:nvGrpSpPr>
        <p:grpSpPr>
          <a:xfrm>
            <a:off x="6246000" y="1980000"/>
            <a:ext cx="5246001" cy="3540000"/>
            <a:chOff x="0" y="0"/>
            <a:chExt cx="5245999" cy="3539999"/>
          </a:xfrm>
        </p:grpSpPr>
        <p:sp>
          <p:nvSpPr>
            <p:cNvPr id="212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BEDE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213" name="Resultados…"/>
            <p:cNvSpPr txBox="1"/>
            <p:nvPr/>
          </p:nvSpPr>
          <p:spPr>
            <a:xfrm>
              <a:off x="53472" y="41473"/>
              <a:ext cx="5139056" cy="2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Resultados</a:t>
              </a:r>
            </a:p>
            <a:p>
              <a:pPr>
                <a:spcBef>
                  <a:spcPts val="900"/>
                </a:spcBef>
                <a:defRPr sz="1400">
                  <a:solidFill>
                    <a:srgbClr val="333333"/>
                  </a:solidFill>
                </a:defRPr>
              </a:pPr>
              <a:r>
                <a:t>Sobrevivência:  </a:t>
              </a:r>
              <a:r>
                <a:rPr b="1" sz="2200">
                  <a:solidFill>
                    <a:srgbClr val="C0392B"/>
                  </a:solidFill>
                </a:rPr>
                <a:t>59,33%</a:t>
              </a:r>
              <a:endParaRPr b="1" sz="2200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Evacuados:  </a:t>
              </a:r>
              <a:r>
                <a:rPr b="1">
                  <a:solidFill>
                    <a:srgbClr val="1F3A5F"/>
                  </a:solidFill>
                </a:rPr>
                <a:t>178 / 300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Mortos:  </a:t>
              </a:r>
              <a:r>
                <a:rPr b="1">
                  <a:solidFill>
                    <a:srgbClr val="C0392B"/>
                  </a:solidFill>
                </a:rPr>
                <a:t>122</a:t>
              </a:r>
              <a:endParaRPr b="1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TET:  </a:t>
              </a:r>
              <a:r>
                <a:rPr b="1">
                  <a:solidFill>
                    <a:srgbClr val="1F3A5F"/>
                  </a:solidFill>
                </a:rPr>
                <a:t>161 ticks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Saúde média dos sobreviventes:  </a:t>
              </a:r>
              <a:r>
                <a:rPr b="1">
                  <a:solidFill>
                    <a:srgbClr val="1F3A5F"/>
                  </a:solidFill>
                </a:rPr>
                <a:t>0,964</a:t>
              </a:r>
            </a:p>
          </p:txBody>
        </p:sp>
      </p:grpSp>
      <p:sp>
        <p:nvSpPr>
          <p:cNvPr id="215" name="Leitura"/>
          <p:cNvSpPr txBox="1"/>
          <p:nvPr/>
        </p:nvSpPr>
        <p:spPr>
          <a:xfrm>
            <a:off x="745719" y="5639999"/>
            <a:ext cx="107005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200">
                <a:solidFill>
                  <a:srgbClr val="C0392B"/>
                </a:solidFill>
              </a:defRPr>
            </a:pPr>
            <a:r>
              <a:t>Leitura:  </a:t>
            </a:r>
            <a:r>
              <a:rPr b="0">
                <a:solidFill>
                  <a:srgbClr val="595959"/>
                </a:solidFill>
              </a:rPr>
              <a:t>A toxicidade elevada mata rápido: TET curto não é bom sinal — muitos morrem antes de alcançar a saída.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ulo"/>
          <p:cNvSpPr txBox="1"/>
          <p:nvPr/>
        </p:nvSpPr>
        <p:spPr>
          <a:xfrm>
            <a:off x="745719" y="759999"/>
            <a:ext cx="1070056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163E64"/>
                </a:solidFill>
              </a:defRPr>
            </a:lvl1pPr>
          </a:lstStyle>
          <a:p>
            <a:pPr/>
            <a:r>
              <a:t>5.6. Cenário 4 — Pânico e congestão</a:t>
            </a:r>
          </a:p>
        </p:txBody>
      </p:sp>
      <p:sp>
        <p:nvSpPr>
          <p:cNvPr id="218" name="Subtitulo"/>
          <p:cNvSpPr txBox="1"/>
          <p:nvPr/>
        </p:nvSpPr>
        <p:spPr>
          <a:xfrm>
            <a:off x="745719" y="1300000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Edifício superlotado com fogo no meio; peso de congestão alto simula comportamento de pânico e gargalo nas escadas.</a:t>
            </a:r>
          </a:p>
        </p:txBody>
      </p:sp>
      <p:grpSp>
        <p:nvGrpSpPr>
          <p:cNvPr id="221" name="Config"/>
          <p:cNvGrpSpPr/>
          <p:nvPr/>
        </p:nvGrpSpPr>
        <p:grpSpPr>
          <a:xfrm>
            <a:off x="700000" y="1980000"/>
            <a:ext cx="5246000" cy="3540000"/>
            <a:chOff x="0" y="0"/>
            <a:chExt cx="5245999" cy="3539999"/>
          </a:xfrm>
        </p:grpSpPr>
        <p:sp>
          <p:nvSpPr>
            <p:cNvPr id="219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220" name="Configuração do experimento…"/>
            <p:cNvSpPr txBox="1"/>
            <p:nvPr/>
          </p:nvSpPr>
          <p:spPr>
            <a:xfrm>
              <a:off x="53472" y="41473"/>
              <a:ext cx="5139056" cy="237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Configuração do experimento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Ocupantes: </a:t>
              </a:r>
              <a:r>
                <a:rPr b="0"/>
                <a:t>540 ocupantes — 20% idosos, 10% PcD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incêndio: </a:t>
              </a:r>
              <a:r>
                <a:rPr b="0"/>
                <a:t>Andar 10 (intermediário-baixo)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Comportamento: </a:t>
              </a:r>
              <a:r>
                <a:rPr b="0"/>
                <a:t>λ 3,0 · γ 0,80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Pesos (fumaça/calor/congestão): </a:t>
              </a:r>
              <a:r>
                <a:rPr b="0"/>
                <a:t>15 / 10 / 10,0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FED CO/CO₂/calor: </a:t>
              </a:r>
              <a:r>
                <a:rPr b="0"/>
                <a:t>0,003 / 0,002 / 0,004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(saúde): </a:t>
              </a:r>
              <a:r>
                <a:rPr b="0"/>
                <a:t>1,00</a:t>
              </a:r>
            </a:p>
          </p:txBody>
        </p:sp>
      </p:grpSp>
      <p:grpSp>
        <p:nvGrpSpPr>
          <p:cNvPr id="224" name="Result"/>
          <p:cNvGrpSpPr/>
          <p:nvPr/>
        </p:nvGrpSpPr>
        <p:grpSpPr>
          <a:xfrm>
            <a:off x="6246000" y="1980000"/>
            <a:ext cx="5246001" cy="3540000"/>
            <a:chOff x="0" y="0"/>
            <a:chExt cx="5245999" cy="3539999"/>
          </a:xfrm>
        </p:grpSpPr>
        <p:sp>
          <p:nvSpPr>
            <p:cNvPr id="222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EAF3E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223" name="Resultados…"/>
            <p:cNvSpPr txBox="1"/>
            <p:nvPr/>
          </p:nvSpPr>
          <p:spPr>
            <a:xfrm>
              <a:off x="53472" y="41473"/>
              <a:ext cx="5139056" cy="2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Resultados</a:t>
              </a:r>
            </a:p>
            <a:p>
              <a:pPr>
                <a:spcBef>
                  <a:spcPts val="900"/>
                </a:spcBef>
                <a:defRPr sz="1400">
                  <a:solidFill>
                    <a:srgbClr val="333333"/>
                  </a:solidFill>
                </a:defRPr>
              </a:pPr>
              <a:r>
                <a:t>Sobrevivência:  </a:t>
              </a:r>
              <a:r>
                <a:rPr b="1" sz="2200">
                  <a:solidFill>
                    <a:srgbClr val="2C5F2D"/>
                  </a:solidFill>
                </a:rPr>
                <a:t>88,52%</a:t>
              </a:r>
              <a:endParaRPr b="1" sz="2200">
                <a:solidFill>
                  <a:srgbClr val="2C5F2D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Evacuados:  </a:t>
              </a:r>
              <a:r>
                <a:rPr b="1">
                  <a:solidFill>
                    <a:srgbClr val="1F3A5F"/>
                  </a:solidFill>
                </a:rPr>
                <a:t>478 / 540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Mortos:  </a:t>
              </a:r>
              <a:r>
                <a:rPr b="1">
                  <a:solidFill>
                    <a:srgbClr val="C0392B"/>
                  </a:solidFill>
                </a:rPr>
                <a:t>62</a:t>
              </a:r>
              <a:endParaRPr b="1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TET:  </a:t>
              </a:r>
              <a:r>
                <a:rPr b="1">
                  <a:solidFill>
                    <a:srgbClr val="1F3A5F"/>
                  </a:solidFill>
                </a:rPr>
                <a:t>589 ticks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Saúde média dos sobreviventes:  </a:t>
              </a:r>
              <a:r>
                <a:rPr b="1">
                  <a:solidFill>
                    <a:srgbClr val="1F3A5F"/>
                  </a:solidFill>
                </a:rPr>
                <a:t>0,974</a:t>
              </a:r>
            </a:p>
          </p:txBody>
        </p:sp>
      </p:grpSp>
      <p:sp>
        <p:nvSpPr>
          <p:cNvPr id="225" name="Leitura"/>
          <p:cNvSpPr txBox="1"/>
          <p:nvPr/>
        </p:nvSpPr>
        <p:spPr>
          <a:xfrm>
            <a:off x="745719" y="5639999"/>
            <a:ext cx="107005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200">
                <a:solidFill>
                  <a:srgbClr val="C0392B"/>
                </a:solidFill>
              </a:defRPr>
            </a:pPr>
            <a:r>
              <a:t>Leitura:  </a:t>
            </a:r>
            <a:r>
              <a:rPr b="0">
                <a:solidFill>
                  <a:srgbClr val="595959"/>
                </a:solidFill>
              </a:rPr>
              <a:t>O gargalo nas escadas dispara o TET (o maior dos cinco), mas a baixa toxicidade preserva a maioria com vida.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ulo"/>
          <p:cNvSpPr txBox="1"/>
          <p:nvPr/>
        </p:nvSpPr>
        <p:spPr>
          <a:xfrm>
            <a:off x="745719" y="759999"/>
            <a:ext cx="10700562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163E64"/>
                </a:solidFill>
              </a:defRPr>
            </a:lvl1pPr>
          </a:lstStyle>
          <a:p>
            <a:pPr/>
            <a:r>
              <a:t>5.7. Cenário 5 — Catástrofe total</a:t>
            </a:r>
          </a:p>
        </p:txBody>
      </p:sp>
      <p:sp>
        <p:nvSpPr>
          <p:cNvPr id="228" name="Subtitulo"/>
          <p:cNvSpPr txBox="1"/>
          <p:nvPr/>
        </p:nvSpPr>
        <p:spPr>
          <a:xfrm>
            <a:off x="745719" y="1300000"/>
            <a:ext cx="1070056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Fogo no andar alto, população máxima com 50% de idosos e 20% de PcD, toxicidade máxima e fadiga intensa: pior caso do modelo.</a:t>
            </a:r>
          </a:p>
        </p:txBody>
      </p:sp>
      <p:grpSp>
        <p:nvGrpSpPr>
          <p:cNvPr id="231" name="Config"/>
          <p:cNvGrpSpPr/>
          <p:nvPr/>
        </p:nvGrpSpPr>
        <p:grpSpPr>
          <a:xfrm>
            <a:off x="700000" y="1980000"/>
            <a:ext cx="5246000" cy="3540000"/>
            <a:chOff x="0" y="0"/>
            <a:chExt cx="5245999" cy="3539999"/>
          </a:xfrm>
        </p:grpSpPr>
        <p:sp>
          <p:nvSpPr>
            <p:cNvPr id="229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500"/>
                </a:spcBef>
              </a:pPr>
            </a:p>
          </p:txBody>
        </p:sp>
        <p:sp>
          <p:nvSpPr>
            <p:cNvPr id="230" name="Configuração do experimento…"/>
            <p:cNvSpPr txBox="1"/>
            <p:nvPr/>
          </p:nvSpPr>
          <p:spPr>
            <a:xfrm>
              <a:off x="53472" y="41473"/>
              <a:ext cx="5139056" cy="237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Configuração do experimento</a:t>
              </a:r>
            </a:p>
            <a:p>
              <a:pPr marL="228600" indent="-228600">
                <a:spcBef>
                  <a:spcPts val="9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Ocupantes: </a:t>
              </a:r>
              <a:r>
                <a:rPr b="0"/>
                <a:t>540 ocupantes — 50% idosos, 20% PcD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Foco do incêndio: </a:t>
              </a:r>
              <a:r>
                <a:rPr b="0"/>
                <a:t>Andar 12 (central-alto)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Comportamento: </a:t>
              </a:r>
              <a:r>
                <a:rPr b="0"/>
                <a:t>λ 3,0 · γ 1,00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Pesos (fumaça/calor/congestão): </a:t>
              </a:r>
              <a:r>
                <a:rPr b="0"/>
                <a:t>50 / 50 / 10,0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FED CO/CO₂/calor: </a:t>
              </a:r>
              <a:r>
                <a:rPr b="0"/>
                <a:t>0,008 / 0,006 / 0,010</a:t>
              </a:r>
              <a:endParaRPr b="0"/>
            </a:p>
            <a:p>
              <a:pPr marL="228600" indent="-228600">
                <a:spcBef>
                  <a:spcPts val="500"/>
                </a:spcBef>
                <a:buSzPct val="100000"/>
                <a:buChar char="•"/>
                <a:defRPr b="1" sz="1300">
                  <a:solidFill>
                    <a:srgbClr val="333333"/>
                  </a:solidFill>
                </a:defRPr>
              </a:pPr>
              <a:r>
                <a:t>β (saúde): </a:t>
              </a:r>
              <a:r>
                <a:rPr b="0"/>
                <a:t>2,00</a:t>
              </a:r>
            </a:p>
          </p:txBody>
        </p:sp>
      </p:grpSp>
      <p:grpSp>
        <p:nvGrpSpPr>
          <p:cNvPr id="234" name="Result"/>
          <p:cNvGrpSpPr/>
          <p:nvPr/>
        </p:nvGrpSpPr>
        <p:grpSpPr>
          <a:xfrm>
            <a:off x="6246000" y="1980000"/>
            <a:ext cx="5246001" cy="3540000"/>
            <a:chOff x="0" y="0"/>
            <a:chExt cx="5245999" cy="3539999"/>
          </a:xfrm>
        </p:grpSpPr>
        <p:sp>
          <p:nvSpPr>
            <p:cNvPr id="232" name="Retângulo Arredondado"/>
            <p:cNvSpPr/>
            <p:nvPr/>
          </p:nvSpPr>
          <p:spPr>
            <a:xfrm>
              <a:off x="0" y="0"/>
              <a:ext cx="5246000" cy="3540000"/>
            </a:xfrm>
            <a:prstGeom prst="roundRect">
              <a:avLst>
                <a:gd name="adj" fmla="val 4000"/>
              </a:avLst>
            </a:prstGeom>
            <a:solidFill>
              <a:srgbClr val="FBEDE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600"/>
                </a:spcBef>
              </a:pPr>
            </a:p>
          </p:txBody>
        </p:sp>
        <p:sp>
          <p:nvSpPr>
            <p:cNvPr id="233" name="Resultados…"/>
            <p:cNvSpPr txBox="1"/>
            <p:nvPr/>
          </p:nvSpPr>
          <p:spPr>
            <a:xfrm>
              <a:off x="53472" y="41473"/>
              <a:ext cx="5139056" cy="2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40000" tIns="240000" rIns="240000" bIns="240000" numCol="1" anchor="t">
              <a:spAutoFit/>
            </a:bodyPr>
            <a:lstStyle/>
            <a:p>
              <a:pPr>
                <a:defRPr b="1" sz="1600">
                  <a:solidFill>
                    <a:srgbClr val="163E64"/>
                  </a:solidFill>
                </a:defRPr>
              </a:pPr>
              <a:r>
                <a:t>Resultados</a:t>
              </a:r>
            </a:p>
            <a:p>
              <a:pPr>
                <a:spcBef>
                  <a:spcPts val="900"/>
                </a:spcBef>
                <a:defRPr sz="1400">
                  <a:solidFill>
                    <a:srgbClr val="333333"/>
                  </a:solidFill>
                </a:defRPr>
              </a:pPr>
              <a:r>
                <a:t>Sobrevivência:  </a:t>
              </a:r>
              <a:r>
                <a:rPr b="1" sz="2200">
                  <a:solidFill>
                    <a:srgbClr val="C0392B"/>
                  </a:solidFill>
                </a:rPr>
                <a:t>42,59%</a:t>
              </a:r>
              <a:endParaRPr b="1" sz="2200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Evacuados:  </a:t>
              </a:r>
              <a:r>
                <a:rPr b="1">
                  <a:solidFill>
                    <a:srgbClr val="1F3A5F"/>
                  </a:solidFill>
                </a:rPr>
                <a:t>230 / 540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Mortos:  </a:t>
              </a:r>
              <a:r>
                <a:rPr b="1">
                  <a:solidFill>
                    <a:srgbClr val="C0392B"/>
                  </a:solidFill>
                </a:rPr>
                <a:t>310</a:t>
              </a:r>
              <a:endParaRPr b="1">
                <a:solidFill>
                  <a:srgbClr val="C0392B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TET:  </a:t>
              </a:r>
              <a:r>
                <a:rPr b="1">
                  <a:solidFill>
                    <a:srgbClr val="1F3A5F"/>
                  </a:solidFill>
                </a:rPr>
                <a:t>258 ticks</a:t>
              </a:r>
              <a:endParaRPr b="1">
                <a:solidFill>
                  <a:srgbClr val="1F3A5F"/>
                </a:solidFill>
              </a:endParaRPr>
            </a:p>
            <a:p>
              <a:pPr>
                <a:spcBef>
                  <a:spcPts val="600"/>
                </a:spcBef>
                <a:defRPr sz="1300">
                  <a:solidFill>
                    <a:srgbClr val="333333"/>
                  </a:solidFill>
                </a:defRPr>
              </a:pPr>
              <a:r>
                <a:t>Saúde média dos sobreviventes:  </a:t>
              </a:r>
              <a:r>
                <a:rPr b="1">
                  <a:solidFill>
                    <a:srgbClr val="1F3A5F"/>
                  </a:solidFill>
                </a:rPr>
                <a:t>0,99</a:t>
              </a:r>
            </a:p>
          </p:txBody>
        </p:sp>
      </p:grpSp>
      <p:sp>
        <p:nvSpPr>
          <p:cNvPr id="235" name="Leitura"/>
          <p:cNvSpPr txBox="1"/>
          <p:nvPr/>
        </p:nvSpPr>
        <p:spPr>
          <a:xfrm>
            <a:off x="745719" y="5639999"/>
            <a:ext cx="107005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1200">
                <a:solidFill>
                  <a:srgbClr val="C0392B"/>
                </a:solidFill>
              </a:defRPr>
            </a:pPr>
            <a:r>
              <a:t>Leitura:  </a:t>
            </a:r>
            <a:r>
              <a:rPr b="0">
                <a:solidFill>
                  <a:srgbClr val="595959"/>
                </a:solidFill>
              </a:rPr>
              <a:t>Toxicidade e fadiga máximas com população lenta: menos da metade sobrevive — o limite crítico do sistema.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ulo"/>
          <p:cNvSpPr txBox="1"/>
          <p:nvPr/>
        </p:nvSpPr>
        <p:spPr>
          <a:xfrm>
            <a:off x="745719" y="759999"/>
            <a:ext cx="1070056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63E64"/>
                </a:solidFill>
              </a:defRPr>
            </a:lvl1pPr>
          </a:lstStyle>
          <a:p>
            <a:pPr/>
            <a:r>
              <a:t>5.8. Comparativo de Resultados</a:t>
            </a:r>
          </a:p>
        </p:txBody>
      </p:sp>
      <p:sp>
        <p:nvSpPr>
          <p:cNvPr id="238" name="Subtitulo"/>
          <p:cNvSpPr txBox="1"/>
          <p:nvPr/>
        </p:nvSpPr>
        <p:spPr>
          <a:xfrm>
            <a:off x="745719" y="1279999"/>
            <a:ext cx="1070056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500">
                <a:solidFill>
                  <a:srgbClr val="595959"/>
                </a:solidFill>
              </a:defRPr>
            </a:lvl1pPr>
          </a:lstStyle>
          <a:p>
            <a:pPr/>
            <a:r>
              <a:t>Síntese das cinco execuções: sobrevivência, mortalidade e tempo de evacuação.</a:t>
            </a:r>
          </a:p>
        </p:txBody>
      </p:sp>
      <p:pic>
        <p:nvPicPr>
          <p:cNvPr id="239" name="GraficoComparativo" descr="GraficoComparativ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5999" y="1860000"/>
            <a:ext cx="9800002" cy="330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2" name="Sintese"/>
          <p:cNvGrpSpPr/>
          <p:nvPr/>
        </p:nvGrpSpPr>
        <p:grpSpPr>
          <a:xfrm>
            <a:off x="700000" y="5300000"/>
            <a:ext cx="10792001" cy="1320001"/>
            <a:chOff x="0" y="0"/>
            <a:chExt cx="10792000" cy="1319999"/>
          </a:xfrm>
        </p:grpSpPr>
        <p:sp>
          <p:nvSpPr>
            <p:cNvPr id="240" name="Retângulo Arredondado"/>
            <p:cNvSpPr/>
            <p:nvPr/>
          </p:nvSpPr>
          <p:spPr>
            <a:xfrm>
              <a:off x="0" y="0"/>
              <a:ext cx="10792001" cy="1320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300"/>
                </a:spcBef>
              </a:pPr>
            </a:p>
          </p:txBody>
        </p:sp>
        <p:sp>
          <p:nvSpPr>
            <p:cNvPr id="241" name="Síntese…"/>
            <p:cNvSpPr txBox="1"/>
            <p:nvPr/>
          </p:nvSpPr>
          <p:spPr>
            <a:xfrm>
              <a:off x="91330" y="19331"/>
              <a:ext cx="10609340" cy="1236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79999" tIns="179999" rIns="179999" bIns="179999" numCol="1" anchor="t">
              <a:spAutoFit/>
            </a:bodyPr>
            <a:lstStyle/>
            <a:p>
              <a:pPr>
                <a:defRPr b="1" sz="1400">
                  <a:solidFill>
                    <a:srgbClr val="163E64"/>
                  </a:solidFill>
                </a:defRPr>
              </a:pPr>
              <a:r>
                <a:t>Síntese</a:t>
              </a:r>
            </a:p>
            <a:p>
              <a:pPr marL="228600" indent="-228600">
                <a:spcBef>
                  <a:spcPts val="400"/>
                </a:spcBef>
                <a:buSzPct val="100000"/>
                <a:buChar char="•"/>
                <a:defRPr b="1" sz="1200">
                  <a:solidFill>
                    <a:srgbClr val="C0392B"/>
                  </a:solidFill>
                </a:defRPr>
              </a:pPr>
              <a:r>
                <a:t>A toxicidade domina a mortalidade — </a:t>
              </a:r>
              <a:r>
                <a:rPr b="0">
                  <a:solidFill>
                    <a:srgbClr val="333333"/>
                  </a:solidFill>
                </a:rPr>
                <a:t>C3 e C5 concentram as mortes; não é o tamanho da população, e sim os coeficientes de FED.</a:t>
              </a:r>
              <a:endParaRPr b="0">
                <a:solidFill>
                  <a:srgbClr val="333333"/>
                </a:solidFill>
              </a:endParaRPr>
            </a:p>
            <a:p>
              <a:pPr marL="228600" indent="-228600">
                <a:spcBef>
                  <a:spcPts val="300"/>
                </a:spcBef>
                <a:buSzPct val="100000"/>
                <a:buChar char="•"/>
                <a:defRPr b="1" sz="1200">
                  <a:solidFill>
                    <a:srgbClr val="C0392B"/>
                  </a:solidFill>
                </a:defRPr>
              </a:pPr>
              <a:r>
                <a:t>A congestão alonga o tempo — </a:t>
              </a:r>
              <a:r>
                <a:rPr b="0">
                  <a:solidFill>
                    <a:srgbClr val="333333"/>
                  </a:solidFill>
                </a:rPr>
                <a:t>C4 tem o maior TET (589), mas alta sobrevivência: o gargalo atrasa, enquanto a fumaça mata.</a:t>
              </a:r>
              <a:endParaRPr b="0">
                <a:solidFill>
                  <a:srgbClr val="333333"/>
                </a:solidFill>
              </a:endParaRPr>
            </a:p>
            <a:p>
              <a:pPr marL="228600" indent="-228600">
                <a:spcBef>
                  <a:spcPts val="300"/>
                </a:spcBef>
                <a:buSzPct val="100000"/>
                <a:buChar char="•"/>
                <a:defRPr b="1" sz="1200">
                  <a:solidFill>
                    <a:srgbClr val="C0392B"/>
                  </a:solidFill>
                </a:defRPr>
              </a:pPr>
              <a:r>
                <a:t>O foco alto protege a rota de fuga — </a:t>
              </a:r>
              <a:r>
                <a:rPr b="0">
                  <a:solidFill>
                    <a:srgbClr val="333333"/>
                  </a:solidFill>
                </a:rPr>
                <a:t>C2, mesmo com população mais lenta, atinge a maior sobrevivência (94,7%).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filme-colado.png" descr="filme-colad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3457" y="732238"/>
            <a:ext cx="7937989" cy="46645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filme-colado.png" descr="filme-colad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82803" y="947344"/>
            <a:ext cx="3479801" cy="4775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m" descr="Imag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37" y="1349350"/>
            <a:ext cx="6558894" cy="4159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filme-colado.png" descr="filme-colad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47926" y="1943100"/>
            <a:ext cx="3479801" cy="2971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