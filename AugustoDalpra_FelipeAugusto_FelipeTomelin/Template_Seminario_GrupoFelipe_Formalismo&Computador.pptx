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5" r:id="rId6"/>
    <p:sldId id="263" r:id="rId7"/>
    <p:sldId id="267" r:id="rId8"/>
    <p:sldId id="266" r:id="rId9"/>
    <p:sldId id="268" r:id="rId10"/>
    <p:sldId id="269" r:id="rId11"/>
    <p:sldId id="259" r:id="rId12"/>
    <p:sldId id="270" r:id="rId13"/>
    <p:sldId id="271" r:id="rId14"/>
    <p:sldId id="272" r:id="rId15"/>
    <p:sldId id="273" r:id="rId23"/>
    <p:sldId id="274" r:id="rId24"/>
    <p:sldId id="260" r:id="rId16"/>
    <p:sldId id="275" r:id="rId25"/>
    <p:sldId id="276" r:id="rId26"/>
    <p:sldId id="261" r:id="rId17"/>
    <p:sldId id="262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0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84378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CB716D76-4EE0-34BB-3FE4-746A7B7F99B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73990" y="106734"/>
            <a:ext cx="461935" cy="235953"/>
          </a:xfrm>
          <a:prstGeom prst="rect">
            <a:avLst/>
          </a:prstGeom>
        </p:spPr>
      </p:pic>
      <p:pic>
        <p:nvPicPr>
          <p:cNvPr id="8" name="Imagem 7" descr="Uma imagem contendo placar, desenho  Descrição gerada automaticamente">
            <a:extLst>
              <a:ext uri="{FF2B5EF4-FFF2-40B4-BE49-F238E27FC236}">
                <a16:creationId xmlns:a16="http://schemas.microsoft.com/office/drawing/2014/main" id="{144D06B7-FB8A-8452-1AF8-C83CE1E98BF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15342" r="9314" b="15342"/>
          <a:stretch/>
        </p:blipFill>
        <p:spPr>
          <a:xfrm>
            <a:off x="11676211" y="121127"/>
            <a:ext cx="341799" cy="219153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501361FC-2F74-AE7E-3415-1ABF301AF2E0}"/>
              </a:ext>
            </a:extLst>
          </p:cNvPr>
          <p:cNvSpPr/>
          <p:nvPr userDrawn="1"/>
        </p:nvSpPr>
        <p:spPr>
          <a:xfrm>
            <a:off x="-1" y="96669"/>
            <a:ext cx="12192000" cy="318404"/>
          </a:xfrm>
          <a:prstGeom prst="rect">
            <a:avLst/>
          </a:prstGeom>
          <a:solidFill>
            <a:schemeClr val="bg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10" name="Imagem 9" descr="Interface gráfica do usuário, Texto  O conteúdo gerado por IA pode estar incorreto.">
            <a:extLst>
              <a:ext uri="{FF2B5EF4-FFF2-40B4-BE49-F238E27FC236}">
                <a16:creationId xmlns:a16="http://schemas.microsoft.com/office/drawing/2014/main" id="{EC9A2412-8527-050F-1760-1D795B6593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41998"/>
          <a:stretch>
            <a:fillRect/>
          </a:stretch>
        </p:blipFill>
        <p:spPr>
          <a:xfrm>
            <a:off x="5840282" y="77509"/>
            <a:ext cx="511435" cy="26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359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11E991F-1419-1468-BE10-D2AF9BD832EA}"/>
              </a:ext>
            </a:extLst>
          </p:cNvPr>
          <p:cNvSpPr txBox="1"/>
          <p:nvPr/>
        </p:nvSpPr>
        <p:spPr>
          <a:xfrm>
            <a:off x="2794000" y="2455610"/>
            <a:ext cx="703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 xml:space="preserve">Título: </a:t>
            </a:r>
          </a:p>
          <a:p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B5BC1B5-ED1C-9832-E853-1E5DCBBF6E7D}"/>
              </a:ext>
            </a:extLst>
          </p:cNvPr>
          <p:cNvSpPr txBox="1"/>
          <p:nvPr/>
        </p:nvSpPr>
        <p:spPr>
          <a:xfrm>
            <a:off x="2086532" y="864415"/>
            <a:ext cx="7738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650"/>
              </a:spcBef>
              <a:spcAft>
                <a:spcPts val="825"/>
              </a:spcAft>
              <a:buNone/>
            </a:pPr>
            <a:r>
              <a:rPr lang="pt-BR" b="1" i="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MÓDULO V - SEMINÁRIO DE APRESETNTAÇÃO DOS RESULTADOS</a:t>
            </a:r>
            <a:endParaRPr lang="pt-BR" b="0" i="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7E728AB-E81F-068E-0D0C-8111400D7157}"/>
              </a:ext>
            </a:extLst>
          </p:cNvPr>
          <p:cNvSpPr txBox="1"/>
          <p:nvPr/>
        </p:nvSpPr>
        <p:spPr>
          <a:xfrm>
            <a:off x="7630677" y="3993765"/>
            <a:ext cx="3492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Autores: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13F2793-2F9E-906C-DEE3-567571E01F74}"/>
              </a:ext>
            </a:extLst>
          </p:cNvPr>
          <p:cNvSpPr txBox="1"/>
          <p:nvPr/>
        </p:nvSpPr>
        <p:spPr>
          <a:xfrm>
            <a:off x="4719217" y="5993585"/>
            <a:ext cx="2608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Junho de 2026</a:t>
            </a:r>
          </a:p>
        </p:txBody>
      </p:sp>
    </p:spTree>
    <p:extLst>
      <p:ext uri="{BB962C8B-B14F-4D97-AF65-F5344CB8AC3E}">
        <p14:creationId xmlns:p14="http://schemas.microsoft.com/office/powerpoint/2010/main" val="6529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4752B93-B681-AFAB-6EB7-F01A288E8400}"/>
              </a:ext>
            </a:extLst>
          </p:cNvPr>
          <p:cNvSpPr txBox="1"/>
          <p:nvPr/>
        </p:nvSpPr>
        <p:spPr>
          <a:xfrm>
            <a:off x="2528595" y="905070"/>
            <a:ext cx="5896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Estrutura da Apresentação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F3C4A689-4D83-44CA-EE9C-67A96D08D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99999"/>
              </p:ext>
            </p:extLst>
          </p:nvPr>
        </p:nvGraphicFramePr>
        <p:xfrm>
          <a:off x="1259659" y="1448045"/>
          <a:ext cx="9377239" cy="4354870"/>
        </p:xfrm>
        <a:graphic>
          <a:graphicData uri="http://schemas.openxmlformats.org/drawingml/2006/table">
            <a:tbl>
              <a:tblPr/>
              <a:tblGrid>
                <a:gridCol w="858390">
                  <a:extLst>
                    <a:ext uri="{9D8B030D-6E8A-4147-A177-3AD203B41FA5}">
                      <a16:colId xmlns:a16="http://schemas.microsoft.com/office/drawing/2014/main" val="3535084583"/>
                    </a:ext>
                  </a:extLst>
                </a:gridCol>
                <a:gridCol w="2211355">
                  <a:extLst>
                    <a:ext uri="{9D8B030D-6E8A-4147-A177-3AD203B41FA5}">
                      <a16:colId xmlns:a16="http://schemas.microsoft.com/office/drawing/2014/main" val="1130658036"/>
                    </a:ext>
                  </a:extLst>
                </a:gridCol>
                <a:gridCol w="6307494">
                  <a:extLst>
                    <a:ext uri="{9D8B030D-6E8A-4147-A177-3AD203B41FA5}">
                      <a16:colId xmlns:a16="http://schemas.microsoft.com/office/drawing/2014/main" val="3729648614"/>
                    </a:ext>
                  </a:extLst>
                </a:gridCol>
              </a:tblGrid>
              <a:tr h="3000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Etapa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Nome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rgbClr val="FF0000"/>
                          </a:solidFill>
                        </a:rPr>
                        <a:t>Descrição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87901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Sistema de Referência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Define o problema real a ser estudado (</a:t>
                      </a:r>
                      <a:r>
                        <a:rPr lang="pt-BR" sz="1500" dirty="0" err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ex</a:t>
                      </a: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: evacuação de um prédio).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737026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Modelagem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Representação simplificada do sistema real (regras, agentes, ambiente).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944287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Formalismo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Tradução do modelo para linguagem formal/matemática ou lógica.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14342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4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Computador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Implementação do modelo em código (programação da simulação).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816725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5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Execução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Rodar a simulação com diferentes parâmetros e cenários.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231444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6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Observação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Análise dos resultados obtidos (gráficos, métricas, conclusões).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712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86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20F32-FD66-0C26-75DA-A9DDED95F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44EB669-D9BB-1EF5-9A40-55EB1D8A7DED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 Sistema de Referência</a:t>
            </a:r>
          </a:p>
        </p:txBody>
      </p:sp>
    </p:spTree>
    <p:extLst>
      <p:ext uri="{BB962C8B-B14F-4D97-AF65-F5344CB8AC3E}">
        <p14:creationId xmlns:p14="http://schemas.microsoft.com/office/powerpoint/2010/main" val="1905564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Definição do Fenômeno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Edifício real de 30 andares em situação de incêndio — base empírica que orienta o ciclo de simulação.</a:t>
            </a:r>
          </a:p>
        </p:txBody>
      </p:sp>
      <p:sp>
        <p:nvSpPr>
          <p:cNvPr id="4" name="CardEsquerdo"/>
          <p:cNvSpPr/>
          <p:nvPr/>
        </p:nvSpPr>
        <p:spPr>
          <a:xfrm>
            <a:off x="700000" y="1900000"/>
            <a:ext cx="5246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88000" tIns="288000" rIns="288000" bIns="288000" rtlCol="0" anchor="t"/>
          <a:lstStyle/>
          <a:p>
            <a:pPr algn="l">
              <a:buNone/>
            </a:pPr>
            <a:r>
              <a:rPr lang="pt-BR" sz="17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Distinção conceitual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 xml:space="preserve">Fogo — </a:t>
            </a:r>
            <a:r>
              <a:rPr lang="pt-BR" sz="1300" dirty="0">
                <a:solidFill>
                  <a:srgbClr val="333333"/>
                </a:solidFill>
              </a:rPr>
              <a:t xml:space="preserve">reação química exotérmica de combustão (combustível + comburente </a:t>
            </a:r>
            <a:r>
              <a:rPr lang="pt-BR" sz="1300">
                <a:solidFill>
                  <a:srgbClr val="333333"/>
                </a:solidFill>
              </a:rPr>
              <a:t>+ calor.</a:t>
            </a:r>
            <a:endParaRPr lang="pt-BR" sz="1300" dirty="0">
              <a:solidFill>
                <a:srgbClr val="333333"/>
              </a:solidFill>
            </a:endParaRPr>
          </a:p>
          <a:p>
            <a:pPr algn="l">
              <a:spcBef>
                <a:spcPts val="7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 xml:space="preserve">Incêndio — </a:t>
            </a:r>
            <a:r>
              <a:rPr lang="pt-BR" sz="1300" dirty="0">
                <a:solidFill>
                  <a:srgbClr val="333333"/>
                </a:solidFill>
              </a:rPr>
              <a:t>fogo fora de controle, intenso, capaz de causar danos à vida, ao meio ambiente e ao patrimônio.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 xml:space="preserve">Incêndio em edificação — </a:t>
            </a:r>
            <a:r>
              <a:rPr lang="pt-BR" sz="1300" dirty="0">
                <a:solidFill>
                  <a:srgbClr val="333333"/>
                </a:solidFill>
              </a:rPr>
              <a:t>ocorrência no interior ou na estrutura de uma edificação, com potencial de atingir ocupantes, comprometer rotas de fuga e propagar-se entre ambientes.</a:t>
            </a:r>
          </a:p>
        </p:txBody>
      </p:sp>
      <p:sp>
        <p:nvSpPr>
          <p:cNvPr id="5" name="CardDireito"/>
          <p:cNvSpPr/>
          <p:nvPr/>
        </p:nvSpPr>
        <p:spPr>
          <a:xfrm>
            <a:off x="6246000" y="1900000"/>
            <a:ext cx="5246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88000" tIns="288000" rIns="288000" bIns="288000" rtlCol="0" anchor="t"/>
          <a:lstStyle/>
          <a:p>
            <a:pPr algn="l">
              <a:buNone/>
            </a:pPr>
            <a:r>
              <a:rPr lang="pt-BR" sz="17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Classes de incêndio relevantes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 xml:space="preserve">Classe A — </a:t>
            </a:r>
            <a:r>
              <a:rPr lang="pt-BR" sz="1300" dirty="0">
                <a:solidFill>
                  <a:srgbClr val="333333"/>
                </a:solidFill>
              </a:rPr>
              <a:t>sólidos combustíveis (móveis, papel, tecidos). Principal fonte de carga em ambientes de escritório.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 xml:space="preserve">Classe B — </a:t>
            </a:r>
            <a:r>
              <a:rPr lang="pt-BR" sz="1300" dirty="0">
                <a:solidFill>
                  <a:srgbClr val="333333"/>
                </a:solidFill>
              </a:rPr>
              <a:t>líquidos e gases inflamáveis. Possível em garagens, depósitos ou cozinhas dos andares inferiores.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 xml:space="preserve">Classe C — </a:t>
            </a:r>
            <a:r>
              <a:rPr lang="pt-BR" sz="1300" dirty="0">
                <a:solidFill>
                  <a:srgbClr val="333333"/>
                </a:solidFill>
              </a:rPr>
              <a:t>equipamentos elétricos energizados (painéis, fiação, servidores). Relevantes em andares técnicos e salas de TI.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200" i="1" dirty="0">
                <a:solidFill>
                  <a:srgbClr val="595959"/>
                </a:solidFill>
              </a:rPr>
              <a:t>Cenário simulado: edifício de uso misto, com predominância das classes acima.</a:t>
            </a:r>
          </a:p>
        </p:txBody>
      </p:sp>
    </p:spTree>
    <p:extLst>
      <p:ext uri="{BB962C8B-B14F-4D97-AF65-F5344CB8AC3E}">
        <p14:creationId xmlns:p14="http://schemas.microsoft.com/office/powerpoint/2010/main" val="1905564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Parâmetros e Delimitação Analítica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Restrições baseadas na ABNT NBR 9077 e escopo causalmente relevante para a simulação.</a:t>
            </a:r>
          </a:p>
        </p:txBody>
      </p:sp>
      <p:graphicFrame>
        <p:nvGraphicFramePr>
          <p:cNvPr id="4" name="TabelaParametros"/>
          <p:cNvGraphicFramePr>
            <a:graphicFrameLocks noGrp="1"/>
          </p:cNvGraphicFramePr>
          <p:nvPr/>
        </p:nvGraphicFramePr>
        <p:xfrm>
          <a:off x="700000" y="1900000"/>
          <a:ext cx="5800000" cy="3380000"/>
        </p:xfrm>
        <a:graphic>
          <a:graphicData uri="http://schemas.openxmlformats.org/drawingml/2006/table">
            <a:tbl>
              <a:tblPr/>
              <a:tblGrid>
                <a:gridCol w="2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300" b="1">
                          <a:solidFill>
                            <a:srgbClr val="FFFFFF"/>
                          </a:solidFill>
                        </a:rPr>
                        <a:t>Parâmetro</a:t>
                      </a:r>
                    </a:p>
                  </a:txBody>
                  <a:tcPr marL="60000" marR="60000" marT="40000" marB="40000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300" b="1">
                          <a:solidFill>
                            <a:srgbClr val="FFFFFF"/>
                          </a:solidFill>
                        </a:rPr>
                        <a:t>Valor / Referência</a:t>
                      </a:r>
                    </a:p>
                  </a:txBody>
                  <a:tcPr marL="60000" marR="60000" marT="40000" marB="40000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Nº de andares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30 andares (120 m), numerados de 0 a 29; térreo = 0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Dimensão por andar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Grade mínima de 20×20 células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Escadas / Saídas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Mín. 1 escada e 1 saída sinalizada por andar; evacuação no térreo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Elevadores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Bloqueados durante o incêndio (ABNT NBR 9077)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Perfis de ocupantes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Adultos padrão, idosos (vel. 60%), PcD (vel. 40%)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Foco do incêndio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Parametrizável: andar e célula de origem configuráveis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CardRepresentado"/>
          <p:cNvSpPr/>
          <p:nvPr/>
        </p:nvSpPr>
        <p:spPr>
          <a:xfrm>
            <a:off x="6700000" y="1900000"/>
            <a:ext cx="4792000" cy="2080000"/>
          </a:xfrm>
          <a:prstGeom prst="roundRect">
            <a:avLst>
              <a:gd name="adj" fmla="val 4000"/>
            </a:avLst>
          </a:prstGeom>
          <a:solidFill>
            <a:srgbClr val="EAF3EC"/>
          </a:solidFill>
          <a:ln>
            <a:noFill/>
          </a:ln>
        </p:spPr>
        <p:txBody>
          <a:bodyPr wrap="square" lIns="252000" tIns="216000" rIns="252000" bIns="216000" rtlCol="0" anchor="t"/>
          <a:lstStyle/>
          <a:p>
            <a:pPr algn="l">
              <a:buNone/>
            </a:pPr>
            <a:r>
              <a:rPr lang="pt-BR" sz="1500" b="1" dirty="0">
                <a:solidFill>
                  <a:srgbClr val="2C5F2D"/>
                </a:solidFill>
              </a:rPr>
              <a:t>✓  Será representado</a:t>
            </a:r>
          </a:p>
          <a:p>
            <a:pPr marL="180000" indent="-180000" algn="l">
              <a:spcBef>
                <a:spcPts val="6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Propagação do fogo e da fumaça por células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Deslocamento dos ocupantes às saídas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Congestionamento e gargalos nas escadas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Perfis diferenciados (adulto, idoso, PcD)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Danos por exposição ao fogo (ferimento/morte)</a:t>
            </a:r>
          </a:p>
        </p:txBody>
      </p:sp>
      <p:sp>
        <p:nvSpPr>
          <p:cNvPr id="6" name="CardNaoRepresentado"/>
          <p:cNvSpPr/>
          <p:nvPr/>
        </p:nvSpPr>
        <p:spPr>
          <a:xfrm>
            <a:off x="6700000" y="4080000"/>
            <a:ext cx="4792000" cy="2220000"/>
          </a:xfrm>
          <a:prstGeom prst="roundRect">
            <a:avLst>
              <a:gd name="adj" fmla="val 4000"/>
            </a:avLst>
          </a:prstGeom>
          <a:solidFill>
            <a:srgbClr val="FBEDEB"/>
          </a:solidFill>
          <a:ln>
            <a:noFill/>
          </a:ln>
        </p:spPr>
        <p:txBody>
          <a:bodyPr wrap="square" lIns="252000" tIns="216000" rIns="252000" bIns="216000" rtlCol="0" anchor="t"/>
          <a:lstStyle/>
          <a:p>
            <a:pPr algn="l">
              <a:buNone/>
            </a:pPr>
            <a:r>
              <a:rPr lang="pt-BR" sz="1500" b="1" dirty="0">
                <a:solidFill>
                  <a:srgbClr val="C0392B"/>
                </a:solidFill>
              </a:rPr>
              <a:t>✗  Fora do escopo desta versão</a:t>
            </a:r>
          </a:p>
          <a:p>
            <a:pPr marL="180000" indent="-180000" algn="l">
              <a:spcBef>
                <a:spcPts val="6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Colapso estrutural da edificação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Ação hidráulica de combate (sprinklers, brigadistas)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Variações térmicas detalhadas por zona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Comportamento psicológico clínico (pânico, TEPT)</a:t>
            </a:r>
          </a:p>
          <a:p>
            <a:pPr algn="l">
              <a:spcBef>
                <a:spcPts val="800"/>
              </a:spcBef>
              <a:buNone/>
            </a:pPr>
            <a:r>
              <a:rPr lang="pt-BR" sz="1100" i="1" dirty="0">
                <a:solidFill>
                  <a:srgbClr val="595959"/>
                </a:solidFill>
              </a:rPr>
              <a:t>Horizonte: da ignição à evacuação total. Resolução: steps/ticks discretos.</a:t>
            </a:r>
          </a:p>
        </p:txBody>
      </p:sp>
    </p:spTree>
    <p:extLst>
      <p:ext uri="{BB962C8B-B14F-4D97-AF65-F5344CB8AC3E}">
        <p14:creationId xmlns:p14="http://schemas.microsoft.com/office/powerpoint/2010/main" val="1905564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A29C7-645E-D5F5-D652-B5F194475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B722FD8-4BE1-DF7D-4ADC-581BB2C92B46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 Modelagem</a:t>
            </a:r>
          </a:p>
        </p:txBody>
      </p:sp>
    </p:spTree>
    <p:extLst>
      <p:ext uri="{BB962C8B-B14F-4D97-AF65-F5344CB8AC3E}">
        <p14:creationId xmlns:p14="http://schemas.microsoft.com/office/powerpoint/2010/main" val="1764901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CC594-B965-DA36-B883-39DFD887C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4A20111D-BC33-6F8E-0E5E-B03B81D49BF2}"/>
              </a:ext>
            </a:extLst>
          </p:cNvPr>
          <p:cNvSpPr txBox="1"/>
          <p:nvPr/>
        </p:nvSpPr>
        <p:spPr>
          <a:xfrm>
            <a:off x="383477" y="585503"/>
            <a:ext cx="3845623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Base consultadas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D5430141-0E69-F0DD-D00B-B5434019CF9B}"/>
              </a:ext>
            </a:extLst>
          </p:cNvPr>
          <p:cNvSpPr txBox="1"/>
          <p:nvPr/>
        </p:nvSpPr>
        <p:spPr>
          <a:xfrm>
            <a:off x="1878169" y="1554497"/>
            <a:ext cx="67295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pt-BR" sz="1500" i="1" dirty="0">
                <a:solidFill>
                  <a:srgbClr val="595959"/>
                </a:solidFill>
              </a:rPr>
              <a:t>Detalhamento da identificação por base de dados.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7BAC047-00C4-D26E-24E5-A93C49179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876" y="1934497"/>
            <a:ext cx="10594124" cy="2358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42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96EB8-A983-389D-A45D-58CE07939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589B7181-483E-D9A8-86A6-8C4677FBE3EC}"/>
              </a:ext>
            </a:extLst>
          </p:cNvPr>
          <p:cNvSpPr txBox="1"/>
          <p:nvPr/>
        </p:nvSpPr>
        <p:spPr>
          <a:xfrm>
            <a:off x="576907" y="659564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Filtro PRISMA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804F9A44-6A87-5B18-91CE-36FB8446518F}"/>
              </a:ext>
            </a:extLst>
          </p:cNvPr>
          <p:cNvSpPr txBox="1"/>
          <p:nvPr/>
        </p:nvSpPr>
        <p:spPr>
          <a:xfrm>
            <a:off x="761546" y="1566185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pt-BR" sz="1500" i="1" dirty="0">
                <a:solidFill>
                  <a:srgbClr val="595959"/>
                </a:solidFill>
              </a:rPr>
              <a:t>O fluxograma PRISMA abaixo resume o processo de identificação, triagem, elegibilidade e inclusão dos estudos.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033C8D1-8136-CBEE-1303-05748D1DB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169" y="2020873"/>
            <a:ext cx="8647477" cy="3808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344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08615-AC47-5EAD-D5B3-6AA5B7A34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A38C97CA-E4D4-C141-ECC7-D845DF9F5AA4}"/>
              </a:ext>
            </a:extLst>
          </p:cNvPr>
          <p:cNvSpPr txBox="1"/>
          <p:nvPr/>
        </p:nvSpPr>
        <p:spPr>
          <a:xfrm>
            <a:off x="700000" y="518543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Matriz de extração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E03B96C5-CA91-C0AA-9B37-9D481E53DA80}"/>
              </a:ext>
            </a:extLst>
          </p:cNvPr>
          <p:cNvSpPr txBox="1"/>
          <p:nvPr/>
        </p:nvSpPr>
        <p:spPr>
          <a:xfrm>
            <a:off x="700000" y="1118306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400" i="1" dirty="0">
                <a:solidFill>
                  <a:srgbClr val="595959"/>
                </a:solidFill>
              </a:rPr>
              <a:t>Estas matrizes de extração organizam, de forma comparativa, as informações essenciais dos 10 artigos incluídos na revisão sistemática.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BBBB01B-3482-63D7-9F46-979D43CFA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431" y="1435000"/>
            <a:ext cx="8977138" cy="432091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3B8F29D-5323-4A67-332E-9BC3E71D3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052" y="5755914"/>
            <a:ext cx="8969517" cy="111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930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BC045-3308-15AA-1F26-004F44E65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AC5188B2-239D-16E3-C3BE-9736ABC0AB02}"/>
              </a:ext>
            </a:extLst>
          </p:cNvPr>
          <p:cNvSpPr txBox="1"/>
          <p:nvPr/>
        </p:nvSpPr>
        <p:spPr>
          <a:xfrm>
            <a:off x="700000" y="602086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Matriz de extração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3BA82B2F-9A2F-08FB-E589-7CBBDEE34F55}"/>
              </a:ext>
            </a:extLst>
          </p:cNvPr>
          <p:cNvSpPr txBox="1"/>
          <p:nvPr/>
        </p:nvSpPr>
        <p:spPr>
          <a:xfrm>
            <a:off x="700000" y="1018543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400" i="1" dirty="0">
                <a:solidFill>
                  <a:srgbClr val="595959"/>
                </a:solidFill>
              </a:rPr>
              <a:t>Estas matrizes de extração organizam, de forma comparativa, as informações essenciais dos 10 artigos incluídos na revisão sistemática.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22673AA-6967-D9D5-0337-97298DD6E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189" y="1518543"/>
            <a:ext cx="9007621" cy="506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294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A6C9F-62B3-9027-CE87-419B0ACD6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1C5FA92-C48F-00BD-8AF8-56DD40B18358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 Formalismo</a:t>
            </a:r>
          </a:p>
        </p:txBody>
      </p:sp>
    </p:spTree>
    <p:extLst>
      <p:ext uri="{BB962C8B-B14F-4D97-AF65-F5344CB8AC3E}">
        <p14:creationId xmlns:p14="http://schemas.microsoft.com/office/powerpoint/2010/main" val="3062111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 Tipo de Formalismo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Abordagem híbrida que integra três paradigmas de modelagem para simular a evacuação.</a:t>
            </a:r>
          </a:p>
        </p:txBody>
      </p:sp>
      <p:sp>
        <p:nvSpPr>
          <p:cNvPr id="4" name="CardABM"/>
          <p:cNvSpPr/>
          <p:nvPr/>
        </p:nvSpPr>
        <p:spPr>
          <a:xfrm>
            <a:off x="700000" y="1900000"/>
            <a:ext cx="3397000" cy="1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16000" tIns="180000" rIns="216000" bIns="180000" rtlCol="0" anchor="ctr"/>
          <a:lstStyle/>
          <a:p>
            <a:pPr algn="ctr">
              <a:buNone/>
            </a:pPr>
            <a:r>
              <a:rPr lang="pt-BR" sz="1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ABM</a:t>
            </a:r>
          </a:p>
          <a:p>
            <a:pPr algn="ctr">
              <a:spcBef>
                <a:spcPts val="300"/>
              </a:spcBef>
              <a:buNone/>
            </a:pPr>
            <a:r>
              <a:rPr lang="pt-BR" sz="1100" b="1" dirty="0">
                <a:solidFill>
                  <a:srgbClr val="C0392B"/>
                </a:solidFill>
              </a:rPr>
              <a:t>Modelagem Baseada em Agentes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1100" dirty="0">
                <a:solidFill>
                  <a:srgbClr val="333333"/>
                </a:solidFill>
              </a:rPr>
              <a:t>Comportamento individual dos ocupantes</a:t>
            </a:r>
          </a:p>
        </p:txBody>
      </p:sp>
      <p:sp>
        <p:nvSpPr>
          <p:cNvPr id="5" name="CardCA"/>
          <p:cNvSpPr/>
          <p:nvPr/>
        </p:nvSpPr>
        <p:spPr>
          <a:xfrm>
            <a:off x="4397000" y="1900000"/>
            <a:ext cx="3397000" cy="1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16000" tIns="180000" rIns="216000" bIns="180000" rtlCol="0" anchor="ctr"/>
          <a:lstStyle/>
          <a:p>
            <a:pPr algn="ctr">
              <a:buNone/>
            </a:pPr>
            <a:r>
              <a:rPr lang="pt-BR" sz="1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CA</a:t>
            </a:r>
          </a:p>
          <a:p>
            <a:pPr algn="ctr">
              <a:spcBef>
                <a:spcPts val="300"/>
              </a:spcBef>
              <a:buNone/>
            </a:pPr>
            <a:r>
              <a:rPr lang="pt-BR" sz="1100" b="1" dirty="0">
                <a:solidFill>
                  <a:srgbClr val="C0392B"/>
                </a:solidFill>
              </a:rPr>
              <a:t>Autômatos Celulares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1100" dirty="0">
                <a:solidFill>
                  <a:srgbClr val="333333"/>
                </a:solidFill>
              </a:rPr>
              <a:t>Movimentação espacial discreta no ambiente</a:t>
            </a:r>
          </a:p>
        </p:txBody>
      </p:sp>
      <p:sp>
        <p:nvSpPr>
          <p:cNvPr id="6" name="CardCFD"/>
          <p:cNvSpPr/>
          <p:nvPr/>
        </p:nvSpPr>
        <p:spPr>
          <a:xfrm>
            <a:off x="8094000" y="1900000"/>
            <a:ext cx="3398000" cy="1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16000" tIns="180000" rIns="216000" bIns="180000" rtlCol="0" anchor="ctr"/>
          <a:lstStyle/>
          <a:p>
            <a:pPr algn="ctr">
              <a:buNone/>
            </a:pPr>
            <a:r>
              <a:rPr lang="pt-BR" sz="1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CFD</a:t>
            </a:r>
          </a:p>
          <a:p>
            <a:pPr algn="ctr">
              <a:spcBef>
                <a:spcPts val="300"/>
              </a:spcBef>
              <a:buNone/>
            </a:pPr>
            <a:r>
              <a:rPr lang="pt-BR" sz="1100" b="1" dirty="0">
                <a:solidFill>
                  <a:srgbClr val="C0392B"/>
                </a:solidFill>
              </a:rPr>
              <a:t>Dinâmica de Fluidos Computacional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1100" dirty="0">
                <a:solidFill>
                  <a:srgbClr val="333333"/>
                </a:solidFill>
              </a:rPr>
              <a:t>Campos de temperatura, fumaça e gases tóxicos</a:t>
            </a:r>
          </a:p>
        </p:txBody>
      </p:sp>
      <p:sp>
        <p:nvSpPr>
          <p:cNvPr id="7" name="Seta1"/>
          <p:cNvSpPr/>
          <p:nvPr/>
        </p:nvSpPr>
        <p:spPr>
          <a:xfrm>
            <a:off x="5867400" y="3380000"/>
            <a:ext cx="457200" cy="360000"/>
          </a:xfrm>
          <a:prstGeom prst="downArrow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" name="CardModelo"/>
          <p:cNvSpPr/>
          <p:nvPr/>
        </p:nvSpPr>
        <p:spPr>
          <a:xfrm>
            <a:off x="700000" y="3820000"/>
            <a:ext cx="10792000" cy="820000"/>
          </a:xfrm>
          <a:prstGeom prst="roundRect">
            <a:avLst>
              <a:gd name="adj" fmla="val 6000"/>
            </a:avLst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txBody>
          <a:bodyPr wrap="square" lIns="216000" tIns="120000" rIns="216000" bIns="120000" rtlCol="0" anchor="ctr"/>
          <a:lstStyle/>
          <a:p>
            <a:pPr algn="ctr">
              <a:buNone/>
            </a:pPr>
            <a:r>
              <a:rPr lang="pt-BR" sz="1600" b="1" dirty="0">
                <a:solidFill>
                  <a:srgbClr val="FFFFFF"/>
                </a:solidFill>
              </a:rPr>
              <a:t>Modelo de Simulação de Evacuação</a:t>
            </a:r>
          </a:p>
          <a:p>
            <a:pPr algn="ctr">
              <a:spcBef>
                <a:spcPts val="200"/>
              </a:spcBef>
              <a:buNone/>
            </a:pPr>
            <a:r>
              <a:rPr lang="pt-BR" sz="1150" dirty="0">
                <a:solidFill>
                  <a:srgbClr val="CADCFC"/>
                </a:solidFill>
              </a:rPr>
              <a:t>Acoplamento ABM + CA + CFD em passos de tempo discretos (steps/ticks)</a:t>
            </a:r>
          </a:p>
        </p:txBody>
      </p:sp>
      <p:sp>
        <p:nvSpPr>
          <p:cNvPr id="9" name="Seta2"/>
          <p:cNvSpPr/>
          <p:nvPr/>
        </p:nvSpPr>
        <p:spPr>
          <a:xfrm>
            <a:off x="5867400" y="4720000"/>
            <a:ext cx="457200" cy="360000"/>
          </a:xfrm>
          <a:prstGeom prst="downArrow">
            <a:avLst/>
          </a:prstGeom>
          <a:solidFill>
            <a:srgbClr val="2C5F2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" name="CardSaidas"/>
          <p:cNvSpPr/>
          <p:nvPr/>
        </p:nvSpPr>
        <p:spPr>
          <a:xfrm>
            <a:off x="700000" y="5160000"/>
            <a:ext cx="10792000" cy="820000"/>
          </a:xfrm>
          <a:prstGeom prst="roundRect">
            <a:avLst>
              <a:gd name="adj" fmla="val 6000"/>
            </a:avLst>
          </a:prstGeom>
          <a:solidFill>
            <a:srgbClr val="EAF3EC"/>
          </a:solidFill>
          <a:ln>
            <a:noFill/>
          </a:ln>
        </p:spPr>
        <p:txBody>
          <a:bodyPr wrap="square" lIns="216000" tIns="120000" rIns="216000" bIns="120000" rtlCol="0" anchor="ctr"/>
          <a:lstStyle/>
          <a:p>
            <a:pPr algn="ctr">
              <a:buNone/>
            </a:pPr>
            <a:r>
              <a:rPr lang="pt-BR" sz="1500" b="1" dirty="0">
                <a:solidFill>
                  <a:srgbClr val="2C5F2D"/>
                </a:solidFill>
              </a:rPr>
              <a:t>Saídas do modelo</a:t>
            </a:r>
          </a:p>
          <a:p>
            <a:pPr algn="ctr">
              <a:spcBef>
                <a:spcPts val="200"/>
              </a:spcBef>
              <a:buNone/>
            </a:pPr>
            <a:r>
              <a:rPr lang="pt-BR" sz="1150" dirty="0">
                <a:solidFill>
                  <a:srgbClr val="333333"/>
                </a:solidFill>
              </a:rPr>
              <a:t>Tempo total de evacuação, taxa de sobrevivência, trajetórias e gargalos</a:t>
            </a:r>
          </a:p>
        </p:txBody>
      </p:sp>
    </p:spTree>
    <p:extLst>
      <p:ext uri="{BB962C8B-B14F-4D97-AF65-F5344CB8AC3E}">
        <p14:creationId xmlns:p14="http://schemas.microsoft.com/office/powerpoint/2010/main" val="2479216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3.1.1. Definição do Formalismo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Abordagem híbrida que combina três paradigmas, cada um responsável por uma dimensão do problema.</a:t>
            </a:r>
          </a:p>
        </p:txBody>
      </p:sp>
      <p:sp>
        <p:nvSpPr>
          <p:cNvPr id="4" name="CardABM"/>
          <p:cNvSpPr/>
          <p:nvPr/>
        </p:nvSpPr>
        <p:spPr>
          <a:xfrm>
            <a:off x="700000" y="1900000"/>
            <a:ext cx="3397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52000" rIns="252000" bIns="252000" rtlCol="0" anchor="t"/>
          <a:lstStyle/>
          <a:p>
            <a:pPr algn="l">
              <a:buNone/>
            </a:pPr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Modelagem Baseada em Agentes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200" b="1" dirty="0">
                <a:solidFill>
                  <a:srgbClr val="C0392B"/>
                </a:solidFill>
              </a:rPr>
              <a:t>ABM — comportamento dos ocupantes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300" dirty="0">
                <a:solidFill>
                  <a:srgbClr val="333333"/>
                </a:solidFill>
              </a:rPr>
              <a:t>Representa o comportamento individual dos ocupantes, permitindo heterogeneidade de decisões, percepção de risco e adaptação às condições do ambiente.</a:t>
            </a:r>
          </a:p>
        </p:txBody>
      </p:sp>
      <p:sp>
        <p:nvSpPr>
          <p:cNvPr id="5" name="CardCA"/>
          <p:cNvSpPr/>
          <p:nvPr/>
        </p:nvSpPr>
        <p:spPr>
          <a:xfrm>
            <a:off x="4397000" y="1900000"/>
            <a:ext cx="3397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52000" rIns="252000" bIns="252000" rtlCol="0" anchor="t"/>
          <a:lstStyle/>
          <a:p>
            <a:pPr algn="l">
              <a:buNone/>
            </a:pPr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Autômatos Celulares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200" b="1" dirty="0">
                <a:solidFill>
                  <a:srgbClr val="C0392B"/>
                </a:solidFill>
              </a:rPr>
              <a:t>CA — movimentação no espaço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300" dirty="0">
                <a:solidFill>
                  <a:srgbClr val="333333"/>
                </a:solidFill>
              </a:rPr>
              <a:t>Representam a movimentação espacial discreta dos agentes no ambiente construído, incluindo regras específicas para corredores, portas e escadas.</a:t>
            </a:r>
          </a:p>
        </p:txBody>
      </p:sp>
      <p:sp>
        <p:nvSpPr>
          <p:cNvPr id="6" name="CardCFD"/>
          <p:cNvSpPr/>
          <p:nvPr/>
        </p:nvSpPr>
        <p:spPr>
          <a:xfrm>
            <a:off x="8094000" y="1900000"/>
            <a:ext cx="3398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52000" rIns="252000" bIns="252000" rtlCol="0" anchor="t"/>
          <a:lstStyle/>
          <a:p>
            <a:pPr algn="l">
              <a:buNone/>
            </a:pPr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Dinâmica de Fluidos Computacional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200" b="1" dirty="0">
                <a:solidFill>
                  <a:srgbClr val="C0392B"/>
                </a:solidFill>
              </a:rPr>
              <a:t>CFD — ambiente de risco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300" dirty="0">
                <a:solidFill>
                  <a:srgbClr val="333333"/>
                </a:solidFill>
              </a:rPr>
              <a:t>Fornece os campos dinâmicos de temperatura, fumaça e gases tóxicos, usados para atualizar o estado fisiológico e cognitivo dos ocupantes.</a:t>
            </a:r>
          </a:p>
        </p:txBody>
      </p:sp>
    </p:spTree>
    <p:extLst>
      <p:ext uri="{BB962C8B-B14F-4D97-AF65-F5344CB8AC3E}">
        <p14:creationId xmlns:p14="http://schemas.microsoft.com/office/powerpoint/2010/main" val="411549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3.1.2. Descrição do Formalismo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Entidades, parâmetros e variáveis que compõem o modelo.</a:t>
            </a:r>
          </a:p>
        </p:txBody>
      </p:sp>
      <p:sp>
        <p:nvSpPr>
          <p:cNvPr id="4" name="CardEntidades"/>
          <p:cNvSpPr/>
          <p:nvPr/>
        </p:nvSpPr>
        <p:spPr>
          <a:xfrm>
            <a:off x="700000" y="1900000"/>
            <a:ext cx="3397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52000" rIns="252000" bIns="252000" rtlCol="0" anchor="t"/>
          <a:lstStyle/>
          <a:p>
            <a:pPr algn="l">
              <a:buNone/>
            </a:pPr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Entidades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250" b="1" dirty="0">
                <a:solidFill>
                  <a:srgbClr val="C0392B"/>
                </a:solidFill>
              </a:rPr>
              <a:t xml:space="preserve">Agentes ocupantes — </a:t>
            </a:r>
            <a:r>
              <a:rPr lang="pt-BR" sz="1250" dirty="0">
                <a:solidFill>
                  <a:srgbClr val="333333"/>
                </a:solidFill>
              </a:rPr>
              <a:t>indivíduos com mobilidade, percepção e resistência fisiológica heterogêneas.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250" b="1" dirty="0">
                <a:solidFill>
                  <a:srgbClr val="C0392B"/>
                </a:solidFill>
              </a:rPr>
              <a:t xml:space="preserve">Ambiente físico — </a:t>
            </a:r>
            <a:r>
              <a:rPr lang="pt-BR" sz="1250" dirty="0">
                <a:solidFill>
                  <a:srgbClr val="333333"/>
                </a:solidFill>
              </a:rPr>
              <a:t>geometria do edifício: corredores, portas, escadas e saídas de emergência.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250" b="1" dirty="0">
                <a:solidFill>
                  <a:srgbClr val="C0392B"/>
                </a:solidFill>
              </a:rPr>
              <a:t xml:space="preserve">Agentes de risco — </a:t>
            </a:r>
            <a:r>
              <a:rPr lang="pt-BR" sz="1250" dirty="0">
                <a:solidFill>
                  <a:srgbClr val="333333"/>
                </a:solidFill>
              </a:rPr>
              <a:t>fogo, fumaça, temperatura e gases tóxicos distribuídos no espaço.</a:t>
            </a:r>
          </a:p>
        </p:txBody>
      </p:sp>
      <p:sp>
        <p:nvSpPr>
          <p:cNvPr id="5" name="CardParametros"/>
          <p:cNvSpPr/>
          <p:nvPr/>
        </p:nvSpPr>
        <p:spPr>
          <a:xfrm>
            <a:off x="4397000" y="1900000"/>
            <a:ext cx="3397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52000" rIns="252000" bIns="252000" rtlCol="0" anchor="t"/>
          <a:lstStyle/>
          <a:p>
            <a:pPr algn="l">
              <a:buNone/>
            </a:pPr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Parâmetros principais</a:t>
            </a:r>
          </a:p>
          <a:p>
            <a:pPr marL="228600" indent="-228600" algn="l">
              <a:spcBef>
                <a:spcPts val="9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Velocidade base dos agentes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Raio de visão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Capacidade de portas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Resistência fisiológica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Coeficiente de influência da fumaça</a:t>
            </a:r>
          </a:p>
        </p:txBody>
      </p:sp>
      <p:sp>
        <p:nvSpPr>
          <p:cNvPr id="6" name="CardVariaveis"/>
          <p:cNvSpPr/>
          <p:nvPr/>
        </p:nvSpPr>
        <p:spPr>
          <a:xfrm>
            <a:off x="8094000" y="1900000"/>
            <a:ext cx="3398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52000" rIns="252000" bIns="252000" rtlCol="0" anchor="t"/>
          <a:lstStyle/>
          <a:p>
            <a:pPr algn="l">
              <a:buNone/>
            </a:pPr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Variáveis dinâmicas</a:t>
            </a:r>
          </a:p>
          <a:p>
            <a:pPr marL="228600" indent="-228600" algn="l">
              <a:spcBef>
                <a:spcPts val="9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Posição espacial (x, y, z)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Velocidade instantânea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Fadiga acumulada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Estado de saúde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Nível de exposição à fumaça e ao calor</a:t>
            </a:r>
          </a:p>
        </p:txBody>
      </p:sp>
    </p:spTree>
    <p:extLst>
      <p:ext uri="{BB962C8B-B14F-4D97-AF65-F5344CB8AC3E}">
        <p14:creationId xmlns:p14="http://schemas.microsoft.com/office/powerpoint/2010/main" val="2707392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FE23C-3C29-AB43-CC1C-29FC59C61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6E588AE-613D-0F01-5119-F2764DFE15B7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 Computador</a:t>
            </a:r>
          </a:p>
        </p:txBody>
      </p:sp>
    </p:spTree>
    <p:extLst>
      <p:ext uri="{BB962C8B-B14F-4D97-AF65-F5344CB8AC3E}">
        <p14:creationId xmlns:p14="http://schemas.microsoft.com/office/powerpoint/2010/main" val="138043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FBE59-FE81-33A7-70E3-E0CBC48DF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832CDFC-286D-70E6-7117-22E38D31685C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5. Execução</a:t>
            </a:r>
          </a:p>
        </p:txBody>
      </p:sp>
    </p:spTree>
    <p:extLst>
      <p:ext uri="{BB962C8B-B14F-4D97-AF65-F5344CB8AC3E}">
        <p14:creationId xmlns:p14="http://schemas.microsoft.com/office/powerpoint/2010/main" val="37432399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0B3F0-BC85-C350-CE74-951AA51A8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168FC49-E03F-BACA-EC63-7EF8D148230E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6. Observação</a:t>
            </a:r>
          </a:p>
        </p:txBody>
      </p:sp>
    </p:spTree>
    <p:extLst>
      <p:ext uri="{BB962C8B-B14F-4D97-AF65-F5344CB8AC3E}">
        <p14:creationId xmlns:p14="http://schemas.microsoft.com/office/powerpoint/2010/main" val="3101183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3.1.2. Descrição do Formalismo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Mecanismos e regras operacionais que governam o comportamento dos agentes.</a:t>
            </a:r>
          </a:p>
        </p:txBody>
      </p:sp>
      <p:sp>
        <p:nvSpPr>
          <p:cNvPr id="4" name="CardCiclo"/>
          <p:cNvSpPr/>
          <p:nvPr/>
        </p:nvSpPr>
        <p:spPr>
          <a:xfrm>
            <a:off x="700000" y="1900000"/>
            <a:ext cx="5246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88000" tIns="288000" rIns="288000" bIns="288000" rtlCol="0" anchor="t"/>
          <a:lstStyle/>
          <a:p>
            <a:pPr algn="l">
              <a:buNone/>
            </a:pPr>
            <a:r>
              <a:rPr lang="pt-BR" sz="17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Ciclo de comportamento do agente</a:t>
            </a:r>
          </a:p>
          <a:p>
            <a:pPr algn="l">
              <a:spcBef>
                <a:spcPts val="10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 xml:space="preserve">1. Percepção — </a:t>
            </a:r>
            <a:r>
              <a:rPr lang="pt-BR" sz="1300" dirty="0">
                <a:solidFill>
                  <a:srgbClr val="333333"/>
                </a:solidFill>
              </a:rPr>
              <a:t>coleta de informações do ambiente (temperatura, densidade de fumaça e rotas de fuga).</a:t>
            </a:r>
          </a:p>
          <a:p>
            <a:pPr algn="l">
              <a:spcBef>
                <a:spcPts val="8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 xml:space="preserve">2. Interpretação — </a:t>
            </a:r>
            <a:r>
              <a:rPr lang="pt-BR" sz="1300" dirty="0">
                <a:solidFill>
                  <a:srgbClr val="333333"/>
                </a:solidFill>
              </a:rPr>
              <a:t>avaliação do risco local.</a:t>
            </a:r>
          </a:p>
          <a:p>
            <a:pPr algn="l">
              <a:spcBef>
                <a:spcPts val="8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 xml:space="preserve">3. Decisão — </a:t>
            </a:r>
            <a:r>
              <a:rPr lang="pt-BR" sz="1300" dirty="0">
                <a:solidFill>
                  <a:srgbClr val="333333"/>
                </a:solidFill>
              </a:rPr>
              <a:t>seleção da rota de evacuação de menor risco percebido.</a:t>
            </a:r>
          </a:p>
          <a:p>
            <a:pPr algn="l">
              <a:spcBef>
                <a:spcPts val="8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 xml:space="preserve">4. Execução — </a:t>
            </a:r>
            <a:r>
              <a:rPr lang="pt-BR" sz="1300" dirty="0">
                <a:solidFill>
                  <a:srgbClr val="333333"/>
                </a:solidFill>
              </a:rPr>
              <a:t>movimentação espacial no ambiente.</a:t>
            </a:r>
          </a:p>
        </p:txBody>
      </p:sp>
      <p:sp>
        <p:nvSpPr>
          <p:cNvPr id="5" name="CardVelocidade"/>
          <p:cNvSpPr/>
          <p:nvPr/>
        </p:nvSpPr>
        <p:spPr>
          <a:xfrm>
            <a:off x="6246000" y="1900000"/>
            <a:ext cx="5246000" cy="20800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>
            <a:noFill/>
          </a:ln>
        </p:spPr>
        <p:txBody>
          <a:bodyPr wrap="square" lIns="288000" tIns="216000" rIns="288000" bIns="216000" rtlCol="0" anchor="t"/>
          <a:lstStyle/>
          <a:p>
            <a:pPr algn="l">
              <a:buNone/>
            </a:pPr>
            <a:r>
              <a:rPr lang="pt-BR" sz="1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Velocidade do agente</a:t>
            </a:r>
          </a:p>
          <a:p>
            <a:pPr algn="ctr">
              <a:spcBef>
                <a:spcPts val="700"/>
              </a:spcBef>
              <a:buNone/>
            </a:pPr>
            <a:r>
              <a:rPr lang="pt-BR" sz="1500" b="1" dirty="0">
                <a:solidFill>
                  <a:srgbClr val="C0392B"/>
                </a:solidFill>
              </a:rPr>
              <a:t>v(t) = v₀ · e^(−λ·S(t)) · (1 − γ·F(t))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100" dirty="0">
                <a:solidFill>
                  <a:srgbClr val="595959"/>
                </a:solidFill>
              </a:rPr>
              <a:t>v₀ = velocidade base; S(t) = densidade de fumaça; F(t) = fadiga acumulada.</a:t>
            </a:r>
          </a:p>
        </p:txBody>
      </p:sp>
      <p:sp>
        <p:nvSpPr>
          <p:cNvPr id="6" name="CardSaude"/>
          <p:cNvSpPr/>
          <p:nvPr/>
        </p:nvSpPr>
        <p:spPr>
          <a:xfrm>
            <a:off x="6246000" y="4220000"/>
            <a:ext cx="5246000" cy="20800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>
            <a:noFill/>
          </a:ln>
        </p:spPr>
        <p:txBody>
          <a:bodyPr wrap="square" lIns="288000" tIns="216000" rIns="288000" bIns="216000" rtlCol="0" anchor="t"/>
          <a:lstStyle/>
          <a:p>
            <a:pPr algn="l">
              <a:buNone/>
            </a:pPr>
            <a:r>
              <a:rPr lang="pt-BR" sz="1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Saúde do agente — Dose Efetiva Fracionária (FED)</a:t>
            </a:r>
          </a:p>
          <a:p>
            <a:pPr algn="ctr">
              <a:spcBef>
                <a:spcPts val="600"/>
              </a:spcBef>
              <a:buNone/>
            </a:pPr>
            <a:r>
              <a:rPr lang="pt-BR" sz="1400" b="1" dirty="0">
                <a:solidFill>
                  <a:srgbClr val="C0392B"/>
                </a:solidFill>
              </a:rPr>
              <a:t>FED(t) = FED_CO + FED_CO₂ + FED_calor</a:t>
            </a:r>
          </a:p>
          <a:p>
            <a:pPr algn="ctr">
              <a:spcBef>
                <a:spcPts val="300"/>
              </a:spcBef>
              <a:buNone/>
            </a:pPr>
            <a:r>
              <a:rPr lang="pt-BR" sz="1400" b="1" dirty="0">
                <a:solidFill>
                  <a:srgbClr val="C0392B"/>
                </a:solidFill>
              </a:rPr>
              <a:t>H(t) = H₀ − β · FED(t)</a:t>
            </a:r>
          </a:p>
          <a:p>
            <a:pPr algn="l">
              <a:spcBef>
                <a:spcPts val="500"/>
              </a:spcBef>
              <a:buNone/>
            </a:pPr>
            <a:r>
              <a:rPr lang="pt-BR" sz="1100" dirty="0">
                <a:solidFill>
                  <a:srgbClr val="595959"/>
                </a:solidFill>
              </a:rPr>
              <a:t>A saúde reduz com a exposição acumulada a gases tóxicos e calor; em valores críticos, a velocidade do agente diminui.</a:t>
            </a:r>
          </a:p>
        </p:txBody>
      </p:sp>
    </p:spTree>
    <p:extLst>
      <p:ext uri="{BB962C8B-B14F-4D97-AF65-F5344CB8AC3E}">
        <p14:creationId xmlns:p14="http://schemas.microsoft.com/office/powerpoint/2010/main" val="27073927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3.1.2. Descrição do Formalismo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Navegação dos agentes e saídas (resultados) produzidas pelo modelo.</a:t>
            </a:r>
          </a:p>
        </p:txBody>
      </p:sp>
      <p:sp>
        <p:nvSpPr>
          <p:cNvPr id="4" name="CardNavegacao"/>
          <p:cNvSpPr/>
          <p:nvPr/>
        </p:nvSpPr>
        <p:spPr>
          <a:xfrm>
            <a:off x="700000" y="1900000"/>
            <a:ext cx="5246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88000" tIns="288000" rIns="288000" bIns="288000" rtlCol="0" anchor="t"/>
          <a:lstStyle/>
          <a:p>
            <a:pPr algn="l">
              <a:buNone/>
            </a:pPr>
            <a:r>
              <a:rPr lang="pt-BR" sz="17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Navegação</a:t>
            </a:r>
          </a:p>
          <a:p>
            <a:pPr algn="l">
              <a:spcBef>
                <a:spcPts val="1000"/>
              </a:spcBef>
              <a:buNone/>
            </a:pPr>
            <a:r>
              <a:rPr lang="pt-BR" sz="1300" dirty="0">
                <a:solidFill>
                  <a:srgbClr val="333333"/>
                </a:solidFill>
              </a:rPr>
              <a:t>A navegação baseia-se em um mapa espacial dinâmico, em que o custo de deslocamento é atualizado continuamente.</a:t>
            </a:r>
          </a:p>
          <a:p>
            <a:pPr marL="228600" indent="-228600" algn="l">
              <a:spcBef>
                <a:spcPts val="800"/>
              </a:spcBef>
              <a:buChar char="•"/>
            </a:pPr>
            <a:r>
              <a:rPr lang="pt-BR" sz="1300" b="1" dirty="0">
                <a:solidFill>
                  <a:srgbClr val="C0392B"/>
                </a:solidFill>
              </a:rPr>
              <a:t xml:space="preserve">Custo atualizado por </a:t>
            </a:r>
            <a:r>
              <a:rPr lang="pt-BR" sz="1300" dirty="0">
                <a:solidFill>
                  <a:srgbClr val="333333"/>
                </a:solidFill>
              </a:rPr>
              <a:t>fumaça, calor e congestionamento.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C0392B"/>
                </a:solidFill>
              </a:rPr>
              <a:t xml:space="preserve">Prioridade </a:t>
            </a:r>
            <a:r>
              <a:rPr lang="pt-BR" sz="1300" dirty="0">
                <a:solidFill>
                  <a:srgbClr val="333333"/>
                </a:solidFill>
              </a:rPr>
              <a:t>para trajetórias de menor risco e menor distância até as saídas.</a:t>
            </a:r>
          </a:p>
        </p:txBody>
      </p:sp>
      <p:sp>
        <p:nvSpPr>
          <p:cNvPr id="5" name="CardSaidas"/>
          <p:cNvSpPr/>
          <p:nvPr/>
        </p:nvSpPr>
        <p:spPr>
          <a:xfrm>
            <a:off x="6246000" y="1900000"/>
            <a:ext cx="5246000" cy="4400000"/>
          </a:xfrm>
          <a:prstGeom prst="roundRect">
            <a:avLst>
              <a:gd name="adj" fmla="val 4000"/>
            </a:avLst>
          </a:prstGeom>
          <a:solidFill>
            <a:srgbClr val="EAF3EC"/>
          </a:solidFill>
          <a:ln>
            <a:noFill/>
          </a:ln>
        </p:spPr>
        <p:txBody>
          <a:bodyPr wrap="square" lIns="288000" tIns="288000" rIns="288000" bIns="288000" rtlCol="0" anchor="t"/>
          <a:lstStyle/>
          <a:p>
            <a:pPr algn="l">
              <a:buNone/>
            </a:pPr>
            <a:r>
              <a:rPr lang="pt-BR" sz="1700" b="1" dirty="0">
                <a:solidFill>
                  <a:srgbClr val="2C5F2D"/>
                </a:solidFill>
              </a:rPr>
              <a:t>Saídas do modelo</a:t>
            </a:r>
          </a:p>
          <a:p>
            <a:pPr marL="228600" indent="-228600" algn="l">
              <a:spcBef>
                <a:spcPts val="10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>Tempo Total de Evacuação (TET)</a:t>
            </a:r>
          </a:p>
          <a:p>
            <a:pPr marL="228600" indent="-228600" algn="l">
              <a:spcBef>
                <a:spcPts val="6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Taxa de sobrevivência dos ocupantes</a:t>
            </a:r>
          </a:p>
          <a:p>
            <a:pPr marL="228600" indent="-228600" algn="l">
              <a:spcBef>
                <a:spcPts val="6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Estado médio de saúde dos sobreviventes</a:t>
            </a:r>
          </a:p>
          <a:p>
            <a:pPr marL="228600" indent="-228600" algn="l">
              <a:spcBef>
                <a:spcPts val="6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Distribuição espacial das trajetórias de fuga</a:t>
            </a:r>
          </a:p>
          <a:p>
            <a:pPr marL="228600" indent="-228600" algn="l">
              <a:spcBef>
                <a:spcPts val="6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Identificação de gargalos e áreas de congestionamento</a:t>
            </a:r>
          </a:p>
        </p:txBody>
      </p:sp>
    </p:spTree>
    <p:extLst>
      <p:ext uri="{BB962C8B-B14F-4D97-AF65-F5344CB8AC3E}">
        <p14:creationId xmlns:p14="http://schemas.microsoft.com/office/powerpoint/2010/main" val="27073927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4.1. Plataforma e Estrutura do Modelo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Implementação em NetLogo: cada paradigma do formalismo corresponde a um elemento da linguagem.</a:t>
            </a:r>
          </a:p>
        </p:txBody>
      </p:sp>
      <p:sp>
        <p:nvSpPr>
          <p:cNvPr id="4" name="CardAgentes"/>
          <p:cNvSpPr/>
          <p:nvPr/>
        </p:nvSpPr>
        <p:spPr>
          <a:xfrm>
            <a:off x="700000" y="1900000"/>
            <a:ext cx="3397000" cy="29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52000" rIns="252000" bIns="252000" rtlCol="0" anchor="t"/>
          <a:lstStyle/>
          <a:p>
            <a:pPr algn="l">
              <a:buNone/>
            </a:pPr>
            <a:r>
              <a:rPr lang="pt-BR" sz="1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ABM → turtles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150" b="1" dirty="0">
                <a:solidFill>
                  <a:srgbClr val="C0392B"/>
                </a:solidFill>
              </a:rPr>
              <a:t>Agentes ocupantes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200" dirty="0">
                <a:solidFill>
                  <a:srgbClr val="333333"/>
                </a:solidFill>
              </a:rPr>
              <a:t>Cada ocupante é um agente com perfil, velocidade, fadiga, saúde e exposição próprios.</a:t>
            </a:r>
          </a:p>
        </p:txBody>
      </p:sp>
      <p:sp>
        <p:nvSpPr>
          <p:cNvPr id="5" name="CardCelulas"/>
          <p:cNvSpPr/>
          <p:nvPr/>
        </p:nvSpPr>
        <p:spPr>
          <a:xfrm>
            <a:off x="4397000" y="1900000"/>
            <a:ext cx="3397000" cy="29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52000" rIns="252000" bIns="252000" rtlCol="0" anchor="t"/>
          <a:lstStyle/>
          <a:p>
            <a:pPr algn="l">
              <a:buNone/>
            </a:pPr>
            <a:r>
              <a:rPr lang="pt-BR" sz="1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CA → patches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150" b="1" dirty="0">
                <a:solidFill>
                  <a:srgbClr val="C0392B"/>
                </a:solidFill>
              </a:rPr>
              <a:t>Células do ambiente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200" dirty="0">
                <a:solidFill>
                  <a:srgbClr val="333333"/>
                </a:solidFill>
              </a:rPr>
              <a:t>O edifício é uma grade de patches do tipo vazio, parede, saída ou foco do incêndio.</a:t>
            </a:r>
          </a:p>
        </p:txBody>
      </p:sp>
      <p:sp>
        <p:nvSpPr>
          <p:cNvPr id="6" name="CardCampos"/>
          <p:cNvSpPr/>
          <p:nvPr/>
        </p:nvSpPr>
        <p:spPr>
          <a:xfrm>
            <a:off x="8094000" y="1900000"/>
            <a:ext cx="3398000" cy="29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52000" rIns="252000" bIns="252000" rtlCol="0" anchor="t"/>
          <a:lstStyle/>
          <a:p>
            <a:pPr algn="l">
              <a:buNone/>
            </a:pPr>
            <a:r>
              <a:rPr lang="pt-BR" sz="1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CFD → campos de patch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150" b="1" dirty="0">
                <a:solidFill>
                  <a:srgbClr val="C0392B"/>
                </a:solidFill>
              </a:rPr>
              <a:t>Aproximação dos fluidos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200" dirty="0">
                <a:solidFill>
                  <a:srgbClr val="333333"/>
                </a:solidFill>
              </a:rPr>
              <a:t>Cada célula guarda temperatura, fumaça, CO e CO₂ como campos dinâmicos atualizados a cada tick.</a:t>
            </a:r>
          </a:p>
        </p:txBody>
      </p:sp>
      <p:sp>
        <p:nvSpPr>
          <p:cNvPr id="7" name="CardEstrutura"/>
          <p:cNvSpPr/>
          <p:nvPr/>
        </p:nvSpPr>
        <p:spPr>
          <a:xfrm>
            <a:off x="700000" y="5000000"/>
            <a:ext cx="10792000" cy="1300000"/>
          </a:xfrm>
          <a:prstGeom prst="roundRect">
            <a:avLst>
              <a:gd name="adj" fmla="val 6000"/>
            </a:avLst>
          </a:prstGeom>
          <a:solidFill>
            <a:srgbClr val="EAF3EC"/>
          </a:solidFill>
          <a:ln>
            <a:noFill/>
          </a:ln>
        </p:spPr>
        <p:txBody>
          <a:bodyPr wrap="square" lIns="288000" tIns="216000" rIns="288000" bIns="216000" rtlCol="0" anchor="t"/>
          <a:lstStyle/>
          <a:p>
            <a:pPr algn="l">
              <a:buNone/>
            </a:pPr>
            <a:r>
              <a:rPr lang="pt-BR" sz="1400" b="1" dirty="0">
                <a:solidFill>
                  <a:srgbClr val="2C5F2D"/>
                </a:solidFill>
              </a:rPr>
              <a:t>Estrutura do código</a:t>
            </a:r>
          </a:p>
          <a:p>
            <a:pPr algn="l">
              <a:spcBef>
                <a:spcPts val="500"/>
              </a:spcBef>
              <a:buNone/>
            </a:pPr>
            <a:r>
              <a:rPr lang="pt-BR" sz="1250" b="1" dirty="0">
                <a:solidFill>
                  <a:srgbClr val="333333"/>
                </a:solidFill>
              </a:rPr>
              <a:t xml:space="preserve">globals: </a:t>
            </a:r>
            <a:r>
              <a:rPr lang="pt-BR" sz="1250" dirty="0">
                <a:solidFill>
                  <a:srgbClr val="333333"/>
                </a:solidFill>
              </a:rPr>
              <a:t xml:space="preserve">métricas globais (TET, evacuados, mortos, taxa de sobrevivência).   </a:t>
            </a:r>
            <a:r>
              <a:rPr lang="pt-BR" sz="1250" b="1" dirty="0">
                <a:solidFill>
                  <a:srgbClr val="333333"/>
                </a:solidFill>
              </a:rPr>
              <a:t xml:space="preserve">patches-own: </a:t>
            </a:r>
            <a:r>
              <a:rPr lang="pt-BR" sz="1250" dirty="0">
                <a:solidFill>
                  <a:srgbClr val="333333"/>
                </a:solidFill>
              </a:rPr>
              <a:t xml:space="preserve">estado do ambiente.   </a:t>
            </a:r>
            <a:r>
              <a:rPr lang="pt-BR" sz="1250" b="1" dirty="0">
                <a:solidFill>
                  <a:srgbClr val="333333"/>
                </a:solidFill>
              </a:rPr>
              <a:t xml:space="preserve">turtles-own: </a:t>
            </a:r>
            <a:r>
              <a:rPr lang="pt-BR" sz="1250" dirty="0">
                <a:solidFill>
                  <a:srgbClr val="333333"/>
                </a:solidFill>
              </a:rPr>
              <a:t>atributos de cada ocupante.</a:t>
            </a:r>
          </a:p>
        </p:txBody>
      </p:sp>
    </p:spTree>
    <p:extLst>
      <p:ext uri="{BB962C8B-B14F-4D97-AF65-F5344CB8AC3E}">
        <p14:creationId xmlns:p14="http://schemas.microsoft.com/office/powerpoint/2010/main" val="27073927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4.2. Mecanismos Implementados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Como as regras do formalismo foram traduzidas em procedimentos do modelo.</a:t>
            </a:r>
          </a:p>
        </p:txBody>
      </p:sp>
      <p:sp>
        <p:nvSpPr>
          <p:cNvPr id="4" name="CardNavegacao"/>
          <p:cNvSpPr/>
          <p:nvPr/>
        </p:nvSpPr>
        <p:spPr>
          <a:xfrm>
            <a:off x="700000" y="1900000"/>
            <a:ext cx="5246000" cy="21500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16000" rIns="252000" bIns="216000" rtlCol="0" anchor="t"/>
          <a:lstStyle/>
          <a:p>
            <a:pPr algn="l">
              <a:buNone/>
            </a:pPr>
            <a:r>
              <a:rPr lang="pt-BR" sz="1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Navegação (campo de distância)</a:t>
            </a:r>
          </a:p>
          <a:p>
            <a:pPr algn="l">
              <a:spcBef>
                <a:spcPts val="500"/>
              </a:spcBef>
              <a:buNone/>
            </a:pPr>
            <a:r>
              <a:rPr lang="pt-BR" sz="1200" dirty="0">
                <a:solidFill>
                  <a:srgbClr val="333333"/>
                </a:solidFill>
              </a:rPr>
              <a:t>Uma busca em largura (BFS) calcula a distância de cada célula até a saída mais próxima; os agentes seguem o gradiente, evitando fumaça, calor e congestionamento.</a:t>
            </a:r>
          </a:p>
        </p:txBody>
      </p:sp>
      <p:sp>
        <p:nvSpPr>
          <p:cNvPr id="5" name="CardFogo"/>
          <p:cNvSpPr/>
          <p:nvPr/>
        </p:nvSpPr>
        <p:spPr>
          <a:xfrm>
            <a:off x="6246000" y="1900000"/>
            <a:ext cx="5246000" cy="2150000"/>
          </a:xfrm>
          <a:prstGeom prst="roundRect">
            <a:avLst>
              <a:gd name="adj" fmla="val 5000"/>
            </a:avLst>
          </a:prstGeom>
          <a:solidFill>
            <a:srgbClr val="FBEDEB"/>
          </a:solidFill>
          <a:ln>
            <a:noFill/>
          </a:ln>
        </p:spPr>
        <p:txBody>
          <a:bodyPr wrap="square" lIns="252000" tIns="216000" rIns="252000" bIns="216000" rtlCol="0" anchor="t"/>
          <a:lstStyle/>
          <a:p>
            <a:pPr algn="l">
              <a:buNone/>
            </a:pPr>
            <a:r>
              <a:rPr lang="pt-BR" sz="1500" b="1" dirty="0">
                <a:solidFill>
                  <a:srgbClr val="C0392B"/>
                </a:solidFill>
              </a:rPr>
              <a:t>Propagação do fogo e da fumaça</a:t>
            </a:r>
          </a:p>
          <a:p>
            <a:pPr algn="l">
              <a:spcBef>
                <a:spcPts val="500"/>
              </a:spcBef>
              <a:buNone/>
            </a:pPr>
            <a:r>
              <a:rPr lang="pt-BR" sz="1200" dirty="0">
                <a:solidFill>
                  <a:srgbClr val="333333"/>
                </a:solidFill>
              </a:rPr>
              <a:t>Modelo de contágio: cada célula contamina as vizinhas e a fumaça sobe pelas escadas por convecção, tomando um andar em ~20 ticks.</a:t>
            </a:r>
          </a:p>
        </p:txBody>
      </p:sp>
      <p:sp>
        <p:nvSpPr>
          <p:cNvPr id="6" name="CardCA"/>
          <p:cNvSpPr/>
          <p:nvPr/>
        </p:nvSpPr>
        <p:spPr>
          <a:xfrm>
            <a:off x="700000" y="4150000"/>
            <a:ext cx="5246000" cy="21500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16000" rIns="252000" bIns="216000" rtlCol="0" anchor="t"/>
          <a:lstStyle/>
          <a:p>
            <a:pPr algn="l">
              <a:buNone/>
            </a:pPr>
            <a:r>
              <a:rPr lang="pt-BR" sz="1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Regra de autômato celular</a:t>
            </a:r>
          </a:p>
          <a:p>
            <a:pPr algn="l">
              <a:spcBef>
                <a:spcPts val="500"/>
              </a:spcBef>
              <a:buNone/>
            </a:pPr>
            <a:r>
              <a:rPr lang="pt-BR" sz="1200" dirty="0">
                <a:solidFill>
                  <a:srgbClr val="333333"/>
                </a:solidFill>
              </a:rPr>
              <a:t>Um agente por célula no andar; escadas e saídas aceitam vários agentes, representando filas e o fluxo vertical de evacuação.</a:t>
            </a:r>
          </a:p>
        </p:txBody>
      </p:sp>
      <p:sp>
        <p:nvSpPr>
          <p:cNvPr id="7" name="CardSaude"/>
          <p:cNvSpPr/>
          <p:nvPr/>
        </p:nvSpPr>
        <p:spPr>
          <a:xfrm>
            <a:off x="6246000" y="4150000"/>
            <a:ext cx="5246000" cy="21500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16000" rIns="252000" bIns="216000" rtlCol="0" anchor="t"/>
          <a:lstStyle/>
          <a:p>
            <a:pPr algn="l">
              <a:buNone/>
            </a:pPr>
            <a:r>
              <a:rPr lang="pt-BR" sz="1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Saúde (FED) e perfis</a:t>
            </a:r>
          </a:p>
          <a:p>
            <a:pPr algn="l">
              <a:spcBef>
                <a:spcPts val="500"/>
              </a:spcBef>
              <a:buNone/>
            </a:pPr>
            <a:r>
              <a:rPr lang="pt-BR" sz="1200" dirty="0">
                <a:solidFill>
                  <a:srgbClr val="333333"/>
                </a:solidFill>
              </a:rPr>
              <a:t>O FED (CO + CO₂ + calor) leva o agente de saudável a ferido e a morto. Velocidade por perfil: adulto 100%, idoso 60%, PcD 40%.</a:t>
            </a:r>
          </a:p>
        </p:txBody>
      </p:sp>
    </p:spTree>
    <p:extLst>
      <p:ext uri="{BB962C8B-B14F-4D97-AF65-F5344CB8AC3E}">
        <p14:creationId xmlns:p14="http://schemas.microsoft.com/office/powerpoint/2010/main" val="27073927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577</Words>
  <Application>Microsoft Office PowerPoint</Application>
  <PresentationFormat>Widescreen</PresentationFormat>
  <Paragraphs>82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Augusto Arraga</dc:creator>
  <cp:lastModifiedBy>Marcos Antonio Mattedi</cp:lastModifiedBy>
  <cp:revision>7</cp:revision>
  <dcterms:created xsi:type="dcterms:W3CDTF">2026-04-13T15:47:06Z</dcterms:created>
  <dcterms:modified xsi:type="dcterms:W3CDTF">2026-05-16T10:31:37Z</dcterms:modified>
</cp:coreProperties>
</file>