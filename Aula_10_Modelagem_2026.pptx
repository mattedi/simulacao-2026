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7" r:id="rId2"/>
    <p:sldId id="1692" r:id="rId3"/>
    <p:sldId id="1693" r:id="rId4"/>
    <p:sldId id="1694" r:id="rId5"/>
    <p:sldId id="1695" r:id="rId6"/>
    <p:sldId id="1593" r:id="rId7"/>
    <p:sldId id="1592" r:id="rId8"/>
    <p:sldId id="1696" r:id="rId9"/>
    <p:sldId id="1601" r:id="rId10"/>
    <p:sldId id="1602" r:id="rId11"/>
    <p:sldId id="1603" r:id="rId12"/>
    <p:sldId id="1598" r:id="rId13"/>
    <p:sldId id="1609" r:id="rId14"/>
    <p:sldId id="1594" r:id="rId15"/>
    <p:sldId id="1697" r:id="rId16"/>
    <p:sldId id="282" r:id="rId17"/>
    <p:sldId id="281" r:id="rId18"/>
    <p:sldId id="1595" r:id="rId19"/>
    <p:sldId id="288" r:id="rId20"/>
    <p:sldId id="1698" r:id="rId21"/>
    <p:sldId id="1699" r:id="rId22"/>
    <p:sldId id="1597" r:id="rId23"/>
    <p:sldId id="1599" r:id="rId24"/>
    <p:sldId id="1604" r:id="rId25"/>
    <p:sldId id="1605" r:id="rId26"/>
    <p:sldId id="1600" r:id="rId27"/>
    <p:sldId id="696" r:id="rId28"/>
    <p:sldId id="1607" r:id="rId29"/>
    <p:sldId id="1608" r:id="rId30"/>
    <p:sldId id="1610" r:id="rId31"/>
    <p:sldId id="1606" r:id="rId32"/>
    <p:sldId id="1613" r:id="rId33"/>
    <p:sldId id="1611" r:id="rId3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Mattedi" userId="4f01ea1ca72d2475" providerId="LiveId" clId="{22ED33B0-18A5-4D2B-9F18-43759766D8F7}"/>
    <pc:docChg chg="modSld">
      <pc:chgData name="Marcos Mattedi" userId="4f01ea1ca72d2475" providerId="LiveId" clId="{22ED33B0-18A5-4D2B-9F18-43759766D8F7}" dt="2026-04-27T20:16:48.376" v="43" actId="6549"/>
      <pc:docMkLst>
        <pc:docMk/>
      </pc:docMkLst>
      <pc:sldChg chg="modSp mod">
        <pc:chgData name="Marcos Mattedi" userId="4f01ea1ca72d2475" providerId="LiveId" clId="{22ED33B0-18A5-4D2B-9F18-43759766D8F7}" dt="2026-04-25T15:50:29.812" v="2" actId="1076"/>
        <pc:sldMkLst>
          <pc:docMk/>
          <pc:sldMk cId="1634519861" sldId="257"/>
        </pc:sldMkLst>
        <pc:spChg chg="mod">
          <ac:chgData name="Marcos Mattedi" userId="4f01ea1ca72d2475" providerId="LiveId" clId="{22ED33B0-18A5-4D2B-9F18-43759766D8F7}" dt="2026-04-25T15:50:24.260" v="0" actId="1076"/>
          <ac:spMkLst>
            <pc:docMk/>
            <pc:sldMk cId="1634519861" sldId="257"/>
            <ac:spMk id="2" creationId="{53FA8E3C-96B7-9C28-A4A6-98B91CCA32C5}"/>
          </ac:spMkLst>
        </pc:spChg>
        <pc:spChg chg="mod">
          <ac:chgData name="Marcos Mattedi" userId="4f01ea1ca72d2475" providerId="LiveId" clId="{22ED33B0-18A5-4D2B-9F18-43759766D8F7}" dt="2026-04-25T15:50:26.793" v="1" actId="1076"/>
          <ac:spMkLst>
            <pc:docMk/>
            <pc:sldMk cId="1634519861" sldId="257"/>
            <ac:spMk id="5" creationId="{F97D3219-FD9D-09A3-1D40-774D27A0749D}"/>
          </ac:spMkLst>
        </pc:spChg>
        <pc:spChg chg="mod">
          <ac:chgData name="Marcos Mattedi" userId="4f01ea1ca72d2475" providerId="LiveId" clId="{22ED33B0-18A5-4D2B-9F18-43759766D8F7}" dt="2026-04-25T15:50:29.812" v="2" actId="1076"/>
          <ac:spMkLst>
            <pc:docMk/>
            <pc:sldMk cId="1634519861" sldId="257"/>
            <ac:spMk id="7" creationId="{96595690-7CF5-A6C6-B5A1-5A1F95658B5F}"/>
          </ac:spMkLst>
        </pc:spChg>
      </pc:sldChg>
      <pc:sldChg chg="modSp mod">
        <pc:chgData name="Marcos Mattedi" userId="4f01ea1ca72d2475" providerId="LiveId" clId="{22ED33B0-18A5-4D2B-9F18-43759766D8F7}" dt="2026-04-27T20:16:21.512" v="29" actId="6549"/>
        <pc:sldMkLst>
          <pc:docMk/>
          <pc:sldMk cId="2332472545" sldId="696"/>
        </pc:sldMkLst>
        <pc:spChg chg="mod">
          <ac:chgData name="Marcos Mattedi" userId="4f01ea1ca72d2475" providerId="LiveId" clId="{22ED33B0-18A5-4D2B-9F18-43759766D8F7}" dt="2026-04-27T20:16:21.512" v="29" actId="6549"/>
          <ac:spMkLst>
            <pc:docMk/>
            <pc:sldMk cId="2332472545" sldId="696"/>
            <ac:spMk id="66" creationId="{AE4FBCD2-A8B2-6C19-A18D-2DE719DD4F6A}"/>
          </ac:spMkLst>
        </pc:spChg>
      </pc:sldChg>
      <pc:sldChg chg="modSp mod">
        <pc:chgData name="Marcos Mattedi" userId="4f01ea1ca72d2475" providerId="LiveId" clId="{22ED33B0-18A5-4D2B-9F18-43759766D8F7}" dt="2026-04-27T20:15:04.448" v="11" actId="6549"/>
        <pc:sldMkLst>
          <pc:docMk/>
          <pc:sldMk cId="2399195067" sldId="1598"/>
        </pc:sldMkLst>
        <pc:spChg chg="mod">
          <ac:chgData name="Marcos Mattedi" userId="4f01ea1ca72d2475" providerId="LiveId" clId="{22ED33B0-18A5-4D2B-9F18-43759766D8F7}" dt="2026-04-27T20:15:04.448" v="11" actId="6549"/>
          <ac:spMkLst>
            <pc:docMk/>
            <pc:sldMk cId="2399195067" sldId="1598"/>
            <ac:spMk id="2" creationId="{676719CE-086C-2493-56D3-33A200AC7653}"/>
          </ac:spMkLst>
        </pc:spChg>
      </pc:sldChg>
      <pc:sldChg chg="modSp mod">
        <pc:chgData name="Marcos Mattedi" userId="4f01ea1ca72d2475" providerId="LiveId" clId="{22ED33B0-18A5-4D2B-9F18-43759766D8F7}" dt="2026-04-27T20:16:06.459" v="23" actId="6549"/>
        <pc:sldMkLst>
          <pc:docMk/>
          <pc:sldMk cId="3184868736" sldId="1599"/>
        </pc:sldMkLst>
        <pc:spChg chg="mod">
          <ac:chgData name="Marcos Mattedi" userId="4f01ea1ca72d2475" providerId="LiveId" clId="{22ED33B0-18A5-4D2B-9F18-43759766D8F7}" dt="2026-04-27T20:16:06.459" v="23" actId="6549"/>
          <ac:spMkLst>
            <pc:docMk/>
            <pc:sldMk cId="3184868736" sldId="1599"/>
            <ac:spMk id="2" creationId="{7E232A98-6133-7D50-3E8F-485D281A9C33}"/>
          </ac:spMkLst>
        </pc:spChg>
      </pc:sldChg>
      <pc:sldChg chg="modSp mod">
        <pc:chgData name="Marcos Mattedi" userId="4f01ea1ca72d2475" providerId="LiveId" clId="{22ED33B0-18A5-4D2B-9F18-43759766D8F7}" dt="2026-04-27T20:15:39.185" v="15" actId="20577"/>
        <pc:sldMkLst>
          <pc:docMk/>
          <pc:sldMk cId="811037141" sldId="1601"/>
        </pc:sldMkLst>
        <pc:spChg chg="mod">
          <ac:chgData name="Marcos Mattedi" userId="4f01ea1ca72d2475" providerId="LiveId" clId="{22ED33B0-18A5-4D2B-9F18-43759766D8F7}" dt="2026-04-27T20:15:39.185" v="15" actId="20577"/>
          <ac:spMkLst>
            <pc:docMk/>
            <pc:sldMk cId="811037141" sldId="1601"/>
            <ac:spMk id="5" creationId="{F969486B-439F-4A5A-1BC3-738431869335}"/>
          </ac:spMkLst>
        </pc:spChg>
      </pc:sldChg>
      <pc:sldChg chg="modSp mod">
        <pc:chgData name="Marcos Mattedi" userId="4f01ea1ca72d2475" providerId="LiveId" clId="{22ED33B0-18A5-4D2B-9F18-43759766D8F7}" dt="2026-04-27T20:16:11.487" v="25" actId="6549"/>
        <pc:sldMkLst>
          <pc:docMk/>
          <pc:sldMk cId="1832704018" sldId="1604"/>
        </pc:sldMkLst>
        <pc:spChg chg="mod">
          <ac:chgData name="Marcos Mattedi" userId="4f01ea1ca72d2475" providerId="LiveId" clId="{22ED33B0-18A5-4D2B-9F18-43759766D8F7}" dt="2026-04-27T20:16:11.487" v="25" actId="6549"/>
          <ac:spMkLst>
            <pc:docMk/>
            <pc:sldMk cId="1832704018" sldId="1604"/>
            <ac:spMk id="3" creationId="{72833888-2D06-A80D-19E6-2F7DECA4484D}"/>
          </ac:spMkLst>
        </pc:spChg>
      </pc:sldChg>
      <pc:sldChg chg="modSp mod">
        <pc:chgData name="Marcos Mattedi" userId="4f01ea1ca72d2475" providerId="LiveId" clId="{22ED33B0-18A5-4D2B-9F18-43759766D8F7}" dt="2026-04-27T20:16:17.379" v="27" actId="6549"/>
        <pc:sldMkLst>
          <pc:docMk/>
          <pc:sldMk cId="1180287583" sldId="1607"/>
        </pc:sldMkLst>
        <pc:spChg chg="mod">
          <ac:chgData name="Marcos Mattedi" userId="4f01ea1ca72d2475" providerId="LiveId" clId="{22ED33B0-18A5-4D2B-9F18-43759766D8F7}" dt="2026-04-27T20:16:17.379" v="27" actId="6549"/>
          <ac:spMkLst>
            <pc:docMk/>
            <pc:sldMk cId="1180287583" sldId="1607"/>
            <ac:spMk id="3" creationId="{CCEA312C-B1F1-5916-EA28-47213FF56246}"/>
          </ac:spMkLst>
        </pc:spChg>
      </pc:sldChg>
      <pc:sldChg chg="modSp mod">
        <pc:chgData name="Marcos Mattedi" userId="4f01ea1ca72d2475" providerId="LiveId" clId="{22ED33B0-18A5-4D2B-9F18-43759766D8F7}" dt="2026-04-27T20:16:27.101" v="31" actId="6549"/>
        <pc:sldMkLst>
          <pc:docMk/>
          <pc:sldMk cId="870398125" sldId="1608"/>
        </pc:sldMkLst>
        <pc:spChg chg="mod">
          <ac:chgData name="Marcos Mattedi" userId="4f01ea1ca72d2475" providerId="LiveId" clId="{22ED33B0-18A5-4D2B-9F18-43759766D8F7}" dt="2026-04-27T20:16:27.101" v="31" actId="6549"/>
          <ac:spMkLst>
            <pc:docMk/>
            <pc:sldMk cId="870398125" sldId="1608"/>
            <ac:spMk id="3" creationId="{2E63D116-A3D9-8844-8FC0-96616C22F09A}"/>
          </ac:spMkLst>
        </pc:spChg>
      </pc:sldChg>
      <pc:sldChg chg="modSp mod">
        <pc:chgData name="Marcos Mattedi" userId="4f01ea1ca72d2475" providerId="LiveId" clId="{22ED33B0-18A5-4D2B-9F18-43759766D8F7}" dt="2026-04-27T20:15:47.518" v="17" actId="6549"/>
        <pc:sldMkLst>
          <pc:docMk/>
          <pc:sldMk cId="187151227" sldId="1609"/>
        </pc:sldMkLst>
        <pc:spChg chg="mod">
          <ac:chgData name="Marcos Mattedi" userId="4f01ea1ca72d2475" providerId="LiveId" clId="{22ED33B0-18A5-4D2B-9F18-43759766D8F7}" dt="2026-04-27T20:15:47.518" v="17" actId="6549"/>
          <ac:spMkLst>
            <pc:docMk/>
            <pc:sldMk cId="187151227" sldId="1609"/>
            <ac:spMk id="3" creationId="{02AABC01-48D8-9A22-0577-0BC042BB5321}"/>
          </ac:spMkLst>
        </pc:spChg>
      </pc:sldChg>
      <pc:sldChg chg="modSp mod">
        <pc:chgData name="Marcos Mattedi" userId="4f01ea1ca72d2475" providerId="LiveId" clId="{22ED33B0-18A5-4D2B-9F18-43759766D8F7}" dt="2026-04-27T20:16:32.806" v="33" actId="20577"/>
        <pc:sldMkLst>
          <pc:docMk/>
          <pc:sldMk cId="2280915709" sldId="1610"/>
        </pc:sldMkLst>
        <pc:spChg chg="mod">
          <ac:chgData name="Marcos Mattedi" userId="4f01ea1ca72d2475" providerId="LiveId" clId="{22ED33B0-18A5-4D2B-9F18-43759766D8F7}" dt="2026-04-27T20:16:32.806" v="33" actId="20577"/>
          <ac:spMkLst>
            <pc:docMk/>
            <pc:sldMk cId="2280915709" sldId="1610"/>
            <ac:spMk id="4" creationId="{6F8780C3-1A27-A458-3A71-C0B931DA6F80}"/>
          </ac:spMkLst>
        </pc:spChg>
      </pc:sldChg>
      <pc:sldChg chg="modSp mod">
        <pc:chgData name="Marcos Mattedi" userId="4f01ea1ca72d2475" providerId="LiveId" clId="{22ED33B0-18A5-4D2B-9F18-43759766D8F7}" dt="2026-04-27T20:16:48.376" v="43" actId="6549"/>
        <pc:sldMkLst>
          <pc:docMk/>
          <pc:sldMk cId="788994976" sldId="1613"/>
        </pc:sldMkLst>
        <pc:spChg chg="mod">
          <ac:chgData name="Marcos Mattedi" userId="4f01ea1ca72d2475" providerId="LiveId" clId="{22ED33B0-18A5-4D2B-9F18-43759766D8F7}" dt="2026-04-27T20:16:48.376" v="43" actId="6549"/>
          <ac:spMkLst>
            <pc:docMk/>
            <pc:sldMk cId="788994976" sldId="1613"/>
            <ac:spMk id="2" creationId="{D18A6913-CCED-51C5-EFFE-9DA603E545D2}"/>
          </ac:spMkLst>
        </pc:spChg>
      </pc:sldChg>
      <pc:sldChg chg="modSp mod">
        <pc:chgData name="Marcos Mattedi" userId="4f01ea1ca72d2475" providerId="LiveId" clId="{22ED33B0-18A5-4D2B-9F18-43759766D8F7}" dt="2026-04-27T20:14:50.090" v="9" actId="20577"/>
        <pc:sldMkLst>
          <pc:docMk/>
          <pc:sldMk cId="1224406212" sldId="1696"/>
        </pc:sldMkLst>
        <pc:spChg chg="mod">
          <ac:chgData name="Marcos Mattedi" userId="4f01ea1ca72d2475" providerId="LiveId" clId="{22ED33B0-18A5-4D2B-9F18-43759766D8F7}" dt="2026-04-27T20:14:50.090" v="9" actId="20577"/>
          <ac:spMkLst>
            <pc:docMk/>
            <pc:sldMk cId="1224406212" sldId="1696"/>
            <ac:spMk id="2" creationId="{C694D6DD-CADD-1A2A-1BF2-A00B50FA5CE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9B480B-9005-423A-8367-CE20799F9C86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7E8739-AA92-4B5C-B543-6E8AA7D80E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1420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0C17B-0A72-4CE8-B023-6D1C17B7998B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112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902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462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8463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6443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5063E71-EACE-1269-EF66-EDBECAABCD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3" name="Imagem 2" descr="Uma imagem contendo placar, desenho&#10;&#10;Descrição gerada automaticamente">
            <a:extLst>
              <a:ext uri="{FF2B5EF4-FFF2-40B4-BE49-F238E27FC236}">
                <a16:creationId xmlns:a16="http://schemas.microsoft.com/office/drawing/2014/main" id="{9A5CD5B5-FB48-DB33-B798-5D099F864F0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A42D17C-EC8D-51CC-786A-7D16403732A6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Imagem 4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AC9E100D-3E20-28FB-C7BE-3702727C44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273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hyperlink" Target="https://www.sciencedirect.com/" TargetMode="External"/><Relationship Id="rId3" Type="http://schemas.openxmlformats.org/officeDocument/2006/relationships/image" Target="../media/image7.jpeg"/><Relationship Id="rId7" Type="http://schemas.openxmlformats.org/officeDocument/2006/relationships/hyperlink" Target="https://scholar.google.com.br/?hl=pt" TargetMode="External"/><Relationship Id="rId12" Type="http://schemas.openxmlformats.org/officeDocument/2006/relationships/image" Target="../media/image12.jpeg"/><Relationship Id="rId2" Type="http://schemas.openxmlformats.org/officeDocument/2006/relationships/hyperlink" Target="https://www-periodicos-capes-gov-br.ez71.periodicos.capes.gov.br/index.php?option=com_pcollection&amp;mn=70&amp;smn=79&amp;cid=81&amp;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1.png"/><Relationship Id="rId5" Type="http://schemas.openxmlformats.org/officeDocument/2006/relationships/hyperlink" Target="https://www.scopus.com/search/form.uri?display=basic" TargetMode="External"/><Relationship Id="rId10" Type="http://schemas.openxmlformats.org/officeDocument/2006/relationships/hyperlink" Target="https://academic.microsoft.com/home" TargetMode="External"/><Relationship Id="rId4" Type="http://schemas.openxmlformats.org/officeDocument/2006/relationships/image" Target="../media/image8.png"/><Relationship Id="rId9" Type="http://schemas.openxmlformats.org/officeDocument/2006/relationships/hyperlink" Target="https://scielo.org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cRtJfi8br1k?feature=oembed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F97D3219-FD9D-09A3-1D40-774D27A0749D}"/>
              </a:ext>
            </a:extLst>
          </p:cNvPr>
          <p:cNvSpPr txBox="1"/>
          <p:nvPr/>
        </p:nvSpPr>
        <p:spPr>
          <a:xfrm>
            <a:off x="2431824" y="3198167"/>
            <a:ext cx="68139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Aula 10 - Modelagem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6595690-7CF5-A6C6-B5A1-5A1F95658B5F}"/>
              </a:ext>
            </a:extLst>
          </p:cNvPr>
          <p:cNvSpPr txBox="1"/>
          <p:nvPr/>
        </p:nvSpPr>
        <p:spPr>
          <a:xfrm>
            <a:off x="8988743" y="4406454"/>
            <a:ext cx="2198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Marcos Mattedi</a:t>
            </a:r>
            <a:endParaRPr lang="pt-BR" i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CFB64F8-DF6E-4D4D-A2A1-BB9BD9FA10A4}"/>
              </a:ext>
            </a:extLst>
          </p:cNvPr>
          <p:cNvSpPr txBox="1"/>
          <p:nvPr/>
        </p:nvSpPr>
        <p:spPr>
          <a:xfrm>
            <a:off x="5126623" y="5891741"/>
            <a:ext cx="2198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Blumenau, 2026</a:t>
            </a:r>
            <a:endParaRPr lang="pt-BR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3FA8E3C-96B7-9C28-A4A6-98B91CCA32C5}"/>
              </a:ext>
            </a:extLst>
          </p:cNvPr>
          <p:cNvSpPr txBox="1"/>
          <p:nvPr/>
        </p:nvSpPr>
        <p:spPr>
          <a:xfrm>
            <a:off x="1983666" y="1565004"/>
            <a:ext cx="84840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MÓDULO III - APLICAÇÃO DA SIMUALÇÃO</a:t>
            </a:r>
            <a:endParaRPr lang="pt-BR" sz="3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519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9D888901-56D8-9B01-45F7-C582AC660F7C}"/>
              </a:ext>
            </a:extLst>
          </p:cNvPr>
          <p:cNvSpPr/>
          <p:nvPr/>
        </p:nvSpPr>
        <p:spPr>
          <a:xfrm>
            <a:off x="1178012" y="2241037"/>
            <a:ext cx="1383956" cy="830996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Sistema</a:t>
            </a:r>
          </a:p>
          <a:p>
            <a:pPr algn="ctr"/>
            <a:r>
              <a:rPr lang="pt-BR" sz="1400" b="1" dirty="0">
                <a:solidFill>
                  <a:schemeClr val="bg1"/>
                </a:solidFill>
              </a:rPr>
              <a:t>Referência</a:t>
            </a:r>
          </a:p>
          <a:p>
            <a:pPr algn="ctr"/>
            <a:r>
              <a:rPr lang="pt-BR" sz="1400" b="1" dirty="0">
                <a:solidFill>
                  <a:schemeClr val="bg1"/>
                </a:solidFill>
              </a:rPr>
              <a:t>(S)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AAD55A1-8870-B5A9-87CD-7B2DC7467CC5}"/>
              </a:ext>
            </a:extLst>
          </p:cNvPr>
          <p:cNvSpPr/>
          <p:nvPr/>
        </p:nvSpPr>
        <p:spPr>
          <a:xfrm>
            <a:off x="3295136" y="2241037"/>
            <a:ext cx="1383956" cy="830996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Modelo</a:t>
            </a:r>
          </a:p>
          <a:p>
            <a:pPr algn="ctr"/>
            <a:r>
              <a:rPr lang="pt-BR" sz="1400" b="1" dirty="0">
                <a:solidFill>
                  <a:schemeClr val="bg1"/>
                </a:solidFill>
              </a:rPr>
              <a:t>(M)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37A6D96-26D1-D4C2-F124-0AADD3E20446}"/>
              </a:ext>
            </a:extLst>
          </p:cNvPr>
          <p:cNvSpPr/>
          <p:nvPr/>
        </p:nvSpPr>
        <p:spPr>
          <a:xfrm>
            <a:off x="5412260" y="2241037"/>
            <a:ext cx="1383956" cy="830996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Formalismo</a:t>
            </a:r>
          </a:p>
          <a:p>
            <a:pPr algn="ctr"/>
            <a:r>
              <a:rPr lang="pt-BR" sz="1400" b="1" dirty="0">
                <a:solidFill>
                  <a:schemeClr val="bg1"/>
                </a:solidFill>
              </a:rPr>
              <a:t>(F)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D4638D5-F013-C91E-B479-F62068104CDB}"/>
              </a:ext>
            </a:extLst>
          </p:cNvPr>
          <p:cNvSpPr/>
          <p:nvPr/>
        </p:nvSpPr>
        <p:spPr>
          <a:xfrm>
            <a:off x="7529384" y="2241037"/>
            <a:ext cx="1383956" cy="830996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Computador</a:t>
            </a:r>
          </a:p>
          <a:p>
            <a:pPr algn="ctr"/>
            <a:r>
              <a:rPr lang="pt-BR" sz="1400" b="1" dirty="0">
                <a:solidFill>
                  <a:schemeClr val="bg1"/>
                </a:solidFill>
              </a:rPr>
              <a:t>(C)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E714D88-C1E3-BE86-EBCB-BBDFA87B1F87}"/>
              </a:ext>
            </a:extLst>
          </p:cNvPr>
          <p:cNvSpPr/>
          <p:nvPr/>
        </p:nvSpPr>
        <p:spPr>
          <a:xfrm>
            <a:off x="9646508" y="2241037"/>
            <a:ext cx="1383956" cy="830996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Execução</a:t>
            </a:r>
          </a:p>
          <a:p>
            <a:pPr algn="ctr"/>
            <a:r>
              <a:rPr lang="pt-BR" sz="1400" b="1" dirty="0">
                <a:solidFill>
                  <a:schemeClr val="bg1"/>
                </a:solidFill>
              </a:rPr>
              <a:t>(E)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20AA0E15-1FEF-2737-B9B3-FBD25080C690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2561968" y="2656535"/>
            <a:ext cx="733168" cy="0"/>
          </a:xfrm>
          <a:prstGeom prst="straightConnector1">
            <a:avLst/>
          </a:prstGeom>
          <a:ln w="28575">
            <a:solidFill>
              <a:srgbClr val="FFC000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2AEE09CE-4E22-6274-E27C-8A139402EB35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4679092" y="2656535"/>
            <a:ext cx="733168" cy="0"/>
          </a:xfrm>
          <a:prstGeom prst="straightConnector1">
            <a:avLst/>
          </a:prstGeom>
          <a:ln w="28575">
            <a:solidFill>
              <a:srgbClr val="FFC000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D1572CF1-A59A-18B7-01AB-EA6CE42958AF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6796216" y="2656535"/>
            <a:ext cx="733168" cy="0"/>
          </a:xfrm>
          <a:prstGeom prst="straightConnector1">
            <a:avLst/>
          </a:prstGeom>
          <a:ln w="28575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3323E125-7FE4-0941-1ED7-3ED2A28400BD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8913340" y="2656535"/>
            <a:ext cx="733168" cy="0"/>
          </a:xfrm>
          <a:prstGeom prst="straightConnector1">
            <a:avLst/>
          </a:prstGeom>
          <a:ln w="28575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541A253-4ED8-EE10-4B17-4C6D34AE4BEE}"/>
              </a:ext>
            </a:extLst>
          </p:cNvPr>
          <p:cNvSpPr/>
          <p:nvPr/>
        </p:nvSpPr>
        <p:spPr>
          <a:xfrm>
            <a:off x="1173892" y="3652625"/>
            <a:ext cx="1383956" cy="83099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Observação</a:t>
            </a:r>
          </a:p>
          <a:p>
            <a:pPr algn="ctr"/>
            <a:r>
              <a:rPr lang="pt-BR" sz="1400" b="1" dirty="0">
                <a:solidFill>
                  <a:schemeClr val="bg1"/>
                </a:solidFill>
              </a:rPr>
              <a:t>(O)</a:t>
            </a:r>
          </a:p>
        </p:txBody>
      </p:sp>
      <p:cxnSp>
        <p:nvCxnSpPr>
          <p:cNvPr id="29" name="Conector: Angulado 28">
            <a:extLst>
              <a:ext uri="{FF2B5EF4-FFF2-40B4-BE49-F238E27FC236}">
                <a16:creationId xmlns:a16="http://schemas.microsoft.com/office/drawing/2014/main" id="{FDB96F24-FF04-94A7-4299-7F93957381EF}"/>
              </a:ext>
            </a:extLst>
          </p:cNvPr>
          <p:cNvCxnSpPr>
            <a:stCxn id="13" idx="2"/>
            <a:endCxn id="26" idx="3"/>
          </p:cNvCxnSpPr>
          <p:nvPr/>
        </p:nvCxnSpPr>
        <p:spPr>
          <a:xfrm rot="5400000">
            <a:off x="4891560" y="738321"/>
            <a:ext cx="996090" cy="5663514"/>
          </a:xfrm>
          <a:prstGeom prst="bentConnector2">
            <a:avLst/>
          </a:prstGeom>
          <a:ln w="28575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D2D3CCEC-B8FA-B832-8AD0-A990BBF8CACC}"/>
              </a:ext>
            </a:extLst>
          </p:cNvPr>
          <p:cNvCxnSpPr>
            <a:stCxn id="26" idx="0"/>
            <a:endCxn id="10" idx="2"/>
          </p:cNvCxnSpPr>
          <p:nvPr/>
        </p:nvCxnSpPr>
        <p:spPr>
          <a:xfrm flipV="1">
            <a:off x="1865870" y="3072033"/>
            <a:ext cx="4120" cy="580592"/>
          </a:xfrm>
          <a:prstGeom prst="straightConnector1">
            <a:avLst/>
          </a:prstGeom>
          <a:ln w="28575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2F7FA0B8-53F1-F148-4B69-7B4EB39084F1}"/>
              </a:ext>
            </a:extLst>
          </p:cNvPr>
          <p:cNvSpPr txBox="1"/>
          <p:nvPr/>
        </p:nvSpPr>
        <p:spPr>
          <a:xfrm>
            <a:off x="4474177" y="875615"/>
            <a:ext cx="3747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Fluxograma básico da simulação</a:t>
            </a:r>
          </a:p>
        </p:txBody>
      </p:sp>
    </p:spTree>
    <p:extLst>
      <p:ext uri="{BB962C8B-B14F-4D97-AF65-F5344CB8AC3E}">
        <p14:creationId xmlns:p14="http://schemas.microsoft.com/office/powerpoint/2010/main" val="232052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70E3CF0-7FDD-14AA-FEA9-1ECC562BB936}"/>
              </a:ext>
            </a:extLst>
          </p:cNvPr>
          <p:cNvSpPr txBox="1"/>
          <p:nvPr/>
        </p:nvSpPr>
        <p:spPr>
          <a:xfrm>
            <a:off x="476248" y="734821"/>
            <a:ext cx="1143745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Objetivo Geral da Aula</a:t>
            </a:r>
          </a:p>
          <a:p>
            <a:pPr algn="just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Desenvolver a </a:t>
            </a: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formulação do modelo de simulação</a:t>
            </a:r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a partir do Sistema de Referência previamente definido, estabelecendo as variáveis, relações formais e representações necessárias para traduzir o fenômeno das cheias em linguagem computacional.</a:t>
            </a:r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3B788E-1EF4-C43B-958F-66CE55CE4AEF}"/>
              </a:ext>
            </a:extLst>
          </p:cNvPr>
          <p:cNvSpPr txBox="1"/>
          <p:nvPr/>
        </p:nvSpPr>
        <p:spPr>
          <a:xfrm>
            <a:off x="1147757" y="1757881"/>
            <a:ext cx="103727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Objetivo específico 1:</a:t>
            </a:r>
          </a:p>
          <a:p>
            <a:pPr algn="just"/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Selecionar e definir variáveis-chave</a:t>
            </a:r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do sistema hidrológico, político e social, transformando-as em parâmetros modeláveis.</a:t>
            </a:r>
            <a:endParaRPr lang="pt-BR" sz="16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8F44A90-ABD6-DE1D-2CF7-591057F9B373}"/>
              </a:ext>
            </a:extLst>
          </p:cNvPr>
          <p:cNvSpPr txBox="1"/>
          <p:nvPr/>
        </p:nvSpPr>
        <p:spPr>
          <a:xfrm>
            <a:off x="1147757" y="2517360"/>
            <a:ext cx="103727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Objetivo específico 2:</a:t>
            </a:r>
          </a:p>
          <a:p>
            <a:pPr algn="just"/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Construir relações formais</a:t>
            </a:r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(equações, fluxos, regras de decisão) que expressem os mecanismos causais identificados no Sistema de Referência.</a:t>
            </a:r>
            <a:endParaRPr lang="pt-BR" sz="16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635AD7F-8839-4428-FC48-B336964C54EA}"/>
              </a:ext>
            </a:extLst>
          </p:cNvPr>
          <p:cNvSpPr txBox="1"/>
          <p:nvPr/>
        </p:nvSpPr>
        <p:spPr>
          <a:xfrm>
            <a:off x="1147758" y="3408533"/>
            <a:ext cx="103727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Objetivo específico 3:</a:t>
            </a:r>
          </a:p>
          <a:p>
            <a:pPr algn="just"/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Elaborar a arquitetura conceitual do modelo</a:t>
            </a:r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especificando entradas, processos e saídas em termos adequados para implementação computacional.</a:t>
            </a:r>
            <a:endParaRPr lang="pt-BR" sz="16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B4127DE-C0AD-9C44-CA9D-04485D0FB038}"/>
              </a:ext>
            </a:extLst>
          </p:cNvPr>
          <p:cNvSpPr txBox="1"/>
          <p:nvPr/>
        </p:nvSpPr>
        <p:spPr>
          <a:xfrm>
            <a:off x="529672" y="4269123"/>
            <a:ext cx="114374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accent4">
                    <a:lumMod val="50000"/>
                  </a:schemeClr>
                </a:solidFill>
              </a:rPr>
              <a:t>Competências Desenvolvidas</a:t>
            </a:r>
          </a:p>
          <a:p>
            <a:pPr marL="400050" indent="-400050">
              <a:buFont typeface="+mj-lt"/>
              <a:buAutoNum type="romanUcPeriod"/>
            </a:pPr>
            <a:r>
              <a:rPr lang="pt-BR" sz="1600" dirty="0">
                <a:solidFill>
                  <a:schemeClr val="accent4">
                    <a:lumMod val="50000"/>
                  </a:schemeClr>
                </a:solidFill>
              </a:rPr>
              <a:t>Competência de abstração: capacidade de traduzir fenômenos empíricos em variáveis formais de simulação.</a:t>
            </a:r>
          </a:p>
          <a:p>
            <a:pPr marL="400050" indent="-400050">
              <a:buFont typeface="+mj-lt"/>
              <a:buAutoNum type="romanUcPeriod"/>
            </a:pPr>
            <a:r>
              <a:rPr lang="pt-BR" sz="1600" dirty="0">
                <a:solidFill>
                  <a:schemeClr val="accent4">
                    <a:lumMod val="50000"/>
                  </a:schemeClr>
                </a:solidFill>
              </a:rPr>
              <a:t>Competência metodológica: domínio das etapas de construção de modelos (seleção, formalização e estruturação).</a:t>
            </a:r>
          </a:p>
          <a:p>
            <a:pPr marL="400050" indent="-400050">
              <a:buFont typeface="+mj-lt"/>
              <a:buAutoNum type="romanUcPeriod"/>
            </a:pPr>
            <a:r>
              <a:rPr lang="pt-BR" sz="1600" dirty="0">
                <a:solidFill>
                  <a:schemeClr val="accent4">
                    <a:lumMod val="50000"/>
                  </a:schemeClr>
                </a:solidFill>
              </a:rPr>
              <a:t>Competência integrativa: habilidade de articular dimensões físicas, sociais e políticas em um modelo coerente para aplicação em simulações computacionais.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3AF8B64-2F56-ED50-A578-1D606AB1C03D}"/>
              </a:ext>
            </a:extLst>
          </p:cNvPr>
          <p:cNvSpPr txBox="1"/>
          <p:nvPr/>
        </p:nvSpPr>
        <p:spPr>
          <a:xfrm>
            <a:off x="466725" y="416518"/>
            <a:ext cx="136207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4">
                    <a:lumMod val="50000"/>
                  </a:schemeClr>
                </a:solidFill>
              </a:rPr>
              <a:t>Objetivos</a:t>
            </a:r>
          </a:p>
        </p:txBody>
      </p:sp>
    </p:spTree>
    <p:extLst>
      <p:ext uri="{BB962C8B-B14F-4D97-AF65-F5344CB8AC3E}">
        <p14:creationId xmlns:p14="http://schemas.microsoft.com/office/powerpoint/2010/main" val="1079132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E9157F27-3B8D-EC53-89FB-3ED53AB461A5}"/>
              </a:ext>
            </a:extLst>
          </p:cNvPr>
          <p:cNvSpPr txBox="1"/>
          <p:nvPr/>
        </p:nvSpPr>
        <p:spPr>
          <a:xfrm>
            <a:off x="2960077" y="5036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Aula 11 (Modelagem)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8206179-3E96-23D4-DBA7-8F0137D46EB9}"/>
              </a:ext>
            </a:extLst>
          </p:cNvPr>
          <p:cNvGraphicFramePr>
            <a:graphicFrameLocks noGrp="1"/>
          </p:cNvGraphicFramePr>
          <p:nvPr/>
        </p:nvGraphicFramePr>
        <p:xfrm>
          <a:off x="492368" y="1078334"/>
          <a:ext cx="11166231" cy="262110"/>
        </p:xfrm>
        <a:graphic>
          <a:graphicData uri="http://schemas.openxmlformats.org/drawingml/2006/table">
            <a:tbl>
              <a:tblPr/>
              <a:tblGrid>
                <a:gridCol w="3402624">
                  <a:extLst>
                    <a:ext uri="{9D8B030D-6E8A-4147-A177-3AD203B41FA5}">
                      <a16:colId xmlns:a16="http://schemas.microsoft.com/office/drawing/2014/main" val="2439198281"/>
                    </a:ext>
                  </a:extLst>
                </a:gridCol>
                <a:gridCol w="4041530">
                  <a:extLst>
                    <a:ext uri="{9D8B030D-6E8A-4147-A177-3AD203B41FA5}">
                      <a16:colId xmlns:a16="http://schemas.microsoft.com/office/drawing/2014/main" val="513004582"/>
                    </a:ext>
                  </a:extLst>
                </a:gridCol>
                <a:gridCol w="3722077">
                  <a:extLst>
                    <a:ext uri="{9D8B030D-6E8A-4147-A177-3AD203B41FA5}">
                      <a16:colId xmlns:a16="http://schemas.microsoft.com/office/drawing/2014/main" val="2496446433"/>
                    </a:ext>
                  </a:extLst>
                </a:gridCol>
              </a:tblGrid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300" b="1">
                          <a:solidFill>
                            <a:srgbClr val="FF0000"/>
                          </a:solidFill>
                        </a:rPr>
                        <a:t>Bloco da aula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300" b="1">
                          <a:solidFill>
                            <a:srgbClr val="FF0000"/>
                          </a:solidFill>
                        </a:rPr>
                        <a:t>Função pedagógica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300" b="1" dirty="0">
                          <a:solidFill>
                            <a:srgbClr val="FF0000"/>
                          </a:solidFill>
                        </a:rPr>
                        <a:t>Conteúdo central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787992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9AA465C-88A7-BBB0-609A-62A2FE7E112F}"/>
              </a:ext>
            </a:extLst>
          </p:cNvPr>
          <p:cNvGraphicFramePr>
            <a:graphicFrameLocks noGrp="1"/>
          </p:cNvGraphicFramePr>
          <p:nvPr/>
        </p:nvGraphicFramePr>
        <p:xfrm>
          <a:off x="492367" y="1340444"/>
          <a:ext cx="11166231" cy="639903"/>
        </p:xfrm>
        <a:graphic>
          <a:graphicData uri="http://schemas.openxmlformats.org/drawingml/2006/table">
            <a:tbl>
              <a:tblPr/>
              <a:tblGrid>
                <a:gridCol w="3402624">
                  <a:extLst>
                    <a:ext uri="{9D8B030D-6E8A-4147-A177-3AD203B41FA5}">
                      <a16:colId xmlns:a16="http://schemas.microsoft.com/office/drawing/2014/main" val="3556415915"/>
                    </a:ext>
                  </a:extLst>
                </a:gridCol>
                <a:gridCol w="4041530">
                  <a:extLst>
                    <a:ext uri="{9D8B030D-6E8A-4147-A177-3AD203B41FA5}">
                      <a16:colId xmlns:a16="http://schemas.microsoft.com/office/drawing/2014/main" val="3174473189"/>
                    </a:ext>
                  </a:extLst>
                </a:gridCol>
                <a:gridCol w="3722077">
                  <a:extLst>
                    <a:ext uri="{9D8B030D-6E8A-4147-A177-3AD203B41FA5}">
                      <a16:colId xmlns:a16="http://schemas.microsoft.com/office/drawing/2014/main" val="2835600792"/>
                    </a:ext>
                  </a:extLst>
                </a:gridCol>
              </a:tblGrid>
              <a:tr h="639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1 - Localização no ciclo de simulação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Situar o estudante no percurso metodológico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 → Modelo → Formalismo → Computador → Execução → Observação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318416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B7436A47-4CBB-C51B-C354-69F265575761}"/>
              </a:ext>
            </a:extLst>
          </p:cNvPr>
          <p:cNvGraphicFramePr>
            <a:graphicFrameLocks noGrp="1"/>
          </p:cNvGraphicFramePr>
          <p:nvPr/>
        </p:nvGraphicFramePr>
        <p:xfrm>
          <a:off x="492366" y="1980347"/>
          <a:ext cx="11166231" cy="639903"/>
        </p:xfrm>
        <a:graphic>
          <a:graphicData uri="http://schemas.openxmlformats.org/drawingml/2006/table">
            <a:tbl>
              <a:tblPr/>
              <a:tblGrid>
                <a:gridCol w="3402624">
                  <a:extLst>
                    <a:ext uri="{9D8B030D-6E8A-4147-A177-3AD203B41FA5}">
                      <a16:colId xmlns:a16="http://schemas.microsoft.com/office/drawing/2014/main" val="878723464"/>
                    </a:ext>
                  </a:extLst>
                </a:gridCol>
                <a:gridCol w="4041530">
                  <a:extLst>
                    <a:ext uri="{9D8B030D-6E8A-4147-A177-3AD203B41FA5}">
                      <a16:colId xmlns:a16="http://schemas.microsoft.com/office/drawing/2014/main" val="3177873858"/>
                    </a:ext>
                  </a:extLst>
                </a:gridCol>
                <a:gridCol w="3722077">
                  <a:extLst>
                    <a:ext uri="{9D8B030D-6E8A-4147-A177-3AD203B41FA5}">
                      <a16:colId xmlns:a16="http://schemas.microsoft.com/office/drawing/2014/main" val="4047673636"/>
                    </a:ext>
                  </a:extLst>
                </a:gridCol>
              </a:tblGrid>
              <a:tr h="639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2 - Recapitulação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Retomar o ponto de partida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Incêndio em edificação, evacuação, variáveis e delimitação do sistema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794392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13811C56-570D-5917-C64E-FD235A1DB2F3}"/>
              </a:ext>
            </a:extLst>
          </p:cNvPr>
          <p:cNvGraphicFramePr>
            <a:graphicFrameLocks noGrp="1"/>
          </p:cNvGraphicFramePr>
          <p:nvPr/>
        </p:nvGraphicFramePr>
        <p:xfrm>
          <a:off x="492365" y="2620250"/>
          <a:ext cx="11166231" cy="639903"/>
        </p:xfrm>
        <a:graphic>
          <a:graphicData uri="http://schemas.openxmlformats.org/drawingml/2006/table">
            <a:tbl>
              <a:tblPr/>
              <a:tblGrid>
                <a:gridCol w="3402624">
                  <a:extLst>
                    <a:ext uri="{9D8B030D-6E8A-4147-A177-3AD203B41FA5}">
                      <a16:colId xmlns:a16="http://schemas.microsoft.com/office/drawing/2014/main" val="133193748"/>
                    </a:ext>
                  </a:extLst>
                </a:gridCol>
                <a:gridCol w="4041530">
                  <a:extLst>
                    <a:ext uri="{9D8B030D-6E8A-4147-A177-3AD203B41FA5}">
                      <a16:colId xmlns:a16="http://schemas.microsoft.com/office/drawing/2014/main" val="3327728816"/>
                    </a:ext>
                  </a:extLst>
                </a:gridCol>
                <a:gridCol w="3722077">
                  <a:extLst>
                    <a:ext uri="{9D8B030D-6E8A-4147-A177-3AD203B41FA5}">
                      <a16:colId xmlns:a16="http://schemas.microsoft.com/office/drawing/2014/main" val="2576788477"/>
                    </a:ext>
                  </a:extLst>
                </a:gridCol>
              </a:tblGrid>
              <a:tr h="639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3 - Revisão bibliográfica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Mostrar como a literatura sustenta a modelagem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Perguntas orientadoras, funções da revisão e contribuição para o modelo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585035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26A66614-A47C-9D72-37B4-48DE93A536A7}"/>
              </a:ext>
            </a:extLst>
          </p:cNvPr>
          <p:cNvGraphicFramePr>
            <a:graphicFrameLocks noGrp="1"/>
          </p:cNvGraphicFramePr>
          <p:nvPr/>
        </p:nvGraphicFramePr>
        <p:xfrm>
          <a:off x="492364" y="3260153"/>
          <a:ext cx="11166231" cy="639903"/>
        </p:xfrm>
        <a:graphic>
          <a:graphicData uri="http://schemas.openxmlformats.org/drawingml/2006/table">
            <a:tbl>
              <a:tblPr/>
              <a:tblGrid>
                <a:gridCol w="3402624">
                  <a:extLst>
                    <a:ext uri="{9D8B030D-6E8A-4147-A177-3AD203B41FA5}">
                      <a16:colId xmlns:a16="http://schemas.microsoft.com/office/drawing/2014/main" val="4285395075"/>
                    </a:ext>
                  </a:extLst>
                </a:gridCol>
                <a:gridCol w="4041530">
                  <a:extLst>
                    <a:ext uri="{9D8B030D-6E8A-4147-A177-3AD203B41FA5}">
                      <a16:colId xmlns:a16="http://schemas.microsoft.com/office/drawing/2014/main" val="3233317904"/>
                    </a:ext>
                  </a:extLst>
                </a:gridCol>
                <a:gridCol w="3722077">
                  <a:extLst>
                    <a:ext uri="{9D8B030D-6E8A-4147-A177-3AD203B41FA5}">
                      <a16:colId xmlns:a16="http://schemas.microsoft.com/office/drawing/2014/main" val="3239172417"/>
                    </a:ext>
                  </a:extLst>
                </a:gridCol>
              </a:tblGrid>
              <a:tr h="639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4 - Etapa 1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Mapear externamente o campo acadêmico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Busca, bases, </a:t>
                      </a:r>
                      <a:r>
                        <a:rPr lang="pt-BR" sz="13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strings</a:t>
                      </a:r>
                      <a:r>
                        <a:rPr lang="pt-BR" sz="13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, XLSX, bibliometria, </a:t>
                      </a:r>
                      <a:r>
                        <a:rPr lang="pt-BR" sz="13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VOSviewer</a:t>
                      </a:r>
                      <a:r>
                        <a:rPr lang="pt-BR" sz="13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 e seleção dos trabalhos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75607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ADE7FD95-7321-73CB-5B02-0E79697A54F5}"/>
              </a:ext>
            </a:extLst>
          </p:cNvPr>
          <p:cNvGraphicFramePr>
            <a:graphicFrameLocks noGrp="1"/>
          </p:cNvGraphicFramePr>
          <p:nvPr/>
        </p:nvGraphicFramePr>
        <p:xfrm>
          <a:off x="492364" y="3900056"/>
          <a:ext cx="11166231" cy="639903"/>
        </p:xfrm>
        <a:graphic>
          <a:graphicData uri="http://schemas.openxmlformats.org/drawingml/2006/table">
            <a:tbl>
              <a:tblPr/>
              <a:tblGrid>
                <a:gridCol w="3402624">
                  <a:extLst>
                    <a:ext uri="{9D8B030D-6E8A-4147-A177-3AD203B41FA5}">
                      <a16:colId xmlns:a16="http://schemas.microsoft.com/office/drawing/2014/main" val="1452054144"/>
                    </a:ext>
                  </a:extLst>
                </a:gridCol>
                <a:gridCol w="4041530">
                  <a:extLst>
                    <a:ext uri="{9D8B030D-6E8A-4147-A177-3AD203B41FA5}">
                      <a16:colId xmlns:a16="http://schemas.microsoft.com/office/drawing/2014/main" val="2096158061"/>
                    </a:ext>
                  </a:extLst>
                </a:gridCol>
                <a:gridCol w="3722077">
                  <a:extLst>
                    <a:ext uri="{9D8B030D-6E8A-4147-A177-3AD203B41FA5}">
                      <a16:colId xmlns:a16="http://schemas.microsoft.com/office/drawing/2014/main" val="1605010920"/>
                    </a:ext>
                  </a:extLst>
                </a:gridCol>
              </a:tblGrid>
              <a:tr h="639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5 - Etapa 2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Analisar internamente os artigos selecionados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Matriz de extração, códigos analíticos, síntese comparativa e modelo teórico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00592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E274CF3F-CCE0-C23D-C8BF-1F7E25A09142}"/>
              </a:ext>
            </a:extLst>
          </p:cNvPr>
          <p:cNvGraphicFramePr>
            <a:graphicFrameLocks noGrp="1"/>
          </p:cNvGraphicFramePr>
          <p:nvPr/>
        </p:nvGraphicFramePr>
        <p:xfrm>
          <a:off x="492363" y="4539959"/>
          <a:ext cx="11166231" cy="447932"/>
        </p:xfrm>
        <a:graphic>
          <a:graphicData uri="http://schemas.openxmlformats.org/drawingml/2006/table">
            <a:tbl>
              <a:tblPr/>
              <a:tblGrid>
                <a:gridCol w="3402624">
                  <a:extLst>
                    <a:ext uri="{9D8B030D-6E8A-4147-A177-3AD203B41FA5}">
                      <a16:colId xmlns:a16="http://schemas.microsoft.com/office/drawing/2014/main" val="730718080"/>
                    </a:ext>
                  </a:extLst>
                </a:gridCol>
                <a:gridCol w="4041530">
                  <a:extLst>
                    <a:ext uri="{9D8B030D-6E8A-4147-A177-3AD203B41FA5}">
                      <a16:colId xmlns:a16="http://schemas.microsoft.com/office/drawing/2014/main" val="224953193"/>
                    </a:ext>
                  </a:extLst>
                </a:gridCol>
                <a:gridCol w="3722077">
                  <a:extLst>
                    <a:ext uri="{9D8B030D-6E8A-4147-A177-3AD203B41FA5}">
                      <a16:colId xmlns:a16="http://schemas.microsoft.com/office/drawing/2014/main" val="273776"/>
                    </a:ext>
                  </a:extLst>
                </a:gridCol>
              </a:tblGrid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6 - Produto final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Converter literatura em arquitetura modelar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coordenadas conceituais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087482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2E5D2A70-2880-AD41-1D23-F0BFE6127EC7}"/>
              </a:ext>
            </a:extLst>
          </p:cNvPr>
          <p:cNvGraphicFramePr>
            <a:graphicFrameLocks noGrp="1"/>
          </p:cNvGraphicFramePr>
          <p:nvPr/>
        </p:nvGraphicFramePr>
        <p:xfrm>
          <a:off x="492363" y="4987891"/>
          <a:ext cx="11166231" cy="447932"/>
        </p:xfrm>
        <a:graphic>
          <a:graphicData uri="http://schemas.openxmlformats.org/drawingml/2006/table">
            <a:tbl>
              <a:tblPr/>
              <a:tblGrid>
                <a:gridCol w="3402624">
                  <a:extLst>
                    <a:ext uri="{9D8B030D-6E8A-4147-A177-3AD203B41FA5}">
                      <a16:colId xmlns:a16="http://schemas.microsoft.com/office/drawing/2014/main" val="638381720"/>
                    </a:ext>
                  </a:extLst>
                </a:gridCol>
                <a:gridCol w="4041530">
                  <a:extLst>
                    <a:ext uri="{9D8B030D-6E8A-4147-A177-3AD203B41FA5}">
                      <a16:colId xmlns:a16="http://schemas.microsoft.com/office/drawing/2014/main" val="190467172"/>
                    </a:ext>
                  </a:extLst>
                </a:gridCol>
                <a:gridCol w="3722077">
                  <a:extLst>
                    <a:ext uri="{9D8B030D-6E8A-4147-A177-3AD203B41FA5}">
                      <a16:colId xmlns:a16="http://schemas.microsoft.com/office/drawing/2014/main" val="3017061736"/>
                    </a:ext>
                  </a:extLst>
                </a:gridCol>
              </a:tblGrid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7 - Encerramento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Consolidar a passagem para a próxima etapa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Preparação para formalização do modelo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892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6325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3287DDF-4E13-5AEC-D50F-AB4A91E78CB8}"/>
              </a:ext>
            </a:extLst>
          </p:cNvPr>
          <p:cNvSpPr txBox="1"/>
          <p:nvPr/>
        </p:nvSpPr>
        <p:spPr>
          <a:xfrm>
            <a:off x="3505274" y="2893800"/>
            <a:ext cx="4558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11.1 - Recapitulação</a:t>
            </a:r>
          </a:p>
        </p:txBody>
      </p:sp>
    </p:spTree>
    <p:extLst>
      <p:ext uri="{BB962C8B-B14F-4D97-AF65-F5344CB8AC3E}">
        <p14:creationId xmlns:p14="http://schemas.microsoft.com/office/powerpoint/2010/main" val="1375036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7C293CE-1302-1734-AAE2-AB670BBC3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244" y="566821"/>
            <a:ext cx="8518358" cy="602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016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5B547F03-7F59-1873-5928-333B4A38FB76}"/>
              </a:ext>
            </a:extLst>
          </p:cNvPr>
          <p:cNvGraphicFramePr>
            <a:graphicFrameLocks noGrp="1"/>
          </p:cNvGraphicFramePr>
          <p:nvPr/>
        </p:nvGraphicFramePr>
        <p:xfrm>
          <a:off x="1269201" y="1044953"/>
          <a:ext cx="9266738" cy="324420"/>
        </p:xfrm>
        <a:graphic>
          <a:graphicData uri="http://schemas.openxmlformats.org/drawingml/2006/table">
            <a:tbl>
              <a:tblPr/>
              <a:tblGrid>
                <a:gridCol w="3126954">
                  <a:extLst>
                    <a:ext uri="{9D8B030D-6E8A-4147-A177-3AD203B41FA5}">
                      <a16:colId xmlns:a16="http://schemas.microsoft.com/office/drawing/2014/main" val="3235196262"/>
                    </a:ext>
                  </a:extLst>
                </a:gridCol>
                <a:gridCol w="6139784">
                  <a:extLst>
                    <a:ext uri="{9D8B030D-6E8A-4147-A177-3AD203B41FA5}">
                      <a16:colId xmlns:a16="http://schemas.microsoft.com/office/drawing/2014/main" val="1311294601"/>
                    </a:ext>
                  </a:extLst>
                </a:gridCol>
              </a:tblGrid>
              <a:tr h="322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>
                          <a:solidFill>
                            <a:srgbClr val="FF0000"/>
                          </a:solidFill>
                        </a:rPr>
                        <a:t>Elemento da aula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Síntese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847511"/>
                  </a:ext>
                </a:extLst>
              </a:tr>
            </a:tbl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3E7B4A6D-6E4D-D292-EF9A-C9D621D28BD7}"/>
              </a:ext>
            </a:extLst>
          </p:cNvPr>
          <p:cNvGraphicFramePr>
            <a:graphicFrameLocks noGrp="1"/>
          </p:cNvGraphicFramePr>
          <p:nvPr/>
        </p:nvGraphicFramePr>
        <p:xfrm>
          <a:off x="1269201" y="1369373"/>
          <a:ext cx="9266738" cy="324420"/>
        </p:xfrm>
        <a:graphic>
          <a:graphicData uri="http://schemas.openxmlformats.org/drawingml/2006/table">
            <a:tbl>
              <a:tblPr/>
              <a:tblGrid>
                <a:gridCol w="3126954">
                  <a:extLst>
                    <a:ext uri="{9D8B030D-6E8A-4147-A177-3AD203B41FA5}">
                      <a16:colId xmlns:a16="http://schemas.microsoft.com/office/drawing/2014/main" val="429157416"/>
                    </a:ext>
                  </a:extLst>
                </a:gridCol>
                <a:gridCol w="6139784">
                  <a:extLst>
                    <a:ext uri="{9D8B030D-6E8A-4147-A177-3AD203B41FA5}">
                      <a16:colId xmlns:a16="http://schemas.microsoft.com/office/drawing/2014/main" val="3968581607"/>
                    </a:ext>
                  </a:extLst>
                </a:gridCol>
              </a:tblGrid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Tema central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Caracterização técnica do incêndio em edificação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324870"/>
                  </a:ext>
                </a:extLst>
              </a:tr>
            </a:tbl>
          </a:graphicData>
        </a:graphic>
      </p:graphicFrame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B81E768A-CAF4-1DDD-83E4-158501D86FB4}"/>
              </a:ext>
            </a:extLst>
          </p:cNvPr>
          <p:cNvGraphicFramePr>
            <a:graphicFrameLocks noGrp="1"/>
          </p:cNvGraphicFramePr>
          <p:nvPr/>
        </p:nvGraphicFramePr>
        <p:xfrm>
          <a:off x="1269201" y="1693793"/>
          <a:ext cx="9266738" cy="564062"/>
        </p:xfrm>
        <a:graphic>
          <a:graphicData uri="http://schemas.openxmlformats.org/drawingml/2006/table">
            <a:tbl>
              <a:tblPr/>
              <a:tblGrid>
                <a:gridCol w="3126954">
                  <a:extLst>
                    <a:ext uri="{9D8B030D-6E8A-4147-A177-3AD203B41FA5}">
                      <a16:colId xmlns:a16="http://schemas.microsoft.com/office/drawing/2014/main" val="309758066"/>
                    </a:ext>
                  </a:extLst>
                </a:gridCol>
                <a:gridCol w="6139784">
                  <a:extLst>
                    <a:ext uri="{9D8B030D-6E8A-4147-A177-3AD203B41FA5}">
                      <a16:colId xmlns:a16="http://schemas.microsoft.com/office/drawing/2014/main" val="106445713"/>
                    </a:ext>
                  </a:extLst>
                </a:gridCol>
              </a:tblGrid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Função no ciclo de simulação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Preparar o Sistema de Referência para posterior modelagem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327098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9EAAFD3-DE6E-2472-3FF1-5FF8896082A7}"/>
              </a:ext>
            </a:extLst>
          </p:cNvPr>
          <p:cNvGraphicFramePr>
            <a:graphicFrameLocks noGrp="1"/>
          </p:cNvGraphicFramePr>
          <p:nvPr/>
        </p:nvGraphicFramePr>
        <p:xfrm>
          <a:off x="1269201" y="2257855"/>
          <a:ext cx="9266738" cy="324420"/>
        </p:xfrm>
        <a:graphic>
          <a:graphicData uri="http://schemas.openxmlformats.org/drawingml/2006/table">
            <a:tbl>
              <a:tblPr/>
              <a:tblGrid>
                <a:gridCol w="3126954">
                  <a:extLst>
                    <a:ext uri="{9D8B030D-6E8A-4147-A177-3AD203B41FA5}">
                      <a16:colId xmlns:a16="http://schemas.microsoft.com/office/drawing/2014/main" val="163427316"/>
                    </a:ext>
                  </a:extLst>
                </a:gridCol>
                <a:gridCol w="6139784">
                  <a:extLst>
                    <a:ext uri="{9D8B030D-6E8A-4147-A177-3AD203B41FA5}">
                      <a16:colId xmlns:a16="http://schemas.microsoft.com/office/drawing/2014/main" val="1602849351"/>
                    </a:ext>
                  </a:extLst>
                </a:gridCol>
              </a:tblGrid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Fenômeno analisado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Incêndio em edifício de 30 andares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35161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9EC53312-6E6C-CF64-BB3D-282C8F7FB9D7}"/>
              </a:ext>
            </a:extLst>
          </p:cNvPr>
          <p:cNvGraphicFramePr>
            <a:graphicFrameLocks noGrp="1"/>
          </p:cNvGraphicFramePr>
          <p:nvPr/>
        </p:nvGraphicFramePr>
        <p:xfrm>
          <a:off x="1269201" y="2582275"/>
          <a:ext cx="9266738" cy="324420"/>
        </p:xfrm>
        <a:graphic>
          <a:graphicData uri="http://schemas.openxmlformats.org/drawingml/2006/table">
            <a:tbl>
              <a:tblPr/>
              <a:tblGrid>
                <a:gridCol w="3126954">
                  <a:extLst>
                    <a:ext uri="{9D8B030D-6E8A-4147-A177-3AD203B41FA5}">
                      <a16:colId xmlns:a16="http://schemas.microsoft.com/office/drawing/2014/main" val="4029634610"/>
                    </a:ext>
                  </a:extLst>
                </a:gridCol>
                <a:gridCol w="6139784">
                  <a:extLst>
                    <a:ext uri="{9D8B030D-6E8A-4147-A177-3AD203B41FA5}">
                      <a16:colId xmlns:a16="http://schemas.microsoft.com/office/drawing/2014/main" val="2724723766"/>
                    </a:ext>
                  </a:extLst>
                </a:gridCol>
              </a:tblGrid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Unidade de análise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Evacuação do edifício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4386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FBA428B7-9D41-C544-0370-49C753245A7F}"/>
              </a:ext>
            </a:extLst>
          </p:cNvPr>
          <p:cNvGraphicFramePr>
            <a:graphicFrameLocks noGrp="1"/>
          </p:cNvGraphicFramePr>
          <p:nvPr/>
        </p:nvGraphicFramePr>
        <p:xfrm>
          <a:off x="1269201" y="2906695"/>
          <a:ext cx="9266738" cy="568260"/>
        </p:xfrm>
        <a:graphic>
          <a:graphicData uri="http://schemas.openxmlformats.org/drawingml/2006/table">
            <a:tbl>
              <a:tblPr/>
              <a:tblGrid>
                <a:gridCol w="3126954">
                  <a:extLst>
                    <a:ext uri="{9D8B030D-6E8A-4147-A177-3AD203B41FA5}">
                      <a16:colId xmlns:a16="http://schemas.microsoft.com/office/drawing/2014/main" val="2887041073"/>
                    </a:ext>
                  </a:extLst>
                </a:gridCol>
                <a:gridCol w="6139784">
                  <a:extLst>
                    <a:ext uri="{9D8B030D-6E8A-4147-A177-3AD203B41FA5}">
                      <a16:colId xmlns:a16="http://schemas.microsoft.com/office/drawing/2014/main" val="3215412924"/>
                    </a:ext>
                  </a:extLst>
                </a:gridCol>
              </a:tblGrid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Variáveis principais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Andares, escadas, saídas, ocupantes, fogo, fumaça, rotas, densidade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033395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F6B7606A-FC87-30B6-4D73-073BFD519AF5}"/>
              </a:ext>
            </a:extLst>
          </p:cNvPr>
          <p:cNvGraphicFramePr>
            <a:graphicFrameLocks noGrp="1"/>
          </p:cNvGraphicFramePr>
          <p:nvPr/>
        </p:nvGraphicFramePr>
        <p:xfrm>
          <a:off x="1269201" y="3474955"/>
          <a:ext cx="9266738" cy="568260"/>
        </p:xfrm>
        <a:graphic>
          <a:graphicData uri="http://schemas.openxmlformats.org/drawingml/2006/table">
            <a:tbl>
              <a:tblPr/>
              <a:tblGrid>
                <a:gridCol w="3126954">
                  <a:extLst>
                    <a:ext uri="{9D8B030D-6E8A-4147-A177-3AD203B41FA5}">
                      <a16:colId xmlns:a16="http://schemas.microsoft.com/office/drawing/2014/main" val="214415948"/>
                    </a:ext>
                  </a:extLst>
                </a:gridCol>
                <a:gridCol w="6139784">
                  <a:extLst>
                    <a:ext uri="{9D8B030D-6E8A-4147-A177-3AD203B41FA5}">
                      <a16:colId xmlns:a16="http://schemas.microsoft.com/office/drawing/2014/main" val="3777723961"/>
                    </a:ext>
                  </a:extLst>
                </a:gridCol>
              </a:tblGrid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Parâmetros derivados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Número de agentes, foco inicial, propagação, visibilidade, velocidade, capacidade de fluxo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48663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95D546B1-148D-9F6B-CCEE-0A40F5A04436}"/>
              </a:ext>
            </a:extLst>
          </p:cNvPr>
          <p:cNvGraphicFramePr>
            <a:graphicFrameLocks noGrp="1"/>
          </p:cNvGraphicFramePr>
          <p:nvPr/>
        </p:nvGraphicFramePr>
        <p:xfrm>
          <a:off x="1269201" y="4043215"/>
          <a:ext cx="9266738" cy="568260"/>
        </p:xfrm>
        <a:graphic>
          <a:graphicData uri="http://schemas.openxmlformats.org/drawingml/2006/table">
            <a:tbl>
              <a:tblPr/>
              <a:tblGrid>
                <a:gridCol w="3126954">
                  <a:extLst>
                    <a:ext uri="{9D8B030D-6E8A-4147-A177-3AD203B41FA5}">
                      <a16:colId xmlns:a16="http://schemas.microsoft.com/office/drawing/2014/main" val="3497625877"/>
                    </a:ext>
                  </a:extLst>
                </a:gridCol>
                <a:gridCol w="6139784">
                  <a:extLst>
                    <a:ext uri="{9D8B030D-6E8A-4147-A177-3AD203B41FA5}">
                      <a16:colId xmlns:a16="http://schemas.microsoft.com/office/drawing/2014/main" val="2630030717"/>
                    </a:ext>
                  </a:extLst>
                </a:gridCol>
              </a:tblGrid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Simplificações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Elevadores bloqueados, grade espacial, racionalidade limitada, escadas como gargalos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090932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F3E6718F-6040-FA8B-F09B-9A0AAC1B19EA}"/>
              </a:ext>
            </a:extLst>
          </p:cNvPr>
          <p:cNvGraphicFramePr>
            <a:graphicFrameLocks noGrp="1"/>
          </p:cNvGraphicFramePr>
          <p:nvPr/>
        </p:nvGraphicFramePr>
        <p:xfrm>
          <a:off x="1269201" y="4611475"/>
          <a:ext cx="9266738" cy="812100"/>
        </p:xfrm>
        <a:graphic>
          <a:graphicData uri="http://schemas.openxmlformats.org/drawingml/2006/table">
            <a:tbl>
              <a:tblPr/>
              <a:tblGrid>
                <a:gridCol w="3126954">
                  <a:extLst>
                    <a:ext uri="{9D8B030D-6E8A-4147-A177-3AD203B41FA5}">
                      <a16:colId xmlns:a16="http://schemas.microsoft.com/office/drawing/2014/main" val="2044755246"/>
                    </a:ext>
                  </a:extLst>
                </a:gridCol>
                <a:gridCol w="6139784">
                  <a:extLst>
                    <a:ext uri="{9D8B030D-6E8A-4147-A177-3AD203B41FA5}">
                      <a16:colId xmlns:a16="http://schemas.microsoft.com/office/drawing/2014/main" val="1780759054"/>
                    </a:ext>
                  </a:extLst>
                </a:gridCol>
              </a:tblGrid>
              <a:tr h="80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Entregável da aula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Definição técnica do fenômeno, delimitação do sistema de referência, variáveis relevantes e preparação para o modelo conceitual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187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594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64310-153C-2B4E-5327-03D35F838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694D6DD-CADD-1A2A-1BF2-A00B50FA5CE3}"/>
              </a:ext>
            </a:extLst>
          </p:cNvPr>
          <p:cNvSpPr txBox="1"/>
          <p:nvPr/>
        </p:nvSpPr>
        <p:spPr>
          <a:xfrm>
            <a:off x="1524000" y="3105834"/>
            <a:ext cx="9462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11.2. Revisão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24406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A073D79-2C7F-5DE2-CC60-C58DDBE3001C}"/>
              </a:ext>
            </a:extLst>
          </p:cNvPr>
          <p:cNvGraphicFramePr>
            <a:graphicFrameLocks noGrp="1"/>
          </p:cNvGraphicFramePr>
          <p:nvPr/>
        </p:nvGraphicFramePr>
        <p:xfrm>
          <a:off x="600808" y="4347712"/>
          <a:ext cx="10621108" cy="2133600"/>
        </p:xfrm>
        <a:graphic>
          <a:graphicData uri="http://schemas.openxmlformats.org/drawingml/2006/table">
            <a:tbl>
              <a:tblPr/>
              <a:tblGrid>
                <a:gridCol w="5310554">
                  <a:extLst>
                    <a:ext uri="{9D8B030D-6E8A-4147-A177-3AD203B41FA5}">
                      <a16:colId xmlns:a16="http://schemas.microsoft.com/office/drawing/2014/main" val="2482625440"/>
                    </a:ext>
                  </a:extLst>
                </a:gridCol>
                <a:gridCol w="5310554">
                  <a:extLst>
                    <a:ext uri="{9D8B030D-6E8A-4147-A177-3AD203B41FA5}">
                      <a16:colId xmlns:a16="http://schemas.microsoft.com/office/drawing/2014/main" val="3688578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rgbClr val="FF0000"/>
                          </a:solidFill>
                        </a:rPr>
                        <a:t>Pergunta orientadora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rgbClr val="FF0000"/>
                          </a:solidFill>
                        </a:rPr>
                        <a:t>O que permite identificar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328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 que já foi produzido sobre este tema?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Estado atual do conhecimento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455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Quem são os principais autores?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Referências centrais do campo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804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Quais conceitos são utilizados?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Base teórica da pesquisa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740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Quais métodos aparecem nos estudos anteriores?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Estratégias metodológicas dominantes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8395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Quais resultados foram obtidos?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Evidências já disponíveis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810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 que ainda não foi resolvido?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Lacuna ou oportunidade de pesquisa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520352"/>
                  </a:ext>
                </a:extLst>
              </a:tr>
            </a:tbl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7CBA70E0-C9D9-3BF6-3BB0-A65CE45B2FD0}"/>
              </a:ext>
            </a:extLst>
          </p:cNvPr>
          <p:cNvGraphicFramePr>
            <a:graphicFrameLocks noGrp="1"/>
          </p:cNvGraphicFramePr>
          <p:nvPr/>
        </p:nvGraphicFramePr>
        <p:xfrm>
          <a:off x="600808" y="2105842"/>
          <a:ext cx="10515600" cy="1950720"/>
        </p:xfrm>
        <a:graphic>
          <a:graphicData uri="http://schemas.openxmlformats.org/drawingml/2006/table">
            <a:tbl>
              <a:tblPr/>
              <a:tblGrid>
                <a:gridCol w="3408484">
                  <a:extLst>
                    <a:ext uri="{9D8B030D-6E8A-4147-A177-3AD203B41FA5}">
                      <a16:colId xmlns:a16="http://schemas.microsoft.com/office/drawing/2014/main" val="702614754"/>
                    </a:ext>
                  </a:extLst>
                </a:gridCol>
                <a:gridCol w="7107116">
                  <a:extLst>
                    <a:ext uri="{9D8B030D-6E8A-4147-A177-3AD203B41FA5}">
                      <a16:colId xmlns:a16="http://schemas.microsoft.com/office/drawing/2014/main" val="40507332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rgbClr val="FF0000"/>
                          </a:solidFill>
                        </a:rPr>
                        <a:t>Função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279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Mapear o campo</a:t>
                      </a: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Identifica os principais autores, obras, teorias, conceitos e debates relacionados ao tema.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48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Comparar trabalhos existentes</a:t>
                      </a:r>
                      <a:endParaRPr lang="pt-BR" sz="14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Permite verificar semelhanças, diferenças, avanços, limites e contradições entre estudos anteriores.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921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Fundamentar teoricamente a pesquisa</a:t>
                      </a:r>
                      <a:endParaRPr lang="pt-BR" sz="14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Fornece a base conceitual que sustenta o problema, os objetivos, as hipóteses e o modelo analítico.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546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Identificar lacunas</a:t>
                      </a: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Mostra o que ainda não foi suficientemente explicado, testado, modelado ou aplicado.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1392795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F969486B-439F-4A5A-1BC3-738431869335}"/>
              </a:ext>
            </a:extLst>
          </p:cNvPr>
          <p:cNvSpPr txBox="1"/>
          <p:nvPr/>
        </p:nvSpPr>
        <p:spPr>
          <a:xfrm>
            <a:off x="534132" y="376688"/>
            <a:ext cx="113091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just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11.2.1.1. Definição:</a:t>
            </a:r>
          </a:p>
          <a:p>
            <a:pPr algn="just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Revisão Bibliográfica</a:t>
            </a: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é o procedimento sistemático de levantamento, seleção, leitura, análise e organização da literatura científica já produzida sobre um determinado tema, problema ou objeto de pesquisa.</a:t>
            </a:r>
          </a:p>
        </p:txBody>
      </p:sp>
    </p:spTree>
    <p:extLst>
      <p:ext uri="{BB962C8B-B14F-4D97-AF65-F5344CB8AC3E}">
        <p14:creationId xmlns:p14="http://schemas.microsoft.com/office/powerpoint/2010/main" val="81103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D34CFE67-D17D-C907-BF9B-2F135B927C2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871232"/>
          <a:ext cx="10515600" cy="365760"/>
        </p:xfrm>
        <a:graphic>
          <a:graphicData uri="http://schemas.openxmlformats.org/drawingml/2006/table">
            <a:tbl>
              <a:tblPr/>
              <a:tblGrid>
                <a:gridCol w="4111870">
                  <a:extLst>
                    <a:ext uri="{9D8B030D-6E8A-4147-A177-3AD203B41FA5}">
                      <a16:colId xmlns:a16="http://schemas.microsoft.com/office/drawing/2014/main" val="3028579005"/>
                    </a:ext>
                  </a:extLst>
                </a:gridCol>
                <a:gridCol w="6403730">
                  <a:extLst>
                    <a:ext uri="{9D8B030D-6E8A-4147-A177-3AD203B41FA5}">
                      <a16:colId xmlns:a16="http://schemas.microsoft.com/office/drawing/2014/main" val="7846024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>
                          <a:solidFill>
                            <a:srgbClr val="FF0000"/>
                          </a:solidFill>
                        </a:rPr>
                        <a:t>Etapa da modelagem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rgbClr val="FF0000"/>
                          </a:solidFill>
                        </a:rPr>
                        <a:t>Contribuição da revisão bibliográfica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995552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40C1D9B2-328A-EC27-AF67-6373773381F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236992"/>
          <a:ext cx="10515600" cy="365760"/>
        </p:xfrm>
        <a:graphic>
          <a:graphicData uri="http://schemas.openxmlformats.org/drawingml/2006/table">
            <a:tbl>
              <a:tblPr/>
              <a:tblGrid>
                <a:gridCol w="4111870">
                  <a:extLst>
                    <a:ext uri="{9D8B030D-6E8A-4147-A177-3AD203B41FA5}">
                      <a16:colId xmlns:a16="http://schemas.microsoft.com/office/drawing/2014/main" val="484393925"/>
                    </a:ext>
                  </a:extLst>
                </a:gridCol>
                <a:gridCol w="6403730">
                  <a:extLst>
                    <a:ext uri="{9D8B030D-6E8A-4147-A177-3AD203B41FA5}">
                      <a16:colId xmlns:a16="http://schemas.microsoft.com/office/drawing/2014/main" val="18241972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Delimitação do sistema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que deve ser incluído ou excluído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7064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6D0BD69-4513-FB9B-F17A-B13CAE282CC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02752"/>
          <a:ext cx="10515600" cy="365760"/>
        </p:xfrm>
        <a:graphic>
          <a:graphicData uri="http://schemas.openxmlformats.org/drawingml/2006/table">
            <a:tbl>
              <a:tblPr/>
              <a:tblGrid>
                <a:gridCol w="4111870">
                  <a:extLst>
                    <a:ext uri="{9D8B030D-6E8A-4147-A177-3AD203B41FA5}">
                      <a16:colId xmlns:a16="http://schemas.microsoft.com/office/drawing/2014/main" val="2405856663"/>
                    </a:ext>
                  </a:extLst>
                </a:gridCol>
                <a:gridCol w="6403730">
                  <a:extLst>
                    <a:ext uri="{9D8B030D-6E8A-4147-A177-3AD203B41FA5}">
                      <a16:colId xmlns:a16="http://schemas.microsoft.com/office/drawing/2014/main" val="23849968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Definição dos agentes/componentes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Identifica unidades relevantes do fenômeno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681948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155F418B-FDDF-C809-4DCC-C291D059763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68512"/>
          <a:ext cx="10515600" cy="365760"/>
        </p:xfrm>
        <a:graphic>
          <a:graphicData uri="http://schemas.openxmlformats.org/drawingml/2006/table">
            <a:tbl>
              <a:tblPr/>
              <a:tblGrid>
                <a:gridCol w="4111870">
                  <a:extLst>
                    <a:ext uri="{9D8B030D-6E8A-4147-A177-3AD203B41FA5}">
                      <a16:colId xmlns:a16="http://schemas.microsoft.com/office/drawing/2014/main" val="1678276895"/>
                    </a:ext>
                  </a:extLst>
                </a:gridCol>
                <a:gridCol w="6403730">
                  <a:extLst>
                    <a:ext uri="{9D8B030D-6E8A-4147-A177-3AD203B41FA5}">
                      <a16:colId xmlns:a16="http://schemas.microsoft.com/office/drawing/2014/main" val="12940285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Escolha das variáveis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Mostra quais fatores são importantes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040590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5ADD97DB-B04A-6AA5-C237-D03E2C146E4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34272"/>
          <a:ext cx="10515600" cy="365760"/>
        </p:xfrm>
        <a:graphic>
          <a:graphicData uri="http://schemas.openxmlformats.org/drawingml/2006/table">
            <a:tbl>
              <a:tblPr/>
              <a:tblGrid>
                <a:gridCol w="4111870">
                  <a:extLst>
                    <a:ext uri="{9D8B030D-6E8A-4147-A177-3AD203B41FA5}">
                      <a16:colId xmlns:a16="http://schemas.microsoft.com/office/drawing/2014/main" val="3354636979"/>
                    </a:ext>
                  </a:extLst>
                </a:gridCol>
                <a:gridCol w="6403730">
                  <a:extLst>
                    <a:ext uri="{9D8B030D-6E8A-4147-A177-3AD203B41FA5}">
                      <a16:colId xmlns:a16="http://schemas.microsoft.com/office/drawing/2014/main" val="22916778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Definição das relações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Indica mecanismos causais ou funcionais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505881"/>
                  </a:ext>
                </a:extLst>
              </a:tr>
            </a:tbl>
          </a:graphicData>
        </a:graphic>
      </p:graphicFrame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89D000B2-15B5-41B3-BFD7-A895BF3E352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700032"/>
          <a:ext cx="10515600" cy="365760"/>
        </p:xfrm>
        <a:graphic>
          <a:graphicData uri="http://schemas.openxmlformats.org/drawingml/2006/table">
            <a:tbl>
              <a:tblPr/>
              <a:tblGrid>
                <a:gridCol w="4111870">
                  <a:extLst>
                    <a:ext uri="{9D8B030D-6E8A-4147-A177-3AD203B41FA5}">
                      <a16:colId xmlns:a16="http://schemas.microsoft.com/office/drawing/2014/main" val="3562779403"/>
                    </a:ext>
                  </a:extLst>
                </a:gridCol>
                <a:gridCol w="6403730">
                  <a:extLst>
                    <a:ext uri="{9D8B030D-6E8A-4147-A177-3AD203B41FA5}">
                      <a16:colId xmlns:a16="http://schemas.microsoft.com/office/drawing/2014/main" val="22453038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Escolha do formalismo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Orienta o tipo de modelo mais adequado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298899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E0AFF14A-8CA8-C0B7-1B09-AEE09E5D660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060689"/>
          <a:ext cx="10515600" cy="365760"/>
        </p:xfrm>
        <a:graphic>
          <a:graphicData uri="http://schemas.openxmlformats.org/drawingml/2006/table">
            <a:tbl>
              <a:tblPr/>
              <a:tblGrid>
                <a:gridCol w="4111870">
                  <a:extLst>
                    <a:ext uri="{9D8B030D-6E8A-4147-A177-3AD203B41FA5}">
                      <a16:colId xmlns:a16="http://schemas.microsoft.com/office/drawing/2014/main" val="4275825791"/>
                    </a:ext>
                  </a:extLst>
                </a:gridCol>
                <a:gridCol w="6403730">
                  <a:extLst>
                    <a:ext uri="{9D8B030D-6E8A-4147-A177-3AD203B41FA5}">
                      <a16:colId xmlns:a16="http://schemas.microsoft.com/office/drawing/2014/main" val="12816043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Parametrização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Fornece valores ou intervalos iniciais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822575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0ECDE1D2-19FA-1B82-5980-3D088810C78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426449"/>
          <a:ext cx="10515600" cy="365760"/>
        </p:xfrm>
        <a:graphic>
          <a:graphicData uri="http://schemas.openxmlformats.org/drawingml/2006/table">
            <a:tbl>
              <a:tblPr/>
              <a:tblGrid>
                <a:gridCol w="4111870">
                  <a:extLst>
                    <a:ext uri="{9D8B030D-6E8A-4147-A177-3AD203B41FA5}">
                      <a16:colId xmlns:a16="http://schemas.microsoft.com/office/drawing/2014/main" val="2430368689"/>
                    </a:ext>
                  </a:extLst>
                </a:gridCol>
                <a:gridCol w="6403730">
                  <a:extLst>
                    <a:ext uri="{9D8B030D-6E8A-4147-A177-3AD203B41FA5}">
                      <a16:colId xmlns:a16="http://schemas.microsoft.com/office/drawing/2014/main" val="737111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Construção de hipóteses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Transforma lacunas em testes simuláveis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532598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4F7DB00A-11A3-5AE9-2B89-EC70D9D04CB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787106"/>
          <a:ext cx="10515600" cy="365760"/>
        </p:xfrm>
        <a:graphic>
          <a:graphicData uri="http://schemas.openxmlformats.org/drawingml/2006/table">
            <a:tbl>
              <a:tblPr/>
              <a:tblGrid>
                <a:gridCol w="4111870">
                  <a:extLst>
                    <a:ext uri="{9D8B030D-6E8A-4147-A177-3AD203B41FA5}">
                      <a16:colId xmlns:a16="http://schemas.microsoft.com/office/drawing/2014/main" val="183731824"/>
                    </a:ext>
                  </a:extLst>
                </a:gridCol>
                <a:gridCol w="6403730">
                  <a:extLst>
                    <a:ext uri="{9D8B030D-6E8A-4147-A177-3AD203B41FA5}">
                      <a16:colId xmlns:a16="http://schemas.microsoft.com/office/drawing/2014/main" val="38186346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Validação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Fornece critérios de comparação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603200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EABA1464-07E1-A3CF-2CA3-90FC8A6160C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4147763"/>
          <a:ext cx="10515600" cy="365760"/>
        </p:xfrm>
        <a:graphic>
          <a:graphicData uri="http://schemas.openxmlformats.org/drawingml/2006/table">
            <a:tbl>
              <a:tblPr/>
              <a:tblGrid>
                <a:gridCol w="4111870">
                  <a:extLst>
                    <a:ext uri="{9D8B030D-6E8A-4147-A177-3AD203B41FA5}">
                      <a16:colId xmlns:a16="http://schemas.microsoft.com/office/drawing/2014/main" val="2151987690"/>
                    </a:ext>
                  </a:extLst>
                </a:gridCol>
                <a:gridCol w="6403730">
                  <a:extLst>
                    <a:ext uri="{9D8B030D-6E8A-4147-A177-3AD203B41FA5}">
                      <a16:colId xmlns:a16="http://schemas.microsoft.com/office/drawing/2014/main" val="3532514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Originalidade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Mostra onde o modelo pode contribuir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07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456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608BB9A-010F-8E9C-8725-561621C9F39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t="11620" b="15081"/>
          <a:stretch>
            <a:fillRect/>
          </a:stretch>
        </p:blipFill>
        <p:spPr>
          <a:xfrm>
            <a:off x="935224" y="826477"/>
            <a:ext cx="9932069" cy="409721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CA50C86-304B-C4C0-ABF0-E92A144060DC}"/>
              </a:ext>
            </a:extLst>
          </p:cNvPr>
          <p:cNvSpPr txBox="1"/>
          <p:nvPr/>
        </p:nvSpPr>
        <p:spPr>
          <a:xfrm>
            <a:off x="377519" y="5143362"/>
            <a:ext cx="114369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Etapa 1 responde: </a:t>
            </a:r>
            <a:r>
              <a:rPr lang="pt-BR" dirty="0">
                <a:solidFill>
                  <a:srgbClr val="FF0000"/>
                </a:solidFill>
              </a:rPr>
              <a:t>quais são os trabalhos relevantes?</a:t>
            </a:r>
          </a:p>
          <a:p>
            <a:r>
              <a:rPr lang="pt-BR" b="1" dirty="0">
                <a:solidFill>
                  <a:srgbClr val="FF0000"/>
                </a:solidFill>
              </a:rPr>
              <a:t>Etapa 2 responde: </a:t>
            </a:r>
            <a:r>
              <a:rPr lang="pt-BR" dirty="0">
                <a:solidFill>
                  <a:srgbClr val="FF0000"/>
                </a:solidFill>
              </a:rPr>
              <a:t>como esses trabalhos efetivamente podem alimentar o modelo teórico?</a:t>
            </a:r>
          </a:p>
        </p:txBody>
      </p:sp>
    </p:spTree>
    <p:extLst>
      <p:ext uri="{BB962C8B-B14F-4D97-AF65-F5344CB8AC3E}">
        <p14:creationId xmlns:p14="http://schemas.microsoft.com/office/powerpoint/2010/main" val="36648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1CF10-B518-7249-6823-D1635879F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76719CE-086C-2493-56D3-33A200AC7653}"/>
              </a:ext>
            </a:extLst>
          </p:cNvPr>
          <p:cNvSpPr txBox="1"/>
          <p:nvPr/>
        </p:nvSpPr>
        <p:spPr>
          <a:xfrm>
            <a:off x="1524000" y="3105834"/>
            <a:ext cx="9462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10.2.1. Etapa 1</a:t>
            </a:r>
          </a:p>
        </p:txBody>
      </p:sp>
    </p:spTree>
    <p:extLst>
      <p:ext uri="{BB962C8B-B14F-4D97-AF65-F5344CB8AC3E}">
        <p14:creationId xmlns:p14="http://schemas.microsoft.com/office/powerpoint/2010/main" val="2399195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2AABC01-48D8-9A22-0577-0BC042BB5321}"/>
              </a:ext>
            </a:extLst>
          </p:cNvPr>
          <p:cNvSpPr txBox="1"/>
          <p:nvPr/>
        </p:nvSpPr>
        <p:spPr>
          <a:xfrm>
            <a:off x="305532" y="630593"/>
            <a:ext cx="11414613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10.3.1.1. Etapa 1 — Nível Macro = Externa</a:t>
            </a:r>
          </a:p>
          <a:p>
            <a:pPr marL="984250" algn="just">
              <a:buNone/>
            </a:pPr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</a:t>
            </a: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Etapa 1</a:t>
            </a:r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corresponde ao momento de identificação, recuperação, filtragem e organização inicial da literatura acadêmica. Sua função é construir o </a:t>
            </a: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corpus de artigos relevantes</a:t>
            </a:r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que será posteriormente analisado de maneira interna na Etapa 2.</a:t>
            </a:r>
          </a:p>
          <a:p>
            <a:pPr marL="984250" algn="just">
              <a:buNone/>
            </a:pPr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Ela opera no </a:t>
            </a: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nível macro</a:t>
            </a:r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porque não examina ainda o conteúdo conceitual profundo de cada artigo. Seu foco principal está na estrutura externa da produção científica: bases de dados, palavras-chave, volume de publicações, ano, idioma, citações, recorrência de termos, redes de </a:t>
            </a:r>
            <a:r>
              <a:rPr lang="pt-BR" sz="16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coocorrência</a:t>
            </a:r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e identificação dos trabalhos mais relevantes.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D9F0E32-49AB-B49D-89DF-2FB6EAEF4709}"/>
              </a:ext>
            </a:extLst>
          </p:cNvPr>
          <p:cNvSpPr txBox="1"/>
          <p:nvPr/>
        </p:nvSpPr>
        <p:spPr>
          <a:xfrm>
            <a:off x="1290272" y="2538730"/>
            <a:ext cx="104298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solidFill>
                  <a:srgbClr val="FF0000"/>
                </a:solidFill>
              </a:rPr>
              <a:t>A Etapa 1 responde: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Quais trabalhos existem, onde estão publicados, como se distribuem e quais devem ser selecionados?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C0B4388-2D29-FE7D-E51A-0A8D1ABFE89D}"/>
              </a:ext>
            </a:extLst>
          </p:cNvPr>
          <p:cNvGraphicFramePr>
            <a:graphicFrameLocks noGrp="1"/>
          </p:cNvGraphicFramePr>
          <p:nvPr/>
        </p:nvGraphicFramePr>
        <p:xfrm>
          <a:off x="820616" y="3745523"/>
          <a:ext cx="11057793" cy="2286000"/>
        </p:xfrm>
        <a:graphic>
          <a:graphicData uri="http://schemas.openxmlformats.org/drawingml/2006/table">
            <a:tbl>
              <a:tblPr/>
              <a:tblGrid>
                <a:gridCol w="2890806">
                  <a:extLst>
                    <a:ext uri="{9D8B030D-6E8A-4147-A177-3AD203B41FA5}">
                      <a16:colId xmlns:a16="http://schemas.microsoft.com/office/drawing/2014/main" val="1333568741"/>
                    </a:ext>
                  </a:extLst>
                </a:gridCol>
                <a:gridCol w="4481056">
                  <a:extLst>
                    <a:ext uri="{9D8B030D-6E8A-4147-A177-3AD203B41FA5}">
                      <a16:colId xmlns:a16="http://schemas.microsoft.com/office/drawing/2014/main" val="4008919038"/>
                    </a:ext>
                  </a:extLst>
                </a:gridCol>
                <a:gridCol w="3685931">
                  <a:extLst>
                    <a:ext uri="{9D8B030D-6E8A-4147-A177-3AD203B41FA5}">
                      <a16:colId xmlns:a16="http://schemas.microsoft.com/office/drawing/2014/main" val="15583030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>
                          <a:solidFill>
                            <a:srgbClr val="FF0000"/>
                          </a:solidFill>
                        </a:rPr>
                        <a:t>Produto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rgbClr val="FF0000"/>
                          </a:solidFill>
                        </a:rPr>
                        <a:t>Função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119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Base bibliográfica inicial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Conjunto bruto de registros extraídos das bases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Ponto de partida da revisão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85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Planilha XLSX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Organização dos metadados dos artigos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Controle e rastreabilidade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71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Indicadores bibliométricos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Ano, idioma, citações, palavras-chave, recorrência de termos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Caracterização externa do campo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169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Mapa de termos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Visualização da estrutura temática do campo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Identificação de agrupamentos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075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Lista de trabalhos relevantes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Artigos selecionados para leitura aprofundada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Entrada da Etapa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031056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4499D5F3-AA14-5FA8-6A7D-A3EEE10C228D}"/>
              </a:ext>
            </a:extLst>
          </p:cNvPr>
          <p:cNvSpPr txBox="1"/>
          <p:nvPr/>
        </p:nvSpPr>
        <p:spPr>
          <a:xfrm>
            <a:off x="820616" y="331471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Produto da Etapa 1</a:t>
            </a:r>
          </a:p>
        </p:txBody>
      </p:sp>
    </p:spTree>
    <p:extLst>
      <p:ext uri="{BB962C8B-B14F-4D97-AF65-F5344CB8AC3E}">
        <p14:creationId xmlns:p14="http://schemas.microsoft.com/office/powerpoint/2010/main" val="18715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59BA95C-F423-44CB-9E8A-0DF1134E59CE}"/>
              </a:ext>
            </a:extLst>
          </p:cNvPr>
          <p:cNvSpPr txBox="1"/>
          <p:nvPr/>
        </p:nvSpPr>
        <p:spPr>
          <a:xfrm>
            <a:off x="663922" y="629761"/>
            <a:ext cx="111529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bibliometria é cruzamento da </a:t>
            </a:r>
            <a:r>
              <a:rPr lang="pt-BR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biblitecomonia</a:t>
            </a: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e da ciência da informação. Aplica métodos estatísticos e matemáticos para analisar e construir indicadores sobre a dinâmica e evolução da informação científica e tecnológica de determinadas disciplinas, áreas, organizações ou países. 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BC26A3D-6840-147F-BCFA-02A18D936B4C}"/>
              </a:ext>
            </a:extLst>
          </p:cNvPr>
          <p:cNvSpPr txBox="1"/>
          <p:nvPr/>
        </p:nvSpPr>
        <p:spPr>
          <a:xfrm>
            <a:off x="677791" y="1767701"/>
            <a:ext cx="6083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análise bibliométrica é dividida em 4 etapas principais: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92F226B-208D-BC46-DA61-CD4F7897FF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58" b="11600"/>
          <a:stretch>
            <a:fillRect/>
          </a:stretch>
        </p:blipFill>
        <p:spPr>
          <a:xfrm>
            <a:off x="1251747" y="2351643"/>
            <a:ext cx="8753899" cy="353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0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D84A0C6-B825-8F67-C780-4734D02F7CA3}"/>
              </a:ext>
            </a:extLst>
          </p:cNvPr>
          <p:cNvSpPr txBox="1"/>
          <p:nvPr/>
        </p:nvSpPr>
        <p:spPr>
          <a:xfrm>
            <a:off x="2424502" y="1446068"/>
            <a:ext cx="7536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Lista de termos e estratégias de pesquisa – Simulações Incêndio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1D8C773-FAE0-996C-6CAE-763920507144}"/>
              </a:ext>
            </a:extLst>
          </p:cNvPr>
          <p:cNvGraphicFramePr>
            <a:graphicFrameLocks noGrp="1"/>
          </p:cNvGraphicFramePr>
          <p:nvPr/>
        </p:nvGraphicFramePr>
        <p:xfrm>
          <a:off x="301869" y="1815400"/>
          <a:ext cx="11588262" cy="172178"/>
        </p:xfrm>
        <a:graphic>
          <a:graphicData uri="http://schemas.openxmlformats.org/drawingml/2006/table">
            <a:tbl>
              <a:tblPr/>
              <a:tblGrid>
                <a:gridCol w="559777">
                  <a:extLst>
                    <a:ext uri="{9D8B030D-6E8A-4147-A177-3AD203B41FA5}">
                      <a16:colId xmlns:a16="http://schemas.microsoft.com/office/drawing/2014/main" val="2859091797"/>
                    </a:ext>
                  </a:extLst>
                </a:gridCol>
                <a:gridCol w="1726223">
                  <a:extLst>
                    <a:ext uri="{9D8B030D-6E8A-4147-A177-3AD203B41FA5}">
                      <a16:colId xmlns:a16="http://schemas.microsoft.com/office/drawing/2014/main" val="2293935455"/>
                    </a:ext>
                  </a:extLst>
                </a:gridCol>
                <a:gridCol w="2831123">
                  <a:extLst>
                    <a:ext uri="{9D8B030D-6E8A-4147-A177-3AD203B41FA5}">
                      <a16:colId xmlns:a16="http://schemas.microsoft.com/office/drawing/2014/main" val="1534746033"/>
                    </a:ext>
                  </a:extLst>
                </a:gridCol>
                <a:gridCol w="3138854">
                  <a:extLst>
                    <a:ext uri="{9D8B030D-6E8A-4147-A177-3AD203B41FA5}">
                      <a16:colId xmlns:a16="http://schemas.microsoft.com/office/drawing/2014/main" val="1113249990"/>
                    </a:ext>
                  </a:extLst>
                </a:gridCol>
                <a:gridCol w="3332285">
                  <a:extLst>
                    <a:ext uri="{9D8B030D-6E8A-4147-A177-3AD203B41FA5}">
                      <a16:colId xmlns:a16="http://schemas.microsoft.com/office/drawing/2014/main" val="437999863"/>
                    </a:ext>
                  </a:extLst>
                </a:gridCol>
              </a:tblGrid>
              <a:tr h="1384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b="1">
                          <a:solidFill>
                            <a:srgbClr val="FF0000"/>
                          </a:solidFill>
                        </a:rPr>
                        <a:t>Rodada</a:t>
                      </a:r>
                    </a:p>
                  </a:txBody>
                  <a:tcPr marL="19779" marR="19779" marT="9889" marB="9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b="1">
                          <a:solidFill>
                            <a:srgbClr val="FF0000"/>
                          </a:solidFill>
                        </a:rPr>
                        <a:t>Estratégia</a:t>
                      </a:r>
                    </a:p>
                  </a:txBody>
                  <a:tcPr marL="19779" marR="19779" marT="9889" marB="9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b="1">
                          <a:solidFill>
                            <a:srgbClr val="FF0000"/>
                          </a:solidFill>
                        </a:rPr>
                        <a:t>WoS — Web of Science</a:t>
                      </a:r>
                    </a:p>
                  </a:txBody>
                  <a:tcPr marL="19779" marR="19779" marT="9889" marB="9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b="1">
                          <a:solidFill>
                            <a:srgbClr val="FF0000"/>
                          </a:solidFill>
                        </a:rPr>
                        <a:t>Scopus</a:t>
                      </a:r>
                    </a:p>
                  </a:txBody>
                  <a:tcPr marL="19779" marR="19779" marT="9889" marB="9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b="1" dirty="0">
                          <a:solidFill>
                            <a:srgbClr val="FF0000"/>
                          </a:solidFill>
                        </a:rPr>
                        <a:t>IEEE </a:t>
                      </a:r>
                      <a:r>
                        <a:rPr lang="pt-BR" sz="1000" b="1" dirty="0" err="1">
                          <a:solidFill>
                            <a:srgbClr val="FF0000"/>
                          </a:solidFill>
                        </a:rPr>
                        <a:t>Xplore</a:t>
                      </a:r>
                      <a:endParaRPr lang="pt-BR"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19779" marR="19779" marT="9889" marB="9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920915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903508A8-BC16-7044-BC06-DC67CFE76A94}"/>
              </a:ext>
            </a:extLst>
          </p:cNvPr>
          <p:cNvGraphicFramePr>
            <a:graphicFrameLocks noGrp="1"/>
          </p:cNvGraphicFramePr>
          <p:nvPr/>
        </p:nvGraphicFramePr>
        <p:xfrm>
          <a:off x="301869" y="1987579"/>
          <a:ext cx="11588262" cy="1543778"/>
        </p:xfrm>
        <a:graphic>
          <a:graphicData uri="http://schemas.openxmlformats.org/drawingml/2006/table">
            <a:tbl>
              <a:tblPr/>
              <a:tblGrid>
                <a:gridCol w="559777">
                  <a:extLst>
                    <a:ext uri="{9D8B030D-6E8A-4147-A177-3AD203B41FA5}">
                      <a16:colId xmlns:a16="http://schemas.microsoft.com/office/drawing/2014/main" val="1423905133"/>
                    </a:ext>
                  </a:extLst>
                </a:gridCol>
                <a:gridCol w="1726223">
                  <a:extLst>
                    <a:ext uri="{9D8B030D-6E8A-4147-A177-3AD203B41FA5}">
                      <a16:colId xmlns:a16="http://schemas.microsoft.com/office/drawing/2014/main" val="2779995108"/>
                    </a:ext>
                  </a:extLst>
                </a:gridCol>
                <a:gridCol w="2831123">
                  <a:extLst>
                    <a:ext uri="{9D8B030D-6E8A-4147-A177-3AD203B41FA5}">
                      <a16:colId xmlns:a16="http://schemas.microsoft.com/office/drawing/2014/main" val="1454941595"/>
                    </a:ext>
                  </a:extLst>
                </a:gridCol>
                <a:gridCol w="3138854">
                  <a:extLst>
                    <a:ext uri="{9D8B030D-6E8A-4147-A177-3AD203B41FA5}">
                      <a16:colId xmlns:a16="http://schemas.microsoft.com/office/drawing/2014/main" val="2497563718"/>
                    </a:ext>
                  </a:extLst>
                </a:gridCol>
                <a:gridCol w="3332285">
                  <a:extLst>
                    <a:ext uri="{9D8B030D-6E8A-4147-A177-3AD203B41FA5}">
                      <a16:colId xmlns:a16="http://schemas.microsoft.com/office/drawing/2014/main" val="38530974"/>
                    </a:ext>
                  </a:extLst>
                </a:gridCol>
              </a:tblGrid>
              <a:tr h="15031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  <a:endParaRPr lang="pt-BR" sz="10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19779" marR="19779" marT="9889" marB="9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Busca ampla:</a:t>
                      </a:r>
                    </a:p>
                    <a:p>
                      <a:pPr>
                        <a:buNone/>
                      </a:pPr>
                      <a:r>
                        <a:rPr lang="pt-BR" sz="10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 incêndio em edifícios + evacuação + simulação</a:t>
                      </a:r>
                    </a:p>
                  </a:txBody>
                  <a:tcPr marL="19779" marR="19779" marT="9889" marB="9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ourier New" panose="02070309020205020404" pitchFamily="49" charset="0"/>
                        </a:rPr>
                        <a:t>TS=(("building fire" OR "fire in buildings" OR "structural fire" OR "high-rise building fire") AND ("evacuation" OR "occupant evacuation" OR "emergency evacuation" OR "egress") AND ("computational simulation" OR "computer simulation" OR "simulation model" OR "evacuation simulation" OR "crowd simulation"))</a:t>
                      </a:r>
                      <a:endParaRPr lang="en-US" sz="10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19779" marR="19779" marT="9889" marB="9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ourier New" panose="02070309020205020404" pitchFamily="49" charset="0"/>
                        </a:rPr>
                        <a:t>TITLE-ABS-KEY(("building fire" OR "fire in buildings" OR "structural fire" OR "high-rise building fire") AND ("evacuation" OR "occupant evacuation" OR "emergency evacuation" OR "egress") AND ("computational simulation" OR "computer simulation" OR "simulation model" OR "evacuation simulation" OR "crowd simulation"))</a:t>
                      </a:r>
                      <a:endParaRPr lang="en-US" sz="10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19779" marR="19779" marT="9889" marB="9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ourier New" panose="02070309020205020404" pitchFamily="49" charset="0"/>
                        </a:rPr>
                        <a:t>("building fire" OR "fire in buildings" OR "structural fire" OR "high-rise building fire") AND ("evacuation" OR "occupant evacuation" OR "emergency evacuation" OR "egress") AND ("computational simulation" OR "computer simulation" OR "simulation model" OR "evacuation simulation" OR "crowd simulation")</a:t>
                      </a:r>
                      <a:endParaRPr lang="en-US" sz="1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19779" marR="19779" marT="9889" marB="9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94322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685AC000-4A7E-BCDE-8D87-DAF2FA3B9988}"/>
              </a:ext>
            </a:extLst>
          </p:cNvPr>
          <p:cNvGraphicFramePr>
            <a:graphicFrameLocks noGrp="1"/>
          </p:cNvGraphicFramePr>
          <p:nvPr/>
        </p:nvGraphicFramePr>
        <p:xfrm>
          <a:off x="301869" y="3531357"/>
          <a:ext cx="11588262" cy="1503189"/>
        </p:xfrm>
        <a:graphic>
          <a:graphicData uri="http://schemas.openxmlformats.org/drawingml/2006/table">
            <a:tbl>
              <a:tblPr/>
              <a:tblGrid>
                <a:gridCol w="559777">
                  <a:extLst>
                    <a:ext uri="{9D8B030D-6E8A-4147-A177-3AD203B41FA5}">
                      <a16:colId xmlns:a16="http://schemas.microsoft.com/office/drawing/2014/main" val="3398646217"/>
                    </a:ext>
                  </a:extLst>
                </a:gridCol>
                <a:gridCol w="1726223">
                  <a:extLst>
                    <a:ext uri="{9D8B030D-6E8A-4147-A177-3AD203B41FA5}">
                      <a16:colId xmlns:a16="http://schemas.microsoft.com/office/drawing/2014/main" val="788750444"/>
                    </a:ext>
                  </a:extLst>
                </a:gridCol>
                <a:gridCol w="2831123">
                  <a:extLst>
                    <a:ext uri="{9D8B030D-6E8A-4147-A177-3AD203B41FA5}">
                      <a16:colId xmlns:a16="http://schemas.microsoft.com/office/drawing/2014/main" val="2658211524"/>
                    </a:ext>
                  </a:extLst>
                </a:gridCol>
                <a:gridCol w="3138854">
                  <a:extLst>
                    <a:ext uri="{9D8B030D-6E8A-4147-A177-3AD203B41FA5}">
                      <a16:colId xmlns:a16="http://schemas.microsoft.com/office/drawing/2014/main" val="3400694234"/>
                    </a:ext>
                  </a:extLst>
                </a:gridCol>
                <a:gridCol w="3332285">
                  <a:extLst>
                    <a:ext uri="{9D8B030D-6E8A-4147-A177-3AD203B41FA5}">
                      <a16:colId xmlns:a16="http://schemas.microsoft.com/office/drawing/2014/main" val="1759342599"/>
                    </a:ext>
                  </a:extLst>
                </a:gridCol>
              </a:tblGrid>
              <a:tr h="15031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  <a:endParaRPr lang="pt-BR" sz="10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19779" marR="19779" marT="9889" marB="9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Busca metodológica:</a:t>
                      </a:r>
                      <a:r>
                        <a:rPr lang="pt-BR" sz="10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</a:p>
                    <a:p>
                      <a:pPr>
                        <a:buNone/>
                      </a:pPr>
                      <a:r>
                        <a:rPr lang="pt-BR" sz="10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ABM, </a:t>
                      </a:r>
                      <a:r>
                        <a:rPr lang="pt-BR" sz="10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multi-agent</a:t>
                      </a:r>
                      <a:r>
                        <a:rPr lang="pt-BR" sz="10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pt-BR" sz="10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simulation</a:t>
                      </a:r>
                      <a:r>
                        <a:rPr lang="pt-BR" sz="10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, </a:t>
                      </a:r>
                      <a:r>
                        <a:rPr lang="pt-BR" sz="10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crowd</a:t>
                      </a:r>
                      <a:r>
                        <a:rPr lang="pt-BR" sz="10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pt-BR" sz="10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simulation</a:t>
                      </a:r>
                      <a:r>
                        <a:rPr lang="pt-BR" sz="10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, </a:t>
                      </a:r>
                      <a:r>
                        <a:rPr lang="pt-BR" sz="10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cellular</a:t>
                      </a:r>
                      <a:r>
                        <a:rPr lang="pt-BR" sz="10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pt-BR" sz="10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automata</a:t>
                      </a:r>
                      <a:endParaRPr lang="pt-BR" sz="1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19779" marR="19779" marT="9889" marB="9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ourier New" panose="02070309020205020404" pitchFamily="49" charset="0"/>
                        </a:rPr>
                        <a:t>TS=(("fire evacuation" OR "building evacuation" OR "occupant evacuation" OR "emergency egress") AND ("agent-based model" OR "agent-based simulation" OR "multi-agent simulation" OR "multi-agent system" OR "crowd simulation" OR "crowd dynamics" OR "cellular automata" OR "cellular automaton"))</a:t>
                      </a:r>
                      <a:endParaRPr lang="en-US" sz="1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19779" marR="19779" marT="9889" marB="9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ourier New" panose="02070309020205020404" pitchFamily="49" charset="0"/>
                        </a:rPr>
                        <a:t>TITLE-ABS-KEY(("fire evacuation" OR "building evacuation" OR "occupant evacuation" OR "emergency egress") AND ("agent-based model" OR "agent-based simulation" OR "multi-agent simulation" OR "multi-agent system" OR "crowd simulation" OR "crowd dynamics" OR "cellular automata" OR "cellular automaton"))</a:t>
                      </a:r>
                      <a:endParaRPr lang="en-US" sz="10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19779" marR="19779" marT="9889" marB="9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ourier New" panose="02070309020205020404" pitchFamily="49" charset="0"/>
                        </a:rPr>
                        <a:t>("fire evacuation" OR "building evacuation" OR "occupant evacuation" OR "emergency egress") AND ("agent-based model" OR "agent-based simulation" OR "multi-agent simulation" OR "multi-agent system" OR "crowd simulation" OR "crowd dynamics" OR "cellular automata" OR "cellular automaton")</a:t>
                      </a:r>
                      <a:endParaRPr lang="en-US" sz="1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19779" marR="19779" marT="9889" marB="9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536613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E9EDFA48-A20B-7836-D3EA-7D4E8C229257}"/>
              </a:ext>
            </a:extLst>
          </p:cNvPr>
          <p:cNvGraphicFramePr>
            <a:graphicFrameLocks noGrp="1"/>
          </p:cNvGraphicFramePr>
          <p:nvPr/>
        </p:nvGraphicFramePr>
        <p:xfrm>
          <a:off x="301869" y="5034546"/>
          <a:ext cx="11588262" cy="1238978"/>
        </p:xfrm>
        <a:graphic>
          <a:graphicData uri="http://schemas.openxmlformats.org/drawingml/2006/table">
            <a:tbl>
              <a:tblPr/>
              <a:tblGrid>
                <a:gridCol w="559777">
                  <a:extLst>
                    <a:ext uri="{9D8B030D-6E8A-4147-A177-3AD203B41FA5}">
                      <a16:colId xmlns:a16="http://schemas.microsoft.com/office/drawing/2014/main" val="223134144"/>
                    </a:ext>
                  </a:extLst>
                </a:gridCol>
                <a:gridCol w="1726223">
                  <a:extLst>
                    <a:ext uri="{9D8B030D-6E8A-4147-A177-3AD203B41FA5}">
                      <a16:colId xmlns:a16="http://schemas.microsoft.com/office/drawing/2014/main" val="631498451"/>
                    </a:ext>
                  </a:extLst>
                </a:gridCol>
                <a:gridCol w="2831123">
                  <a:extLst>
                    <a:ext uri="{9D8B030D-6E8A-4147-A177-3AD203B41FA5}">
                      <a16:colId xmlns:a16="http://schemas.microsoft.com/office/drawing/2014/main" val="3032040759"/>
                    </a:ext>
                  </a:extLst>
                </a:gridCol>
                <a:gridCol w="3138854">
                  <a:extLst>
                    <a:ext uri="{9D8B030D-6E8A-4147-A177-3AD203B41FA5}">
                      <a16:colId xmlns:a16="http://schemas.microsoft.com/office/drawing/2014/main" val="15704145"/>
                    </a:ext>
                  </a:extLst>
                </a:gridCol>
                <a:gridCol w="3332285">
                  <a:extLst>
                    <a:ext uri="{9D8B030D-6E8A-4147-A177-3AD203B41FA5}">
                      <a16:colId xmlns:a16="http://schemas.microsoft.com/office/drawing/2014/main" val="121328743"/>
                    </a:ext>
                  </a:extLst>
                </a:gridCol>
              </a:tblGrid>
              <a:tr h="1206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  <a:endParaRPr lang="pt-BR" sz="1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19779" marR="19779" marT="9889" marB="9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Busca por ferramenta:</a:t>
                      </a:r>
                    </a:p>
                    <a:p>
                      <a:pPr>
                        <a:buNone/>
                      </a:pPr>
                      <a:r>
                        <a:rPr lang="pt-BR" sz="10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 NetLogo, FDS, </a:t>
                      </a:r>
                      <a:r>
                        <a:rPr lang="pt-BR" sz="10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FDS+Evac</a:t>
                      </a:r>
                      <a:r>
                        <a:rPr lang="pt-BR" sz="10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, Python</a:t>
                      </a:r>
                    </a:p>
                  </a:txBody>
                  <a:tcPr marL="19779" marR="19779" marT="9889" marB="9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ourier New" panose="02070309020205020404" pitchFamily="49" charset="0"/>
                        </a:rPr>
                        <a:t>TS=(("fire evacuation" OR "building fire" OR "building evacuation" OR "occupant evacuation" OR "smoke spread" OR "fire dynamics") AND ("NetLogo" OR "Fire Dynamics Simulator" OR FDS OR "FDS+Evac" OR "Python" OR "Python-based simulation"))</a:t>
                      </a:r>
                      <a:endParaRPr lang="en-US" sz="10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19779" marR="19779" marT="9889" marB="9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ourier New" panose="02070309020205020404" pitchFamily="49" charset="0"/>
                        </a:rPr>
                        <a:t>TITLE-ABS-KEY(("fire evacuation" OR "building fire" OR "building evacuation" OR "occupant evacuation" OR "smoke spread" OR "fire dynamics") AND ("NetLogo" OR "Fire Dynamics Simulator" OR FDS OR "FDS+Evac" OR "Python" OR "Python-based simulation"))</a:t>
                      </a:r>
                      <a:endParaRPr lang="en-US" sz="10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19779" marR="19779" marT="9889" marB="9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ourier New" panose="02070309020205020404" pitchFamily="49" charset="0"/>
                        </a:rPr>
                        <a:t>("fire evacuation" OR "building fire" OR "building evacuation" OR "occupant evacuation" OR "smoke spread" OR "fire dynamics") AND ("NetLogo" OR "Fire Dynamics Simulator" OR FDS OR "</a:t>
                      </a:r>
                      <a:r>
                        <a:rPr lang="en-US" sz="10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ourier New" panose="02070309020205020404" pitchFamily="49" charset="0"/>
                        </a:rPr>
                        <a:t>FDS+Evac</a:t>
                      </a:r>
                      <a:r>
                        <a:rPr lang="en-US" sz="10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ourier New" panose="02070309020205020404" pitchFamily="49" charset="0"/>
                        </a:rPr>
                        <a:t>" OR "Python" OR "Python-based simulation")</a:t>
                      </a:r>
                      <a:endParaRPr lang="en-US" sz="10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19779" marR="19779" marT="9889" marB="9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175941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10AF8411-8478-BBAF-9CE4-6659ED76BAC4}"/>
              </a:ext>
            </a:extLst>
          </p:cNvPr>
          <p:cNvSpPr txBox="1"/>
          <p:nvPr/>
        </p:nvSpPr>
        <p:spPr>
          <a:xfrm>
            <a:off x="301869" y="584476"/>
            <a:ext cx="625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Primeiro passo: </a:t>
            </a: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estabelecimento das categorias de busca</a:t>
            </a:r>
          </a:p>
        </p:txBody>
      </p:sp>
    </p:spTree>
    <p:extLst>
      <p:ext uri="{BB962C8B-B14F-4D97-AF65-F5344CB8AC3E}">
        <p14:creationId xmlns:p14="http://schemas.microsoft.com/office/powerpoint/2010/main" val="130333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89DAF4B-76AD-4FBF-9E24-83FB71307D55}"/>
              </a:ext>
            </a:extLst>
          </p:cNvPr>
          <p:cNvSpPr txBox="1"/>
          <p:nvPr/>
        </p:nvSpPr>
        <p:spPr>
          <a:xfrm>
            <a:off x="290490" y="534868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Segundo passo: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pesquisar a bases de dados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7485D0A-169D-435C-B133-F6736D2A7E58}"/>
              </a:ext>
            </a:extLst>
          </p:cNvPr>
          <p:cNvSpPr/>
          <p:nvPr/>
        </p:nvSpPr>
        <p:spPr>
          <a:xfrm>
            <a:off x="2702444" y="1396545"/>
            <a:ext cx="92193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2"/>
              </a:rPr>
              <a:t>https://www-periodicos-capes-gov-br.ez71.periodicos.capes.gov.br/</a:t>
            </a:r>
            <a:r>
              <a:rPr lang="pt-BR" dirty="0" err="1">
                <a:hlinkClick r:id="rId2"/>
              </a:rPr>
              <a:t>index.php?option</a:t>
            </a:r>
            <a:r>
              <a:rPr lang="pt-BR" dirty="0">
                <a:hlinkClick r:id="rId2"/>
              </a:rPr>
              <a:t>=</a:t>
            </a:r>
            <a:r>
              <a:rPr lang="pt-BR" dirty="0" err="1">
                <a:hlinkClick r:id="rId2"/>
              </a:rPr>
              <a:t>com_pcollection&amp;mn</a:t>
            </a:r>
            <a:r>
              <a:rPr lang="pt-BR" dirty="0">
                <a:hlinkClick r:id="rId2"/>
              </a:rPr>
              <a:t>=70&amp;smn=79&amp;cid=81&amp;</a:t>
            </a:r>
            <a:endParaRPr lang="pt-BR" dirty="0"/>
          </a:p>
        </p:txBody>
      </p:sp>
      <p:pic>
        <p:nvPicPr>
          <p:cNvPr id="1026" name="Picture 2" descr="Resultado de imagem para web of science">
            <a:extLst>
              <a:ext uri="{FF2B5EF4-FFF2-40B4-BE49-F238E27FC236}">
                <a16:creationId xmlns:a16="http://schemas.microsoft.com/office/drawing/2014/main" id="{E355E1E0-32DB-4B13-AF7B-169A469B0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376" y="1447952"/>
            <a:ext cx="817865" cy="72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7AE05E4-3C21-470C-B566-F2D6BD92E9F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20" t="46437" r="52572" b="23985"/>
          <a:stretch/>
        </p:blipFill>
        <p:spPr>
          <a:xfrm>
            <a:off x="1599734" y="2334936"/>
            <a:ext cx="1701926" cy="646389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90274CAB-8001-4E2B-AD94-6F6A1E2E9EC3}"/>
              </a:ext>
            </a:extLst>
          </p:cNvPr>
          <p:cNvSpPr/>
          <p:nvPr/>
        </p:nvSpPr>
        <p:spPr>
          <a:xfrm>
            <a:off x="3502874" y="2470390"/>
            <a:ext cx="57824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5"/>
              </a:rPr>
              <a:t>https://www.scopus.com/search/form.uri?display=basic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5518672-7E66-4546-9740-EAB60B5F59E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2155" t="18851" r="23018" b="50000"/>
          <a:stretch/>
        </p:blipFill>
        <p:spPr>
          <a:xfrm>
            <a:off x="1597078" y="3150034"/>
            <a:ext cx="1949014" cy="622857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8D4CD6F-6ADF-4CA5-A02E-42401C48E002}"/>
              </a:ext>
            </a:extLst>
          </p:cNvPr>
          <p:cNvSpPr/>
          <p:nvPr/>
        </p:nvSpPr>
        <p:spPr>
          <a:xfrm>
            <a:off x="3726981" y="3276796"/>
            <a:ext cx="38331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7"/>
              </a:rPr>
              <a:t>https://scholar.google.com.br/?hl=pt</a:t>
            </a:r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030ABA5-C7A0-484A-BE63-C0EA81AD65C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4224" t="28660" r="13362" b="20612"/>
          <a:stretch/>
        </p:blipFill>
        <p:spPr>
          <a:xfrm>
            <a:off x="1599734" y="3952222"/>
            <a:ext cx="1701926" cy="67064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D83CDC8A-15F2-47AF-B967-21C00DDB310E}"/>
              </a:ext>
            </a:extLst>
          </p:cNvPr>
          <p:cNvSpPr/>
          <p:nvPr/>
        </p:nvSpPr>
        <p:spPr>
          <a:xfrm>
            <a:off x="3726981" y="4007861"/>
            <a:ext cx="19287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9"/>
              </a:rPr>
              <a:t>https://scielo.org/</a:t>
            </a:r>
            <a:endParaRPr lang="pt-BR" dirty="0"/>
          </a:p>
        </p:txBody>
      </p:sp>
      <p:sp>
        <p:nvSpPr>
          <p:cNvPr id="2" name="Retângulo 1"/>
          <p:cNvSpPr/>
          <p:nvPr/>
        </p:nvSpPr>
        <p:spPr>
          <a:xfrm>
            <a:off x="3301660" y="4987473"/>
            <a:ext cx="38885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accent5">
                    <a:lumMod val="75000"/>
                  </a:schemeClr>
                </a:solidFill>
                <a:hlinkClick r:id="rId10"/>
              </a:rPr>
              <a:t>https://academic.microsoft.com/home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 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7078" y="4860396"/>
            <a:ext cx="1410166" cy="623486"/>
          </a:xfrm>
          <a:prstGeom prst="rect">
            <a:avLst/>
          </a:prstGeom>
        </p:spPr>
      </p:pic>
      <p:pic>
        <p:nvPicPr>
          <p:cNvPr id="1028" name="Picture 4" descr="An Introduction to ScienceDirect -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078" y="5721416"/>
            <a:ext cx="1154530" cy="67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tângulo 12"/>
          <p:cNvSpPr/>
          <p:nvPr/>
        </p:nvSpPr>
        <p:spPr>
          <a:xfrm>
            <a:off x="3301660" y="5845047"/>
            <a:ext cx="32828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accent5">
                    <a:lumMod val="75000"/>
                  </a:schemeClr>
                </a:solidFill>
                <a:hlinkClick r:id="rId13"/>
              </a:rPr>
              <a:t>https://www.sciencedirect.com/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718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27EDF68-A07C-4100-9F21-70B9229D640F}"/>
              </a:ext>
            </a:extLst>
          </p:cNvPr>
          <p:cNvSpPr txBox="1"/>
          <p:nvPr/>
        </p:nvSpPr>
        <p:spPr>
          <a:xfrm>
            <a:off x="1890346" y="4415403"/>
            <a:ext cx="1786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Categoria n</a:t>
            </a:r>
          </a:p>
        </p:txBody>
      </p:sp>
      <p:sp>
        <p:nvSpPr>
          <p:cNvPr id="3" name="Retângulo 2"/>
          <p:cNvSpPr/>
          <p:nvPr/>
        </p:nvSpPr>
        <p:spPr>
          <a:xfrm>
            <a:off x="1890346" y="2497393"/>
            <a:ext cx="17861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Categoria 1</a:t>
            </a:r>
          </a:p>
        </p:txBody>
      </p:sp>
      <p:sp>
        <p:nvSpPr>
          <p:cNvPr id="5" name="Retângulo 4"/>
          <p:cNvSpPr/>
          <p:nvPr/>
        </p:nvSpPr>
        <p:spPr>
          <a:xfrm>
            <a:off x="1890346" y="3127385"/>
            <a:ext cx="17861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Categoria 2</a:t>
            </a:r>
          </a:p>
        </p:txBody>
      </p:sp>
      <p:sp>
        <p:nvSpPr>
          <p:cNvPr id="6" name="Retângulo 5"/>
          <p:cNvSpPr/>
          <p:nvPr/>
        </p:nvSpPr>
        <p:spPr>
          <a:xfrm>
            <a:off x="1890346" y="3826996"/>
            <a:ext cx="17861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Categoria 3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B1252E3-EDA0-F391-2E74-42E0A694F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016" y="2090188"/>
            <a:ext cx="6222610" cy="3751868"/>
          </a:xfrm>
          <a:prstGeom prst="rect">
            <a:avLst/>
          </a:prstGeom>
        </p:spPr>
      </p:pic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1EEBEC3A-6D96-56CF-B8BD-75A1CE928FAA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676455" y="2728226"/>
            <a:ext cx="3968683" cy="1391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EE2E09E4-F5F8-EA2D-5144-ADE05E90EFF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676455" y="3358218"/>
            <a:ext cx="3893269" cy="775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7A7048B9-0084-0B07-C38D-9B4EF533158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676455" y="4057829"/>
            <a:ext cx="3778293" cy="92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56837516-C7D2-D66E-5AD3-E580C9162D5D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676455" y="4164871"/>
            <a:ext cx="3968683" cy="481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2323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87001F8-CFE6-F579-53FA-3FA0BCE9A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140" y="838391"/>
            <a:ext cx="1170110" cy="972900"/>
          </a:xfrm>
          <a:prstGeom prst="rec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75B8594-E851-8E65-6076-507AAC7DFB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385" b="9794"/>
          <a:stretch>
            <a:fillRect/>
          </a:stretch>
        </p:blipFill>
        <p:spPr>
          <a:xfrm>
            <a:off x="5393716" y="848591"/>
            <a:ext cx="1203779" cy="972900"/>
          </a:xfrm>
          <a:prstGeom prst="rec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BFDB4E3-1158-639C-D55C-0E30D4B0AD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590" r="17795"/>
          <a:stretch>
            <a:fillRect/>
          </a:stretch>
        </p:blipFill>
        <p:spPr>
          <a:xfrm>
            <a:off x="8153751" y="848591"/>
            <a:ext cx="1203779" cy="1043274"/>
          </a:xfrm>
          <a:prstGeom prst="rect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D9F37F7-7C59-A38C-9B9B-33E6251DF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7628" y="2637691"/>
            <a:ext cx="609600" cy="60960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A138E067-B43C-8586-8C85-FE566087BC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8650" y="2643551"/>
            <a:ext cx="609600" cy="60960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AA52DBD5-9829-9145-9EC6-FFE3C415A8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6873" y="2637691"/>
            <a:ext cx="609600" cy="60960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435C12FA-D7F7-21A0-6D82-48C5021E3B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7895" y="2643551"/>
            <a:ext cx="609600" cy="60960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A261F6DA-A52C-8EE8-B20B-A31848731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793" y="2719753"/>
            <a:ext cx="609600" cy="60960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36920EF1-485D-93F3-1E5A-CD4B215C0C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815" y="2725613"/>
            <a:ext cx="609600" cy="609600"/>
          </a:xfrm>
          <a:prstGeom prst="rect">
            <a:avLst/>
          </a:prstGeom>
        </p:spPr>
      </p:pic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F28B90FC-CB2B-2095-B101-7FCC03897C98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3453195" y="1811291"/>
            <a:ext cx="0" cy="82640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03EA363C-A10C-1ECD-7A1B-62CAF82FDFEA}"/>
              </a:ext>
            </a:extLst>
          </p:cNvPr>
          <p:cNvCxnSpPr>
            <a:cxnSpLocks/>
          </p:cNvCxnSpPr>
          <p:nvPr/>
        </p:nvCxnSpPr>
        <p:spPr>
          <a:xfrm>
            <a:off x="6006228" y="1821491"/>
            <a:ext cx="0" cy="82640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3AA0D3CF-627B-E3CD-5C64-A8A4142F6D20}"/>
              </a:ext>
            </a:extLst>
          </p:cNvPr>
          <p:cNvCxnSpPr>
            <a:cxnSpLocks/>
          </p:cNvCxnSpPr>
          <p:nvPr/>
        </p:nvCxnSpPr>
        <p:spPr>
          <a:xfrm>
            <a:off x="8771393" y="1893353"/>
            <a:ext cx="0" cy="82640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have Direita 28">
            <a:extLst>
              <a:ext uri="{FF2B5EF4-FFF2-40B4-BE49-F238E27FC236}">
                <a16:creationId xmlns:a16="http://schemas.microsoft.com/office/drawing/2014/main" id="{81958C0F-5D6D-D3D7-4DCF-036323BD5C3E}"/>
              </a:ext>
            </a:extLst>
          </p:cNvPr>
          <p:cNvSpPr/>
          <p:nvPr/>
        </p:nvSpPr>
        <p:spPr>
          <a:xfrm rot="5400000">
            <a:off x="5745591" y="-14182"/>
            <a:ext cx="609600" cy="7171944"/>
          </a:xfrm>
          <a:prstGeom prst="rightBrace">
            <a:avLst>
              <a:gd name="adj1" fmla="val 0"/>
              <a:gd name="adj2" fmla="val 50000"/>
            </a:avLst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ADBE6C8C-CCAB-27E0-3A00-7EC8C77318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4978" y="4107307"/>
            <a:ext cx="609600" cy="609600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67273E76-C801-1ECC-A9E8-0C78284747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11316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49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89DAF4B-76AD-4FBF-9E24-83FB71307D55}"/>
              </a:ext>
            </a:extLst>
          </p:cNvPr>
          <p:cNvSpPr txBox="1"/>
          <p:nvPr/>
        </p:nvSpPr>
        <p:spPr>
          <a:xfrm>
            <a:off x="785822" y="738619"/>
            <a:ext cx="5978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Terceiro passo: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avaliar a pertinência das publicações (seleção)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EA3F1B9-EA60-6F19-2033-65D634719C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0" t="16156" r="1753" b="4743"/>
          <a:stretch>
            <a:fillRect/>
          </a:stretch>
        </p:blipFill>
        <p:spPr>
          <a:xfrm>
            <a:off x="944083" y="2437129"/>
            <a:ext cx="4946762" cy="2293077"/>
          </a:xfrm>
          <a:prstGeom prst="rect">
            <a:avLst/>
          </a:prstGeom>
        </p:spPr>
      </p:pic>
      <p:sp>
        <p:nvSpPr>
          <p:cNvPr id="7" name="Chave Direita 6">
            <a:extLst>
              <a:ext uri="{FF2B5EF4-FFF2-40B4-BE49-F238E27FC236}">
                <a16:creationId xmlns:a16="http://schemas.microsoft.com/office/drawing/2014/main" id="{07DA736C-D4E4-6E6E-CBDB-4467E463C7AE}"/>
              </a:ext>
            </a:extLst>
          </p:cNvPr>
          <p:cNvSpPr/>
          <p:nvPr/>
        </p:nvSpPr>
        <p:spPr>
          <a:xfrm>
            <a:off x="5832231" y="2256028"/>
            <a:ext cx="527538" cy="2655277"/>
          </a:xfrm>
          <a:prstGeom prst="rightBrace">
            <a:avLst>
              <a:gd name="adj1" fmla="val 0"/>
              <a:gd name="adj2" fmla="val 50000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17B2A9B-7221-E565-1943-D0272D70F1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487"/>
          <a:stretch>
            <a:fillRect/>
          </a:stretch>
        </p:blipFill>
        <p:spPr>
          <a:xfrm>
            <a:off x="6438901" y="2332260"/>
            <a:ext cx="4419224" cy="250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8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618911F-C30D-EE7A-E712-E08E56536012}"/>
              </a:ext>
            </a:extLst>
          </p:cNvPr>
          <p:cNvSpPr/>
          <p:nvPr/>
        </p:nvSpPr>
        <p:spPr>
          <a:xfrm>
            <a:off x="880796" y="631371"/>
            <a:ext cx="1630018" cy="81642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1. Identificação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9AB7694-572B-A7B5-F667-35D85E86B910}"/>
              </a:ext>
            </a:extLst>
          </p:cNvPr>
          <p:cNvSpPr/>
          <p:nvPr/>
        </p:nvSpPr>
        <p:spPr>
          <a:xfrm>
            <a:off x="3519398" y="615043"/>
            <a:ext cx="4565373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Artigos identificados por meio de busca em banco de dados: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)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6598904-72E3-BD06-D0C1-7204C26C27B5}"/>
              </a:ext>
            </a:extLst>
          </p:cNvPr>
          <p:cNvSpPr/>
          <p:nvPr/>
        </p:nvSpPr>
        <p:spPr>
          <a:xfrm>
            <a:off x="9093355" y="615043"/>
            <a:ext cx="1630018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Termos de pesquisa aplicados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1A9D67D-8C61-D8A9-FD31-999B9D6AE17C}"/>
              </a:ext>
            </a:extLst>
          </p:cNvPr>
          <p:cNvCxnSpPr>
            <a:cxnSpLocks/>
            <a:stCxn id="4" idx="1"/>
            <a:endCxn id="3" idx="3"/>
          </p:cNvCxnSpPr>
          <p:nvPr/>
        </p:nvCxnSpPr>
        <p:spPr>
          <a:xfrm flipH="1">
            <a:off x="8084771" y="1055915"/>
            <a:ext cx="1008584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0F98B93-4D54-1C0D-BF17-AD5B905C914D}"/>
              </a:ext>
            </a:extLst>
          </p:cNvPr>
          <p:cNvSpPr/>
          <p:nvPr/>
        </p:nvSpPr>
        <p:spPr>
          <a:xfrm>
            <a:off x="3519398" y="1779815"/>
            <a:ext cx="4565373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)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2AD511C-C129-57CB-751D-E2D4854AB865}"/>
              </a:ext>
            </a:extLst>
          </p:cNvPr>
          <p:cNvSpPr/>
          <p:nvPr/>
        </p:nvSpPr>
        <p:spPr>
          <a:xfrm>
            <a:off x="9093355" y="1801589"/>
            <a:ext cx="1630018" cy="86541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Termos de pesquisa aplicados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(#1 &amp; 2)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3A10F3A3-7629-F2B0-1488-2523ABBDC592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8084771" y="2220687"/>
            <a:ext cx="1008584" cy="1360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6F2A046C-011B-C34E-4E6E-95FAA8792570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5802085" y="1496787"/>
            <a:ext cx="0" cy="283028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9249F0A-4331-C15E-48DB-518EF9D8AF30}"/>
              </a:ext>
            </a:extLst>
          </p:cNvPr>
          <p:cNvSpPr/>
          <p:nvPr/>
        </p:nvSpPr>
        <p:spPr>
          <a:xfrm>
            <a:off x="880796" y="2960914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Triagem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402D7CE-3D8B-6D50-EBC5-1750F01D5CF8}"/>
              </a:ext>
            </a:extLst>
          </p:cNvPr>
          <p:cNvSpPr/>
          <p:nvPr/>
        </p:nvSpPr>
        <p:spPr>
          <a:xfrm>
            <a:off x="3519398" y="2944586"/>
            <a:ext cx="4565373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selecionados para triagem de resumos (n= )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6B2F14A-C8B4-58F8-4704-DC79DCB6054C}"/>
              </a:ext>
            </a:extLst>
          </p:cNvPr>
          <p:cNvSpPr/>
          <p:nvPr/>
        </p:nvSpPr>
        <p:spPr>
          <a:xfrm>
            <a:off x="9172277" y="2944586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Duplicados removidos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2976A488-BB4A-A4F2-558D-6E54C8C9E45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8242615" y="3385458"/>
            <a:ext cx="929662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8752AC9-1EFF-644F-1430-281D29146D4F}"/>
              </a:ext>
            </a:extLst>
          </p:cNvPr>
          <p:cNvSpPr/>
          <p:nvPr/>
        </p:nvSpPr>
        <p:spPr>
          <a:xfrm>
            <a:off x="880796" y="4125685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Eligibilidade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9B3F532-4FAE-11A2-4749-49328AA1E632}"/>
              </a:ext>
            </a:extLst>
          </p:cNvPr>
          <p:cNvSpPr/>
          <p:nvPr/>
        </p:nvSpPr>
        <p:spPr>
          <a:xfrm>
            <a:off x="3519398" y="4125685"/>
            <a:ext cx="4565373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de texto completo avaliados para elegibilidade (n= )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9EF43DD-005E-54BF-84C0-3FD447102B32}"/>
              </a:ext>
            </a:extLst>
          </p:cNvPr>
          <p:cNvSpPr/>
          <p:nvPr/>
        </p:nvSpPr>
        <p:spPr>
          <a:xfrm>
            <a:off x="9172277" y="4125685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excluídos: não atenderam aos critérios de inclusão (#3, 4 e 5)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01E4EBD7-52F5-C7B3-CC1B-7F4F305BC494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5802085" y="2661559"/>
            <a:ext cx="0" cy="283027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C6F9E7B-278E-EC7F-0259-231ED8217010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>
            <a:off x="5802085" y="3826330"/>
            <a:ext cx="0" cy="299355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69D0BAB-A3ED-BAEE-B2BE-A40F01B772AA}"/>
              </a:ext>
            </a:extLst>
          </p:cNvPr>
          <p:cNvCxnSpPr>
            <a:cxnSpLocks/>
            <a:stCxn id="27" idx="1"/>
            <a:endCxn id="26" idx="3"/>
          </p:cNvCxnSpPr>
          <p:nvPr/>
        </p:nvCxnSpPr>
        <p:spPr>
          <a:xfrm flipH="1">
            <a:off x="8084771" y="4566557"/>
            <a:ext cx="1087506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3B59E7E-6D6E-4C1E-C083-E0655AB6DF9F}"/>
              </a:ext>
            </a:extLst>
          </p:cNvPr>
          <p:cNvSpPr/>
          <p:nvPr/>
        </p:nvSpPr>
        <p:spPr>
          <a:xfrm>
            <a:off x="880796" y="5306784"/>
            <a:ext cx="1630018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Incluídos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02DB279C-DA3F-81C6-D407-C6F2DA79A9F6}"/>
              </a:ext>
            </a:extLst>
          </p:cNvPr>
          <p:cNvSpPr/>
          <p:nvPr/>
        </p:nvSpPr>
        <p:spPr>
          <a:xfrm>
            <a:off x="3519398" y="5306784"/>
            <a:ext cx="4565373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Estudos elegíveis incluídos na revisão final (n= )</a:t>
            </a:r>
          </a:p>
        </p:txBody>
      </p:sp>
    </p:spTree>
    <p:extLst>
      <p:ext uri="{BB962C8B-B14F-4D97-AF65-F5344CB8AC3E}">
        <p14:creationId xmlns:p14="http://schemas.microsoft.com/office/powerpoint/2010/main" val="2033268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ídia Online 1" title="PRISMA Preferred Reporting Items for Systematic reviews and Meta Analyses">
            <a:hlinkClick r:id="" action="ppaction://media"/>
            <a:extLst>
              <a:ext uri="{FF2B5EF4-FFF2-40B4-BE49-F238E27FC236}">
                <a16:creationId xmlns:a16="http://schemas.microsoft.com/office/drawing/2014/main" id="{20335D5B-C741-CEC7-3D0C-60002041579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16000" y="558800"/>
            <a:ext cx="10160000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46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25DE417-C85C-56FE-0364-0B8BB011CE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99" t="9488" r="11140" b="27949"/>
          <a:stretch>
            <a:fillRect/>
          </a:stretch>
        </p:blipFill>
        <p:spPr>
          <a:xfrm>
            <a:off x="1393580" y="1125415"/>
            <a:ext cx="9246577" cy="4915391"/>
          </a:xfrm>
          <a:prstGeom prst="roundRect">
            <a:avLst>
              <a:gd name="adj" fmla="val 4682"/>
            </a:avLst>
          </a:prstGeom>
        </p:spPr>
      </p:pic>
    </p:spTree>
    <p:extLst>
      <p:ext uri="{BB962C8B-B14F-4D97-AF65-F5344CB8AC3E}">
        <p14:creationId xmlns:p14="http://schemas.microsoft.com/office/powerpoint/2010/main" val="35594408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512C2-604F-CC47-CD9E-7EC051B59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E232A98-6133-7D50-3E8F-485D281A9C33}"/>
              </a:ext>
            </a:extLst>
          </p:cNvPr>
          <p:cNvSpPr txBox="1"/>
          <p:nvPr/>
        </p:nvSpPr>
        <p:spPr>
          <a:xfrm>
            <a:off x="3906716" y="3105834"/>
            <a:ext cx="3944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10.2.2. Etapa 2</a:t>
            </a:r>
          </a:p>
        </p:txBody>
      </p:sp>
    </p:spTree>
    <p:extLst>
      <p:ext uri="{BB962C8B-B14F-4D97-AF65-F5344CB8AC3E}">
        <p14:creationId xmlns:p14="http://schemas.microsoft.com/office/powerpoint/2010/main" val="3184868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2833888-2D06-A80D-19E6-2F7DECA4484D}"/>
              </a:ext>
            </a:extLst>
          </p:cNvPr>
          <p:cNvSpPr txBox="1"/>
          <p:nvPr/>
        </p:nvSpPr>
        <p:spPr>
          <a:xfrm>
            <a:off x="314325" y="427507"/>
            <a:ext cx="1061451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11.2.2.1. Função da Etapa 2</a:t>
            </a:r>
          </a:p>
          <a:p>
            <a:pPr marL="984250">
              <a:buNone/>
            </a:pP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Etapa 2 possui duas operações principais:</a:t>
            </a:r>
          </a:p>
          <a:p>
            <a:pPr marL="1257300" indent="-273050">
              <a:buFont typeface="+mj-lt"/>
              <a:buAutoNum type="arabicPeriod"/>
            </a:pPr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Revisão Integrativa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Organiza o conteúdo dos artigos em um quadro conceitual sinótico. </a:t>
            </a:r>
          </a:p>
          <a:p>
            <a:pPr marL="1257300" indent="-273050">
              <a:buFont typeface="+mj-lt"/>
              <a:buAutoNum type="arabicPeriod"/>
            </a:pPr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Modelo Teórico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Converte os achados da revisão integrativa em um sistema de coordenadas conceituais.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1F21B7ED-540D-9993-9F3B-C3121888C301}"/>
              </a:ext>
            </a:extLst>
          </p:cNvPr>
          <p:cNvGraphicFramePr>
            <a:graphicFrameLocks noGrp="1"/>
          </p:cNvGraphicFramePr>
          <p:nvPr/>
        </p:nvGraphicFramePr>
        <p:xfrm>
          <a:off x="1436078" y="3105163"/>
          <a:ext cx="10515600" cy="1249680"/>
        </p:xfrm>
        <a:graphic>
          <a:graphicData uri="http://schemas.openxmlformats.org/drawingml/2006/table">
            <a:tbl>
              <a:tblPr/>
              <a:tblGrid>
                <a:gridCol w="2678722">
                  <a:extLst>
                    <a:ext uri="{9D8B030D-6E8A-4147-A177-3AD203B41FA5}">
                      <a16:colId xmlns:a16="http://schemas.microsoft.com/office/drawing/2014/main" val="311273666"/>
                    </a:ext>
                  </a:extLst>
                </a:gridCol>
                <a:gridCol w="4331678">
                  <a:extLst>
                    <a:ext uri="{9D8B030D-6E8A-4147-A177-3AD203B41FA5}">
                      <a16:colId xmlns:a16="http://schemas.microsoft.com/office/drawing/2014/main" val="310055205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12291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>
                          <a:solidFill>
                            <a:srgbClr val="FF0000"/>
                          </a:solidFill>
                        </a:rPr>
                        <a:t>Componente da Etapa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>
                          <a:solidFill>
                            <a:srgbClr val="FF0000"/>
                          </a:solidFill>
                        </a:rPr>
                        <a:t>Função principal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Produto gerado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37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Revisão Integrativa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Extrair e comparar o conteúdo dos artigos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Quadro conceitual sinótico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047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Modelo Teórico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Reorganizar os achados em categorias analíticas próprias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coordenadas conceituais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620295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D90A6C02-FB01-B05E-9D2F-969DDC33ECFB}"/>
              </a:ext>
            </a:extLst>
          </p:cNvPr>
          <p:cNvGraphicFramePr>
            <a:graphicFrameLocks noGrp="1"/>
          </p:cNvGraphicFramePr>
          <p:nvPr/>
        </p:nvGraphicFramePr>
        <p:xfrm>
          <a:off x="1365739" y="5048409"/>
          <a:ext cx="10515600" cy="1524000"/>
        </p:xfrm>
        <a:graphic>
          <a:graphicData uri="http://schemas.openxmlformats.org/drawingml/2006/table">
            <a:tbl>
              <a:tblPr/>
              <a:tblGrid>
                <a:gridCol w="3329353">
                  <a:extLst>
                    <a:ext uri="{9D8B030D-6E8A-4147-A177-3AD203B41FA5}">
                      <a16:colId xmlns:a16="http://schemas.microsoft.com/office/drawing/2014/main" val="3663857408"/>
                    </a:ext>
                  </a:extLst>
                </a:gridCol>
                <a:gridCol w="3681047">
                  <a:extLst>
                    <a:ext uri="{9D8B030D-6E8A-4147-A177-3AD203B41FA5}">
                      <a16:colId xmlns:a16="http://schemas.microsoft.com/office/drawing/2014/main" val="10932366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62150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rgbClr val="FF0000"/>
                          </a:solidFill>
                        </a:rPr>
                        <a:t>Produto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rgbClr val="FF0000"/>
                          </a:solidFill>
                        </a:rPr>
                        <a:t>Função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123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Matriz de extração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Tabela com os dados internos de cada artigo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Organizar a leitura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802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Códigos analíticos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Categorias extraídas dos artigos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Padronizar a comparação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761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Quadro conceitual sinótico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Síntese comparativa dos achados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Integrar a literatura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15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coordenadas conceituais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Estrutura teórica do modelo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Preparar a modelagem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828859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976F033D-A6D4-FB03-80D3-57DFD01ADDFB}"/>
              </a:ext>
            </a:extLst>
          </p:cNvPr>
          <p:cNvSpPr txBox="1"/>
          <p:nvPr/>
        </p:nvSpPr>
        <p:spPr>
          <a:xfrm>
            <a:off x="1365739" y="4582490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Resultado esperado da Etapa 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BD5AEEA-08A8-0FF6-452E-B42E659C7D4F}"/>
              </a:ext>
            </a:extLst>
          </p:cNvPr>
          <p:cNvSpPr txBox="1"/>
          <p:nvPr/>
        </p:nvSpPr>
        <p:spPr>
          <a:xfrm>
            <a:off x="1436078" y="2181833"/>
            <a:ext cx="100430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A Etapa 2 responde: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O que esses trabalhos dizem, que conceitos utilizam e como podem alimentar o modelo teórico?</a:t>
            </a:r>
          </a:p>
        </p:txBody>
      </p:sp>
    </p:spTree>
    <p:extLst>
      <p:ext uri="{BB962C8B-B14F-4D97-AF65-F5344CB8AC3E}">
        <p14:creationId xmlns:p14="http://schemas.microsoft.com/office/powerpoint/2010/main" val="1832704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31BE21E8-C43C-6F03-92BC-D8770DB11706}"/>
              </a:ext>
            </a:extLst>
          </p:cNvPr>
          <p:cNvGraphicFramePr>
            <a:graphicFrameLocks noGrp="1"/>
          </p:cNvGraphicFramePr>
          <p:nvPr/>
        </p:nvGraphicFramePr>
        <p:xfrm>
          <a:off x="553915" y="630758"/>
          <a:ext cx="10146324" cy="4565868"/>
        </p:xfrm>
        <a:graphic>
          <a:graphicData uri="http://schemas.openxmlformats.org/drawingml/2006/table">
            <a:tbl>
              <a:tblPr/>
              <a:tblGrid>
                <a:gridCol w="2493128">
                  <a:extLst>
                    <a:ext uri="{9D8B030D-6E8A-4147-A177-3AD203B41FA5}">
                      <a16:colId xmlns:a16="http://schemas.microsoft.com/office/drawing/2014/main" val="128478552"/>
                    </a:ext>
                  </a:extLst>
                </a:gridCol>
                <a:gridCol w="4271088">
                  <a:extLst>
                    <a:ext uri="{9D8B030D-6E8A-4147-A177-3AD203B41FA5}">
                      <a16:colId xmlns:a16="http://schemas.microsoft.com/office/drawing/2014/main" val="321457476"/>
                    </a:ext>
                  </a:extLst>
                </a:gridCol>
                <a:gridCol w="3382108">
                  <a:extLst>
                    <a:ext uri="{9D8B030D-6E8A-4147-A177-3AD203B41FA5}">
                      <a16:colId xmlns:a16="http://schemas.microsoft.com/office/drawing/2014/main" val="310120141"/>
                    </a:ext>
                  </a:extLst>
                </a:gridCol>
              </a:tblGrid>
              <a:tr h="1776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rgbClr val="FF0000"/>
                          </a:solidFill>
                        </a:rPr>
                        <a:t>Dimensão de análise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rgbClr val="FF0000"/>
                          </a:solidFill>
                        </a:rPr>
                        <a:t>Pergunta orientadora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rgbClr val="FF0000"/>
                          </a:solidFill>
                        </a:rPr>
                        <a:t>Finalidade analítica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33078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Identificação do artigo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Quem escreveu? Quando? Onde foi publicado?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Registrar a origem do trabalho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353650"/>
                  </a:ext>
                </a:extLst>
              </a:tr>
              <a:tr h="177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Problema de pesquisa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Qual problema o artigo investiga?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Identificar o foco substantivo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0564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Objeto empírico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 que foi estudado concretamente?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Delimitar o campo de observação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07627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Conceitos principais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Quais conceitos estruturam o artigo?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Mapear o vocabulário teórico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38465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Definições adotadas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Como os conceitos são definidos?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Comparar diferenças conceituais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9372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Hipóteses ou pressupostos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Que relações causais ou explicativas são assumidas?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Identificar a lógica interna do estudo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18830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Método utilizado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Qual abordagem foi usada?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Classificar o procedimento metodológico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330214"/>
                  </a:ext>
                </a:extLst>
              </a:tr>
              <a:tr h="444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Técnicas empregadas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Foram usados modelos, simulações, algoritmos, entrevistas, estatísticas?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Mapear os instrumentos técnicos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962976"/>
                  </a:ext>
                </a:extLst>
              </a:tr>
              <a:tr h="444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Tipo de dado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Os dados são empíricos, simulados, documentais, experimentais ou bibliométricos?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Avaliar a base informacional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04612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Variáveis ou categorias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Quais elementos são observados ou mensurados?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Identificar parâmetros reutilizáveis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967072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Resultados encontrados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Quais foram os principais achados?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Extrair contribuições substantivas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01142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Limitações reconhecidas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 que o artigo não conseguiu resolver?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Identificar lacunas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192168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Aplicação ao modelo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Que parte do artigo pode alimentar o modelo teórico?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Converter literatura em estrutura analítica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570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0155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F16FA77-EB3E-01E4-F99A-DBA3C5D644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19" b="1752"/>
          <a:stretch>
            <a:fillRect/>
          </a:stretch>
        </p:blipFill>
        <p:spPr>
          <a:xfrm>
            <a:off x="1232311" y="646233"/>
            <a:ext cx="9318457" cy="580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8479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50D97BE-A3BE-DFAB-0BFA-E03C4446064F}"/>
              </a:ext>
            </a:extLst>
          </p:cNvPr>
          <p:cNvSpPr/>
          <p:nvPr/>
        </p:nvSpPr>
        <p:spPr>
          <a:xfrm>
            <a:off x="1459149" y="1439693"/>
            <a:ext cx="10048671" cy="4737370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1A92EA1-33DF-B7DC-B14C-259A804F4A1F}"/>
              </a:ext>
            </a:extLst>
          </p:cNvPr>
          <p:cNvCxnSpPr>
            <a:cxnSpLocks/>
          </p:cNvCxnSpPr>
          <p:nvPr/>
        </p:nvCxnSpPr>
        <p:spPr>
          <a:xfrm>
            <a:off x="1459149" y="1984442"/>
            <a:ext cx="10048671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7935336-D13B-A17A-08F0-BA63E9B9F054}"/>
              </a:ext>
            </a:extLst>
          </p:cNvPr>
          <p:cNvCxnSpPr>
            <a:cxnSpLocks/>
          </p:cNvCxnSpPr>
          <p:nvPr/>
        </p:nvCxnSpPr>
        <p:spPr>
          <a:xfrm>
            <a:off x="3813242" y="1439693"/>
            <a:ext cx="0" cy="47373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A20DBF4D-828E-04EC-E110-D1EC6A9B321F}"/>
              </a:ext>
            </a:extLst>
          </p:cNvPr>
          <p:cNvCxnSpPr>
            <a:cxnSpLocks/>
          </p:cNvCxnSpPr>
          <p:nvPr/>
        </p:nvCxnSpPr>
        <p:spPr>
          <a:xfrm>
            <a:off x="5290226" y="1439693"/>
            <a:ext cx="0" cy="47373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8D766033-A2C8-C904-42D6-CE214510C88F}"/>
              </a:ext>
            </a:extLst>
          </p:cNvPr>
          <p:cNvCxnSpPr>
            <a:cxnSpLocks/>
          </p:cNvCxnSpPr>
          <p:nvPr/>
        </p:nvCxnSpPr>
        <p:spPr>
          <a:xfrm>
            <a:off x="6711274" y="1439693"/>
            <a:ext cx="0" cy="47373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98200C69-F475-E7B4-760E-D09784B32564}"/>
              </a:ext>
            </a:extLst>
          </p:cNvPr>
          <p:cNvCxnSpPr>
            <a:cxnSpLocks/>
          </p:cNvCxnSpPr>
          <p:nvPr/>
        </p:nvCxnSpPr>
        <p:spPr>
          <a:xfrm>
            <a:off x="8274185" y="1439693"/>
            <a:ext cx="0" cy="47373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9356BE1D-8240-3DC3-6438-C43317951797}"/>
              </a:ext>
            </a:extLst>
          </p:cNvPr>
          <p:cNvCxnSpPr>
            <a:cxnSpLocks/>
          </p:cNvCxnSpPr>
          <p:nvPr/>
        </p:nvCxnSpPr>
        <p:spPr>
          <a:xfrm>
            <a:off x="1439691" y="1439693"/>
            <a:ext cx="2383280" cy="5447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15ACE4D-1A14-EEC2-432F-4519977A8D08}"/>
              </a:ext>
            </a:extLst>
          </p:cNvPr>
          <p:cNvCxnSpPr>
            <a:cxnSpLocks/>
          </p:cNvCxnSpPr>
          <p:nvPr/>
        </p:nvCxnSpPr>
        <p:spPr>
          <a:xfrm>
            <a:off x="9834662" y="1439693"/>
            <a:ext cx="0" cy="47373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6E20EDF2-A62A-1F18-AEF9-7482B9A3620A}"/>
              </a:ext>
            </a:extLst>
          </p:cNvPr>
          <p:cNvCxnSpPr>
            <a:cxnSpLocks/>
          </p:cNvCxnSpPr>
          <p:nvPr/>
        </p:nvCxnSpPr>
        <p:spPr>
          <a:xfrm>
            <a:off x="1459149" y="2487038"/>
            <a:ext cx="10048671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7B3348F7-6597-0EB3-512F-8A3E834C4A85}"/>
              </a:ext>
            </a:extLst>
          </p:cNvPr>
          <p:cNvCxnSpPr>
            <a:cxnSpLocks/>
          </p:cNvCxnSpPr>
          <p:nvPr/>
        </p:nvCxnSpPr>
        <p:spPr>
          <a:xfrm>
            <a:off x="1459149" y="3046379"/>
            <a:ext cx="10058399" cy="22698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31DE727-605E-C112-970F-CFC16578EA84}"/>
              </a:ext>
            </a:extLst>
          </p:cNvPr>
          <p:cNvCxnSpPr>
            <a:cxnSpLocks/>
          </p:cNvCxnSpPr>
          <p:nvPr/>
        </p:nvCxnSpPr>
        <p:spPr>
          <a:xfrm>
            <a:off x="1478601" y="3638145"/>
            <a:ext cx="10068129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51FC4F62-F800-2045-A4D2-C3131C48AD80}"/>
              </a:ext>
            </a:extLst>
          </p:cNvPr>
          <p:cNvCxnSpPr>
            <a:cxnSpLocks/>
          </p:cNvCxnSpPr>
          <p:nvPr/>
        </p:nvCxnSpPr>
        <p:spPr>
          <a:xfrm>
            <a:off x="1468877" y="4276928"/>
            <a:ext cx="10048671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BB959348-E38F-249E-2362-2A34C82C3608}"/>
              </a:ext>
            </a:extLst>
          </p:cNvPr>
          <p:cNvCxnSpPr>
            <a:cxnSpLocks/>
          </p:cNvCxnSpPr>
          <p:nvPr/>
        </p:nvCxnSpPr>
        <p:spPr>
          <a:xfrm>
            <a:off x="1468877" y="4896255"/>
            <a:ext cx="10038943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6DD5D62-2EFB-8DB0-04C8-05BBF580AF3F}"/>
              </a:ext>
            </a:extLst>
          </p:cNvPr>
          <p:cNvSpPr txBox="1"/>
          <p:nvPr/>
        </p:nvSpPr>
        <p:spPr>
          <a:xfrm>
            <a:off x="3743528" y="1620826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accent1">
                    <a:lumMod val="75000"/>
                  </a:schemeClr>
                </a:solidFill>
              </a:rPr>
              <a:t>Trabalho Correlato 1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0D8A34C-171D-4139-F286-CA80748C147B}"/>
              </a:ext>
            </a:extLst>
          </p:cNvPr>
          <p:cNvSpPr txBox="1"/>
          <p:nvPr/>
        </p:nvSpPr>
        <p:spPr>
          <a:xfrm>
            <a:off x="5239967" y="1611097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>
                <a:solidFill>
                  <a:schemeClr val="accent1">
                    <a:lumMod val="75000"/>
                  </a:schemeClr>
                </a:solidFill>
              </a:rPr>
              <a:t>Trabalho Correlato 2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659F99B9-B138-D1A7-670D-B415040336C0}"/>
              </a:ext>
            </a:extLst>
          </p:cNvPr>
          <p:cNvSpPr txBox="1"/>
          <p:nvPr/>
        </p:nvSpPr>
        <p:spPr>
          <a:xfrm>
            <a:off x="6727487" y="1611097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>
                <a:solidFill>
                  <a:schemeClr val="accent1">
                    <a:lumMod val="75000"/>
                  </a:schemeClr>
                </a:solidFill>
              </a:rPr>
              <a:t>Trabalho Correlato 3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3998C8F-BAF5-0DD6-3FD7-AFA79201E892}"/>
              </a:ext>
            </a:extLst>
          </p:cNvPr>
          <p:cNvSpPr txBox="1"/>
          <p:nvPr/>
        </p:nvSpPr>
        <p:spPr>
          <a:xfrm>
            <a:off x="8268506" y="1611096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>
                <a:solidFill>
                  <a:schemeClr val="accent1">
                    <a:lumMod val="75000"/>
                  </a:schemeClr>
                </a:solidFill>
              </a:rPr>
              <a:t>Trabalho Correlato 4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A49F221-76D0-CB07-EE01-5589C8C34ED9}"/>
              </a:ext>
            </a:extLst>
          </p:cNvPr>
          <p:cNvSpPr txBox="1"/>
          <p:nvPr/>
        </p:nvSpPr>
        <p:spPr>
          <a:xfrm>
            <a:off x="9831416" y="1610168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>
                <a:solidFill>
                  <a:schemeClr val="accent1">
                    <a:lumMod val="75000"/>
                  </a:schemeClr>
                </a:solidFill>
              </a:rPr>
              <a:t>Trabalho Correlato n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9FC8479E-A8C1-98A1-EF2A-F066D92D8B8A}"/>
              </a:ext>
            </a:extLst>
          </p:cNvPr>
          <p:cNvCxnSpPr>
            <a:cxnSpLocks/>
          </p:cNvCxnSpPr>
          <p:nvPr/>
        </p:nvCxnSpPr>
        <p:spPr>
          <a:xfrm>
            <a:off x="1491168" y="5505855"/>
            <a:ext cx="1002638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C2E8CE33-DCE7-B05F-A08B-1302C9906B63}"/>
              </a:ext>
            </a:extLst>
          </p:cNvPr>
          <p:cNvSpPr txBox="1"/>
          <p:nvPr/>
        </p:nvSpPr>
        <p:spPr>
          <a:xfrm>
            <a:off x="2387330" y="1482325"/>
            <a:ext cx="1546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solidFill>
                  <a:schemeClr val="accent1">
                    <a:lumMod val="75000"/>
                  </a:schemeClr>
                </a:solidFill>
              </a:rPr>
              <a:t>ARTIGOS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64F57D04-3D07-5D19-A63C-67C7976B19B0}"/>
              </a:ext>
            </a:extLst>
          </p:cNvPr>
          <p:cNvSpPr txBox="1"/>
          <p:nvPr/>
        </p:nvSpPr>
        <p:spPr>
          <a:xfrm>
            <a:off x="1328634" y="1658805"/>
            <a:ext cx="1546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solidFill>
                  <a:schemeClr val="accent1">
                    <a:lumMod val="75000"/>
                  </a:schemeClr>
                </a:solidFill>
              </a:rPr>
              <a:t>PARÂMETROS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8BB5DE5D-120D-32F1-B899-3A382B38721F}"/>
              </a:ext>
            </a:extLst>
          </p:cNvPr>
          <p:cNvSpPr txBox="1"/>
          <p:nvPr/>
        </p:nvSpPr>
        <p:spPr>
          <a:xfrm>
            <a:off x="1384670" y="2104537"/>
            <a:ext cx="1903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Identificação do artigo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16CCD3D3-0DE3-FAD8-06F7-5607CEB6229C}"/>
              </a:ext>
            </a:extLst>
          </p:cNvPr>
          <p:cNvSpPr txBox="1"/>
          <p:nvPr/>
        </p:nvSpPr>
        <p:spPr>
          <a:xfrm>
            <a:off x="1358222" y="2606548"/>
            <a:ext cx="18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Problema de pesquisa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53252FE9-8B2A-CDAB-14C5-2F5DE6A604E6}"/>
              </a:ext>
            </a:extLst>
          </p:cNvPr>
          <p:cNvSpPr txBox="1"/>
          <p:nvPr/>
        </p:nvSpPr>
        <p:spPr>
          <a:xfrm>
            <a:off x="1497249" y="3245330"/>
            <a:ext cx="2386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Objeto empírico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3ECA3BA9-9896-7C70-2DD9-F47CF7ABB646}"/>
              </a:ext>
            </a:extLst>
          </p:cNvPr>
          <p:cNvSpPr txBox="1"/>
          <p:nvPr/>
        </p:nvSpPr>
        <p:spPr>
          <a:xfrm>
            <a:off x="1497248" y="3810825"/>
            <a:ext cx="2386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Conceitos principais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4B1D5208-7C2B-1AA3-642E-851F9C508FBC}"/>
              </a:ext>
            </a:extLst>
          </p:cNvPr>
          <p:cNvSpPr txBox="1"/>
          <p:nvPr/>
        </p:nvSpPr>
        <p:spPr>
          <a:xfrm>
            <a:off x="1485488" y="4425287"/>
            <a:ext cx="2386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Definições adotadas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1A532251-488D-712D-88F0-6182095C08AC}"/>
              </a:ext>
            </a:extLst>
          </p:cNvPr>
          <p:cNvSpPr txBox="1"/>
          <p:nvPr/>
        </p:nvSpPr>
        <p:spPr>
          <a:xfrm>
            <a:off x="1475768" y="5062556"/>
            <a:ext cx="2386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Hipóteses e pressupostos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1AF039B3-A564-0CFD-FDBD-82B9AA9C3FB8}"/>
              </a:ext>
            </a:extLst>
          </p:cNvPr>
          <p:cNvSpPr txBox="1"/>
          <p:nvPr/>
        </p:nvSpPr>
        <p:spPr>
          <a:xfrm>
            <a:off x="1497250" y="5680952"/>
            <a:ext cx="2386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solidFill>
                  <a:schemeClr val="accent1">
                    <a:lumMod val="75000"/>
                  </a:schemeClr>
                </a:solidFill>
              </a:rPr>
              <a:t>n</a:t>
            </a:r>
          </a:p>
        </p:txBody>
      </p:sp>
      <p:sp>
        <p:nvSpPr>
          <p:cNvPr id="61" name="Chave Esquerda 60">
            <a:extLst>
              <a:ext uri="{FF2B5EF4-FFF2-40B4-BE49-F238E27FC236}">
                <a16:creationId xmlns:a16="http://schemas.microsoft.com/office/drawing/2014/main" id="{7D800B8A-4780-D0FB-5D3B-ADEF21910B93}"/>
              </a:ext>
            </a:extLst>
          </p:cNvPr>
          <p:cNvSpPr/>
          <p:nvPr/>
        </p:nvSpPr>
        <p:spPr>
          <a:xfrm rot="5400000">
            <a:off x="7460331" y="-2585603"/>
            <a:ext cx="400400" cy="7694577"/>
          </a:xfrm>
          <a:prstGeom prst="leftBrace">
            <a:avLst>
              <a:gd name="adj1" fmla="val 29797"/>
              <a:gd name="adj2" fmla="val 50000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F5730249-D8A2-31E6-C574-CB29CA6EF170}"/>
              </a:ext>
            </a:extLst>
          </p:cNvPr>
          <p:cNvSpPr txBox="1"/>
          <p:nvPr/>
        </p:nvSpPr>
        <p:spPr>
          <a:xfrm>
            <a:off x="5632657" y="667834"/>
            <a:ext cx="3736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Referências Bibliográficas</a:t>
            </a:r>
          </a:p>
        </p:txBody>
      </p:sp>
      <p:sp>
        <p:nvSpPr>
          <p:cNvPr id="63" name="Chave Esquerda 62">
            <a:extLst>
              <a:ext uri="{FF2B5EF4-FFF2-40B4-BE49-F238E27FC236}">
                <a16:creationId xmlns:a16="http://schemas.microsoft.com/office/drawing/2014/main" id="{9E018E8D-BF4F-4265-F646-07683F99666E}"/>
              </a:ext>
            </a:extLst>
          </p:cNvPr>
          <p:cNvSpPr/>
          <p:nvPr/>
        </p:nvSpPr>
        <p:spPr>
          <a:xfrm>
            <a:off x="1055910" y="1984442"/>
            <a:ext cx="400400" cy="4192621"/>
          </a:xfrm>
          <a:prstGeom prst="leftBrace">
            <a:avLst>
              <a:gd name="adj1" fmla="val 29797"/>
              <a:gd name="adj2" fmla="val 50000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0259CCF2-53E8-63E9-C68B-5CBDC3A20CE3}"/>
              </a:ext>
            </a:extLst>
          </p:cNvPr>
          <p:cNvSpPr txBox="1"/>
          <p:nvPr/>
        </p:nvSpPr>
        <p:spPr>
          <a:xfrm rot="16200000">
            <a:off x="-505215" y="3935688"/>
            <a:ext cx="2694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>
                <a:solidFill>
                  <a:schemeClr val="accent1">
                    <a:lumMod val="75000"/>
                  </a:schemeClr>
                </a:solidFill>
              </a:rPr>
              <a:t>Critérios de análise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AE4FBCD2-A8B2-6C19-A18D-2DE719DD4F6A}"/>
              </a:ext>
            </a:extLst>
          </p:cNvPr>
          <p:cNvSpPr txBox="1"/>
          <p:nvPr/>
        </p:nvSpPr>
        <p:spPr>
          <a:xfrm>
            <a:off x="423151" y="503049"/>
            <a:ext cx="4416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11.2.2.2. Matriz de Extração</a:t>
            </a:r>
          </a:p>
        </p:txBody>
      </p:sp>
    </p:spTree>
    <p:extLst>
      <p:ext uri="{BB962C8B-B14F-4D97-AF65-F5344CB8AC3E}">
        <p14:creationId xmlns:p14="http://schemas.microsoft.com/office/powerpoint/2010/main" val="23324725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17678ABD-FE1E-C8ED-9048-A3D857477D51}"/>
              </a:ext>
            </a:extLst>
          </p:cNvPr>
          <p:cNvGraphicFramePr>
            <a:graphicFrameLocks noGrp="1"/>
          </p:cNvGraphicFramePr>
          <p:nvPr/>
        </p:nvGraphicFramePr>
        <p:xfrm>
          <a:off x="571501" y="1110440"/>
          <a:ext cx="10911255" cy="3514464"/>
        </p:xfrm>
        <a:graphic>
          <a:graphicData uri="http://schemas.openxmlformats.org/drawingml/2006/table">
            <a:tbl>
              <a:tblPr/>
              <a:tblGrid>
                <a:gridCol w="1096609">
                  <a:extLst>
                    <a:ext uri="{9D8B030D-6E8A-4147-A177-3AD203B41FA5}">
                      <a16:colId xmlns:a16="http://schemas.microsoft.com/office/drawing/2014/main" val="2006095054"/>
                    </a:ext>
                  </a:extLst>
                </a:gridCol>
                <a:gridCol w="1261099">
                  <a:extLst>
                    <a:ext uri="{9D8B030D-6E8A-4147-A177-3AD203B41FA5}">
                      <a16:colId xmlns:a16="http://schemas.microsoft.com/office/drawing/2014/main" val="208647027"/>
                    </a:ext>
                  </a:extLst>
                </a:gridCol>
                <a:gridCol w="1132837">
                  <a:extLst>
                    <a:ext uri="{9D8B030D-6E8A-4147-A177-3AD203B41FA5}">
                      <a16:colId xmlns:a16="http://schemas.microsoft.com/office/drawing/2014/main" val="3054852896"/>
                    </a:ext>
                  </a:extLst>
                </a:gridCol>
                <a:gridCol w="2206869">
                  <a:extLst>
                    <a:ext uri="{9D8B030D-6E8A-4147-A177-3AD203B41FA5}">
                      <a16:colId xmlns:a16="http://schemas.microsoft.com/office/drawing/2014/main" val="564815077"/>
                    </a:ext>
                  </a:extLst>
                </a:gridCol>
                <a:gridCol w="1330965">
                  <a:extLst>
                    <a:ext uri="{9D8B030D-6E8A-4147-A177-3AD203B41FA5}">
                      <a16:colId xmlns:a16="http://schemas.microsoft.com/office/drawing/2014/main" val="1270164419"/>
                    </a:ext>
                  </a:extLst>
                </a:gridCol>
                <a:gridCol w="1155062">
                  <a:extLst>
                    <a:ext uri="{9D8B030D-6E8A-4147-A177-3AD203B41FA5}">
                      <a16:colId xmlns:a16="http://schemas.microsoft.com/office/drawing/2014/main" val="1259531249"/>
                    </a:ext>
                  </a:extLst>
                </a:gridCol>
                <a:gridCol w="1363907">
                  <a:extLst>
                    <a:ext uri="{9D8B030D-6E8A-4147-A177-3AD203B41FA5}">
                      <a16:colId xmlns:a16="http://schemas.microsoft.com/office/drawing/2014/main" val="897797016"/>
                    </a:ext>
                  </a:extLst>
                </a:gridCol>
                <a:gridCol w="1363907">
                  <a:extLst>
                    <a:ext uri="{9D8B030D-6E8A-4147-A177-3AD203B41FA5}">
                      <a16:colId xmlns:a16="http://schemas.microsoft.com/office/drawing/2014/main" val="2046533567"/>
                    </a:ext>
                  </a:extLst>
                </a:gridCol>
              </a:tblGrid>
              <a:tr h="2014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rgbClr val="FF0000"/>
                          </a:solidFill>
                        </a:rPr>
                        <a:t>ID do artigo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rgbClr val="FF0000"/>
                          </a:solidFill>
                        </a:rPr>
                        <a:t>Referência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rgbClr val="FF0000"/>
                          </a:solidFill>
                        </a:rPr>
                        <a:t>Código analítico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rgbClr val="FF0000"/>
                          </a:solidFill>
                        </a:rPr>
                        <a:t>Categoria extraída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rgbClr val="FF0000"/>
                          </a:solidFill>
                        </a:rPr>
                        <a:t>Trecho ou evidência do artigo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rgbClr val="FF0000"/>
                          </a:solidFill>
                        </a:rPr>
                        <a:t>Interpretação do pesquisador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rgbClr val="FF0000"/>
                          </a:solidFill>
                        </a:rPr>
                        <a:t>Comparação com outros artigos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rgbClr val="FF0000"/>
                          </a:solidFill>
                        </a:rPr>
                        <a:t>Uso no modelo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698989"/>
                  </a:ext>
                </a:extLst>
              </a:tr>
              <a:tr h="154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A01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Autor, ano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PROB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Problema de pesquisa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524903"/>
                  </a:ext>
                </a:extLst>
              </a:tr>
              <a:tr h="1084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A01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Autor, ano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OBJ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Objeto empírico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4296010"/>
                  </a:ext>
                </a:extLst>
              </a:tr>
              <a:tr h="1084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A01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Autor, ano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CONC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Conceitos centrais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881366"/>
                  </a:ext>
                </a:extLst>
              </a:tr>
              <a:tr h="1084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A01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Autor, ano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MET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Método de pesquisa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795357"/>
                  </a:ext>
                </a:extLst>
              </a:tr>
              <a:tr h="1084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A01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Autor, ano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TEC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Técnica utilizada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043190"/>
                  </a:ext>
                </a:extLst>
              </a:tr>
              <a:tr h="1084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A01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Autor, ano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DADO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Tipo de dado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295350"/>
                  </a:ext>
                </a:extLst>
              </a:tr>
              <a:tr h="1084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A01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Autor, ano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VAR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Variáveis analisadas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117337"/>
                  </a:ext>
                </a:extLst>
              </a:tr>
              <a:tr h="2014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A01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Autor, ano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MEC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Mecanismos explicativos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595842"/>
                  </a:ext>
                </a:extLst>
              </a:tr>
              <a:tr h="1084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A01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Autor, ano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RES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Resultados principais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970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A01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Autor, ano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LIM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Limitações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287765"/>
                  </a:ext>
                </a:extLst>
              </a:tr>
              <a:tr h="154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A01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Autor, ano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Contribuição ao modelo</a:t>
                      </a: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4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 marL="43953" marR="43953" marT="21976" marB="219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661077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CCEA312C-B1F1-5916-EA28-47213FF56246}"/>
              </a:ext>
            </a:extLst>
          </p:cNvPr>
          <p:cNvSpPr txBox="1"/>
          <p:nvPr/>
        </p:nvSpPr>
        <p:spPr>
          <a:xfrm>
            <a:off x="493489" y="547010"/>
            <a:ext cx="4416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11.2.2.3. Códigos analíticos</a:t>
            </a:r>
          </a:p>
        </p:txBody>
      </p:sp>
    </p:spTree>
    <p:extLst>
      <p:ext uri="{BB962C8B-B14F-4D97-AF65-F5344CB8AC3E}">
        <p14:creationId xmlns:p14="http://schemas.microsoft.com/office/powerpoint/2010/main" val="11802875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63EA244-E5F5-FF8C-9498-E102C7A5B3CA}"/>
              </a:ext>
            </a:extLst>
          </p:cNvPr>
          <p:cNvGraphicFramePr>
            <a:graphicFrameLocks noGrp="1"/>
          </p:cNvGraphicFramePr>
          <p:nvPr/>
        </p:nvGraphicFramePr>
        <p:xfrm>
          <a:off x="323849" y="901702"/>
          <a:ext cx="11544302" cy="5054596"/>
        </p:xfrm>
        <a:graphic>
          <a:graphicData uri="http://schemas.openxmlformats.org/drawingml/2006/table">
            <a:tbl>
              <a:tblPr/>
              <a:tblGrid>
                <a:gridCol w="1978269">
                  <a:extLst>
                    <a:ext uri="{9D8B030D-6E8A-4147-A177-3AD203B41FA5}">
                      <a16:colId xmlns:a16="http://schemas.microsoft.com/office/drawing/2014/main" val="4066484741"/>
                    </a:ext>
                  </a:extLst>
                </a:gridCol>
                <a:gridCol w="1608992">
                  <a:extLst>
                    <a:ext uri="{9D8B030D-6E8A-4147-A177-3AD203B41FA5}">
                      <a16:colId xmlns:a16="http://schemas.microsoft.com/office/drawing/2014/main" val="8690124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711437536"/>
                    </a:ext>
                  </a:extLst>
                </a:gridCol>
                <a:gridCol w="1409283">
                  <a:extLst>
                    <a:ext uri="{9D8B030D-6E8A-4147-A177-3AD203B41FA5}">
                      <a16:colId xmlns:a16="http://schemas.microsoft.com/office/drawing/2014/main" val="1262056920"/>
                    </a:ext>
                  </a:extLst>
                </a:gridCol>
                <a:gridCol w="1649186">
                  <a:extLst>
                    <a:ext uri="{9D8B030D-6E8A-4147-A177-3AD203B41FA5}">
                      <a16:colId xmlns:a16="http://schemas.microsoft.com/office/drawing/2014/main" val="1900433324"/>
                    </a:ext>
                  </a:extLst>
                </a:gridCol>
                <a:gridCol w="1649186">
                  <a:extLst>
                    <a:ext uri="{9D8B030D-6E8A-4147-A177-3AD203B41FA5}">
                      <a16:colId xmlns:a16="http://schemas.microsoft.com/office/drawing/2014/main" val="616943984"/>
                    </a:ext>
                  </a:extLst>
                </a:gridCol>
                <a:gridCol w="1649186">
                  <a:extLst>
                    <a:ext uri="{9D8B030D-6E8A-4147-A177-3AD203B41FA5}">
                      <a16:colId xmlns:a16="http://schemas.microsoft.com/office/drawing/2014/main" val="2692786970"/>
                    </a:ext>
                  </a:extLst>
                </a:gridCol>
              </a:tblGrid>
              <a:tr h="3269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>
                          <a:solidFill>
                            <a:srgbClr val="FF0000"/>
                          </a:solidFill>
                        </a:rPr>
                        <a:t>Eixo de integração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>
                          <a:solidFill>
                            <a:srgbClr val="FF0000"/>
                          </a:solidFill>
                        </a:rPr>
                        <a:t>Achado recorrente na literatura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>
                          <a:solidFill>
                            <a:srgbClr val="FF0000"/>
                          </a:solidFill>
                        </a:rPr>
                        <a:t>Artigos que sustentam o achado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>
                          <a:solidFill>
                            <a:srgbClr val="FF0000"/>
                          </a:solidFill>
                        </a:rPr>
                        <a:t>Convergência entre estudos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>
                          <a:solidFill>
                            <a:srgbClr val="FF0000"/>
                          </a:solidFill>
                        </a:rPr>
                        <a:t>Divergência entre estudos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>
                          <a:solidFill>
                            <a:srgbClr val="FF0000"/>
                          </a:solidFill>
                        </a:rPr>
                        <a:t>Lacuna identificada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 dirty="0">
                          <a:solidFill>
                            <a:srgbClr val="FF0000"/>
                          </a:solidFill>
                        </a:rPr>
                        <a:t>Implicação para o modelo teórico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922315"/>
                  </a:ext>
                </a:extLst>
              </a:tr>
              <a:tr h="176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Problema investigado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 dirty="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770201"/>
                  </a:ext>
                </a:extLst>
              </a:tr>
              <a:tr h="176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Objeto empírico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 dirty="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612516"/>
                  </a:ext>
                </a:extLst>
              </a:tr>
              <a:tr h="176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Conceitos centrais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80858"/>
                  </a:ext>
                </a:extLst>
              </a:tr>
              <a:tr h="176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Definições utilizadas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206643"/>
                  </a:ext>
                </a:extLst>
              </a:tr>
              <a:tr h="176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Pressupostos teóricos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88206"/>
                  </a:ext>
                </a:extLst>
              </a:tr>
              <a:tr h="176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Variáveis principais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00838"/>
                  </a:ext>
                </a:extLst>
              </a:tr>
              <a:tr h="176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Mecanismos explicativos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458806"/>
                  </a:ext>
                </a:extLst>
              </a:tr>
              <a:tr h="176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Métodos utilizados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475450"/>
                  </a:ext>
                </a:extLst>
              </a:tr>
              <a:tr h="176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Técnicas empregadas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199829"/>
                  </a:ext>
                </a:extLst>
              </a:tr>
              <a:tr h="176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Tipos de dados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743452"/>
                  </a:ext>
                </a:extLst>
              </a:tr>
              <a:tr h="176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espacial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560421"/>
                  </a:ext>
                </a:extLst>
              </a:tr>
              <a:tr h="176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temporal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074899"/>
                  </a:ext>
                </a:extLst>
              </a:tr>
              <a:tr h="176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Agentes ou atores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521938"/>
                  </a:ext>
                </a:extLst>
              </a:tr>
              <a:tr h="251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Comportamentos analisados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671992"/>
                  </a:ext>
                </a:extLst>
              </a:tr>
              <a:tr h="176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Informação disponível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195326"/>
                  </a:ext>
                </a:extLst>
              </a:tr>
              <a:tr h="176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Critérios de decisão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115118"/>
                  </a:ext>
                </a:extLst>
              </a:tr>
              <a:tr h="176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Resultados empíricos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611421"/>
                  </a:ext>
                </a:extLst>
              </a:tr>
              <a:tr h="176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Métricas de avaliação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674622"/>
                  </a:ext>
                </a:extLst>
              </a:tr>
              <a:tr h="251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Limitações metodológicas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845851"/>
                  </a:ext>
                </a:extLst>
              </a:tr>
              <a:tr h="176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Lacunas teóricas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843152"/>
                  </a:ext>
                </a:extLst>
              </a:tr>
              <a:tr h="176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Potencial de aplicação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97430"/>
                  </a:ext>
                </a:extLst>
              </a:tr>
              <a:tr h="176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Contribuição ao modelo</a:t>
                      </a:r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200" dirty="0"/>
                    </a:p>
                  </a:txBody>
                  <a:tcPr marL="25152" marR="25152" marT="12576" marB="12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444863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2E63D116-A3D9-8844-8FC0-96616C22F09A}"/>
              </a:ext>
            </a:extLst>
          </p:cNvPr>
          <p:cNvSpPr txBox="1"/>
          <p:nvPr/>
        </p:nvSpPr>
        <p:spPr>
          <a:xfrm>
            <a:off x="247305" y="532370"/>
            <a:ext cx="4896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11.2.2.3. Síntese comparativa dos achados</a:t>
            </a:r>
          </a:p>
        </p:txBody>
      </p:sp>
    </p:spTree>
    <p:extLst>
      <p:ext uri="{BB962C8B-B14F-4D97-AF65-F5344CB8AC3E}">
        <p14:creationId xmlns:p14="http://schemas.microsoft.com/office/powerpoint/2010/main" val="8703981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DC5A3908-D444-07C1-9F1A-204BE6858780}"/>
              </a:ext>
            </a:extLst>
          </p:cNvPr>
          <p:cNvGraphicFramePr>
            <a:graphicFrameLocks noGrp="1"/>
          </p:cNvGraphicFramePr>
          <p:nvPr/>
        </p:nvGraphicFramePr>
        <p:xfrm>
          <a:off x="1301262" y="1214360"/>
          <a:ext cx="9880194" cy="4429279"/>
        </p:xfrm>
        <a:graphic>
          <a:graphicData uri="http://schemas.openxmlformats.org/drawingml/2006/table">
            <a:tbl>
              <a:tblPr/>
              <a:tblGrid>
                <a:gridCol w="2273035">
                  <a:extLst>
                    <a:ext uri="{9D8B030D-6E8A-4147-A177-3AD203B41FA5}">
                      <a16:colId xmlns:a16="http://schemas.microsoft.com/office/drawing/2014/main" val="1308750652"/>
                    </a:ext>
                  </a:extLst>
                </a:gridCol>
                <a:gridCol w="4313761">
                  <a:extLst>
                    <a:ext uri="{9D8B030D-6E8A-4147-A177-3AD203B41FA5}">
                      <a16:colId xmlns:a16="http://schemas.microsoft.com/office/drawing/2014/main" val="3592527797"/>
                    </a:ext>
                  </a:extLst>
                </a:gridCol>
                <a:gridCol w="3293398">
                  <a:extLst>
                    <a:ext uri="{9D8B030D-6E8A-4147-A177-3AD203B41FA5}">
                      <a16:colId xmlns:a16="http://schemas.microsoft.com/office/drawing/2014/main" val="4062136183"/>
                    </a:ext>
                  </a:extLst>
                </a:gridCol>
              </a:tblGrid>
              <a:tr h="3164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>
                          <a:solidFill>
                            <a:srgbClr val="FF0000"/>
                          </a:solidFill>
                        </a:rPr>
                        <a:t>Eixo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Função no sistema conceitual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Produto para o modelo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696597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Problema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foco da investigação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Problema modelável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599943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Objeto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Delimita o fenômeno analisado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925282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Espaço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ambiente da ação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Estrutura espacial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340280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Tempo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a dinâmica processual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Ciclo temporal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46615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Agentes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quem atua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Tipologia de agentes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877040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Comportamento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como os agentes agem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Regras comportamentais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711818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Informação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os sinais disponíveis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Entradas informacionais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176903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Decisão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a lógica de escolha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Função decisória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942567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Variáveis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fatores condicionantes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Parâmetros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918476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Mecanismos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processos causais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Regras de emergência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099523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Métricas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avaliação dos resultados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Indicadores de saída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8282461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Lacunas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a contribuição da pesquisa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Originalidade do modelo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130137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6F8780C3-1A27-A458-3A71-C0B931DA6F80}"/>
              </a:ext>
            </a:extLst>
          </p:cNvPr>
          <p:cNvSpPr txBox="1"/>
          <p:nvPr/>
        </p:nvSpPr>
        <p:spPr>
          <a:xfrm>
            <a:off x="316524" y="641811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11.2.2.4. Versão sintética do sistema</a:t>
            </a:r>
          </a:p>
        </p:txBody>
      </p:sp>
    </p:spTree>
    <p:extLst>
      <p:ext uri="{BB962C8B-B14F-4D97-AF65-F5344CB8AC3E}">
        <p14:creationId xmlns:p14="http://schemas.microsoft.com/office/powerpoint/2010/main" val="22809157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10ED9FB7-19AF-64E3-FC48-5667DFC2D038}"/>
              </a:ext>
            </a:extLst>
          </p:cNvPr>
          <p:cNvGraphicFramePr>
            <a:graphicFrameLocks noGrp="1"/>
          </p:cNvGraphicFramePr>
          <p:nvPr/>
        </p:nvGraphicFramePr>
        <p:xfrm>
          <a:off x="347296" y="1004875"/>
          <a:ext cx="11497408" cy="2255520"/>
        </p:xfrm>
        <a:graphic>
          <a:graphicData uri="http://schemas.openxmlformats.org/drawingml/2006/table">
            <a:tbl>
              <a:tblPr/>
              <a:tblGrid>
                <a:gridCol w="2342420">
                  <a:extLst>
                    <a:ext uri="{9D8B030D-6E8A-4147-A177-3AD203B41FA5}">
                      <a16:colId xmlns:a16="http://schemas.microsoft.com/office/drawing/2014/main" val="413273588"/>
                    </a:ext>
                  </a:extLst>
                </a:gridCol>
                <a:gridCol w="4460533">
                  <a:extLst>
                    <a:ext uri="{9D8B030D-6E8A-4147-A177-3AD203B41FA5}">
                      <a16:colId xmlns:a16="http://schemas.microsoft.com/office/drawing/2014/main" val="4258637300"/>
                    </a:ext>
                  </a:extLst>
                </a:gridCol>
                <a:gridCol w="4694455">
                  <a:extLst>
                    <a:ext uri="{9D8B030D-6E8A-4147-A177-3AD203B41FA5}">
                      <a16:colId xmlns:a16="http://schemas.microsoft.com/office/drawing/2014/main" val="16609385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>
                          <a:solidFill>
                            <a:srgbClr val="FF0000"/>
                          </a:solidFill>
                        </a:rPr>
                        <a:t>Eixo conceitual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>
                          <a:solidFill>
                            <a:srgbClr val="FF0000"/>
                          </a:solidFill>
                        </a:rPr>
                        <a:t>Pergunta central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Elementos extraídos dos artigos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537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Eixo espacial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Onde ocorre o fenômeno?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Edifício, salas, corredores, escadas, saídas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534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Eixo agentivo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Quem age no sistema?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Ocupantes, visitantes, equipes de emergência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497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Eixo comportamental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Como os agentes decidem e se movem?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Escolha de rota, velocidade, reação ao alarme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729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Eixo informacional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Que informação orienta a ação?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Sinalização, visibilidade, comunicação, alerta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252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Eixo temporal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Como o processo se desenvolve no tempo?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Tempo de reação, tempo de evacuação, propagação do risco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940210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9AFF2419-F9C1-5980-73C9-5EDFECE72D33}"/>
              </a:ext>
            </a:extLst>
          </p:cNvPr>
          <p:cNvSpPr txBox="1"/>
          <p:nvPr/>
        </p:nvSpPr>
        <p:spPr>
          <a:xfrm>
            <a:off x="347296" y="527511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Sistema de coordenadas conceituais</a:t>
            </a:r>
          </a:p>
        </p:txBody>
      </p:sp>
    </p:spTree>
    <p:extLst>
      <p:ext uri="{BB962C8B-B14F-4D97-AF65-F5344CB8AC3E}">
        <p14:creationId xmlns:p14="http://schemas.microsoft.com/office/powerpoint/2010/main" val="30673276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61D8E-87ED-5A72-C334-D98B08DDB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18A6913-CCED-51C5-EFFE-9DA603E545D2}"/>
              </a:ext>
            </a:extLst>
          </p:cNvPr>
          <p:cNvSpPr txBox="1"/>
          <p:nvPr/>
        </p:nvSpPr>
        <p:spPr>
          <a:xfrm>
            <a:off x="3906716" y="3105834"/>
            <a:ext cx="3944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10.3. Síntese</a:t>
            </a:r>
          </a:p>
        </p:txBody>
      </p:sp>
    </p:spTree>
    <p:extLst>
      <p:ext uri="{BB962C8B-B14F-4D97-AF65-F5344CB8AC3E}">
        <p14:creationId xmlns:p14="http://schemas.microsoft.com/office/powerpoint/2010/main" val="7889949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1837E79-E8DE-7075-09F4-3245C2DD5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749299"/>
            <a:ext cx="8622323" cy="574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45703</TotalTime>
  <Words>2663</Words>
  <Application>Microsoft Office PowerPoint</Application>
  <PresentationFormat>Widescreen</PresentationFormat>
  <Paragraphs>443</Paragraphs>
  <Slides>33</Slides>
  <Notes>1</Notes>
  <HiddenSlides>0</HiddenSlides>
  <MMClips>1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7" baseType="lpstr">
      <vt:lpstr>Aptos</vt:lpstr>
      <vt:lpstr>Arial</vt:lpstr>
      <vt:lpstr>Courier New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Antonio Mattedi</dc:creator>
  <cp:lastModifiedBy>Marcos Mattedi</cp:lastModifiedBy>
  <cp:revision>45</cp:revision>
  <dcterms:created xsi:type="dcterms:W3CDTF">2025-05-03T12:38:52Z</dcterms:created>
  <dcterms:modified xsi:type="dcterms:W3CDTF">2026-04-27T20:16:53Z</dcterms:modified>
</cp:coreProperties>
</file>