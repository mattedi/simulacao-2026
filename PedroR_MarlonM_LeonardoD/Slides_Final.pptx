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"/>
  <Override PartName="/ppt/media/image6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7" r:id="rId29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8" r:id="rId30"/>
    <p:sldId id="279" r:id="rId31"/>
    <p:sldId id="274" r:id="rId21"/>
    <p:sldId id="275" r:id="rId22"/>
    <p:sldId id="280" r:id="rId32"/>
    <p:sldId id="281" r:id="rId33"/>
    <p:sldId id="282" r:id="rId34"/>
    <p:sldId id="276" r:id="rId23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D07407F-635A-4C8C-8B12-9CBF9F0C38D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000" cy="53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0617F1-3BAB-4B2B-8556-1EB8103F1140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0800" cy="23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  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0560" cy="21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 8"/>
          <p:cNvSpPr/>
          <p:nvPr/>
        </p:nvSpPr>
        <p:spPr>
          <a:xfrm>
            <a:off x="0" y="96840"/>
            <a:ext cx="12191040" cy="31716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3" name="Imagem 9" descr="Interface gráfica do usuário, Texto  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048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  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9" name="Imagem 9" descr="Interface gráfica do usuário, Texto  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3"/>
          <p:cNvSpPr/>
          <p:nvPr/>
        </p:nvSpPr>
        <p:spPr>
          <a:xfrm>
            <a:off x="2793960" y="2455560"/>
            <a:ext cx="7029720" cy="64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Simulação de Evacuação de Edifício em Incêndio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aixaDeTexto 5"/>
          <p:cNvSpPr/>
          <p:nvPr/>
        </p:nvSpPr>
        <p:spPr>
          <a:xfrm>
            <a:off x="2086560" y="864360"/>
            <a:ext cx="773712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aixaDeTexto 6"/>
          <p:cNvSpPr/>
          <p:nvPr/>
        </p:nvSpPr>
        <p:spPr>
          <a:xfrm>
            <a:off x="7630560" y="3993840"/>
            <a:ext cx="3491280" cy="92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Pedro Rafael • Leonardo Dal’Olmo • Marlon Moser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7"/>
          <p:cNvSpPr/>
          <p:nvPr/>
        </p:nvSpPr>
        <p:spPr>
          <a:xfrm>
            <a:off x="4719240" y="5993640"/>
            <a:ext cx="260748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1"/>
          <p:cNvSpPr/>
          <p:nvPr/>
        </p:nvSpPr>
        <p:spPr>
          <a:xfrm>
            <a:off x="2528640" y="905040"/>
            <a:ext cx="5895720" cy="3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Tabela 2"/>
          <p:cNvGraphicFramePr/>
          <p:nvPr/>
        </p:nvGraphicFramePr>
        <p:xfrm>
          <a:off x="1259640" y="1447920"/>
          <a:ext cx="9376200" cy="436932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4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ela 5"/>
          <p:cNvGraphicFramePr/>
          <p:nvPr/>
        </p:nvGraphicFramePr>
        <p:xfrm>
          <a:off x="354960" y="6710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Dimensão do Sistema de Referência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Caracterização necessária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ela 1"/>
          <p:cNvGraphicFramePr/>
          <p:nvPr/>
        </p:nvGraphicFramePr>
        <p:xfrm>
          <a:off x="358920" y="153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Edifício Residencial Vertical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ela 3"/>
          <p:cNvGraphicFramePr/>
          <p:nvPr/>
        </p:nvGraphicFramePr>
        <p:xfrm>
          <a:off x="359280" y="225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Pavimentos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30 pavimentos numerados de 0 (térreo) a 29, estruturalmente equivalentes. Diferenças de uso ou ocupação específicas entre pavimentos não são modeladas.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ela 4"/>
          <p:cNvGraphicFramePr/>
          <p:nvPr/>
        </p:nvGraphicFramePr>
        <p:xfrm>
          <a:off x="359640" y="297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Representação espacial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Grade discreta de 20 × 20 células, com equivalência aproximada de 1 célula = 1 m².  Geometria contínua e detalhes milimétricos não são considerados.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ela 6"/>
          <p:cNvGraphicFramePr/>
          <p:nvPr/>
        </p:nvGraphicFramePr>
        <p:xfrm>
          <a:off x="360000" y="369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Estrutura Interna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Apartamentos, corredores, portas, elevadores, paredes e escadas. Mobiliário interno, decoração e obstáculos temporários não são modelados.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ela 7"/>
          <p:cNvGraphicFramePr/>
          <p:nvPr/>
        </p:nvGraphicFramePr>
        <p:xfrm>
          <a:off x="360360" y="441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Rotas de Evacuação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de emergência como rota principal; elevadores ficam indisponíveis durante o incêndio. Procedimentos especiais de resgate por elevador não são considerados.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ela 8"/>
          <p:cNvGraphicFramePr/>
          <p:nvPr/>
        </p:nvGraphicFramePr>
        <p:xfrm>
          <a:off x="360720" y="5138640"/>
          <a:ext cx="11557800" cy="442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300 ocupantes distribuídos aleatoriamente pelos andares 1–29 (valor padrão, configurável). Variações populacionais ao longo do dia não são simuladas.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ela 9"/>
          <p:cNvGraphicFramePr/>
          <p:nvPr/>
        </p:nvGraphicFramePr>
        <p:xfrm>
          <a:off x="361080" y="5859000"/>
          <a:ext cx="11557800" cy="66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2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Perfis de Ocupantes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Adultos (70%), idosos (20%) e pessoas com deficiência — PcD (10%), com diferentes velocidades de deslocamento. Diferenças psicológicas complexas e condições médicas específicas não são modeladas.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11"/>
          <p:cNvGraphicFramePr/>
          <p:nvPr/>
        </p:nvGraphicFramePr>
        <p:xfrm>
          <a:off x="358920" y="45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Brigadistas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Agentes especializados em orientação e auxílio à evacuação. Comunicação por rádio, coordenação externa e atuação de bombeiros reais não são incluídas.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ela 12"/>
          <p:cNvGraphicFramePr/>
          <p:nvPr/>
        </p:nvGraphicFramePr>
        <p:xfrm>
          <a:off x="359280" y="117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Incêndio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Ponto de origem variável por andar e célula, com propagação parametrizável. Modelagem termoquímica detalhada e combustão física real não são consideradas.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ela 13"/>
          <p:cNvGraphicFramePr/>
          <p:nvPr/>
        </p:nvGraphicFramePr>
        <p:xfrm>
          <a:off x="359640" y="189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Fumaça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Redução da visibilidade, aumento do risco e alteração de rotas. Composição química dos gases e efeitos toxicológicos detalhados são simplificados.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ela 14"/>
          <p:cNvGraphicFramePr/>
          <p:nvPr/>
        </p:nvGraphicFramePr>
        <p:xfrm>
          <a:off x="360000" y="261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Pânico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Influencia decisões, velocidade e comportamento dos ocupantes. Modelos psicológicos avançados e comportamento humano completo não são representados.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ela 15"/>
          <p:cNvGraphicFramePr/>
          <p:nvPr/>
        </p:nvGraphicFramePr>
        <p:xfrm>
          <a:off x="360360" y="333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Congestionamento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e corredores possuem capacidade limitada, gerando gargalos. Empurrões, quedas e interações físicas complexas não são simulados.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ela 16"/>
          <p:cNvGraphicFramePr/>
          <p:nvPr/>
        </p:nvGraphicFramePr>
        <p:xfrm>
          <a:off x="360720" y="405864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Dano às Pessoas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Ocupantes podem ser feridos ou morrer em função da exposição ao fogo e à fumaça. Evolução clínica, resgate hospitalar e atendimento médico não são modelados.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ela 17"/>
          <p:cNvGraphicFramePr/>
          <p:nvPr/>
        </p:nvGraphicFramePr>
        <p:xfrm>
          <a:off x="361080" y="477900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Variabilidade Estocástica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Uso de aleatoriedade para origem do fogo, tomada de decisão e comportamento dos agentes. Eventos externos imprevisíveis (explosões secundárias, colapsos estruturais) não são incluídos.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ela 10"/>
          <p:cNvGraphicFramePr/>
          <p:nvPr/>
        </p:nvGraphicFramePr>
        <p:xfrm>
          <a:off x="361440" y="549936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Resultados Coletados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Tempo total de evacuação, número de sobreviventes, feridos, vítimas e métricas por cenário. Impactos econômicos, danos materiais e consequências pós-incêndio não são analisados.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ela 18"/>
          <p:cNvGraphicFramePr/>
          <p:nvPr/>
        </p:nvGraphicFramePr>
        <p:xfrm>
          <a:off x="361800" y="621972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Análise Estatística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pt-BR" sz="1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Execução em lote com múltiplas simulações e geração de gráficos comparativos. Validação com dados reais de incêndios históricos não é realizada.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8600" marR="486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m 44"/>
          <p:cNvPicPr/>
          <p:nvPr/>
        </p:nvPicPr>
        <p:blipFill>
          <a:blip r:embed="rId3"/>
          <a:stretch/>
        </p:blipFill>
        <p:spPr>
          <a:xfrm>
            <a:off x="-330120" y="23760"/>
            <a:ext cx="12184560" cy="685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ela 19"/>
          <p:cNvGraphicFramePr/>
          <p:nvPr/>
        </p:nvGraphicFramePr>
        <p:xfrm>
          <a:off x="176040" y="611280"/>
          <a:ext cx="11838240" cy="4977720"/>
        </p:xfrm>
        <a:graphic>
          <a:graphicData uri="http://schemas.openxmlformats.org/drawingml/2006/table">
            <a:tbl>
              <a:tblPr/>
              <a:tblGrid>
                <a:gridCol w="16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4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Agent-based evacuation model incorporating fire scene and building geometry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probabilistic occupant evacuation model for fire emergencies using Monte Carlo methods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Integrated Method for Fire Risk Assessment in Residential Buildings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agent-based simulator for indoor crowd evacuation considering fire impacts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building information modeling-based fire emergency evacuation simulation system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Integrar agentes, fogo e geometria do edifício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Representar incertezas no comportamento humano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Avaliar quantitativamente o risco em 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impactos do fogo no comportamento dos evacuados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Melhorar evacuação com BIM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evacuação, interação agente-ambiente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Distribuições probabilísticas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e severidade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Velocidade, saúde e decisão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 e otimização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com modelagem geométrica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Simulações computacionais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Ambientes internos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Infraestruturas complexas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ABM, FDS, geometria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Monte Carlo, evacuação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de risco, lógica fuzzy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humano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BIM, FDS, otimização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Evacuação como interação entre agentes e ambiente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probabilístico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= probabilidade × severidade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dinâmico influenciado pelo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BIM-simulação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Decisões baseadas em percepção local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representável por distribuições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quantificável matematicamente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Calor e fumaça alteram comportamento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de dados melhora evacuação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ela 20"/>
          <p:cNvGraphicFramePr/>
          <p:nvPr/>
        </p:nvGraphicFramePr>
        <p:xfrm>
          <a:off x="176040" y="611280"/>
          <a:ext cx="11838600" cy="4645320"/>
        </p:xfrm>
        <a:graphic>
          <a:graphicData uri="http://schemas.openxmlformats.org/drawingml/2006/table">
            <a:tbl>
              <a:tblPr/>
              <a:tblGrid>
                <a:gridCol w="167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8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Fire risk analysis of residential buildings based on scenario clusters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Optimal route selection model for fire evacuations based on hazard prediction data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Review of the Use of Fire Dynamics Theory in Fire Service Activities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Numerical study of smoke movement and evacuation behavior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Modeling human behavior and panic during fire evacuation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Analisar cenários de risco residencial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Definir rotas seguras dinamicamente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Aplicar teoria da dinâmica do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pânico e tomada de decisão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de incêndio e perdas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Exposição à fumaça e segurança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Uso em prevenção e operação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e toxicidade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computacionais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Literatura e entrevistas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numéricos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comportamentais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Gestão de risco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Algoritmo A*, previsão de risco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Dinâmica do fogo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Propagação de fumaça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Psicologia de emergências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por cenários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Rota ótima = mais segura e rápida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Teoria do fogo para decisões operacionais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Fumaça afeta deslocamento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altera decisões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Cenários auxiliam gestão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Previsão de risco melhora rotas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Maior uso da teoria melhora atuação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reduz eficiência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pode aumentar congestionamentos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60" marR="7560" anchor="ctr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áfico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70954"/>
          <a:stretch/>
        </p:blipFill>
        <p:spPr>
          <a:xfrm>
            <a:off x="0" y="378000"/>
            <a:ext cx="6095520" cy="64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ráfico 1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580" b="45614"/>
          <a:stretch/>
        </p:blipFill>
        <p:spPr>
          <a:xfrm>
            <a:off x="6095880" y="549000"/>
            <a:ext cx="6095520" cy="575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áfico 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4254" b="20074"/>
          <a:stretch/>
        </p:blipFill>
        <p:spPr>
          <a:xfrm>
            <a:off x="1511280" y="547200"/>
            <a:ext cx="9169200" cy="719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3. Formalismo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ol3"/>
          <p:cNvSpPr/>
          <p:nvPr/>
        </p:nvSpPr>
        <p:spPr>
          <a:xfrm>
            <a:off x="457200" y="1000080"/>
            <a:ext cx="11276640" cy="544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formalismo adotado neste trabalho combina dois paradigmas complementares: a </a:t>
            </a: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Modelagem Baseada em Agentes (ABM)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para representar os ocupantes e brigadistas, e o </a:t>
            </a: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Autômato Celular (AC)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para modelar a propagação do fogo e da fumaça.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 ABM foi escolhida por sua capacidade de representar cada ocupante como uma entidade autônoma e heterogênea, dotada de atributos individuais como perfil (adulto, idoso ou PcD), nível de pânico, estado de saúde e velocidade de deslocamento. Cada agente toma decisões locais com base na percepção do ambiente imediato — proximidade do fogo, visibilidade reduzida pela fumaça e presença de brigadistas — sem coordenação centralizada. Essa descentralização é fundamental para reproduzir fielmente o comportamento humano emergencial, no qual padrões globais como congestionamentos e variação na taxa de evacuação surgem espontaneamente das interações entre agentes e ambiente.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 Autômato Celular, por sua vez, governa a dinâmica do incêndio sobre uma grade discreta de 20×20 células por andar. A propagação do fogo segue a vizinhança de Von Neumann (quatro direções), com probabilidade de ignição configurável por </a:t>
            </a:r>
            <a:r>
              <a:rPr lang="pt-BR" sz="13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step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, e a intensidade das chamas cresce progressivamente ao longo do tempo. A fumaça se difunde a partir das células em chamas e reduz o raio de visibilidade dos agentes, afetando diretamente suas decisões de rota.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Interface entre ABM e AC. 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O Autômato Celular atualiza, a cada passo de tempo, os estados das células — fogo, fumaça, temperatura, visibilidade e bloqueio. Os agentes ABM leem esses estados locais e tomam decisões de deslocamento. Em seguida, a movimentação dos agentes altera a ocupação das células, podendo gerar congestionamentos e modificar a dinâmica de evacuação.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O que cada </a:t>
            </a:r>
            <a:r>
              <a:rPr lang="pt-BR" sz="1300" b="1" u="none" strike="noStrike" i="1">
                <a:solidFill>
                  <a:srgbClr val="000000"/>
                </a:solidFill>
                <a:effectLst/>
                <a:uFillTx/>
                <a:latin typeface="Aptos"/>
              </a:rPr>
              <a:t xml:space="preserve">step</a:t>
            </a: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 representa. 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Cada </a:t>
            </a:r>
            <a:r>
              <a:rPr lang="pt-BR" sz="1300" b="0" u="none" strike="noStrike" i="1">
                <a:solidFill>
                  <a:srgbClr val="000000"/>
                </a:solidFill>
                <a:effectLst/>
                <a:uFillTx/>
                <a:latin typeface="Aptos"/>
              </a:rPr>
              <a:t xml:space="preserve">step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 é a unidade discreta de tempo da simulação (≈ 1 segundo): nele, o AC avança uma geração — propagação do fogo, aumento de intensidade e difusão de fumaça — e, na sequência, cada agente percebe o ambiente, atualiza pânico e saúde, decide a rota e se desloca até 1 célula (≈ 1 m, para o adulto). O teto de 3.000 </a:t>
            </a:r>
            <a:r>
              <a:rPr lang="pt-BR" sz="1300" b="0" u="none" strike="noStrike" i="1">
                <a:solidFill>
                  <a:srgbClr val="000000"/>
                </a:solidFill>
                <a:effectLst/>
                <a:uFillTx/>
                <a:latin typeface="Aptos"/>
              </a:rPr>
              <a:t xml:space="preserve">steps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 xml:space="preserve"> corresponde a ≈ 50 minutos de evacuação simulada.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 estocasticidade é introduzida por meio de um </a:t>
            </a:r>
            <a:r>
              <a:rPr lang="pt-BR" sz="1300" b="0" i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seed</a:t>
            </a:r>
            <a:r>
              <a:rPr lang="pt-BR" sz="13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aleatório que controla a posição inicial dos agentes, a origem do incêndio e as flutuações no nível de pânico, garantindo reprodutibilidade sem eliminar a variabilidade inerente a cenários reais. Métricas globais de interesse — como taxa de evacuação, tempo médio de saída e número de vítimas — emergem naturalmente das interações, sem serem impostas explicitamente ao modelo.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áfico 51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109" b="41652"/>
          <a:stretch/>
        </p:blipFill>
        <p:spPr>
          <a:xfrm>
            <a:off x="545123" y="545109"/>
            <a:ext cx="10603523" cy="5767781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4. Computador — Implementação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ol3"/>
          <p:cNvSpPr/>
          <p:nvPr/>
        </p:nvSpPr>
        <p:spPr>
          <a:xfrm>
            <a:off x="457200" y="1000080"/>
            <a:ext cx="5485320" cy="352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Linguagem e Framework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 3.11+ com framework Mesa para simulação baseada em agentes. Numpy para grades de andares. Matplotlib e Seaborn para visualizações.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ModeloEvacuacao (mesa.Model)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Orquestra a simulação: schedule (RandomActivation), datacollector, grades dos andares e ModeloFogo (autômato celular).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OcupanteAgente (mesa.Agent)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Atributos: estado (FSM), pânico [0,1], saúde [0,1], perfil (ADULTO/IDOSO/PCD). Métodos: _atualizar_panico, _aplicar_dano, _mover.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BrigadistaAgente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 1,5× adulto. Patrulha andares e move em direção ao ocupante com maior pânico no raio de influência (5 células).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ol4"/>
          <p:cNvSpPr/>
          <p:nvPr/>
        </p:nvSpPr>
        <p:spPr>
          <a:xfrm>
            <a:off x="624852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do step() do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Reset contadores de escada • 2. Rebuild mapa de ocupação • 3. ModeloFogo.step() • 4. schedule.step() • 5. Atualiza grid de agentes • 6. DataCollector.collect() • 7. Verifica fim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de Arquivos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simulacao/ (config, edificio, agentes, fogo, modelo) • analise/ (experimentos, visualizações) • run_simulation.py (CLI) • gerar_graficos.py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Interface de Linha de Comando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--ocupantes N • --andar-foco A • --taxa-fogo T • --brigadistas B • --seed S • --rodadas R • --sensibilidade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ol3"/>
          <p:cNvSpPr/>
          <p:nvPr/>
        </p:nvSpPr>
        <p:spPr>
          <a:xfrm>
            <a:off x="45720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Rodada Única (Configuração Padrão)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300 ocupantes • 10 brigadistas • Foco no andar 10 • Taxa de fogo 0,15 • Seed 42 • Capacidade escada: 5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Experimento Estatístico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 rodadas independentes com seeds distintos (--rodadas 30). Gera resumo_rodadas.csv com métricas finais de cada rodada.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Análise de Sensibilidade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Variação automática de 2 parâmetros: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Taxa de propagação do fogo: 0,05 • 0,10 • 0,15 • 0,20 • 0,30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Capacidade da escada: 2 • 5 • 8 • 12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ol4"/>
          <p:cNvSpPr/>
          <p:nvPr/>
        </p:nvSpPr>
        <p:spPr>
          <a:xfrm>
            <a:off x="6248520" y="1000080"/>
            <a:ext cx="5485320" cy="31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Reprodutibilidade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Seed aleatório garante que toda rodada seja reproduzível. Seed padrão = 42.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Coleta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DataCollector do Mesa registra a cada step: evacuados, mortos, feridos, pânico médio, células em chamas.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Saídas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rodada_seedN.csv (série temporal) • resumo_rodadas.csv • sensibilidade.csv • Gráficos PNG em resultados/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Limite de Execução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Máximo de 3.000 steps por rodada. Simulação encerra quando todos os agentes são evacuados ou incapacitados.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e Retroalimentação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ol3"/>
          <p:cNvSpPr/>
          <p:nvPr/>
        </p:nvSpPr>
        <p:spPr>
          <a:xfrm>
            <a:off x="45720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Métricas Coletadas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Taxa de evacuação (evacuados/total) • Tempo médio de evacuação (steps) • Número de vítimas (mortos + feridos) • Pânico médio • Células em chamas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Visualizações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Série temporal de evacuados, mortos, feridos, fogo e pânico por step • Mapa de calor de densidade no térreo e andar do foco • Heatmap de sensibilidade (taxa de evacuação × parâmetros)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Boxplots de Distribuição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Distribuição das métricas nas 30 rodadas, mostrando variância e outliers de cada cenário simulado.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ol4"/>
          <p:cNvSpPr/>
          <p:nvPr/>
        </p:nvSpPr>
        <p:spPr>
          <a:xfrm>
            <a:off x="624852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Conclusões Obtidas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Evacuação média de 99,1% em 30 rodadas (cenário padrão) • Mortalidade baixa e concentrada no andar do foco (μ = 2,6 mortos) • Pior caso (lotação + fogo rápido + gargalo) reduz a evacuação a 92,0% e eleva os óbitos para 40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Retroalimentação ao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análise de sensibilidade confirma a taxa de propagação do fogo como fator crítico da mortalidade, enquanto a capacidade da escada governa o tempo de evacuação (gargalo). Ambos orientam a calibração do modelo.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Referências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ABNT NBR 9077:2001 • Grimm et al. (2010) ODD Protocol • Wilensky &amp; Rand (2015) ABM • Python Mesa framework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Obrigado! Dúvidas?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Estudos Incluídos na Revisão Sistemática (10 artigos)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ol3"/>
          <p:cNvSpPr/>
          <p:nvPr/>
        </p:nvSpPr>
        <p:spPr>
          <a:xfrm>
            <a:off x="45720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wrap="square">
            <a:spAutoFit/>
          </a:bodyPr>
          <a:lstStyle/>
          <a:p>
            <a:pPr defTabSz="914400" algn="l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Agent-based evacuation model incorporating fire scene and building geometry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A probabilistic occupant evacuation model for fire emergencies using Monte Carlo methods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An Integrated Method for Fire Risk Assessment in Residential Buildings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An agent-based simulator for indoor crowd evacuation considering fire impacts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5. A building information modeling-based fire emergency evacuation simulation system</a:t>
            </a:r>
          </a:p>
        </p:txBody>
      </p:sp>
      <p:sp>
        <p:nvSpPr>
          <p:cNvPr id="60" name="Col4"/>
          <p:cNvSpPr/>
          <p:nvPr/>
        </p:nvSpPr>
        <p:spPr>
          <a:xfrm>
            <a:off x="6248520" y="1000080"/>
            <a:ext cx="5485320" cy="31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wrap="square">
            <a:spAutoFit/>
          </a:bodyPr>
          <a:lstStyle/>
          <a:p>
            <a:pPr defTabSz="914400" algn="l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6. Fire risk analysis of residential buildings based on scenario clusters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7. Optimal route selection model for fire evacuations based on hazard prediction data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8. Review of the Use of Fire Dynamics Theory in Fire Service Activities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9. Numerical study of smoke movement and evacuation behavior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10. Modeling human behavior and panic during fire evacuation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 — Cenários Simulados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Seed 42 fixo em todas as rodadas: varia-se um fator por vez (cenários 2–4); o pior caso (5) combina lotação, fogo rápido e gargalo.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502920" y="1463040"/>
          <a:ext cx="108356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914400"/>
                <a:gridCol w="960120"/>
                <a:gridCol w="1371600"/>
                <a:gridCol w="1554480"/>
                <a:gridCol w="914400"/>
                <a:gridCol w="1143000"/>
                <a:gridCol w="123444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Cenário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Ocup.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Foco
(andar)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Fogo / Esc.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Evacuados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Mortos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
evac.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T. médio
(steps)</a:t>
                      </a:r>
                    </a:p>
                  </a:txBody>
                  <a:tcPr marL="54864" marR="54864" marT="27432" marB="27432" anchor="ctr">
                    <a:solidFill>
                      <a:srgbClr val="0E28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2841"/>
                          </a:solidFill>
                          <a:latin typeface="Calibri"/>
                        </a:rPr>
                        <a:t>1 · 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0,15 /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296 / 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98,7%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64,9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2841"/>
                          </a:solidFill>
                          <a:latin typeface="Calibri"/>
                        </a:rPr>
                        <a:t>2 · Foco no topo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0,15 / 5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299 / 300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99,7%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55,1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2841"/>
                          </a:solidFill>
                          <a:latin typeface="Calibri"/>
                        </a:rPr>
                        <a:t>3 · Propagação rápida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0,30 /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293 / 300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97,7%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2841"/>
                          </a:solidFill>
                          <a:latin typeface="Calibri"/>
                        </a:rPr>
                        <a:t>4 · Gargalo na escada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0,15 / 2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293 / 300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97,7%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62,6</a:t>
                      </a:r>
                    </a:p>
                  </a:txBody>
                  <a:tcPr marL="54864" marR="54864" marT="27432" marB="27432" anchor="ctr">
                    <a:solidFill>
                      <a:srgbClr val="ED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E2841"/>
                          </a:solidFill>
                          <a:latin typeface="Calibri"/>
                        </a:rPr>
                        <a:t>5 · Pior caso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0,30 /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460 / 500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9713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97132"/>
                          </a:solidFill>
                          <a:latin typeface="Calibri"/>
                        </a:rPr>
                        <a:t>92,0%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73,9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 — Evolução de uma Rodada (seed 42)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58" descr="serie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368866" cy="54864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229600" y="1143000"/>
            <a:ext cx="3749039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E2841"/>
                </a:solidFill>
                <a:latin typeface="Calibri"/>
              </a:rPr>
              <a:t>Leitura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Pico de pessoas em fuga (~140) por volta do step 45.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O fogo satura o andar do foco (~314 células) por volta do step 100.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Pânico médio cresce com o avanço do fogo e satura próximo de 1,0.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296/300 evacuados, 4 óbitos, término em 285 steps.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— Distribuição das Métricas (30 Rodadas)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58" descr="distribuicao_rod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63920"/>
            <a:ext cx="8229600" cy="315311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732520" y="1234440"/>
            <a:ext cx="324612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E2841"/>
                </a:solidFill>
                <a:latin typeface="Calibri"/>
              </a:rPr>
              <a:t>Leitura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Taxa de evacuação: μ = 99,1% (σ = 0,6%).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Mortos: μ = 2,6 (de 0 a 7).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Tempo médio: μ = 61,8 steps (σ = 2,9).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Baixa dispersão entre seeds confirma a estabilidade e a reprodutibilidade do modelo.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— Análise de Sensibilidade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58" descr="sensibilida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1463040"/>
            <a:ext cx="10735056" cy="33832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2841"/>
                </a:solidFill>
                <a:latin typeface="Calibri"/>
              </a:rPr>
              <a:t>Leitura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 taxa de propagação do fogo é o fator dominante sobre a mortalidade: a média de mortos sobe de ~0,6 (taxa 0,05) para ~5 (taxa ≥ 0,20).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A capacidade da escada reduz o tempo de evacuação (alívio do gargalo) — efeito visível na coluna de tempo. A taxa de evacuação permanece alta (&gt; 98%) em todas as 20 configurações.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— Propagação Espacial (Mapas de Calor)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58" descr="mapa_calor_foco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2051"/>
            <a:ext cx="5212080" cy="4576857"/>
          </a:xfrm>
          <a:prstGeom prst="rect">
            <a:avLst/>
          </a:prstGeom>
        </p:spPr>
      </p:pic>
      <p:pic>
        <p:nvPicPr>
          <p:cNvPr id="60" name="Picture 59" descr="mapa_calor_terreo_see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62728"/>
            <a:ext cx="5212080" cy="455550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57200" y="6263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Esquerda: andar do foco (10) inteiramente tomado pelo fogo ao término. Direita: térreo esvaziado — escadas nos cantos, elevadores centrais bloqueados, saídas laterais.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1987</Words>
  <Application>Microsoft Office PowerPoint</Application>
  <PresentationFormat>Widescreen</PresentationFormat>
  <Paragraphs>232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Symbol</vt:lpstr>
      <vt:lpstr>Times New Roman</vt:lpstr>
      <vt:lpstr>Wingdings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Antonio Mattedi</cp:lastModifiedBy>
  <cp:revision>10</cp:revision>
  <dcterms:created xsi:type="dcterms:W3CDTF">2026-04-13T15:47:06Z</dcterms:created>
  <dcterms:modified xsi:type="dcterms:W3CDTF">2026-05-25T13:49:21Z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