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7.xml" ContentType="application/vnd.openxmlformats-officedocument.presentationml.notesSlide+xml"/>
  <Override PartName="/ppt/notesSlides/_rels/notesSlide7.xml.rels" ContentType="application/vnd.openxmlformats-package.relationships+xml"/>
  <Override PartName="/ppt/media/image1.png" ContentType="image/png"/>
  <Override PartName="/ppt/media/image6.svg" ContentType="image/svg"/>
  <Override PartName="/ppt/media/image2.png" ContentType="image/png"/>
  <Override PartName="/ppt/media/image3.png" ContentType="image/png"/>
  <Override PartName="/ppt/media/image8.svg" ContentType="image/svg"/>
  <Override PartName="/ppt/media/image4.png" ContentType="image/png"/>
  <Override PartName="/ppt/media/image5.png" ContentType="image/png"/>
  <Override PartName="/ppt/media/image7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 para mover o slide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D07407F-635A-4C8C-8B12-9CBF9F0C38D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ldImg"/>
          </p:nvPr>
        </p:nvSpPr>
        <p:spPr>
          <a:xfrm>
            <a:off x="573120" y="1336680"/>
            <a:ext cx="6413040" cy="3607920"/>
          </a:xfrm>
          <a:prstGeom prst="rect">
            <a:avLst/>
          </a:prstGeom>
          <a:ln w="0">
            <a:noFill/>
          </a:ln>
        </p:spPr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755640" y="5145120"/>
            <a:ext cx="6047640" cy="420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sldNum" idx="4"/>
          </p:nvPr>
        </p:nvSpPr>
        <p:spPr>
          <a:xfrm>
            <a:off x="4281480" y="10155240"/>
            <a:ext cx="3276000" cy="53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pt-BR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D0617F1-3BAB-4B2B-8556-1EB8103F1140}" type="slidenum"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de Título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Imagem 6" descr=""/>
          <p:cNvPicPr/>
          <p:nvPr/>
        </p:nvPicPr>
        <p:blipFill>
          <a:blip r:embed="rId2"/>
          <a:stretch/>
        </p:blipFill>
        <p:spPr>
          <a:xfrm>
            <a:off x="173880" y="106560"/>
            <a:ext cx="460800" cy="234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" name="Imagem 7" descr="Uma imagem contendo placar, desenho  Descrição gerada automaticamente"/>
          <p:cNvPicPr/>
          <p:nvPr/>
        </p:nvPicPr>
        <p:blipFill>
          <a:blip r:embed="rId3"/>
          <a:srcRect l="7343" t="15347" r="9311" b="15347"/>
          <a:stretch/>
        </p:blipFill>
        <p:spPr>
          <a:xfrm>
            <a:off x="11676240" y="120960"/>
            <a:ext cx="340560" cy="21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Retângulo 8"/>
          <p:cNvSpPr/>
          <p:nvPr/>
        </p:nvSpPr>
        <p:spPr>
          <a:xfrm>
            <a:off x="0" y="96840"/>
            <a:ext cx="12191040" cy="317160"/>
          </a:xfrm>
          <a:prstGeom prst="rect">
            <a:avLst/>
          </a:prstGeom>
          <a:solidFill>
            <a:schemeClr val="lt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pt-BR" sz="1800" strike="noStrike" u="none">
              <a:solidFill>
                <a:schemeClr val="dk2">
                  <a:lumMod val="90000"/>
                  <a:lumOff val="10000"/>
                </a:schemeClr>
              </a:solidFill>
              <a:effectLst/>
              <a:uFillTx/>
              <a:latin typeface="Aptos"/>
            </a:endParaRPr>
          </a:p>
        </p:txBody>
      </p:sp>
      <p:pic>
        <p:nvPicPr>
          <p:cNvPr id="3" name="Imagem 9" descr="Interface gráfica do usuário, Texto  O conteúdo gerado por IA pode estar incorreto."/>
          <p:cNvPicPr/>
          <p:nvPr/>
        </p:nvPicPr>
        <p:blipFill>
          <a:blip r:embed="rId4"/>
          <a:srcRect l="0" t="16850" r="0" b="41997"/>
          <a:stretch/>
        </p:blipFill>
        <p:spPr>
          <a:xfrm>
            <a:off x="5840280" y="77400"/>
            <a:ext cx="510480" cy="26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do texto do título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6" descr=""/>
          <p:cNvPicPr/>
          <p:nvPr/>
        </p:nvPicPr>
        <p:blipFill>
          <a:blip r:embed="rId2"/>
          <a:stretch/>
        </p:blipFill>
        <p:spPr>
          <a:xfrm>
            <a:off x="173880" y="106560"/>
            <a:ext cx="461160" cy="235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Imagem 7" descr="Uma imagem contendo placar, desenho&#10;&#10;Descrição gerada automaticamente"/>
          <p:cNvPicPr/>
          <p:nvPr/>
        </p:nvPicPr>
        <p:blipFill>
          <a:blip r:embed="rId3"/>
          <a:srcRect l="7343" t="15347" r="9311" b="15347"/>
          <a:stretch/>
        </p:blipFill>
        <p:spPr>
          <a:xfrm>
            <a:off x="11676240" y="120960"/>
            <a:ext cx="34092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Retângulo 8"/>
          <p:cNvSpPr/>
          <p:nvPr/>
        </p:nvSpPr>
        <p:spPr>
          <a:xfrm>
            <a:off x="0" y="96840"/>
            <a:ext cx="12191400" cy="317520"/>
          </a:xfrm>
          <a:prstGeom prst="rect">
            <a:avLst/>
          </a:prstGeom>
          <a:solidFill>
            <a:schemeClr val="lt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1" lang="pt-BR" sz="1800" strike="noStrike" u="none">
              <a:solidFill>
                <a:schemeClr val="dk2">
                  <a:lumMod val="90000"/>
                  <a:lumOff val="10000"/>
                </a:schemeClr>
              </a:solidFill>
              <a:effectLst/>
              <a:uFillTx/>
              <a:latin typeface="Aptos"/>
            </a:endParaRPr>
          </a:p>
        </p:txBody>
      </p:sp>
      <p:pic>
        <p:nvPicPr>
          <p:cNvPr id="9" name="Imagem 9" descr="Interface gráfica do usuário, Texto&#10;&#10;O conteúdo gerado por IA pode estar incorreto."/>
          <p:cNvPicPr/>
          <p:nvPr/>
        </p:nvPicPr>
        <p:blipFill>
          <a:blip r:embed="rId4"/>
          <a:srcRect l="0" t="16850" r="0" b="41997"/>
          <a:stretch/>
        </p:blipFill>
        <p:spPr>
          <a:xfrm>
            <a:off x="5840280" y="77400"/>
            <a:ext cx="510840" cy="26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do texto do título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  <a:endParaRPr b="0" lang="pt-BR" sz="2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3"/>
          <p:cNvSpPr/>
          <p:nvPr/>
        </p:nvSpPr>
        <p:spPr>
          <a:xfrm>
            <a:off x="2793960" y="2455560"/>
            <a:ext cx="7029720" cy="64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Título: Simulação de Evacuação de Edifício em Incêndio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CaixaDeTexto 5"/>
          <p:cNvSpPr/>
          <p:nvPr/>
        </p:nvSpPr>
        <p:spPr>
          <a:xfrm>
            <a:off x="2086560" y="864360"/>
            <a:ext cx="77371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650"/>
              </a:spcBef>
              <a:spcAft>
                <a:spcPts val="825"/>
              </a:spcAft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  <a:ea typeface="Calibri"/>
              </a:rPr>
              <a:t>MÓDULO V - SEMINÁRIO DE APRESENTAÇÃO DOS RESULTADOS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CaixaDeTexto 6"/>
          <p:cNvSpPr/>
          <p:nvPr/>
        </p:nvSpPr>
        <p:spPr>
          <a:xfrm>
            <a:off x="7630560" y="3993840"/>
            <a:ext cx="3491280" cy="92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Autores: Pedro Rafael • Leonardo Dal’Olmo • Marlon Moser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CaixaDeTexto 7"/>
          <p:cNvSpPr/>
          <p:nvPr/>
        </p:nvSpPr>
        <p:spPr>
          <a:xfrm>
            <a:off x="4719240" y="5993640"/>
            <a:ext cx="26074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Junho de 2026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1"/>
          <p:cNvSpPr/>
          <p:nvPr/>
        </p:nvSpPr>
        <p:spPr>
          <a:xfrm>
            <a:off x="2528640" y="905040"/>
            <a:ext cx="589572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Estrutura da Apresentação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" name="Tabela 2"/>
          <p:cNvGraphicFramePr/>
          <p:nvPr/>
        </p:nvGraphicFramePr>
        <p:xfrm>
          <a:off x="1259640" y="1447920"/>
          <a:ext cx="9376200" cy="4369320"/>
        </p:xfrm>
        <a:graphic>
          <a:graphicData uri="http://schemas.openxmlformats.org/drawingml/2006/table">
            <a:tbl>
              <a:tblPr/>
              <a:tblGrid>
                <a:gridCol w="858240"/>
                <a:gridCol w="2211120"/>
                <a:gridCol w="6307200"/>
              </a:tblGrid>
              <a:tr h="320040">
                <a:tc>
                  <a:txBody>
                    <a:bodyPr lIns="74880" rIns="748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400" strike="noStrike" u="non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Etapa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 lIns="74880" rIns="748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400" strike="noStrike" u="non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Nome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 lIns="74880" rIns="748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400" strike="noStrike" u="non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Descrição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</a:tr>
              <a:tr h="749880">
                <a:tc>
                  <a:txBody>
                    <a:bodyPr lIns="74880" rIns="748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4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1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4880" rIns="74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pt-BR" sz="14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Sistema de Referência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4880" rIns="74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pt-BR" sz="14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Define o problema real a ser estudado (ex: evacuação de um prédio).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9880">
                <a:tc>
                  <a:txBody>
                    <a:bodyPr lIns="74880" rIns="748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4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2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4880" rIns="74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pt-BR" sz="14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Modelagem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4880" rIns="74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pt-BR" sz="14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Representação simplificada do sistema real (regras, agentes, ambiente).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9880">
                <a:tc>
                  <a:txBody>
                    <a:bodyPr lIns="74880" rIns="748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4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3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4880" rIns="74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pt-BR" sz="14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Formalismo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4880" rIns="74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pt-BR" sz="14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Tradução do modelo para linguagem formal/matemática ou lógica.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749880">
                <a:tc>
                  <a:txBody>
                    <a:bodyPr lIns="74880" rIns="748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4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4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4880" rIns="74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pt-BR" sz="14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Computador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4880" rIns="74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pt-BR" sz="14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Implementação do modelo em código (programação da simulação).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24880">
                <a:tc>
                  <a:txBody>
                    <a:bodyPr lIns="74880" rIns="748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4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5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4880" rIns="74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pt-BR" sz="14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Execução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4880" rIns="74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pt-BR" sz="14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Rodar a simulação com diferentes parâmetros e cenários.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24880">
                <a:tc>
                  <a:txBody>
                    <a:bodyPr lIns="74880" rIns="748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4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6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4880" rIns="74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pt-BR" sz="14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Observação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4880" rIns="748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pt-BR" sz="14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Análise dos resultados obtidos (gráficos, métricas, conclusões).</a:t>
                      </a:r>
                      <a:endParaRPr b="0" lang="pt-BR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4880" marR="748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aixaDeTexto 1"/>
          <p:cNvSpPr/>
          <p:nvPr/>
        </p:nvSpPr>
        <p:spPr>
          <a:xfrm>
            <a:off x="2480400" y="2957760"/>
            <a:ext cx="7230240" cy="7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44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1. Sistema de Referência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abela 5"/>
          <p:cNvGraphicFramePr/>
          <p:nvPr/>
        </p:nvGraphicFramePr>
        <p:xfrm>
          <a:off x="354960" y="671040"/>
          <a:ext cx="11557800" cy="478440"/>
        </p:xfrm>
        <a:graphic>
          <a:graphicData uri="http://schemas.openxmlformats.org/drawingml/2006/table">
            <a:tbl>
              <a:tblPr/>
              <a:tblGrid>
                <a:gridCol w="2743200"/>
                <a:gridCol w="8814960"/>
              </a:tblGrid>
              <a:tr h="478440">
                <a:tc>
                  <a:txBody>
                    <a:bodyPr lIns="48600" rIns="486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200" strike="noStrike" u="non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Dimensão do Sistema de Referência</a:t>
                      </a:r>
                      <a:endParaRPr b="0" lang="pt-B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8600" marR="48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 lIns="48600" rIns="486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200" strike="noStrike" u="none">
                          <a:solidFill>
                            <a:srgbClr val="ff0000"/>
                          </a:solidFill>
                          <a:effectLst/>
                          <a:uFillTx/>
                          <a:latin typeface="Aptos"/>
                        </a:rPr>
                        <a:t>Caracterização necessária</a:t>
                      </a:r>
                      <a:endParaRPr b="0" lang="pt-B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8600" marR="48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Tabela 1"/>
          <p:cNvGraphicFramePr/>
          <p:nvPr/>
        </p:nvGraphicFramePr>
        <p:xfrm>
          <a:off x="358920" y="1536840"/>
          <a:ext cx="11557800" cy="478440"/>
        </p:xfrm>
        <a:graphic>
          <a:graphicData uri="http://schemas.openxmlformats.org/drawingml/2006/table">
            <a:tbl>
              <a:tblPr/>
              <a:tblGrid>
                <a:gridCol w="2743200"/>
                <a:gridCol w="8814960"/>
              </a:tblGrid>
              <a:tr h="478440">
                <a:tc>
                  <a:txBody>
                    <a:bodyPr lIns="48600" rIns="486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200" strike="noStrike" u="non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Edifício Residencial Vertical</a:t>
                      </a:r>
                      <a:endParaRPr b="0" lang="pt-B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8600" marR="48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 lIns="48600" rIns="486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1" lang="pt-BR" sz="1200" strike="noStrike" u="non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Edifício com 30 andares e aproximadamente 120 m de altura. Não são representadas diferenças arquitetônicas entre andares ou variações construtivas específicas. </a:t>
                      </a:r>
                      <a:endParaRPr b="0" lang="pt-B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8600" marR="48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ela 3"/>
          <p:cNvGraphicFramePr/>
          <p:nvPr/>
        </p:nvGraphicFramePr>
        <p:xfrm>
          <a:off x="359280" y="2257200"/>
          <a:ext cx="11557800" cy="478440"/>
        </p:xfrm>
        <a:graphic>
          <a:graphicData uri="http://schemas.openxmlformats.org/drawingml/2006/table">
            <a:tbl>
              <a:tblPr/>
              <a:tblGrid>
                <a:gridCol w="2743200"/>
                <a:gridCol w="8814960"/>
              </a:tblGrid>
              <a:tr h="478440">
                <a:tc>
                  <a:txBody>
                    <a:bodyPr lIns="48600" rIns="486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200" strike="noStrike" u="non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Pavimentos</a:t>
                      </a:r>
                      <a:endParaRPr b="0" lang="pt-B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8600" marR="48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 lIns="48600" rIns="486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1" lang="pt-BR" sz="1200" strike="noStrike" u="non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Edifício com 30 andares e aproximadamente 120 m de altura. Não são representadas diferenças arquitetônicas entre andares ou variações construtivas específicas. </a:t>
                      </a:r>
                      <a:endParaRPr b="0" lang="pt-B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8600" marR="48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Tabela 4"/>
          <p:cNvGraphicFramePr/>
          <p:nvPr/>
        </p:nvGraphicFramePr>
        <p:xfrm>
          <a:off x="359640" y="2977560"/>
          <a:ext cx="11557800" cy="478440"/>
        </p:xfrm>
        <a:graphic>
          <a:graphicData uri="http://schemas.openxmlformats.org/drawingml/2006/table">
            <a:tbl>
              <a:tblPr/>
              <a:tblGrid>
                <a:gridCol w="2743200"/>
                <a:gridCol w="8814960"/>
              </a:tblGrid>
              <a:tr h="478440">
                <a:tc>
                  <a:txBody>
                    <a:bodyPr lIns="48600" rIns="486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200" strike="noStrike" u="non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Representação espacial </a:t>
                      </a:r>
                      <a:endParaRPr b="0" lang="pt-B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8600" marR="48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 lIns="48600" rIns="486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1" lang="pt-BR" sz="1200" strike="noStrike" u="non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Grade discreta de 20 × 20 células, com equivalência aproximada de 1 célula = 1 m².  Geometria contínua e detalhes milimétricos não são considerados. </a:t>
                      </a:r>
                      <a:endParaRPr b="0" lang="pt-B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8600" marR="48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ela 6"/>
          <p:cNvGraphicFramePr/>
          <p:nvPr/>
        </p:nvGraphicFramePr>
        <p:xfrm>
          <a:off x="360000" y="3697920"/>
          <a:ext cx="11557800" cy="478440"/>
        </p:xfrm>
        <a:graphic>
          <a:graphicData uri="http://schemas.openxmlformats.org/drawingml/2006/table">
            <a:tbl>
              <a:tblPr/>
              <a:tblGrid>
                <a:gridCol w="2743200"/>
                <a:gridCol w="8814960"/>
              </a:tblGrid>
              <a:tr h="478440">
                <a:tc>
                  <a:txBody>
                    <a:bodyPr lIns="48600" rIns="486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200" strike="noStrike" u="non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Estrutura Interna </a:t>
                      </a:r>
                      <a:endParaRPr b="0" lang="pt-B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8600" marR="48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 lIns="48600" rIns="486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1" lang="pt-BR" sz="1200" strike="noStrike" u="non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Apartamentos, corredores, portas, elevadores, paredes e escadas. Mobiliário interno, decoração e obstáculos temporários não são modelados. </a:t>
                      </a:r>
                      <a:endParaRPr b="0" lang="pt-B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8600" marR="48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" name="Tabela 7"/>
          <p:cNvGraphicFramePr/>
          <p:nvPr/>
        </p:nvGraphicFramePr>
        <p:xfrm>
          <a:off x="360360" y="4418280"/>
          <a:ext cx="11557800" cy="470520"/>
        </p:xfrm>
        <a:graphic>
          <a:graphicData uri="http://schemas.openxmlformats.org/drawingml/2006/table">
            <a:tbl>
              <a:tblPr/>
              <a:tblGrid>
                <a:gridCol w="2743200"/>
                <a:gridCol w="8814960"/>
              </a:tblGrid>
              <a:tr h="470520">
                <a:tc>
                  <a:txBody>
                    <a:bodyPr lIns="48600" rIns="486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200" strike="noStrike" u="non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Rotas de Evacuação </a:t>
                      </a:r>
                      <a:endParaRPr b="0" lang="pt-B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8600" marR="48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 lIns="48600" rIns="486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1" lang="pt-BR" sz="1200" strike="noStrike" u="non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Escadas de emergência como rota principal; elevadores ficam indisponíveis durante o incêndio. Procedimentos especiais de resgate por elevador não são considerados. </a:t>
                      </a:r>
                      <a:endParaRPr b="0" lang="pt-B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8600" marR="48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ela 8"/>
          <p:cNvGraphicFramePr/>
          <p:nvPr/>
        </p:nvGraphicFramePr>
        <p:xfrm>
          <a:off x="360720" y="5138640"/>
          <a:ext cx="11557800" cy="442440"/>
        </p:xfrm>
        <a:graphic>
          <a:graphicData uri="http://schemas.openxmlformats.org/drawingml/2006/table">
            <a:tbl>
              <a:tblPr/>
              <a:tblGrid>
                <a:gridCol w="2743200"/>
                <a:gridCol w="8814960"/>
              </a:tblGrid>
              <a:tr h="442440">
                <a:tc>
                  <a:txBody>
                    <a:bodyPr lIns="48600" rIns="486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200" strike="noStrike" u="non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População</a:t>
                      </a:r>
                      <a:endParaRPr b="0" lang="pt-B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8600" marR="48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 lIns="48600" rIns="486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1" lang="pt-BR" sz="1200" strike="noStrike" u="non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180 ocupantes distribuídos nos 30 andares. Variações populacionais ao longo do dia não são simuladas. </a:t>
                      </a:r>
                      <a:endParaRPr b="0" lang="pt-B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8600" marR="48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ela 9"/>
          <p:cNvGraphicFramePr/>
          <p:nvPr/>
        </p:nvGraphicFramePr>
        <p:xfrm>
          <a:off x="361080" y="5859000"/>
          <a:ext cx="11557800" cy="660240"/>
        </p:xfrm>
        <a:graphic>
          <a:graphicData uri="http://schemas.openxmlformats.org/drawingml/2006/table">
            <a:tbl>
              <a:tblPr/>
              <a:tblGrid>
                <a:gridCol w="2743200"/>
                <a:gridCol w="8814960"/>
              </a:tblGrid>
              <a:tr h="660240">
                <a:tc>
                  <a:txBody>
                    <a:bodyPr lIns="48600" rIns="486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200" strike="noStrike" u="non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Perfis de Ocupantes</a:t>
                      </a:r>
                      <a:endParaRPr b="0" lang="pt-B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8600" marR="48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 lIns="48600" rIns="486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1" lang="pt-BR" sz="1200" strike="noStrike" u="non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Adultos, crianças, idosos e pessoas com deficiência (PcD), com diferentes velocidades e capacidades de deslocamento. Diferenças psicológicas complexas e condições médicas específicas não são modeladas individualmente. </a:t>
                      </a:r>
                      <a:endParaRPr b="0" lang="pt-B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8600" marR="48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Tabela 11"/>
          <p:cNvGraphicFramePr/>
          <p:nvPr/>
        </p:nvGraphicFramePr>
        <p:xfrm>
          <a:off x="358920" y="456840"/>
          <a:ext cx="11557800" cy="478440"/>
        </p:xfrm>
        <a:graphic>
          <a:graphicData uri="http://schemas.openxmlformats.org/drawingml/2006/table">
            <a:tbl>
              <a:tblPr/>
              <a:tblGrid>
                <a:gridCol w="2743200"/>
                <a:gridCol w="8814960"/>
              </a:tblGrid>
              <a:tr h="478440">
                <a:tc>
                  <a:txBody>
                    <a:bodyPr lIns="48600" rIns="486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200" strike="noStrike" u="non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Brigadistas</a:t>
                      </a:r>
                      <a:endParaRPr b="0" lang="pt-B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8600" marR="48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 lIns="48600" rIns="486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1" lang="pt-BR" sz="1200" strike="noStrike" u="non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Agentes especializados em orientação e auxílio à evacuação. Comunicação por rádio, coordenação externa e atuação de bombeiros reais não são incluídas. </a:t>
                      </a:r>
                      <a:endParaRPr b="0" lang="pt-B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8600" marR="48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Tabela 12"/>
          <p:cNvGraphicFramePr/>
          <p:nvPr/>
        </p:nvGraphicFramePr>
        <p:xfrm>
          <a:off x="359280" y="1177200"/>
          <a:ext cx="11557800" cy="478440"/>
        </p:xfrm>
        <a:graphic>
          <a:graphicData uri="http://schemas.openxmlformats.org/drawingml/2006/table">
            <a:tbl>
              <a:tblPr/>
              <a:tblGrid>
                <a:gridCol w="2743200"/>
                <a:gridCol w="8814960"/>
              </a:tblGrid>
              <a:tr h="478440">
                <a:tc>
                  <a:txBody>
                    <a:bodyPr lIns="48600" rIns="486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200" strike="noStrike" u="non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Incêndio</a:t>
                      </a:r>
                      <a:endParaRPr b="0" lang="pt-B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8600" marR="48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 lIns="48600" rIns="486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1" lang="pt-BR" sz="1200" strike="noStrike" u="non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Ponto de origem variável por andar e célula, com propagação parametrizável. Modelagem termoquímica detalhada e combustão física real não são consideradas. </a:t>
                      </a:r>
                      <a:endParaRPr b="0" lang="pt-B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8600" marR="48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5" name="Tabela 13"/>
          <p:cNvGraphicFramePr/>
          <p:nvPr/>
        </p:nvGraphicFramePr>
        <p:xfrm>
          <a:off x="359640" y="1897560"/>
          <a:ext cx="11557800" cy="478440"/>
        </p:xfrm>
        <a:graphic>
          <a:graphicData uri="http://schemas.openxmlformats.org/drawingml/2006/table">
            <a:tbl>
              <a:tblPr/>
              <a:tblGrid>
                <a:gridCol w="2743200"/>
                <a:gridCol w="8814960"/>
              </a:tblGrid>
              <a:tr h="478440">
                <a:tc>
                  <a:txBody>
                    <a:bodyPr lIns="48600" rIns="486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200" strike="noStrike" u="non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Fumaça</a:t>
                      </a:r>
                      <a:endParaRPr b="0" lang="pt-B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8600" marR="48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 lIns="48600" rIns="486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1" lang="pt-BR" sz="1200" strike="noStrike" u="non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Redução da visibilidade, aumento do risco e alteração de rotas. Composição química dos gases e efeitos toxicológicos detalhados são simplificados. </a:t>
                      </a:r>
                      <a:endParaRPr b="0" lang="pt-B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8600" marR="48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" name="Tabela 14"/>
          <p:cNvGraphicFramePr/>
          <p:nvPr/>
        </p:nvGraphicFramePr>
        <p:xfrm>
          <a:off x="360000" y="2617920"/>
          <a:ext cx="11557800" cy="478440"/>
        </p:xfrm>
        <a:graphic>
          <a:graphicData uri="http://schemas.openxmlformats.org/drawingml/2006/table">
            <a:tbl>
              <a:tblPr/>
              <a:tblGrid>
                <a:gridCol w="2743200"/>
                <a:gridCol w="8814960"/>
              </a:tblGrid>
              <a:tr h="478440">
                <a:tc>
                  <a:txBody>
                    <a:bodyPr lIns="48600" rIns="486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200" strike="noStrike" u="non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Pânico</a:t>
                      </a:r>
                      <a:endParaRPr b="0" lang="pt-B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8600" marR="48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 lIns="48600" rIns="486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1" lang="pt-BR" sz="1200" strike="noStrike" u="non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Influencia decisões, velocidade e comportamento dos ocupantes. Modelos psicológicos avançados e comportamento humano completo não são representados. </a:t>
                      </a:r>
                      <a:endParaRPr b="0" lang="pt-B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8600" marR="48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ela 15"/>
          <p:cNvGraphicFramePr/>
          <p:nvPr/>
        </p:nvGraphicFramePr>
        <p:xfrm>
          <a:off x="360360" y="3338280"/>
          <a:ext cx="11557800" cy="470520"/>
        </p:xfrm>
        <a:graphic>
          <a:graphicData uri="http://schemas.openxmlformats.org/drawingml/2006/table">
            <a:tbl>
              <a:tblPr/>
              <a:tblGrid>
                <a:gridCol w="2743200"/>
                <a:gridCol w="8814960"/>
              </a:tblGrid>
              <a:tr h="470520">
                <a:tc>
                  <a:txBody>
                    <a:bodyPr lIns="48600" rIns="486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200" strike="noStrike" u="non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Congestionamento</a:t>
                      </a:r>
                      <a:endParaRPr b="0" lang="pt-B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8600" marR="48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 lIns="48600" rIns="486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1" lang="pt-BR" sz="1200" strike="noStrike" u="non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Escadas e corredores possuem capacidade limitada, gerando gargalos. Empurrões, quedas e interações físicas complexas não são simulados. </a:t>
                      </a:r>
                      <a:endParaRPr b="0" lang="pt-B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8600" marR="48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8" name="Tabela 16"/>
          <p:cNvGraphicFramePr/>
          <p:nvPr/>
        </p:nvGraphicFramePr>
        <p:xfrm>
          <a:off x="360720" y="4058640"/>
          <a:ext cx="11557800" cy="470520"/>
        </p:xfrm>
        <a:graphic>
          <a:graphicData uri="http://schemas.openxmlformats.org/drawingml/2006/table">
            <a:tbl>
              <a:tblPr/>
              <a:tblGrid>
                <a:gridCol w="2743200"/>
                <a:gridCol w="8814960"/>
              </a:tblGrid>
              <a:tr h="470520">
                <a:tc>
                  <a:txBody>
                    <a:bodyPr lIns="48600" rIns="486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200" strike="noStrike" u="non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Dano às Pessoas</a:t>
                      </a:r>
                      <a:endParaRPr b="0" lang="pt-B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8600" marR="48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 lIns="48600" rIns="486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1" lang="pt-BR" sz="1200" strike="noStrike" u="non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Ocupantes podem ser feridos ou morrer em função da exposição ao fogo e à fumaça. Evolução clínica, resgate hospitalar e atendimento médico não são modelados. </a:t>
                      </a:r>
                      <a:endParaRPr b="0" lang="pt-B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8600" marR="48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" name="Tabela 17"/>
          <p:cNvGraphicFramePr/>
          <p:nvPr/>
        </p:nvGraphicFramePr>
        <p:xfrm>
          <a:off x="361080" y="4779000"/>
          <a:ext cx="11557800" cy="470520"/>
        </p:xfrm>
        <a:graphic>
          <a:graphicData uri="http://schemas.openxmlformats.org/drawingml/2006/table">
            <a:tbl>
              <a:tblPr/>
              <a:tblGrid>
                <a:gridCol w="2743200"/>
                <a:gridCol w="8814960"/>
              </a:tblGrid>
              <a:tr h="470520">
                <a:tc>
                  <a:txBody>
                    <a:bodyPr lIns="48600" rIns="486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200" strike="noStrike" u="non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Variabilidade Estocástica</a:t>
                      </a:r>
                      <a:endParaRPr b="0" lang="pt-B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8600" marR="48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 lIns="48600" rIns="486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1" lang="pt-BR" sz="1200" strike="noStrike" u="non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Uso de aleatoriedade para origem do fogo, tomada de decisão e comportamento dos agentes. Eventos externos imprevisíveis (explosões secundárias, colapsos estruturais) não são incluídos. </a:t>
                      </a:r>
                      <a:endParaRPr b="0" lang="pt-B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8600" marR="48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" name="Tabela 10"/>
          <p:cNvGraphicFramePr/>
          <p:nvPr/>
        </p:nvGraphicFramePr>
        <p:xfrm>
          <a:off x="361440" y="5499360"/>
          <a:ext cx="11557800" cy="470520"/>
        </p:xfrm>
        <a:graphic>
          <a:graphicData uri="http://schemas.openxmlformats.org/drawingml/2006/table">
            <a:tbl>
              <a:tblPr/>
              <a:tblGrid>
                <a:gridCol w="2743200"/>
                <a:gridCol w="8814960"/>
              </a:tblGrid>
              <a:tr h="470520">
                <a:tc>
                  <a:txBody>
                    <a:bodyPr lIns="48600" rIns="486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200" strike="noStrike" u="non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Resultados Coletados</a:t>
                      </a:r>
                      <a:endParaRPr b="0" lang="pt-B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8600" marR="48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 lIns="48600" rIns="486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200" strike="noStrike" u="non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Tempo total de evacuação, número de sobreviventes, feridos, vítimas e métricas por cenário. Impactos econômicos, danos materiais e consequências pós-incêndio não são analisados. </a:t>
                      </a:r>
                      <a:endParaRPr b="0" lang="pt-B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8600" marR="48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ela 18"/>
          <p:cNvGraphicFramePr/>
          <p:nvPr/>
        </p:nvGraphicFramePr>
        <p:xfrm>
          <a:off x="361800" y="6219720"/>
          <a:ext cx="11557800" cy="470520"/>
        </p:xfrm>
        <a:graphic>
          <a:graphicData uri="http://schemas.openxmlformats.org/drawingml/2006/table">
            <a:tbl>
              <a:tblPr/>
              <a:tblGrid>
                <a:gridCol w="2743200"/>
                <a:gridCol w="8814960"/>
              </a:tblGrid>
              <a:tr h="470520">
                <a:tc>
                  <a:txBody>
                    <a:bodyPr lIns="48600" rIns="486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200" strike="noStrike" u="none">
                          <a:solidFill>
                            <a:srgbClr val="2a6099"/>
                          </a:solidFill>
                          <a:effectLst/>
                          <a:uFillTx/>
                          <a:latin typeface="Aptos"/>
                        </a:rPr>
                        <a:t>Análise Estatística</a:t>
                      </a:r>
                      <a:endParaRPr b="0" lang="pt-B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8600" marR="48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  <a:tc>
                  <a:txBody>
                    <a:bodyPr lIns="48600" rIns="4860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spcBef>
                          <a:spcPts val="1191"/>
                        </a:spcBef>
                        <a:spcAft>
                          <a:spcPts val="992"/>
                        </a:spcAft>
                      </a:pPr>
                      <a:r>
                        <a:rPr b="1" lang="pt-BR" sz="1200" strike="noStrike" u="none">
                          <a:solidFill>
                            <a:srgbClr val="2a6099"/>
                          </a:solidFill>
                          <a:effectLst/>
                          <a:uFillTx/>
                          <a:latin typeface="Arial"/>
                        </a:rPr>
                        <a:t>Execução em lote com múltiplas simulações e geração de gráficos comparativos. Validação com dados reais de incêndios históricos não é realizada. </a:t>
                      </a:r>
                      <a:endParaRPr b="0" lang="pt-B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48600" marR="4860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aixaDeTexto 1"/>
          <p:cNvSpPr/>
          <p:nvPr/>
        </p:nvSpPr>
        <p:spPr>
          <a:xfrm>
            <a:off x="2480400" y="2957760"/>
            <a:ext cx="7230240" cy="7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44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2. Modelagem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Imagem 44" descr=""/>
          <p:cNvPicPr/>
          <p:nvPr/>
        </p:nvPicPr>
        <p:blipFill>
          <a:blip r:embed="rId1"/>
          <a:stretch/>
        </p:blipFill>
        <p:spPr>
          <a:xfrm>
            <a:off x="-330120" y="23760"/>
            <a:ext cx="12184560" cy="6857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Tabela 19"/>
          <p:cNvGraphicFramePr/>
          <p:nvPr/>
        </p:nvGraphicFramePr>
        <p:xfrm>
          <a:off x="176040" y="611280"/>
          <a:ext cx="11838240" cy="4977720"/>
        </p:xfrm>
        <a:graphic>
          <a:graphicData uri="http://schemas.openxmlformats.org/drawingml/2006/table">
            <a:tbl>
              <a:tblPr/>
              <a:tblGrid>
                <a:gridCol w="1673640"/>
                <a:gridCol w="2171520"/>
                <a:gridCol w="1968120"/>
                <a:gridCol w="1998360"/>
                <a:gridCol w="2058840"/>
                <a:gridCol w="1968120"/>
              </a:tblGrid>
              <a:tr h="253800"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1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PARÂMETROS / ARTIGOS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1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1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1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2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1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3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1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4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1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5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</a:tr>
              <a:tr h="761760"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1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Identificação do artigo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Agent-based evacuation model incorporating fire scene and building geometry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 probabilistic occupant evacuation model for fire emergencies using Monte Carlo methods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An Integrated Method for Fire Risk Assessment in Residential Buildings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An agent-based simulator for indoor crowd evacuation considering fire impacts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 building information modeling-based fire emergency evacuation simulation system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</a:tr>
              <a:tr h="621720"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1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Problema de pesquisa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Integrar agentes, fogo e geometria do edifício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Representar incertezas no comportamento humano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Avaliar quantitativamente o risco em edifícios residenciais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Modelar impactos do fogo no comportamento dos evacuados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Melhorar evacuação com BIM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</a:tr>
              <a:tr h="621720"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1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Critérios de análise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Tempo de evacuação, interação agente-ambiente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Distribuições probabilísticas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Probabilidade e severidade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Velocidade, saúde e decisão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Tempo de evacuação e otimização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</a:tr>
              <a:tr h="621720"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1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Objeto empírico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Edifícios com modelagem geométrica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Simulações computacionais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Edifícios residenciais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Ambientes internos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Infraestruturas complexas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</a:tr>
              <a:tr h="621720"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1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Conceitos principais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ABM, FDS, geometria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Monte Carlo, evacuação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Análise de risco, lógica fuzzy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Comportamento humano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BIM, FDS, otimização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</a:tr>
              <a:tr h="621720"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1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Definições adotadas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Evacuação como interação entre agentes e ambiente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Processo probabilístico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Risco = probabilidade × severidade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Processo dinâmico influenciado pelo fogo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Integração BIM-simulação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</a:tr>
              <a:tr h="621720"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1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Hipóteses e pressupostos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Decisões baseadas em percepção local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Comportamento representável por distribuições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Risco quantificável matematicamente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Calor e fumaça alteram comportamento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Integração de dados melhora evacuação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" name="Tabela 20"/>
          <p:cNvGraphicFramePr/>
          <p:nvPr/>
        </p:nvGraphicFramePr>
        <p:xfrm>
          <a:off x="176040" y="611280"/>
          <a:ext cx="11838240" cy="4871880"/>
        </p:xfrm>
        <a:graphic>
          <a:graphicData uri="http://schemas.openxmlformats.org/drawingml/2006/table">
            <a:tbl>
              <a:tblPr/>
              <a:tblGrid>
                <a:gridCol w="1673640"/>
                <a:gridCol w="2171520"/>
                <a:gridCol w="1968120"/>
                <a:gridCol w="1998360"/>
                <a:gridCol w="2058840"/>
                <a:gridCol w="1968120"/>
              </a:tblGrid>
              <a:tr h="253800"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1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PARÂMETROS / ARTIGOS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1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6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1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7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1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8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1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9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1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Trabalho Correlato 10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solidFill>
                      <a:schemeClr val="dk2">
                        <a:lumMod val="25000"/>
                        <a:lumOff val="75000"/>
                      </a:schemeClr>
                    </a:solidFill>
                  </a:tcPr>
                </a:tc>
              </a:tr>
              <a:tr h="655920"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1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Identificação do artigo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Fire risk analysis of residential buildings based on scenario clusters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Optimal route selection model for fire evacuations based on hazard prediction data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Review of the Use of Fire Dynamics Theory in Fire Service Activities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Numerical study of smoke movement and evacuation behavior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Modeling human behavior and panic during fire evacuation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</a:tr>
              <a:tr h="621720"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1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Problema de pesquisa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Analisar cenários de risco residencial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Definir rotas seguras dinamicamente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Aplicar teoria da dinâmica do fogo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Compreender efeito da fumaça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Modelar pânico e tomada de decisão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</a:tr>
              <a:tr h="621720"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1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Critérios de análise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Probabilidade de incêndio e perdas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Exposição à fumaça e segurança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Uso em prevenção e operação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Compreender efeito da fumaça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Visibilidade e toxicidade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</a:tr>
              <a:tr h="621720"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1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Objeto empírico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Edifícios residenciais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Modelos computacionais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Literatura e entrevistas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Modelos numéricos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Modelos comportamentais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</a:tr>
              <a:tr h="621720"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1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Conceitos principais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Gestão de risco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Algoritmo A*, previsão de risco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Dinâmica do fogo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Propagação de fumaça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Psicologia de emergências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</a:tr>
              <a:tr h="621720"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1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Definições adotadas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Análise por cenários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Rota ótima = mais segura e rápida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Teoria do fogo para decisões operacionais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Fumaça afeta deslocamento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Pânico altera decisões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</a:tr>
              <a:tr h="621720"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pt-BR" sz="1100" strike="noStrike" u="none">
                          <a:solidFill>
                            <a:schemeClr val="dk2">
                              <a:lumMod val="90000"/>
                              <a:lumOff val="10000"/>
                            </a:schemeClr>
                          </a:solidFill>
                          <a:effectLst/>
                          <a:uFillTx/>
                          <a:latin typeface="Aptos"/>
                        </a:rPr>
                        <a:t>Hipóteses e pressupostos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Cenários auxiliam gestão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Previsão de risco melhora rotas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Maior uso da teoria melhora atuação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Visibilidade reduz eficiência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60" rIns="756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pt-BR" sz="11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  <a:ea typeface="Microsoft YaHei"/>
                        </a:rPr>
                        <a:t>Pânico pode aumentar congestionamentos</a:t>
                      </a:r>
                      <a:endParaRPr b="0" lang="pt-B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60" marR="7560">
                    <a:lnL w="12240">
                      <a:solidFill>
                        <a:srgbClr val="156082"/>
                      </a:solidFill>
                      <a:prstDash val="solid"/>
                    </a:lnL>
                    <a:lnR w="12240">
                      <a:solidFill>
                        <a:srgbClr val="156082"/>
                      </a:solidFill>
                      <a:prstDash val="solid"/>
                    </a:lnR>
                    <a:lnT w="12240">
                      <a:solidFill>
                        <a:srgbClr val="156082"/>
                      </a:solidFill>
                      <a:prstDash val="solid"/>
                    </a:lnT>
                    <a:lnB w="12240">
                      <a:solidFill>
                        <a:srgbClr val="156082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ráfico 6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t="0" r="0" b="70954"/>
          <a:stretch/>
        </p:blipFill>
        <p:spPr>
          <a:xfrm>
            <a:off x="0" y="378000"/>
            <a:ext cx="6095520" cy="647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" name="Gráfico 11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0" t="28580" r="0" b="45614"/>
          <a:stretch/>
        </p:blipFill>
        <p:spPr>
          <a:xfrm>
            <a:off x="6095880" y="549000"/>
            <a:ext cx="6095520" cy="575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ráfico 2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t="54254" r="0" b="20074"/>
          <a:stretch/>
        </p:blipFill>
        <p:spPr>
          <a:xfrm>
            <a:off x="1511280" y="547200"/>
            <a:ext cx="9169200" cy="719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aixaDeTexto 1"/>
          <p:cNvSpPr/>
          <p:nvPr/>
        </p:nvSpPr>
        <p:spPr>
          <a:xfrm>
            <a:off x="2480400" y="2957760"/>
            <a:ext cx="7230240" cy="7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44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3. Formalismo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ulo"/>
          <p:cNvSpPr/>
          <p:nvPr/>
        </p:nvSpPr>
        <p:spPr>
          <a:xfrm>
            <a:off x="457200" y="274680"/>
            <a:ext cx="11276640" cy="5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2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3. Formalismo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Col3"/>
          <p:cNvSpPr/>
          <p:nvPr/>
        </p:nvSpPr>
        <p:spPr>
          <a:xfrm>
            <a:off x="457200" y="1000080"/>
            <a:ext cx="11276640" cy="54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O formalismo adotado neste trabalho combina dois paradigmas complementares: a </a:t>
            </a:r>
            <a:r>
              <a:rPr b="1" lang="pt-BR" sz="14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Modelagem Baseada em Agentes (ABM)</a:t>
            </a: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 para representar os ocupantes e brigadistas, e o </a:t>
            </a:r>
            <a:r>
              <a:rPr b="1" lang="pt-BR" sz="14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Autômato Celular (AC)</a:t>
            </a: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 para modelar a propagação do fogo e da fumaça.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A ABM foi escolhida por sua capacidade de representar cada ocupante como uma entidade autônoma e heterogênea, dotada de atributos individuais como perfil (adulto, idoso ou PcD), nível de pânico, estado de saúde e velocidade de deslocamento. Cada agente toma decisões locais com base na percepção do ambiente imediato — proximidade do fogo, visibilidade reduzida pela fumaça e presença de brigadistas — sem coordenação centralizada. Essa descentralização é fundamental para reproduzir fielmente o comportamento humano emergencial, no qual padrões globais como congestionamentos e variação na taxa de evacuação surgem espontaneamente das interações entre agentes e ambiente.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O Autômato Celular, por sua vez, governa a dinâmica do incêndio sobre uma grade discreta de 20×20 células por andar. A propagação do fogo segue a vizinhança de Von Neumann (quatro direções), com probabilidade de ignição configurável por </a:t>
            </a:r>
            <a:r>
              <a:rPr b="0" i="1" lang="pt-BR" sz="14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step</a:t>
            </a: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, e a intensidade das chamas cresce progressivamente ao longo do tempo. A fumaça se difunde a partir das células em chamas e reduz o raio de visibilidade dos agentes, afetando diretamente suas decisões de rota.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O Autômato Celular, por sua vez, governa a dinâmica do incêndio sobre uma grade discreta de 20×20 células por andar. A propagação do fogo segue a vizinhança de Von Neumann (quatro direções), com probabilidade de ignição configurável por </a:t>
            </a:r>
            <a:r>
              <a:rPr b="0" i="1" lang="pt-BR" sz="14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step</a:t>
            </a: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, e a intensidade das chamas cresce progressivamente ao longo do tempo. A fumaça se difunde a partir das células em chamas e reduz o raio de visibilidade dos agentes, afetando diretamente suas decisões de rota.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A estocasticidade é introduzida por meio de um </a:t>
            </a:r>
            <a:r>
              <a:rPr b="0" i="1" lang="pt-BR" sz="14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seed</a:t>
            </a: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ptos"/>
              </a:rPr>
              <a:t> aleatório que controla a posição inicial dos agentes, a origem do incêndio e as flutuações no nível de pânico, garantindo reprodutibilidade sem eliminar a variabilidade inerente a cenários reais. Métricas globais de interesse — como taxa de evacuação, tempo médio de saída e número de vítimas — emergem naturalmente das interações, sem serem impostas explicitamente ao modelo.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t="4109" r="0" b="41652"/>
          <a:stretch/>
        </p:blipFill>
        <p:spPr>
          <a:xfrm>
            <a:off x="0" y="434160"/>
            <a:ext cx="12459600" cy="6318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CaixaDeTexto 1"/>
          <p:cNvSpPr/>
          <p:nvPr/>
        </p:nvSpPr>
        <p:spPr>
          <a:xfrm>
            <a:off x="2480400" y="2957760"/>
            <a:ext cx="7230240" cy="7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44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4. Computador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ulo"/>
          <p:cNvSpPr/>
          <p:nvPr/>
        </p:nvSpPr>
        <p:spPr>
          <a:xfrm>
            <a:off x="457200" y="274680"/>
            <a:ext cx="11276640" cy="5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2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4. Computador — Implementação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Col3"/>
          <p:cNvSpPr/>
          <p:nvPr/>
        </p:nvSpPr>
        <p:spPr>
          <a:xfrm>
            <a:off x="457200" y="1000080"/>
            <a:ext cx="5485320" cy="352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Linguagem e Framework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Python 3.11+ com framework Mesa para simulação baseada em agentes. Numpy para grades de andares. Matplotlib e Seaborn para visualizações.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ModeloEvacuacao (mesa.Model)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Orquestra a simulação: schedule (RandomActivation), datacollector, grades dos andares e ModeloFogo (autômato celular).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OcupanteAgente (mesa.Agent)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Atributos: estado (FSM), pânico [0,1], saúde [0,1], perfil (ADULTO/IDOSO/PCD). Métodos: _atualizar_panico, _aplicar_dano, _mover.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BrigadistaAgente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Velocidade 1,5× adulto. Patrulha andares e move em direção ao ocupante com maior pânico no raio de influência (5 células).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Col4"/>
          <p:cNvSpPr/>
          <p:nvPr/>
        </p:nvSpPr>
        <p:spPr>
          <a:xfrm>
            <a:off x="6248520" y="1000080"/>
            <a:ext cx="5485320" cy="275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Ciclo do step() do Modelo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1. Reset contadores de escada • 2. Rebuild mapa de ocupação • 3. ModeloFogo.step() • 4. schedule.step() • 5. Atualiza grid de agentes • 6. DataCollector.collect() • 7. Verifica fim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Estrutura de Arquivos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simulacao/ (config, edificio, agentes, fogo, modelo) • analise/ (experimentos, visualizações) • run_simulation.py (CLI) • gerar_graficos.py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Interface de Linha de Comando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--ocupantes N • --andar-foco A • --taxa-fogo T • --brigadistas B • --seed S • --rodadas R • --sensibilidade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aixaDeTexto 1"/>
          <p:cNvSpPr/>
          <p:nvPr/>
        </p:nvSpPr>
        <p:spPr>
          <a:xfrm>
            <a:off x="2480400" y="2957760"/>
            <a:ext cx="7230240" cy="7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44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5. Execução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ulo"/>
          <p:cNvSpPr/>
          <p:nvPr/>
        </p:nvSpPr>
        <p:spPr>
          <a:xfrm>
            <a:off x="457200" y="274680"/>
            <a:ext cx="11276640" cy="5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2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5. Execução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Col3"/>
          <p:cNvSpPr/>
          <p:nvPr/>
        </p:nvSpPr>
        <p:spPr>
          <a:xfrm>
            <a:off x="457200" y="1000080"/>
            <a:ext cx="5485320" cy="257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Rodada Única (Configuração Padrão)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300 ocupantes • 10 brigadistas • Foco no andar 10 • Taxa de fogo 0,15 • Seed 42 • Capacidade escada: 5 ag./step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Experimento Estatístico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30 rodadas independentes com seeds distintos (--rodadas 30). Gera resumo_rodadas.csv com métricas finais de cada rodada.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Análise de Sensibilidade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Variação automática de 2 parâmetros: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Taxa de propagação do fogo: 0,05 • 0,10 • 0,15 • 0,20 • 0,30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• Capacidade da escada: 2 • 5 • 8 • 12 ag./step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Col4"/>
          <p:cNvSpPr/>
          <p:nvPr/>
        </p:nvSpPr>
        <p:spPr>
          <a:xfrm>
            <a:off x="6248520" y="1000080"/>
            <a:ext cx="5485320" cy="316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Reprodutibilidade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Seed aleatório garante que toda rodada seja reproduzível. Seed padrão = 42.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Coleta de Dados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DataCollector do Mesa registra a cada step: evacuados, mortos, feridos, pânico médio, células em chamas.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Saídas Geradas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rodada_seedN.csv (série temporal) • resumo_rodadas.csv • sensibilidade.csv • Gráficos PNG em resultados/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Limite de Execução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Máximo de 3.000 steps por rodada. Simulação encerra quando todos os agentes são evacuados ou incapacitados.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aixaDeTexto 1"/>
          <p:cNvSpPr/>
          <p:nvPr/>
        </p:nvSpPr>
        <p:spPr>
          <a:xfrm>
            <a:off x="2480400" y="2957760"/>
            <a:ext cx="7230240" cy="7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44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6. Observação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ulo"/>
          <p:cNvSpPr/>
          <p:nvPr/>
        </p:nvSpPr>
        <p:spPr>
          <a:xfrm>
            <a:off x="457200" y="274680"/>
            <a:ext cx="11276640" cy="52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2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6. Observação e Retroalimentação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Col3"/>
          <p:cNvSpPr/>
          <p:nvPr/>
        </p:nvSpPr>
        <p:spPr>
          <a:xfrm>
            <a:off x="457200" y="1000080"/>
            <a:ext cx="5485320" cy="275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Métricas Coletadas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Taxa de evacuação (evacuados/total) • Tempo médio de evacuação (steps) • Número de vítimas (mortos + feridos) • Pânico médio • Células em chamas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Visualizações Geradas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Série temporal de evacuados, mortos, feridos, fogo e pânico por step • Mapa de calor de densidade no térreo e andar do foco • Heatmap de sensibilidade (taxa de evacuação × parâmetros)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Boxplots de Distribuição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Distribuição das métricas nas 30 rodadas, mostrando variância e outliers de cada cenário simulado.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Col4"/>
          <p:cNvSpPr/>
          <p:nvPr/>
        </p:nvSpPr>
        <p:spPr>
          <a:xfrm>
            <a:off x="6248520" y="1000080"/>
            <a:ext cx="5485320" cy="257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Conclusões Esperadas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Identificação de gargalos nas escadas • Impacto do perfil PcD no tempo de evacuação • Efeito dos brigadistas na redução de vítimas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Retroalimentação ao Modelo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Resultados da análise de sensibilidade orientam ajuste dos parâmetros. Taxa de fogo e capacidade de escada são os fatores críticos identificados.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1" lang="pt-BR" sz="18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Calibri"/>
              </a:rPr>
              <a:t>Referências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</a:pPr>
            <a:r>
              <a:rPr b="0" lang="pt-BR" sz="15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ABNT NBR 9077:2001 • Grimm et al. (2010) ODD Protocol • Wilensky &amp; Rand (2015) ABM • Python Mesa framework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CaixaDeTexto 1"/>
          <p:cNvSpPr/>
          <p:nvPr/>
        </p:nvSpPr>
        <p:spPr>
          <a:xfrm>
            <a:off x="2480400" y="2957760"/>
            <a:ext cx="7230240" cy="76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b="1" lang="pt-BR" sz="4400" strike="noStrike" u="none">
                <a:solidFill>
                  <a:schemeClr val="dk2">
                    <a:lumMod val="90000"/>
                    <a:lumOff val="10000"/>
                  </a:schemeClr>
                </a:solidFill>
                <a:effectLst/>
                <a:uFillTx/>
                <a:latin typeface="Aptos"/>
              </a:rPr>
              <a:t>Obrigado! Dúvidas?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</TotalTime>
  <Application>LibreOffice/25.2.7.2$Windows_X86_64 LibreOffice_project/5cbfd1ab6520636bb5f7b99185aa69bd7456825d</Application>
  <AppVersion>15.0000</AppVersion>
  <Words>1987</Words>
  <Paragraphs>232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2026-04-13T15:47:06Z</dcterms:created>
  <dc:creator>Marcos Mattedi</dc:creator>
  <dc:description/>
  <dc:language>pt-BR</dc:language>
  <cp:lastModifiedBy/>
  <dcterms:modified xsi:type="dcterms:W3CDTF">2026-05-25T08:26:52Z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21</vt:i4>
  </property>
</Properties>
</file>