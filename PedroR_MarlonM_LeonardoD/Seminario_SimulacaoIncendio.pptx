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png" ContentType="image/png"/>
  <Override PartName="/ppt/media/image2.png" ContentType="image/png"/>
  <Override PartName="/ppt/media/image3.png" ContentType="image/png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m 6" descr=""/>
          <p:cNvPicPr/>
          <p:nvPr/>
        </p:nvPicPr>
        <p:blipFill>
          <a:blip r:embed="rId2"/>
          <a:stretch/>
        </p:blipFill>
        <p:spPr>
          <a:xfrm>
            <a:off x="173880" y="106560"/>
            <a:ext cx="4615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Imagem 7" descr="Uma imagem contendo placar, desenho  Descrição gerada automaticamente"/>
          <p:cNvPicPr/>
          <p:nvPr/>
        </p:nvPicPr>
        <p:blipFill>
          <a:blip r:embed="rId3"/>
          <a:srcRect l="7343" t="15347" r="9311" b="15347"/>
          <a:stretch/>
        </p:blipFill>
        <p:spPr>
          <a:xfrm>
            <a:off x="11676240" y="120960"/>
            <a:ext cx="3412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tângulo 8"/>
          <p:cNvSpPr/>
          <p:nvPr/>
        </p:nvSpPr>
        <p:spPr>
          <a:xfrm>
            <a:off x="0" y="96840"/>
            <a:ext cx="12191760" cy="31788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pt-BR" sz="1800" strike="noStrike" u="non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3" name="Imagem 9" descr="Interface gráfica do usuário, Texto  O conteúdo gerado por IA pode estar incorreto."/>
          <p:cNvPicPr/>
          <p:nvPr/>
        </p:nvPicPr>
        <p:blipFill>
          <a:blip r:embed="rId4"/>
          <a:srcRect l="0" t="16850" r="0" b="41997"/>
          <a:stretch/>
        </p:blipFill>
        <p:spPr>
          <a:xfrm>
            <a:off x="5840280" y="77400"/>
            <a:ext cx="511200" cy="26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3"/>
          <p:cNvSpPr/>
          <p:nvPr/>
        </p:nvSpPr>
        <p:spPr>
          <a:xfrm>
            <a:off x="2793960" y="2455560"/>
            <a:ext cx="70304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Título: Simulação de Evacuação de Edifício em Incêndio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CaixaDeTexto 5"/>
          <p:cNvSpPr/>
          <p:nvPr/>
        </p:nvSpPr>
        <p:spPr>
          <a:xfrm>
            <a:off x="2086560" y="864360"/>
            <a:ext cx="7737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650"/>
              </a:spcBef>
              <a:spcAft>
                <a:spcPts val="825"/>
              </a:spcAft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  <a:ea typeface="Calibri"/>
              </a:rPr>
              <a:t>MÓDULO V - SEMINÁRIO DE APRESENTAÇÃO DOS RESULTADOS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CaixaDeTexto 6"/>
          <p:cNvSpPr/>
          <p:nvPr/>
        </p:nvSpPr>
        <p:spPr>
          <a:xfrm>
            <a:off x="7630560" y="3993840"/>
            <a:ext cx="3492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Autores: Pedro Rafael • Leonardo Dal’Olmo • Marlon Moser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CaixaDeTexto 7"/>
          <p:cNvSpPr/>
          <p:nvPr/>
        </p:nvSpPr>
        <p:spPr>
          <a:xfrm>
            <a:off x="4719240" y="5993640"/>
            <a:ext cx="2608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Junho de 2026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1"/>
          <p:cNvSpPr/>
          <p:nvPr/>
        </p:nvSpPr>
        <p:spPr>
          <a:xfrm>
            <a:off x="2528640" y="905040"/>
            <a:ext cx="58964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Estrutura da Apresentação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" name="Tabela 2"/>
          <p:cNvGraphicFramePr/>
          <p:nvPr/>
        </p:nvGraphicFramePr>
        <p:xfrm>
          <a:off x="1259640" y="1447920"/>
          <a:ext cx="9376920" cy="4353120"/>
        </p:xfrm>
        <a:graphic>
          <a:graphicData uri="http://schemas.openxmlformats.org/drawingml/2006/table">
            <a:tbl>
              <a:tblPr/>
              <a:tblGrid>
                <a:gridCol w="858240"/>
                <a:gridCol w="2211120"/>
                <a:gridCol w="6307200"/>
              </a:tblGrid>
              <a:tr h="299880">
                <a:tc>
                  <a:txBody>
                    <a:bodyPr lIns="74880" rIns="74880" tIns="37440" bIns="374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5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Etapa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74880" rIns="74880" tIns="37440" bIns="374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5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Nome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74880" rIns="74880" tIns="37440" bIns="374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5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Descrição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  <a:tr h="749880">
                <a:tc>
                  <a:txBody>
                    <a:bodyPr lIns="74880" rIns="74880" tIns="37440" bIns="374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tIns="37440" bIns="37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Sistema de Referência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tIns="37440" bIns="37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Define o problema real a ser estudado (ex: evacuação de um prédio).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880">
                <a:tc>
                  <a:txBody>
                    <a:bodyPr lIns="74880" rIns="74880" tIns="37440" bIns="374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tIns="37440" bIns="37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Modelagem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tIns="37440" bIns="37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Representação simplificada do sistema real (regras, agentes, ambiente).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880">
                <a:tc>
                  <a:txBody>
                    <a:bodyPr lIns="74880" rIns="74880" tIns="37440" bIns="374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tIns="37440" bIns="37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Formalismo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tIns="37440" bIns="37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Tradução do modelo para linguagem formal/matemática ou lógica.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880">
                <a:tc>
                  <a:txBody>
                    <a:bodyPr lIns="74880" rIns="74880" tIns="37440" bIns="374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tIns="37440" bIns="37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Computador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tIns="37440" bIns="37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Implementação do modelo em código (programação da simulação).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4880">
                <a:tc>
                  <a:txBody>
                    <a:bodyPr lIns="74880" rIns="74880" tIns="37440" bIns="374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tIns="37440" bIns="37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Execução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tIns="37440" bIns="37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Rodar a simulação com diferentes parâmetros e cenários.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4880">
                <a:tc>
                  <a:txBody>
                    <a:bodyPr lIns="74880" rIns="74880" tIns="37440" bIns="374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6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tIns="37440" bIns="37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Observação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tIns="37440" bIns="37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5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Análise dos resultados obtidos (gráficos, métricas, conclusões).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44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 Sistema de Referência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ulo"/>
          <p:cNvSpPr/>
          <p:nvPr/>
        </p:nvSpPr>
        <p:spPr>
          <a:xfrm>
            <a:off x="457200" y="274680"/>
            <a:ext cx="11277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1. Sistema de Referência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Col3"/>
          <p:cNvSpPr/>
          <p:nvPr/>
        </p:nvSpPr>
        <p:spPr>
          <a:xfrm>
            <a:off x="457200" y="1000080"/>
            <a:ext cx="548604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Problema Real Estudado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Edifício de 30 andares em incêndio — evacuação emergencial de ocupantes com diferentes perfis de mobilidade.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Estrutura Física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Grade 20×20 células/andar • Escadas nos 4 cantos • Elevadores bloqueados (NBR 9077) </a:t>
            </a: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Saídas sinalizadas no térreo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Escala Temporal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Cada step representa ~1 segundo real. Limite máximo: 3.000 steps por rodada.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Col4"/>
          <p:cNvSpPr/>
          <p:nvPr/>
        </p:nvSpPr>
        <p:spPr>
          <a:xfrm>
            <a:off x="6248520" y="1000080"/>
            <a:ext cx="5486040" cy="21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Perfis de Ocupantes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Adulto padrão 70% (vel. 1,0) • Idoso 20% (vel. 0,6) • PcD 10% (vel. 0,4) • Brigadista (vel. 1,5)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Tipos de Célula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Livre • Escada (não inflamavél) • Elevador • Saída • Parede • Fogo • Fumaça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Base Normativa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ABNT NBR 9077:2001 — Saídas de emergência em edifícios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44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 Modelagem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ulo"/>
          <p:cNvSpPr/>
          <p:nvPr/>
        </p:nvSpPr>
        <p:spPr>
          <a:xfrm>
            <a:off x="457200" y="274680"/>
            <a:ext cx="11277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2. Modelagem (Protocolo ODD)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Col3"/>
          <p:cNvSpPr/>
          <p:nvPr/>
        </p:nvSpPr>
        <p:spPr>
          <a:xfrm>
            <a:off x="457200" y="1000080"/>
            <a:ext cx="5486040" cy="331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Overview — Propósito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Simular evacuação emergencial e identificar gargalos, fatores de risco e impacto dos perfis de ocupantes.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Entidades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OcupanteAgente (Adulto, Idoso, PcD) • BrigadistaAgente • Células de fogo e fumaça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Design Concepts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Emergência: congestionamentos surgem da competição por células de escada. Adaptação: agentes desviam de chamas e ajustam rotas quando bloqueados.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Estocasticidade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Seed aleatório controla posição inicial, propagação do fogo e nível de pânico, garantindo reprodutibilidade.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Col4"/>
          <p:cNvSpPr/>
          <p:nvPr/>
        </p:nvSpPr>
        <p:spPr>
          <a:xfrm>
            <a:off x="6248520" y="1000080"/>
            <a:ext cx="5486040" cy="29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Escala Espacial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Célula (≈0,5 m²) → Andar (20×20) → Edifício (30 andares)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Interações entre Agentes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Conflito de célula entre ocupantes • Redução de pânico por brigadistas próximos • Fila nas escadas (capacidade máx. por step)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Observação via Mesa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DataCollector registra métricas a cada step: evacuados, mortos, feridos, pânico médio, células em chamas.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Inicialização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 ocupantes distribuídos aleatoriamente pelos andares 1–29. Fogo inicia no andar e célula configurados.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44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 Formalismo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ulo"/>
          <p:cNvSpPr/>
          <p:nvPr/>
        </p:nvSpPr>
        <p:spPr>
          <a:xfrm>
            <a:off x="457200" y="274680"/>
            <a:ext cx="11277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3. Formalismo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Col3"/>
          <p:cNvSpPr/>
          <p:nvPr/>
        </p:nvSpPr>
        <p:spPr>
          <a:xfrm>
            <a:off x="457200" y="1000080"/>
            <a:ext cx="5486040" cy="29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Propagação do Fogo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Autômato Celular com vizinhança de Von Neumann (4 direções). Probabilidade de ignição configurável (padrão: 15%/step). Intensidade cresce progressivamente.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Movimentação dos Agentes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Sistema reativo com heurística gulosa: o agente move para o vizinho mais próximo ao alvo (escada ou saída), desviando de células intransitáveis.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Nível de Pânico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Variável contínua [0,1]. Incremento proporcional à proximidade do fogo/fumaça. Decremento por brigadista próximo. Acima de 0,7: movimento semi-aleatório.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Col4"/>
          <p:cNvSpPr/>
          <p:nvPr/>
        </p:nvSpPr>
        <p:spPr>
          <a:xfrm>
            <a:off x="6248520" y="1000080"/>
            <a:ext cx="5486040" cy="331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Fluxo nas Escadas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Fila com capacidade máxima por step: agente aguarda se escada está lotada, modelando gargalos reais.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Ciclo de Vida do Agente (FSM)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NORMAL → FUGA → EVACUADO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  ⇘ FERIDO → MORTO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Transições baseadas em saúde e posição.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Parâmetros de Dano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Fogo: −0,40 saúde/step • Fumaça: −0,08 saúde/step • Ferido: sa&amp;uacute;de &lt; 0,3 • Morto: saúde = 0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Framework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Python Mesa (Agent-Based Modeling) com RandomActivation scheduler e DataCollector integrado.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44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4. Computador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ulo"/>
          <p:cNvSpPr/>
          <p:nvPr/>
        </p:nvSpPr>
        <p:spPr>
          <a:xfrm>
            <a:off x="457200" y="274680"/>
            <a:ext cx="11277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4. Computador — Implementação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Col3"/>
          <p:cNvSpPr/>
          <p:nvPr/>
        </p:nvSpPr>
        <p:spPr>
          <a:xfrm>
            <a:off x="457200" y="1000080"/>
            <a:ext cx="5486040" cy="34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Linguagem e Framework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Python 3.11+ com framework Mesa para simulação baseada em agentes. Numpy para grades de andares. Matplotlib e Seaborn para visualizações.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ModeloEvacuacao (mesa.Model)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Orquestra a simulação: schedule (RandomActivation), datacollector, grades dos andares e ModeloFogo (autômato celular).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OcupanteAgente (mesa.Agent)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Atributos: estado (FSM), pânico [0,1], saúde [0,1], perfil (ADULTO/IDOSO/PCD). Métodos: _atualizar_panico, _aplicar_dano, _mover.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BrigadistaAgente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Velocidade 1,5× adulto. Patrulha andares e move em direção ao ocupante com maior pânico no raio de influência (5 células).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Col4"/>
          <p:cNvSpPr/>
          <p:nvPr/>
        </p:nvSpPr>
        <p:spPr>
          <a:xfrm>
            <a:off x="6248520" y="1000080"/>
            <a:ext cx="5486040" cy="27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Ciclo do step() do Modelo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Reset contadores de escada • 2. Rebuild mapa de ocupação • 3. ModeloFogo.step() • 4. schedule.step() • 5. Atualiza grid de agentes • 6. DataCollector.collect() • 7. Verifica fim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Estrutura de Arquivos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simulacao/ (config, edificio, agentes, fogo, modelo) • analise/ (experimentos, visualizações) • run_simulation.py (CLI) • gerar_graficos.py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Interface de Linha de Comando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--ocupantes N • --andar-foco A • --taxa-fogo T • --brigadistas B • --seed S • --rodadas R • --sensibilidade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44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5. Execução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ulo"/>
          <p:cNvSpPr/>
          <p:nvPr/>
        </p:nvSpPr>
        <p:spPr>
          <a:xfrm>
            <a:off x="457200" y="274680"/>
            <a:ext cx="11277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5. Execução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Col3"/>
          <p:cNvSpPr/>
          <p:nvPr/>
        </p:nvSpPr>
        <p:spPr>
          <a:xfrm>
            <a:off x="457200" y="1000080"/>
            <a:ext cx="5486040" cy="25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Rodada Única (Configuração Padrão)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300 ocupantes • 10 brigadistas • Foco no andar 10 • Taxa de fogo 0,15 • Seed 42 • Capacidade escada: 5 ag./step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Experimento Estatístico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30 rodadas independentes com seeds distintos (--rodadas 30). Gera resumo_rodadas.csv com métricas finais de cada rodada.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Análise de Sensibilidade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Variação automática de 2 parâmetros: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Taxa de propagação do fogo: 0,05 • 0,10 • 0,15 • 0,20 • 0,30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Capacidade da escada: 2 • 5 • 8 • 12 ag./step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Col4"/>
          <p:cNvSpPr/>
          <p:nvPr/>
        </p:nvSpPr>
        <p:spPr>
          <a:xfrm>
            <a:off x="6248520" y="1000080"/>
            <a:ext cx="5486040" cy="31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Reprodutibilidade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Seed aleatório garante que toda rodada seja reproduzível. Seed padrão = 42.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Coleta de Dados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DataCollector do Mesa registra a cada step: evacuados, mortos, feridos, pânico médio, células em chamas.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Saídas Geradas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rodada_seedN.csv (série temporal) • resumo_rodadas.csv • sensibilidade.csv • Gráficos PNG em resultados/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Limite de Execução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Máximo de 3.000 steps por rodada. Simulação encerra quando todos os agentes são evacuados ou incapacitados.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44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6. Observação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ulo"/>
          <p:cNvSpPr/>
          <p:nvPr/>
        </p:nvSpPr>
        <p:spPr>
          <a:xfrm>
            <a:off x="457200" y="274680"/>
            <a:ext cx="1127736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6. Observação e Retroalimentação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Col3"/>
          <p:cNvSpPr/>
          <p:nvPr/>
        </p:nvSpPr>
        <p:spPr>
          <a:xfrm>
            <a:off x="457200" y="1000080"/>
            <a:ext cx="5486040" cy="53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Métricas Coletadas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Taxa de evacuação (evacuados/total) • Tempo médio de evacuação (steps) • Número de vítimas (mortos + feridos) • Pânico médio • Células em chamas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Visualizações Geradas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Série temporal de evacuados, mortos, feridos, fogo e pânico por step • Mapa de calor de densidade no térreo e andar do foco • Heatmap de sensibilidade (taxa de evacuação × parâmetros)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Boxplots de Distribuição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Distribuição das métricas nas 30 rodadas, mostrando variância e outliers de cada cenário simulado.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Col4"/>
          <p:cNvSpPr/>
          <p:nvPr/>
        </p:nvSpPr>
        <p:spPr>
          <a:xfrm>
            <a:off x="6248520" y="1000080"/>
            <a:ext cx="5486040" cy="53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Conclusões Esperadas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Identificação de gargalos nas escadas • Impacto do perfil PcD no tempo de evacuação • Efeito dos brigadistas na redução de vítimas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Retroalimentação ao Modelo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Resultados da análise de sensibilidade orientam ajuste dos parâmetros. Taxa de fogo e capacidade de escada são os fatores críticos identificados.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Referências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ABNT NBR 9077:2001 • Grimm et al. (2010) ODD Protocol • Wilensky &amp; Rand (2015) ABM • Python Mesa framework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44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Obrigado! Dúvidas?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LibreOffice/25.2.7.2$Windows_X86_64 LibreOffice_project/5cbfd1ab6520636bb5f7b99185aa69bd7456825d</Application>
  <AppVersion>15.0000</AppVersion>
  <Words>123</Words>
  <Paragraphs>32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2026-04-13T15:47:06Z</dcterms:created>
  <dc:creator>Marcos Mattedi</dc:creator>
  <dc:description/>
  <dc:language>pt-BR</dc:language>
  <cp:lastModifiedBy/>
  <dcterms:modified xsi:type="dcterms:W3CDTF">2026-04-29T07:59:52Z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