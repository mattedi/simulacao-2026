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9.xml" ContentType="application/vnd.openxmlformats-officedocument.presentationml.notesSlide+xml"/>
  <Override PartName="/ppt/notesSlides/_rels/notesSlide9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Clique para mover o slide</a:t>
            </a:r>
            <a:endParaRPr b="0" lang="pt-BR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6F5293B-B7F5-441E-9936-D35110952A51}" type="slidenum"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sldImg"/>
          </p:nvPr>
        </p:nvSpPr>
        <p:spPr>
          <a:xfrm>
            <a:off x="573120" y="1336680"/>
            <a:ext cx="6413040" cy="3607920"/>
          </a:xfrm>
          <a:prstGeom prst="rect">
            <a:avLst/>
          </a:prstGeom>
          <a:ln w="0">
            <a:noFill/>
          </a:ln>
        </p:spPr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755640" y="5145120"/>
            <a:ext cx="6048000" cy="420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sldNum" idx="4"/>
          </p:nvPr>
        </p:nvSpPr>
        <p:spPr>
          <a:xfrm>
            <a:off x="4281480" y="10155240"/>
            <a:ext cx="3276360" cy="53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pt-B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C99E5A6-D969-47E8-9C5A-54A4B4860376}" type="slidenum">
              <a:rPr b="0" lang="pt-B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de Título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8e8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Imagem 6" descr=""/>
          <p:cNvPicPr/>
          <p:nvPr/>
        </p:nvPicPr>
        <p:blipFill>
          <a:blip r:embed="rId2"/>
          <a:stretch/>
        </p:blipFill>
        <p:spPr>
          <a:xfrm>
            <a:off x="173880" y="106560"/>
            <a:ext cx="461160" cy="235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" name="Imagem 7" descr="Uma imagem contendo placar, desenho  Descrição gerada automaticamente"/>
          <p:cNvPicPr/>
          <p:nvPr/>
        </p:nvPicPr>
        <p:blipFill>
          <a:blip r:embed="rId3"/>
          <a:srcRect l="7343" t="15347" r="9311" b="15347"/>
          <a:stretch/>
        </p:blipFill>
        <p:spPr>
          <a:xfrm>
            <a:off x="11676240" y="120960"/>
            <a:ext cx="3409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Retângulo 8"/>
          <p:cNvSpPr/>
          <p:nvPr/>
        </p:nvSpPr>
        <p:spPr>
          <a:xfrm>
            <a:off x="0" y="96840"/>
            <a:ext cx="12191400" cy="317520"/>
          </a:xfrm>
          <a:prstGeom prst="rect">
            <a:avLst/>
          </a:prstGeom>
          <a:solidFill>
            <a:schemeClr val="lt1">
              <a:lumMod val="65000"/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pt-BR" sz="1800" strike="noStrike" u="none">
              <a:solidFill>
                <a:schemeClr val="dk2">
                  <a:lumMod val="90000"/>
                  <a:lumOff val="10000"/>
                </a:schemeClr>
              </a:solidFill>
              <a:effectLst/>
              <a:uFillTx/>
              <a:latin typeface="Aptos"/>
            </a:endParaRPr>
          </a:p>
        </p:txBody>
      </p:sp>
      <p:pic>
        <p:nvPicPr>
          <p:cNvPr id="3" name="Imagem 9" descr="Interface gráfica do usuário, Texto  O conteúdo gerado por IA pode estar incorreto."/>
          <p:cNvPicPr/>
          <p:nvPr/>
        </p:nvPicPr>
        <p:blipFill>
          <a:blip r:embed="rId4"/>
          <a:srcRect l="0" t="16850" r="0" b="41997"/>
          <a:stretch/>
        </p:blipFill>
        <p:spPr>
          <a:xfrm>
            <a:off x="5840280" y="77400"/>
            <a:ext cx="510840" cy="26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do texto do título</a:t>
            </a:r>
            <a:endParaRPr b="0" lang="pt-BR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de texto dos tópicos</a:t>
            </a:r>
            <a:endParaRPr b="0" lang="pt-BR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2.º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3.º nível de tópicos</a:t>
            </a:r>
            <a:endParaRPr b="0" lang="pt-BR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4.º nível de tópicos</a:t>
            </a:r>
            <a:endParaRPr b="0" lang="pt-BR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5.º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6.º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7.º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8e8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6" descr=""/>
          <p:cNvPicPr/>
          <p:nvPr/>
        </p:nvPicPr>
        <p:blipFill>
          <a:blip r:embed="rId2"/>
          <a:stretch/>
        </p:blipFill>
        <p:spPr>
          <a:xfrm>
            <a:off x="173880" y="106560"/>
            <a:ext cx="461520" cy="235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" name="Imagem 7" descr="Uma imagem contendo placar, desenho&#10;&#10;Descrição gerada automaticamente"/>
          <p:cNvPicPr/>
          <p:nvPr/>
        </p:nvPicPr>
        <p:blipFill>
          <a:blip r:embed="rId3"/>
          <a:srcRect l="7343" t="15347" r="9311" b="15347"/>
          <a:stretch/>
        </p:blipFill>
        <p:spPr>
          <a:xfrm>
            <a:off x="11676240" y="120960"/>
            <a:ext cx="3412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Retângulo 8"/>
          <p:cNvSpPr/>
          <p:nvPr/>
        </p:nvSpPr>
        <p:spPr>
          <a:xfrm>
            <a:off x="0" y="96840"/>
            <a:ext cx="12191760" cy="317880"/>
          </a:xfrm>
          <a:prstGeom prst="rect">
            <a:avLst/>
          </a:prstGeom>
          <a:solidFill>
            <a:schemeClr val="lt1">
              <a:lumMod val="65000"/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1" lang="pt-BR" sz="1800" strike="noStrike" u="none">
              <a:solidFill>
                <a:schemeClr val="dk2">
                  <a:lumMod val="90000"/>
                  <a:lumOff val="10000"/>
                </a:schemeClr>
              </a:solidFill>
              <a:effectLst/>
              <a:uFillTx/>
              <a:latin typeface="Aptos"/>
            </a:endParaRPr>
          </a:p>
        </p:txBody>
      </p:sp>
      <p:pic>
        <p:nvPicPr>
          <p:cNvPr id="9" name="Imagem 9" descr="Interface gráfica do usuário, Texto&#10;&#10;O conteúdo gerado por IA pode estar incorreto."/>
          <p:cNvPicPr/>
          <p:nvPr/>
        </p:nvPicPr>
        <p:blipFill>
          <a:blip r:embed="rId4"/>
          <a:srcRect l="0" t="16850" r="0" b="41997"/>
          <a:stretch/>
        </p:blipFill>
        <p:spPr>
          <a:xfrm>
            <a:off x="5840280" y="77400"/>
            <a:ext cx="511200" cy="262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do texto do título</a:t>
            </a:r>
            <a:endParaRPr b="0" lang="pt-BR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de texto dos tópicos</a:t>
            </a:r>
            <a:endParaRPr b="0" lang="pt-BR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2.º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3.º nível de tópicos</a:t>
            </a:r>
            <a:endParaRPr b="0" lang="pt-BR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4.º nível de tópicos</a:t>
            </a:r>
            <a:endParaRPr b="0" lang="pt-BR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5.º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6.º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7.º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aixaDeTexto 3"/>
          <p:cNvSpPr/>
          <p:nvPr/>
        </p:nvSpPr>
        <p:spPr>
          <a:xfrm>
            <a:off x="2793960" y="2455560"/>
            <a:ext cx="703008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Título: Simulação de Evacuação de Edifício em Incêndio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CaixaDeTexto 5"/>
          <p:cNvSpPr/>
          <p:nvPr/>
        </p:nvSpPr>
        <p:spPr>
          <a:xfrm>
            <a:off x="2086560" y="864360"/>
            <a:ext cx="7737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spcBef>
                <a:spcPts val="1650"/>
              </a:spcBef>
              <a:spcAft>
                <a:spcPts val="825"/>
              </a:spcAft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  <a:ea typeface="Calibri"/>
              </a:rPr>
              <a:t>MÓDULO V - SEMINÁRIO DE APRESENTAÇÃO DOS RESULTADOS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CaixaDeTexto 6"/>
          <p:cNvSpPr/>
          <p:nvPr/>
        </p:nvSpPr>
        <p:spPr>
          <a:xfrm>
            <a:off x="7630560" y="3993840"/>
            <a:ext cx="349164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Autores: Pedro Rafael • Leonardo Dal’Olmo • Marlon Moser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CaixaDeTexto 7"/>
          <p:cNvSpPr/>
          <p:nvPr/>
        </p:nvSpPr>
        <p:spPr>
          <a:xfrm>
            <a:off x="4719240" y="5993640"/>
            <a:ext cx="260784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Junho de 2026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ixaDeTexto 1"/>
          <p:cNvSpPr/>
          <p:nvPr/>
        </p:nvSpPr>
        <p:spPr>
          <a:xfrm>
            <a:off x="2528640" y="905040"/>
            <a:ext cx="589608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Estrutura da Apresentação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" name="Tabela 2"/>
          <p:cNvGraphicFramePr/>
          <p:nvPr/>
        </p:nvGraphicFramePr>
        <p:xfrm>
          <a:off x="1259640" y="1447920"/>
          <a:ext cx="9376200" cy="4369680"/>
        </p:xfrm>
        <a:graphic>
          <a:graphicData uri="http://schemas.openxmlformats.org/drawingml/2006/table">
            <a:tbl>
              <a:tblPr/>
              <a:tblGrid>
                <a:gridCol w="858240"/>
                <a:gridCol w="2211120"/>
                <a:gridCol w="6307200"/>
              </a:tblGrid>
              <a:tr h="299880">
                <a:tc>
                  <a:txBody>
                    <a:bodyPr lIns="74880" rIns="748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500" strike="noStrike" u="non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Etapa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 lIns="74880" rIns="748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500" strike="noStrike" u="non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Nome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 lIns="74880" rIns="748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500" strike="noStrike" u="non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Descrição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</a:tr>
              <a:tr h="749880">
                <a:tc>
                  <a:txBody>
                    <a:bodyPr lIns="74880" rIns="748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5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rIns="748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pt-BR" sz="15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Sistema de Referência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rIns="748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pt-BR" sz="15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Define o problema real a ser estudado (ex: evacuação de um prédio).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49880">
                <a:tc>
                  <a:txBody>
                    <a:bodyPr lIns="74880" rIns="748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5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rIns="748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pt-BR" sz="15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Modelagem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rIns="748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pt-BR" sz="15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Representação simplificada do sistema real (regras, agentes, ambiente).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49880">
                <a:tc>
                  <a:txBody>
                    <a:bodyPr lIns="74880" rIns="748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5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3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rIns="748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pt-BR" sz="15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Formalismo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rIns="748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pt-BR" sz="15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Tradução do modelo para linguagem formal/matemática ou lógica.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49880">
                <a:tc>
                  <a:txBody>
                    <a:bodyPr lIns="74880" rIns="748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5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4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rIns="748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pt-BR" sz="15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Computador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rIns="748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pt-BR" sz="15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Implementação do modelo em código (programação da simulação).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24880">
                <a:tc>
                  <a:txBody>
                    <a:bodyPr lIns="74880" rIns="748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5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5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rIns="748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pt-BR" sz="15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Execução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rIns="748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pt-BR" sz="15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Rodar a simulação com diferentes parâmetros e cenários.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24880">
                <a:tc>
                  <a:txBody>
                    <a:bodyPr lIns="74880" rIns="748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5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6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rIns="748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pt-BR" sz="15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Observação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rIns="748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pt-BR" sz="15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Análise dos resultados obtidos (gráficos, métricas, conclusões).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aixaDeTexto 1"/>
          <p:cNvSpPr/>
          <p:nvPr/>
        </p:nvSpPr>
        <p:spPr>
          <a:xfrm>
            <a:off x="2480400" y="2957760"/>
            <a:ext cx="723060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pt-BR" sz="44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1. Sistema de Referência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" name="Tabela 5"/>
          <p:cNvGraphicFramePr/>
          <p:nvPr/>
        </p:nvGraphicFramePr>
        <p:xfrm>
          <a:off x="354960" y="671040"/>
          <a:ext cx="11557800" cy="478080"/>
        </p:xfrm>
        <a:graphic>
          <a:graphicData uri="http://schemas.openxmlformats.org/drawingml/2006/table">
            <a:tbl>
              <a:tblPr/>
              <a:tblGrid>
                <a:gridCol w="2743200"/>
                <a:gridCol w="8814960"/>
              </a:tblGrid>
              <a:tr h="478440"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200" strike="noStrike" u="non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Dimensão do Sistema de Referência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200" strike="noStrike" u="non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Caracterização necessária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6" name="Tabela 1"/>
          <p:cNvGraphicFramePr/>
          <p:nvPr/>
        </p:nvGraphicFramePr>
        <p:xfrm>
          <a:off x="358920" y="1536840"/>
          <a:ext cx="11557800" cy="478080"/>
        </p:xfrm>
        <a:graphic>
          <a:graphicData uri="http://schemas.openxmlformats.org/drawingml/2006/table">
            <a:tbl>
              <a:tblPr/>
              <a:tblGrid>
                <a:gridCol w="2743200"/>
                <a:gridCol w="8814960"/>
              </a:tblGrid>
              <a:tr h="478440"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ptos"/>
                        </a:rPr>
                        <a:t>Edifício Residencial Vertical</a:t>
                      </a:r>
                      <a:endParaRPr b="1" lang="pt-BR" sz="1200" strike="noStrike" u="none">
                        <a:solidFill>
                          <a:srgbClr val="2a6099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rial"/>
                        </a:rPr>
                        <a:t>Edifício com 30 andares e aproximadamente 120 m de altura. Não são representadas diferenças arquitetônicas entre andares ou variações construtivas específicas. 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ela 3"/>
          <p:cNvGraphicFramePr/>
          <p:nvPr/>
        </p:nvGraphicFramePr>
        <p:xfrm>
          <a:off x="359280" y="2257200"/>
          <a:ext cx="11557800" cy="478080"/>
        </p:xfrm>
        <a:graphic>
          <a:graphicData uri="http://schemas.openxmlformats.org/drawingml/2006/table">
            <a:tbl>
              <a:tblPr/>
              <a:tblGrid>
                <a:gridCol w="2743200"/>
                <a:gridCol w="8814960"/>
              </a:tblGrid>
              <a:tr h="478440"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ptos"/>
                        </a:rPr>
                        <a:t>Pavimentos</a:t>
                      </a:r>
                      <a:endParaRPr b="1" lang="pt-BR" sz="1200" strike="noStrike" u="none">
                        <a:solidFill>
                          <a:srgbClr val="2a6099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rial"/>
                        </a:rPr>
                        <a:t>Edifício com 30 andares e aproximadamente 120 m de altura. Não são representadas diferenças arquitetônicas entre andares ou variações construtivas específicas. 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ela 4"/>
          <p:cNvGraphicFramePr/>
          <p:nvPr/>
        </p:nvGraphicFramePr>
        <p:xfrm>
          <a:off x="359640" y="2977560"/>
          <a:ext cx="11557800" cy="478080"/>
        </p:xfrm>
        <a:graphic>
          <a:graphicData uri="http://schemas.openxmlformats.org/drawingml/2006/table">
            <a:tbl>
              <a:tblPr/>
              <a:tblGrid>
                <a:gridCol w="2743200"/>
                <a:gridCol w="8814960"/>
              </a:tblGrid>
              <a:tr h="478440"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 defTabSz="914400"/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ptos"/>
                        </a:rPr>
                        <a:t>Representação espacial 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rial"/>
                        </a:rPr>
                        <a:t>Grade discreta de 20 × 20 células, com equivalência aproximada de 1 célula = 1 m².  Geometria contínua e detalhes milimétricos não são considerados. 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ela 6"/>
          <p:cNvGraphicFramePr/>
          <p:nvPr/>
        </p:nvGraphicFramePr>
        <p:xfrm>
          <a:off x="360000" y="3697920"/>
          <a:ext cx="11557800" cy="478080"/>
        </p:xfrm>
        <a:graphic>
          <a:graphicData uri="http://schemas.openxmlformats.org/drawingml/2006/table">
            <a:tbl>
              <a:tblPr/>
              <a:tblGrid>
                <a:gridCol w="2743200"/>
                <a:gridCol w="8814960"/>
              </a:tblGrid>
              <a:tr h="478440"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 defTabSz="914400"/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ptos"/>
                        </a:rPr>
                        <a:t>Estrutura Interna 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rial"/>
                        </a:rPr>
                        <a:t>Apartamentos, corredores, portas, elevadores, paredes e escadas. Mobiliário interno, decoração e obstáculos temporários não são modelados. 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0" name="Tabela 7"/>
          <p:cNvGraphicFramePr/>
          <p:nvPr/>
        </p:nvGraphicFramePr>
        <p:xfrm>
          <a:off x="360360" y="4418280"/>
          <a:ext cx="11557800" cy="478080"/>
        </p:xfrm>
        <a:graphic>
          <a:graphicData uri="http://schemas.openxmlformats.org/drawingml/2006/table">
            <a:tbl>
              <a:tblPr/>
              <a:tblGrid>
                <a:gridCol w="2743200"/>
                <a:gridCol w="8814960"/>
              </a:tblGrid>
              <a:tr h="442440"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 defTabSz="914400"/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ptos"/>
                        </a:rPr>
                        <a:t>Rotas de Evacuação 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rial"/>
                        </a:rPr>
                        <a:t>Escadas de emergência como rota principal; elevadores ficam indisponíveis durante o incêndio. Procedimentos especiais de resgate por elevador não são considerados. 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ela 8"/>
          <p:cNvGraphicFramePr/>
          <p:nvPr/>
        </p:nvGraphicFramePr>
        <p:xfrm>
          <a:off x="360720" y="5138640"/>
          <a:ext cx="11557800" cy="478080"/>
        </p:xfrm>
        <a:graphic>
          <a:graphicData uri="http://schemas.openxmlformats.org/drawingml/2006/table">
            <a:tbl>
              <a:tblPr/>
              <a:tblGrid>
                <a:gridCol w="2743200"/>
                <a:gridCol w="8814960"/>
              </a:tblGrid>
              <a:tr h="442440"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 defTabSz="914400"/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ptos"/>
                        </a:rPr>
                        <a:t>População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rial"/>
                        </a:rPr>
                        <a:t>180 ocupantes distribuídos nos 30 andares. Variações populacionais ao longo do dia não são simuladas. 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ela 9"/>
          <p:cNvGraphicFramePr/>
          <p:nvPr/>
        </p:nvGraphicFramePr>
        <p:xfrm>
          <a:off x="361080" y="5859000"/>
          <a:ext cx="11557800" cy="478080"/>
        </p:xfrm>
        <a:graphic>
          <a:graphicData uri="http://schemas.openxmlformats.org/drawingml/2006/table">
            <a:tbl>
              <a:tblPr/>
              <a:tblGrid>
                <a:gridCol w="2743200"/>
                <a:gridCol w="8814960"/>
              </a:tblGrid>
              <a:tr h="442440"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 defTabSz="914400"/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ptos"/>
                        </a:rPr>
                        <a:t>Perfis de Ocupantes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rial"/>
                        </a:rPr>
                        <a:t>Adultos, crianças, idosos e pessoas com deficiência (PcD), com diferentes velocidades e capacidades de deslocamento. Diferenças psicológicas complexas e condições médicas específicas não são modeladas individualmente. 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Tabela 11"/>
          <p:cNvGraphicFramePr/>
          <p:nvPr/>
        </p:nvGraphicFramePr>
        <p:xfrm>
          <a:off x="358920" y="456840"/>
          <a:ext cx="11557800" cy="478080"/>
        </p:xfrm>
        <a:graphic>
          <a:graphicData uri="http://schemas.openxmlformats.org/drawingml/2006/table">
            <a:tbl>
              <a:tblPr/>
              <a:tblGrid>
                <a:gridCol w="2743200"/>
                <a:gridCol w="8814960"/>
              </a:tblGrid>
              <a:tr h="478440"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ptos"/>
                        </a:rPr>
                        <a:t>Brigadistas</a:t>
                      </a:r>
                      <a:endParaRPr b="1" lang="pt-BR" sz="1200" strike="noStrike" u="none">
                        <a:solidFill>
                          <a:srgbClr val="2a6099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rial"/>
                        </a:rPr>
                        <a:t>Agentes especializados em orientação e auxílio à evacuação. Comunicação por rádio, coordenação externa e atuação de bombeiros reais não são incluídas. 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" name="Tabela 12"/>
          <p:cNvGraphicFramePr/>
          <p:nvPr/>
        </p:nvGraphicFramePr>
        <p:xfrm>
          <a:off x="359280" y="1177200"/>
          <a:ext cx="11557800" cy="478080"/>
        </p:xfrm>
        <a:graphic>
          <a:graphicData uri="http://schemas.openxmlformats.org/drawingml/2006/table">
            <a:tbl>
              <a:tblPr/>
              <a:tblGrid>
                <a:gridCol w="2743200"/>
                <a:gridCol w="8814960"/>
              </a:tblGrid>
              <a:tr h="478440"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ptos"/>
                        </a:rPr>
                        <a:t>Incêndio</a:t>
                      </a:r>
                      <a:endParaRPr b="1" lang="pt-BR" sz="1200" strike="noStrike" u="none">
                        <a:solidFill>
                          <a:srgbClr val="2a6099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rial"/>
                        </a:rPr>
                        <a:t>Ponto de origem variável por andar e célula, com propagação parametrizável. Modelagem termoquímica detalhada e combustão física real não são consideradas. 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Tabela 13"/>
          <p:cNvGraphicFramePr/>
          <p:nvPr/>
        </p:nvGraphicFramePr>
        <p:xfrm>
          <a:off x="359640" y="1897560"/>
          <a:ext cx="11557800" cy="478080"/>
        </p:xfrm>
        <a:graphic>
          <a:graphicData uri="http://schemas.openxmlformats.org/drawingml/2006/table">
            <a:tbl>
              <a:tblPr/>
              <a:tblGrid>
                <a:gridCol w="2743200"/>
                <a:gridCol w="8814960"/>
              </a:tblGrid>
              <a:tr h="478440"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 defTabSz="914400"/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ptos"/>
                        </a:rPr>
                        <a:t>Fumaça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rial"/>
                        </a:rPr>
                        <a:t>Redução da visibilidade, aumento do risco e alteração de rotas. Composição química dos gases e efeitos toxicológicos detalhados são simplificados. 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6" name="Tabela 14"/>
          <p:cNvGraphicFramePr/>
          <p:nvPr/>
        </p:nvGraphicFramePr>
        <p:xfrm>
          <a:off x="360000" y="2617920"/>
          <a:ext cx="11557800" cy="478080"/>
        </p:xfrm>
        <a:graphic>
          <a:graphicData uri="http://schemas.openxmlformats.org/drawingml/2006/table">
            <a:tbl>
              <a:tblPr/>
              <a:tblGrid>
                <a:gridCol w="2743200"/>
                <a:gridCol w="8814960"/>
              </a:tblGrid>
              <a:tr h="478440"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 defTabSz="914400"/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ptos"/>
                        </a:rPr>
                        <a:t>Pânico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rial"/>
                        </a:rPr>
                        <a:t>Influencia decisões, velocidade e comportamento dos ocupantes. Modelos psicológicos avançados e comportamento humano completo não são representados. 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7" name="Tabela 15"/>
          <p:cNvGraphicFramePr/>
          <p:nvPr/>
        </p:nvGraphicFramePr>
        <p:xfrm>
          <a:off x="360360" y="3338280"/>
          <a:ext cx="11557800" cy="478080"/>
        </p:xfrm>
        <a:graphic>
          <a:graphicData uri="http://schemas.openxmlformats.org/drawingml/2006/table">
            <a:tbl>
              <a:tblPr/>
              <a:tblGrid>
                <a:gridCol w="2743200"/>
                <a:gridCol w="8814960"/>
              </a:tblGrid>
              <a:tr h="442440"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 defTabSz="914400"/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ptos"/>
                        </a:rPr>
                        <a:t>Congestionamento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rial"/>
                        </a:rPr>
                        <a:t>Escadas e corredores possuem capacidade limitada, gerando gargalos. Empurrões, quedas e interações físicas complexas não são simulados. 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8" name="Tabela 16"/>
          <p:cNvGraphicFramePr/>
          <p:nvPr/>
        </p:nvGraphicFramePr>
        <p:xfrm>
          <a:off x="360720" y="4058640"/>
          <a:ext cx="11557800" cy="478080"/>
        </p:xfrm>
        <a:graphic>
          <a:graphicData uri="http://schemas.openxmlformats.org/drawingml/2006/table">
            <a:tbl>
              <a:tblPr/>
              <a:tblGrid>
                <a:gridCol w="2743200"/>
                <a:gridCol w="8814960"/>
              </a:tblGrid>
              <a:tr h="442440"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 defTabSz="914400"/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ptos"/>
                        </a:rPr>
                        <a:t>Dano às Pessoas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rial"/>
                        </a:rPr>
                        <a:t>Ocupantes podem ser feridos ou morrer em função da exposição ao fogo e à fumaça. Evolução clínica, resgate hospitalar e atendimento médico não são modelados. 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9" name="Tabela 17"/>
          <p:cNvGraphicFramePr/>
          <p:nvPr/>
        </p:nvGraphicFramePr>
        <p:xfrm>
          <a:off x="361080" y="4779000"/>
          <a:ext cx="11557800" cy="478080"/>
        </p:xfrm>
        <a:graphic>
          <a:graphicData uri="http://schemas.openxmlformats.org/drawingml/2006/table">
            <a:tbl>
              <a:tblPr/>
              <a:tblGrid>
                <a:gridCol w="2743200"/>
                <a:gridCol w="8814960"/>
              </a:tblGrid>
              <a:tr h="442440"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 defTabSz="914400"/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ptos"/>
                        </a:rPr>
                        <a:t>Variabilidade Estocástica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rial"/>
                        </a:rPr>
                        <a:t>Uso de aleatoriedade para origem do fogo, tomada de decisão e comportamento dos agentes. Eventos externos imprevisíveis (explosões secundárias, colapsos estruturais) não são incluídos. 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0" name="Tabela 10"/>
          <p:cNvGraphicFramePr/>
          <p:nvPr/>
        </p:nvGraphicFramePr>
        <p:xfrm>
          <a:off x="361440" y="5499360"/>
          <a:ext cx="11557800" cy="478080"/>
        </p:xfrm>
        <a:graphic>
          <a:graphicData uri="http://schemas.openxmlformats.org/drawingml/2006/table">
            <a:tbl>
              <a:tblPr/>
              <a:tblGrid>
                <a:gridCol w="2743200"/>
                <a:gridCol w="8814960"/>
              </a:tblGrid>
              <a:tr h="442440"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 defTabSz="914400"/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ptos"/>
                        </a:rPr>
                        <a:t>Resultados Coletados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/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rial"/>
                        </a:rPr>
                        <a:t>Tempo total de evacuação, número de sobreviventes, feridos, vítimas e métricas por cenário. Impactos econômicos, danos materiais e consequências pós-incêndio não são analisados. 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ela 18"/>
          <p:cNvGraphicFramePr/>
          <p:nvPr/>
        </p:nvGraphicFramePr>
        <p:xfrm>
          <a:off x="361800" y="6219720"/>
          <a:ext cx="11557800" cy="478080"/>
        </p:xfrm>
        <a:graphic>
          <a:graphicData uri="http://schemas.openxmlformats.org/drawingml/2006/table">
            <a:tbl>
              <a:tblPr/>
              <a:tblGrid>
                <a:gridCol w="2743200"/>
                <a:gridCol w="8814960"/>
              </a:tblGrid>
              <a:tr h="442440"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 defTabSz="914400"/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ptos"/>
                        </a:rPr>
                        <a:t>Análise Estatística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 lIns="48600" rIns="48600" tIns="24120" bIns="24120" anchor="ctr">
                      <a:noAutofit/>
                    </a:bodyPr>
                    <a:p>
                      <a:pPr algn="ctr"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1" lang="pt-BR" sz="1200" strike="noStrike" u="none">
                          <a:solidFill>
                            <a:srgbClr val="2a6099"/>
                          </a:solidFill>
                          <a:effectLst/>
                          <a:uFillTx/>
                          <a:latin typeface="Arial"/>
                        </a:rPr>
                        <a:t>Execução em lote com múltiplas simulações e geração de gráficos comparativos. Validação com dados reais de incêndios históricos não é realizada. </a:t>
                      </a:r>
                      <a:endParaRPr b="0" lang="pt-B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8600" marR="48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aixaDeTexto 1"/>
          <p:cNvSpPr/>
          <p:nvPr/>
        </p:nvSpPr>
        <p:spPr>
          <a:xfrm>
            <a:off x="2480400" y="2957760"/>
            <a:ext cx="723060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pt-BR" sz="44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2. Modelagem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3" name="Tabela 19"/>
          <p:cNvGraphicFramePr/>
          <p:nvPr/>
        </p:nvGraphicFramePr>
        <p:xfrm>
          <a:off x="176040" y="611280"/>
          <a:ext cx="11838240" cy="4750200"/>
        </p:xfrm>
        <a:graphic>
          <a:graphicData uri="http://schemas.openxmlformats.org/drawingml/2006/table">
            <a:tbl>
              <a:tblPr/>
              <a:tblGrid>
                <a:gridCol w="1673640"/>
                <a:gridCol w="2171520"/>
                <a:gridCol w="1968120"/>
                <a:gridCol w="1998360"/>
                <a:gridCol w="2058840"/>
                <a:gridCol w="1968120"/>
              </a:tblGrid>
              <a:tr h="207000">
                <a:tc>
                  <a:txBody>
                    <a:bodyPr lIns="7560" rIns="7560" tIns="756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0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PARÂMETROS / ARTIGOS</a:t>
                      </a:r>
                      <a:endParaRPr b="0" lang="pt-BR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solidFill>
                      <a:schemeClr val="dk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0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Trabalho Correlato 1</a:t>
                      </a:r>
                      <a:endParaRPr b="0" lang="pt-BR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solidFill>
                      <a:schemeClr val="dk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0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Trabalho Correlato 2</a:t>
                      </a:r>
                      <a:endParaRPr b="0" lang="pt-BR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solidFill>
                      <a:schemeClr val="dk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0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Trabalho Correlato 3</a:t>
                      </a:r>
                      <a:endParaRPr b="0" lang="pt-BR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solidFill>
                      <a:schemeClr val="dk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0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Trabalho Correlato 4</a:t>
                      </a:r>
                      <a:endParaRPr b="0" lang="pt-BR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solidFill>
                      <a:schemeClr val="dk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0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Trabalho Correlato 5</a:t>
                      </a:r>
                      <a:endParaRPr b="0" lang="pt-BR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solidFill>
                      <a:schemeClr val="dk2">
                        <a:lumMod val="25000"/>
                        <a:lumOff val="75000"/>
                      </a:schemeClr>
                    </a:solidFill>
                  </a:tcPr>
                </a:tc>
              </a:tr>
              <a:tr h="655920">
                <a:tc>
                  <a:txBody>
                    <a:bodyPr lIns="7560" rIns="7560" tIns="756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05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Identificação do artigo</a:t>
                      </a:r>
                      <a:endParaRPr b="0" lang="pt-BR" sz="105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Agent-based evacuation model incorporating fire scene and building geometry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A probabilistic occupant evacuation model for fire emergencies using Monte Carlo methods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An Integrated Method for Fire Risk Assessment in Residential Buildings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An agent-based simulator for indoor crowd evacuation considering fire impacts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A building information modeling-based fire emergency evacuation simulation system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</a:tr>
              <a:tr h="621720">
                <a:tc>
                  <a:txBody>
                    <a:bodyPr lIns="7560" rIns="7560" tIns="756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05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Problema de pesquisa</a:t>
                      </a:r>
                      <a:endParaRPr b="0" lang="pt-BR" sz="105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Integrar agentes, fogo e geometria do edifício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Representar incertezas no comportamento humano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Avaliar quantitativamente o risco em edifícios residenciais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Modelar impactos do fogo no comportamento dos evacuados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Melhorar evacuação com BIM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</a:tr>
              <a:tr h="621720">
                <a:tc>
                  <a:txBody>
                    <a:bodyPr lIns="7560" rIns="7560" tIns="756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05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Critérios de análise</a:t>
                      </a:r>
                      <a:endParaRPr b="0" lang="pt-BR" sz="105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Tempo de evacuação, interação agente-ambiente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Distribuições probabilísticas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Probabilidade e severidade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Velocidade, saúde e decisão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Tempo de evacuação e otimização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</a:tr>
              <a:tr h="621720">
                <a:tc>
                  <a:txBody>
                    <a:bodyPr lIns="7560" rIns="7560" tIns="756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05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Objeto empírico</a:t>
                      </a:r>
                      <a:endParaRPr b="0" lang="pt-BR" sz="105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Edifícios com modelagem geométrica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Simulações computacionais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Edifícios residenciais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Ambientes internos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Infraestruturas complexas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</a:tr>
              <a:tr h="621720">
                <a:tc>
                  <a:txBody>
                    <a:bodyPr lIns="7560" rIns="7560" tIns="756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05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Conceitos principais</a:t>
                      </a:r>
                      <a:endParaRPr b="0" lang="pt-BR" sz="105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ABM, FDS, geometria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Monte Carlo, evacuação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Análise de risco, lógica fuzzy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Comportamento humano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BIM, FDS, otimização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</a:tr>
              <a:tr h="621720">
                <a:tc>
                  <a:txBody>
                    <a:bodyPr lIns="7560" rIns="7560" tIns="756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05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Definições adotadas</a:t>
                      </a:r>
                      <a:endParaRPr b="0" lang="pt-BR" sz="105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Evacuação como interação entre agentes e ambiente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Processo probabilístico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Risco = probabilidade × severidade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Processo dinâmico influenciado pelo fogo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Integração BIM-simulação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</a:tr>
              <a:tr h="621720">
                <a:tc>
                  <a:txBody>
                    <a:bodyPr lIns="7560" rIns="7560" tIns="756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05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Hipóteses e pressupostos</a:t>
                      </a:r>
                      <a:endParaRPr b="0" lang="pt-BR" sz="105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Decisões baseadas em percepção local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Comportamento representável por distribuições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Risco quantificável matematicamente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Calor e fumaça alteram comportamento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Integração de dados melhora evacuação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4" name="Tabela 20"/>
          <p:cNvGraphicFramePr/>
          <p:nvPr/>
        </p:nvGraphicFramePr>
        <p:xfrm>
          <a:off x="176040" y="611280"/>
          <a:ext cx="11838240" cy="4750200"/>
        </p:xfrm>
        <a:graphic>
          <a:graphicData uri="http://schemas.openxmlformats.org/drawingml/2006/table">
            <a:tbl>
              <a:tblPr/>
              <a:tblGrid>
                <a:gridCol w="1673640"/>
                <a:gridCol w="2171520"/>
                <a:gridCol w="1968120"/>
                <a:gridCol w="1998360"/>
                <a:gridCol w="2058840"/>
                <a:gridCol w="1968120"/>
              </a:tblGrid>
              <a:tr h="207000">
                <a:tc>
                  <a:txBody>
                    <a:bodyPr lIns="7560" rIns="7560" tIns="756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0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PARÂMETROS / ARTIGOS</a:t>
                      </a:r>
                      <a:endParaRPr b="0" lang="pt-BR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solidFill>
                      <a:schemeClr val="dk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0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Trabalho Correlato 6</a:t>
                      </a:r>
                      <a:endParaRPr b="0" lang="pt-BR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solidFill>
                      <a:schemeClr val="dk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0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Trabalho Correlato 7</a:t>
                      </a:r>
                      <a:endParaRPr b="0" lang="pt-BR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solidFill>
                      <a:schemeClr val="dk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0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Trabalho Correlato 8</a:t>
                      </a:r>
                      <a:endParaRPr b="0" lang="pt-BR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solidFill>
                      <a:schemeClr val="dk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0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Trabalho Correlato 9</a:t>
                      </a:r>
                      <a:endParaRPr b="0" lang="pt-BR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solidFill>
                      <a:schemeClr val="dk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00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Trabalho Correlato 10</a:t>
                      </a:r>
                      <a:endParaRPr b="0" lang="pt-BR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solidFill>
                      <a:schemeClr val="dk2">
                        <a:lumMod val="25000"/>
                        <a:lumOff val="75000"/>
                      </a:schemeClr>
                    </a:solidFill>
                  </a:tcPr>
                </a:tc>
              </a:tr>
              <a:tr h="655920">
                <a:tc>
                  <a:txBody>
                    <a:bodyPr lIns="7560" rIns="7560" tIns="756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05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Identificação do artigo</a:t>
                      </a:r>
                      <a:endParaRPr b="0" lang="pt-BR" sz="105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Fire risk analysis of residential buildings based on scenario clusters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Optimal route selection model for fire evacuations based on hazard prediction data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Review of the Use of Fire Dynamics Theory in Fire Service Activities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Numerical study of smoke movement and evacuation behavior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Modeling human behavior and panic during fire evacuation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</a:tr>
              <a:tr h="621720">
                <a:tc>
                  <a:txBody>
                    <a:bodyPr lIns="7560" rIns="7560" tIns="756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05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Problema de pesquisa</a:t>
                      </a:r>
                      <a:endParaRPr b="0" lang="pt-BR" sz="105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Analisar cenários de risco residencial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Definir rotas seguras dinamicamente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Aplicar teoria da dinâmica do fogo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Compreender efeito da fumaça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Modelar pânico e tomada de decisão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</a:tr>
              <a:tr h="621720">
                <a:tc>
                  <a:txBody>
                    <a:bodyPr lIns="7560" rIns="7560" tIns="756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05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Critérios de análise</a:t>
                      </a:r>
                      <a:endParaRPr b="0" lang="pt-BR" sz="105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Probabilidade de incêndio e perdas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Exposição à fumaça e segurança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Uso em prevenção e operação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Compreender efeito da fumaça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Visibilidade e toxicidade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</a:tr>
              <a:tr h="621720">
                <a:tc>
                  <a:txBody>
                    <a:bodyPr lIns="7560" rIns="7560" tIns="756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05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Objeto empírico</a:t>
                      </a:r>
                      <a:endParaRPr b="0" lang="pt-BR" sz="105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Edifícios residenciais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Modelos computacionais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Literatura e entrevistas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Modelos numéricos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Modelos comportamentais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</a:tr>
              <a:tr h="621720">
                <a:tc>
                  <a:txBody>
                    <a:bodyPr lIns="7560" rIns="7560" tIns="756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05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Conceitos principais</a:t>
                      </a:r>
                      <a:endParaRPr b="0" lang="pt-BR" sz="105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Gestão de risco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Algoritmo A*, previsão de risco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Dinâmica do fogo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Propagação de fumaça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Psicologia de emergências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</a:tr>
              <a:tr h="621720">
                <a:tc>
                  <a:txBody>
                    <a:bodyPr lIns="7560" rIns="7560" tIns="756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05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Definições adotadas</a:t>
                      </a:r>
                      <a:endParaRPr b="0" lang="pt-BR" sz="105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Análise por cenários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Rota ótima = mais segura e rápida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Teoria do fogo para decisões operacionais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Fumaça afeta deslocamento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Pânico altera decisões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</a:tr>
              <a:tr h="621720">
                <a:tc>
                  <a:txBody>
                    <a:bodyPr lIns="7560" rIns="7560" tIns="756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pt-BR" sz="1050" strike="noStrike" u="non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Hipóteses e pressupostos</a:t>
                      </a:r>
                      <a:endParaRPr b="0" lang="pt-BR" sz="105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Cenários auxiliam gestão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Previsão de risco melhora rotas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Maior uso da teoria melhora atuação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Visibilidade reduz eficiência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60" rIns="7560" tIns="7560" bIns="0" anchor="ctr">
                      <a:noAutofit/>
                    </a:bodyPr>
                    <a:p>
                      <a:pPr algn="ctr"/>
                      <a:r>
                        <a:rPr b="0" lang="pt-BR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Microsoft YaHei"/>
                        </a:rPr>
                        <a:t>Pânico pode aumentar congestionamentos</a:t>
                      </a:r>
                      <a:endParaRPr b="0" lang="pt-BR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60" marR="7560">
                    <a:lnL w="12240">
                      <a:solidFill>
                        <a:srgbClr val="156082"/>
                      </a:solidFill>
                      <a:prstDash val="solid"/>
                    </a:lnL>
                    <a:lnR w="12240">
                      <a:solidFill>
                        <a:srgbClr val="156082"/>
                      </a:solidFill>
                      <a:prstDash val="solid"/>
                    </a:lnR>
                    <a:lnT w="12240">
                      <a:solidFill>
                        <a:srgbClr val="156082"/>
                      </a:solidFill>
                      <a:prstDash val="solid"/>
                    </a:lnT>
                    <a:lnB w="12240">
                      <a:solidFill>
                        <a:srgbClr val="156082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" descr=""/>
          <p:cNvPicPr/>
          <p:nvPr/>
        </p:nvPicPr>
        <p:blipFill>
          <a:blip r:embed="rId1"/>
          <a:stretch/>
        </p:blipFill>
        <p:spPr>
          <a:xfrm>
            <a:off x="-330120" y="23760"/>
            <a:ext cx="1218492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itulo"/>
          <p:cNvSpPr/>
          <p:nvPr/>
        </p:nvSpPr>
        <p:spPr>
          <a:xfrm>
            <a:off x="457200" y="274680"/>
            <a:ext cx="112770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pt-BR" sz="2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2. Modelagem (Protocolo ODD)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Col3"/>
          <p:cNvSpPr/>
          <p:nvPr/>
        </p:nvSpPr>
        <p:spPr>
          <a:xfrm>
            <a:off x="457200" y="1000080"/>
            <a:ext cx="5485680" cy="331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Overview — Propósito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Simular evacuação emergencial e identificar gargalos, fatores de risco e impacto dos perfis de ocupantes.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Entidades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OcupanteAgente (Adulto, Idoso, PcD) • BrigadistaAgente • Células de fogo e fumaça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Design Concepts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Emergência: congestionamentos surgem da competição por células de escada. Adaptação: agentes desviam de chamas e ajustam rotas quando bloqueados.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Estocasticidade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Seed aleatório controla posição inicial, propagação do fogo e nível de pânico, garantindo reprodutibilidade.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Col4"/>
          <p:cNvSpPr/>
          <p:nvPr/>
        </p:nvSpPr>
        <p:spPr>
          <a:xfrm>
            <a:off x="6248520" y="1000080"/>
            <a:ext cx="5485680" cy="296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Escala Espacial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Célula (≈0,5 m²) → Andar (20×20) → Edifício (30 andares)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Interações entre Agentes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Conflito de célula entre ocupantes • Redução de pânico por brigadistas próximos • Fila nas escadas (capacidade máx. por step)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Observação via Mesa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DataCollector registra métricas a cada step: evacuados, mortos, feridos, pânico médio, células em chamas.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Inicialização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 ocupantes distribuídos aleatoriamente pelos andares 1–29. Fogo inicia no andar e célula configurados.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CaixaDeTexto 1"/>
          <p:cNvSpPr/>
          <p:nvPr/>
        </p:nvSpPr>
        <p:spPr>
          <a:xfrm>
            <a:off x="2480400" y="2957760"/>
            <a:ext cx="723060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pt-BR" sz="44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 Formalismo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ulo"/>
          <p:cNvSpPr/>
          <p:nvPr/>
        </p:nvSpPr>
        <p:spPr>
          <a:xfrm>
            <a:off x="457200" y="274680"/>
            <a:ext cx="112770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pt-BR" sz="2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3. Formalismo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Col3"/>
          <p:cNvSpPr/>
          <p:nvPr/>
        </p:nvSpPr>
        <p:spPr>
          <a:xfrm>
            <a:off x="457200" y="1000080"/>
            <a:ext cx="5485680" cy="29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Propagação do Fogo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Autômato Celular com vizinhança de Von Neumann (4 direções). Probabilidade de ignição configurável (padrão: 15%/step). Intensidade cresce progressivamente.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Movimentação dos Agentes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Sistema reativo com heurística gulosa: o agente move para o vizinho mais próximo ao alvo (escada ou saída), desviando de células intransitáveis.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Nível de Pânico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Variável contínua [0,1]. Incremento proporcional à proximidade do fogo/fumaça. Decremento por brigadista próximo. Acima de 0,7: movimento semi-aleatório.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Col4"/>
          <p:cNvSpPr/>
          <p:nvPr/>
        </p:nvSpPr>
        <p:spPr>
          <a:xfrm>
            <a:off x="6248520" y="1000080"/>
            <a:ext cx="5485680" cy="331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Fluxo nas Escadas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Fila com capacidade máxima por step: agente aguarda se escada está lotada, modelando gargalos reais.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Ciclo de Vida do Agente (FSM)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NORMAL → FUGA → EVACUADO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        ⇘ FERIDO → MORTO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Transições baseadas em saúde e posição.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Parâmetros de Dano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Fogo: −0,40 saúde/step • Fumaça: −0,08 saúde/step • Ferido: sa&amp;uacute;de &lt; 0,3 • Morto: saúde = 0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Framework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Python Mesa (Agent-Based Modeling) com RandomActivation scheduler e DataCollector integrado.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CaixaDeTexto 1"/>
          <p:cNvSpPr/>
          <p:nvPr/>
        </p:nvSpPr>
        <p:spPr>
          <a:xfrm>
            <a:off x="2480400" y="2957760"/>
            <a:ext cx="723060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pt-BR" sz="44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4. Computador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itulo"/>
          <p:cNvSpPr/>
          <p:nvPr/>
        </p:nvSpPr>
        <p:spPr>
          <a:xfrm>
            <a:off x="457200" y="274680"/>
            <a:ext cx="112770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pt-BR" sz="2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4. Computador — Implementação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Col3"/>
          <p:cNvSpPr/>
          <p:nvPr/>
        </p:nvSpPr>
        <p:spPr>
          <a:xfrm>
            <a:off x="457200" y="1000080"/>
            <a:ext cx="5485680" cy="349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Linguagem e Framework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Python 3.11+ com framework Mesa para simulação baseada em agentes. Numpy para grades de andares. Matplotlib e Seaborn para visualizações.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ModeloEvacuacao (mesa.Model)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Orquestra a simulação: schedule (RandomActivation), datacollector, grades dos andares e ModeloFogo (autômato celular).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OcupanteAgente (mesa.Agent)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Atributos: estado (FSM), pânico [0,1], saúde [0,1], perfil (ADULTO/IDOSO/PCD). Métodos: _atualizar_panico, _aplicar_dano, _mover.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BrigadistaAgente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Velocidade 1,5× adulto. Patrulha andares e move em direção ao ocupante com maior pânico no raio de influência (5 células).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Col4"/>
          <p:cNvSpPr/>
          <p:nvPr/>
        </p:nvSpPr>
        <p:spPr>
          <a:xfrm>
            <a:off x="6248520" y="1000080"/>
            <a:ext cx="5485680" cy="273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Ciclo do step() do Modelo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1. Reset contadores de escada • 2. Rebuild mapa de ocupação • 3. ModeloFogo.step() • 4. schedule.step() • 5. Atualiza grid de agentes • 6. DataCollector.collect() • 7. Verifica fim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Estrutura de Arquivos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simulacao/ (config, edificio, agentes, fogo, modelo) • analise/ (experimentos, visualizações) • run_simulation.py (CLI) • gerar_graficos.py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Interface de Linha de Comando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--ocupantes N • --andar-foco A • --taxa-fogo T • --brigadistas B • --seed S • --rodadas R • --sensibilidade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CaixaDeTexto 1"/>
          <p:cNvSpPr/>
          <p:nvPr/>
        </p:nvSpPr>
        <p:spPr>
          <a:xfrm>
            <a:off x="2480400" y="2957760"/>
            <a:ext cx="723060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pt-BR" sz="44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5. Execução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itulo"/>
          <p:cNvSpPr/>
          <p:nvPr/>
        </p:nvSpPr>
        <p:spPr>
          <a:xfrm>
            <a:off x="457200" y="274680"/>
            <a:ext cx="112770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pt-BR" sz="2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5. Execução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Col3"/>
          <p:cNvSpPr/>
          <p:nvPr/>
        </p:nvSpPr>
        <p:spPr>
          <a:xfrm>
            <a:off x="457200" y="1000080"/>
            <a:ext cx="5485680" cy="25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Rodada Única (Configuração Padrão)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300 ocupantes • 10 brigadistas • Foco no andar 10 • Taxa de fogo 0,15 • Seed 42 • Capacidade escada: 5 ag./step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Experimento Estatístico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30 rodadas independentes com seeds distintos (--rodadas 30). Gera resumo_rodadas.csv com métricas finais de cada rodada.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Análise de Sensibilidade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Variação automática de 2 parâmetros: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Taxa de propagação do fogo: 0,05 • 0,10 • 0,15 • 0,20 • 0,30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Capacidade da escada: 2 • 5 • 8 • 12 ag./step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Col4"/>
          <p:cNvSpPr/>
          <p:nvPr/>
        </p:nvSpPr>
        <p:spPr>
          <a:xfrm>
            <a:off x="6248520" y="1000080"/>
            <a:ext cx="5485680" cy="31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Reprodutibilidade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Seed aleatório garante que toda rodada seja reproduzível. Seed padrão = 42.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Coleta de Dados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DataCollector do Mesa registra a cada step: evacuados, mortos, feridos, pânico médio, células em chamas.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Saídas Geradas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rodada_seedN.csv (série temporal) • resumo_rodadas.csv • sensibilidade.csv • Gráficos PNG em resultados/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Limite de Execução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Máximo de 3.000 steps por rodada. Simulação encerra quando todos os agentes são evacuados ou incapacitados.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CaixaDeTexto 1"/>
          <p:cNvSpPr/>
          <p:nvPr/>
        </p:nvSpPr>
        <p:spPr>
          <a:xfrm>
            <a:off x="2480400" y="2957760"/>
            <a:ext cx="723060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pt-BR" sz="44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6. Observação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itulo"/>
          <p:cNvSpPr/>
          <p:nvPr/>
        </p:nvSpPr>
        <p:spPr>
          <a:xfrm>
            <a:off x="457200" y="274680"/>
            <a:ext cx="11277000" cy="59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pt-BR" sz="2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6. Observação e Retroalimentação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Col3"/>
          <p:cNvSpPr/>
          <p:nvPr/>
        </p:nvSpPr>
        <p:spPr>
          <a:xfrm>
            <a:off x="457200" y="1000080"/>
            <a:ext cx="5485680" cy="539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Métricas Coletadas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Taxa de evacuação (evacuados/total) • Tempo médio de evacuação (steps) • Número de vítimas (mortos + feridos) • Pânico médio • Células em chamas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Visualizações Geradas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Série temporal de evacuados, mortos, feridos, fogo e pânico por step • Mapa de calor de densidade no térreo e andar do foco • Heatmap de sensibilidade (taxa de evacuação × parâmetros)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Boxplots de Distribuição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Distribuição das métricas nas 30 rodadas, mostrando variância e outliers de cada cenário simulado.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Col4"/>
          <p:cNvSpPr/>
          <p:nvPr/>
        </p:nvSpPr>
        <p:spPr>
          <a:xfrm>
            <a:off x="6248520" y="1000080"/>
            <a:ext cx="5485680" cy="539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Conclusões Esperadas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Identificação de gargalos nas escadas • Impacto do perfil PcD no tempo de evacuação • Efeito dos brigadistas na redução de vítimas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Retroalimentação ao Modelo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Resultados da análise de sensibilidade orientam ajuste dos parâmetros. Taxa de fogo e capacidade de escada são os fatores críticos identificados.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1" lang="pt-BR" sz="18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</a:rPr>
              <a:t>Referências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00"/>
              </a:lnSpc>
            </a:pPr>
            <a:r>
              <a:rPr b="0" lang="pt-BR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ABNT NBR 9077:2001 • Grimm et al. (2010) ODD Protocol • Wilensky &amp; Rand (2015) ABM • Python Mesa framework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CaixaDeTexto 1"/>
          <p:cNvSpPr/>
          <p:nvPr/>
        </p:nvSpPr>
        <p:spPr>
          <a:xfrm>
            <a:off x="2480400" y="2957760"/>
            <a:ext cx="723060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pt-BR" sz="4400" strike="noStrike" u="non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Obrigado! Dúvidas?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</TotalTime>
  <Application>LibreOffice/25.2.7.2$Windows_X86_64 LibreOffice_project/5cbfd1ab6520636bb5f7b99185aa69bd7456825d</Application>
  <AppVersion>15.0000</AppVersion>
  <Words>1419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2026-04-13T15:47:06Z</dcterms:created>
  <dc:creator>Marcos Mattedi</dc:creator>
  <dc:description/>
  <dc:language>pt-BR</dc:language>
  <cp:lastModifiedBy/>
  <dcterms:modified xsi:type="dcterms:W3CDTF">2026-05-12T10:32:31Z</dcterms:modified>
  <cp:revision>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Widescreen</vt:lpwstr>
  </property>
  <property fmtid="{D5CDD505-2E9C-101B-9397-08002B2CF9AE}" pid="4" name="Slides">
    <vt:i4>18</vt:i4>
  </property>
</Properties>
</file>