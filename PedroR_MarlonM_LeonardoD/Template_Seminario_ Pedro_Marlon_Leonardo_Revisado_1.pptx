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1699" r:id="rId7"/>
    <p:sldId id="1698" r:id="rId8"/>
    <p:sldId id="696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DFA4A-A11B-4C1D-B9EE-7781CFA280C4}" v="4" dt="2026-05-04T10:22:43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4D5DB-D8BB-444B-B39A-E4ABAB82DB29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2A9C-B7E8-4047-BB3C-DD8D6A8171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50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/>
          <p:cNvPicPr/>
          <p:nvPr/>
        </p:nvPicPr>
        <p:blipFill>
          <a:blip r:embed="rId3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  Descrição gerada automaticamente"/>
          <p:cNvPicPr/>
          <p:nvPr/>
        </p:nvPicPr>
        <p:blipFill>
          <a:blip r:embed="rId4"/>
          <a:srcRect l="7343" t="15347" r="9311" b="15347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3" name="Imagem 9" descr="Interface gráfica do usuário, Texto  O conteúdo gerado por IA pode estar incorreto."/>
          <p:cNvPicPr/>
          <p:nvPr/>
        </p:nvPicPr>
        <p:blipFill>
          <a:blip r:embed="rId5"/>
          <a:srcRect t="16850" b="41997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3"/>
          <p:cNvSpPr/>
          <p:nvPr/>
        </p:nvSpPr>
        <p:spPr>
          <a:xfrm>
            <a:off x="2793960" y="2455560"/>
            <a:ext cx="70304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Simulação de Evacuação de Edifício em Incêndio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CaixaDeTexto 5"/>
          <p:cNvSpPr/>
          <p:nvPr/>
        </p:nvSpPr>
        <p:spPr>
          <a:xfrm>
            <a:off x="2086560" y="864360"/>
            <a:ext cx="7737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CaixaDeTexto 6"/>
          <p:cNvSpPr/>
          <p:nvPr/>
        </p:nvSpPr>
        <p:spPr>
          <a:xfrm>
            <a:off x="7630560" y="3993840"/>
            <a:ext cx="34920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Pedro Rafael • Leonardo Dal’Olmo • Marlon Moser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CaixaDeTexto 7"/>
          <p:cNvSpPr/>
          <p:nvPr/>
        </p:nvSpPr>
        <p:spPr>
          <a:xfrm>
            <a:off x="4719240" y="5993640"/>
            <a:ext cx="2608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1"/>
          <p:cNvSpPr/>
          <p:nvPr/>
        </p:nvSpPr>
        <p:spPr>
          <a:xfrm>
            <a:off x="2528640" y="905040"/>
            <a:ext cx="5896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" name="Tabela 2"/>
          <p:cNvGraphicFramePr/>
          <p:nvPr/>
        </p:nvGraphicFramePr>
        <p:xfrm>
          <a:off x="1259640" y="1447920"/>
          <a:ext cx="9376560" cy="436932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1. Sistema de Referência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Col3"/>
          <p:cNvSpPr/>
          <p:nvPr/>
        </p:nvSpPr>
        <p:spPr>
          <a:xfrm>
            <a:off x="457200" y="1000080"/>
            <a:ext cx="5486040" cy="23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Problema Real Estudado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Edifício de 30 andares em incêndio — evacuação emergencial de ocupantes com diferentes perfis de mobilidade.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Física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Grade 20×20 células/andar • Escadas nos 4 cantos • Elevadores bloqueados (NBR 9077) • Saídas sinalizadas no térreo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Escala Temporal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Cada step representa ~1 segundo real. Limite máximo: 3.000 steps por rodada.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Col4"/>
          <p:cNvSpPr/>
          <p:nvPr/>
        </p:nvSpPr>
        <p:spPr>
          <a:xfrm>
            <a:off x="6248520" y="1000080"/>
            <a:ext cx="5486040" cy="21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Perfis de Ocupantes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Adulto padrão 70% (vel. 1,0) • Idoso 20% (vel. 0,6) • PcD 10% (vel. 0,4) • Brigadista (vel. 1,5)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Tipos de Célula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Livre • Escada (não inflamavél) • Elevador • Saída • Parede • Fogo • Fumaça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Base Normativa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ABNT NBR 9077:2001 — Saídas de emergência em edifícios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21D71E0-2BC4-18A9-494E-ED6D52FE295C}"/>
              </a:ext>
            </a:extLst>
          </p:cNvPr>
          <p:cNvSpPr txBox="1"/>
          <p:nvPr/>
        </p:nvSpPr>
        <p:spPr>
          <a:xfrm>
            <a:off x="580290" y="3886255"/>
            <a:ext cx="448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tabela de inclusão e exclusão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8EE2F3-C908-AD11-A5D2-5BE14D1D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05" y="4255587"/>
            <a:ext cx="4207849" cy="183655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B776DB9-6340-3D79-CA65-791C3FDC8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343" y="4255587"/>
            <a:ext cx="5333496" cy="1088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59A0B2-CBC4-0DAB-6AEF-35AADF92D325}"/>
              </a:ext>
            </a:extLst>
          </p:cNvPr>
          <p:cNvSpPr txBox="1"/>
          <p:nvPr/>
        </p:nvSpPr>
        <p:spPr>
          <a:xfrm>
            <a:off x="879230" y="940749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Falta o Prisma e a tabela de artigos</a:t>
            </a:r>
          </a:p>
        </p:txBody>
      </p:sp>
    </p:spTree>
    <p:extLst>
      <p:ext uri="{BB962C8B-B14F-4D97-AF65-F5344CB8AC3E}">
        <p14:creationId xmlns:p14="http://schemas.microsoft.com/office/powerpoint/2010/main" val="280361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3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5" y="615043"/>
            <a:ext cx="1630018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>
            <a:off x="8084771" y="1055915"/>
            <a:ext cx="1008584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1779815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1801589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Termos de pesquisa aplicados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(#1 &amp; 2)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220687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496787"/>
            <a:ext cx="0" cy="283028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2960914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2944586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2944586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385458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125685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125685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não atenderam aos critérios de inclusão (#3, 4 e 5)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2661559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3826330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566557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306784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306784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50D97BE-A3BE-DFAB-0BFA-E03C4446064F}"/>
              </a:ext>
            </a:extLst>
          </p:cNvPr>
          <p:cNvSpPr/>
          <p:nvPr/>
        </p:nvSpPr>
        <p:spPr>
          <a:xfrm>
            <a:off x="1459149" y="1439693"/>
            <a:ext cx="10048671" cy="473737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1A92EA1-33DF-B7DC-B14C-259A804F4A1F}"/>
              </a:ext>
            </a:extLst>
          </p:cNvPr>
          <p:cNvCxnSpPr>
            <a:cxnSpLocks/>
          </p:cNvCxnSpPr>
          <p:nvPr/>
        </p:nvCxnSpPr>
        <p:spPr>
          <a:xfrm>
            <a:off x="1459149" y="1984442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7935336-D13B-A17A-08F0-BA63E9B9F054}"/>
              </a:ext>
            </a:extLst>
          </p:cNvPr>
          <p:cNvCxnSpPr>
            <a:cxnSpLocks/>
          </p:cNvCxnSpPr>
          <p:nvPr/>
        </p:nvCxnSpPr>
        <p:spPr>
          <a:xfrm>
            <a:off x="3813242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20DBF4D-828E-04EC-E110-D1EC6A9B321F}"/>
              </a:ext>
            </a:extLst>
          </p:cNvPr>
          <p:cNvCxnSpPr>
            <a:cxnSpLocks/>
          </p:cNvCxnSpPr>
          <p:nvPr/>
        </p:nvCxnSpPr>
        <p:spPr>
          <a:xfrm>
            <a:off x="5290226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D766033-A2C8-C904-42D6-CE214510C88F}"/>
              </a:ext>
            </a:extLst>
          </p:cNvPr>
          <p:cNvCxnSpPr>
            <a:cxnSpLocks/>
          </p:cNvCxnSpPr>
          <p:nvPr/>
        </p:nvCxnSpPr>
        <p:spPr>
          <a:xfrm>
            <a:off x="6711274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8200C69-F475-E7B4-760E-D09784B32564}"/>
              </a:ext>
            </a:extLst>
          </p:cNvPr>
          <p:cNvCxnSpPr>
            <a:cxnSpLocks/>
          </p:cNvCxnSpPr>
          <p:nvPr/>
        </p:nvCxnSpPr>
        <p:spPr>
          <a:xfrm>
            <a:off x="8274185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9356BE1D-8240-3DC3-6438-C43317951797}"/>
              </a:ext>
            </a:extLst>
          </p:cNvPr>
          <p:cNvCxnSpPr>
            <a:cxnSpLocks/>
          </p:cNvCxnSpPr>
          <p:nvPr/>
        </p:nvCxnSpPr>
        <p:spPr>
          <a:xfrm>
            <a:off x="1439691" y="1439693"/>
            <a:ext cx="2383280" cy="5447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15ACE4D-1A14-EEC2-432F-4519977A8D08}"/>
              </a:ext>
            </a:extLst>
          </p:cNvPr>
          <p:cNvCxnSpPr>
            <a:cxnSpLocks/>
          </p:cNvCxnSpPr>
          <p:nvPr/>
        </p:nvCxnSpPr>
        <p:spPr>
          <a:xfrm>
            <a:off x="9834662" y="1439693"/>
            <a:ext cx="0" cy="473737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6E20EDF2-A62A-1F18-AEF9-7482B9A3620A}"/>
              </a:ext>
            </a:extLst>
          </p:cNvPr>
          <p:cNvCxnSpPr>
            <a:cxnSpLocks/>
          </p:cNvCxnSpPr>
          <p:nvPr/>
        </p:nvCxnSpPr>
        <p:spPr>
          <a:xfrm>
            <a:off x="1459149" y="2487038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B3348F7-6597-0EB3-512F-8A3E834C4A85}"/>
              </a:ext>
            </a:extLst>
          </p:cNvPr>
          <p:cNvCxnSpPr>
            <a:cxnSpLocks/>
          </p:cNvCxnSpPr>
          <p:nvPr/>
        </p:nvCxnSpPr>
        <p:spPr>
          <a:xfrm>
            <a:off x="1459149" y="3046379"/>
            <a:ext cx="10058399" cy="22698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31DE727-605E-C112-970F-CFC16578EA84}"/>
              </a:ext>
            </a:extLst>
          </p:cNvPr>
          <p:cNvCxnSpPr>
            <a:cxnSpLocks/>
          </p:cNvCxnSpPr>
          <p:nvPr/>
        </p:nvCxnSpPr>
        <p:spPr>
          <a:xfrm>
            <a:off x="1478601" y="3638145"/>
            <a:ext cx="10068129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1FC4F62-F800-2045-A4D2-C3131C48AD80}"/>
              </a:ext>
            </a:extLst>
          </p:cNvPr>
          <p:cNvCxnSpPr>
            <a:cxnSpLocks/>
          </p:cNvCxnSpPr>
          <p:nvPr/>
        </p:nvCxnSpPr>
        <p:spPr>
          <a:xfrm>
            <a:off x="1468877" y="4276928"/>
            <a:ext cx="1004867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B959348-E38F-249E-2362-2A34C82C3608}"/>
              </a:ext>
            </a:extLst>
          </p:cNvPr>
          <p:cNvCxnSpPr>
            <a:cxnSpLocks/>
          </p:cNvCxnSpPr>
          <p:nvPr/>
        </p:nvCxnSpPr>
        <p:spPr>
          <a:xfrm>
            <a:off x="1468877" y="4896255"/>
            <a:ext cx="10038943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DD5D62-2EFB-8DB0-04C8-05BBF580AF3F}"/>
              </a:ext>
            </a:extLst>
          </p:cNvPr>
          <p:cNvSpPr txBox="1"/>
          <p:nvPr/>
        </p:nvSpPr>
        <p:spPr>
          <a:xfrm>
            <a:off x="3743528" y="1620826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accent1">
                    <a:lumMod val="75000"/>
                  </a:schemeClr>
                </a:solidFill>
              </a:rPr>
              <a:t>Trabalho Correlato 1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0D8A34C-171D-4139-F286-CA80748C147B}"/>
              </a:ext>
            </a:extLst>
          </p:cNvPr>
          <p:cNvSpPr txBox="1"/>
          <p:nvPr/>
        </p:nvSpPr>
        <p:spPr>
          <a:xfrm>
            <a:off x="5239967" y="161109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2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59F99B9-B138-D1A7-670D-B415040336C0}"/>
              </a:ext>
            </a:extLst>
          </p:cNvPr>
          <p:cNvSpPr txBox="1"/>
          <p:nvPr/>
        </p:nvSpPr>
        <p:spPr>
          <a:xfrm>
            <a:off x="6727487" y="1611097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3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3998C8F-BAF5-0DD6-3FD7-AFA79201E892}"/>
              </a:ext>
            </a:extLst>
          </p:cNvPr>
          <p:cNvSpPr txBox="1"/>
          <p:nvPr/>
        </p:nvSpPr>
        <p:spPr>
          <a:xfrm>
            <a:off x="8268506" y="1611096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4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A49F221-76D0-CB07-EE01-5589C8C34ED9}"/>
              </a:ext>
            </a:extLst>
          </p:cNvPr>
          <p:cNvSpPr txBox="1"/>
          <p:nvPr/>
        </p:nvSpPr>
        <p:spPr>
          <a:xfrm>
            <a:off x="9831416" y="1610168"/>
            <a:ext cx="1546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>
                <a:solidFill>
                  <a:schemeClr val="accent1">
                    <a:lumMod val="75000"/>
                  </a:schemeClr>
                </a:solidFill>
              </a:rPr>
              <a:t>Trabalho Correlato n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FC8479E-A8C1-98A1-EF2A-F066D92D8B8A}"/>
              </a:ext>
            </a:extLst>
          </p:cNvPr>
          <p:cNvCxnSpPr>
            <a:cxnSpLocks/>
          </p:cNvCxnSpPr>
          <p:nvPr/>
        </p:nvCxnSpPr>
        <p:spPr>
          <a:xfrm>
            <a:off x="1491168" y="5505855"/>
            <a:ext cx="100263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C2E8CE33-DCE7-B05F-A08B-1302C9906B63}"/>
              </a:ext>
            </a:extLst>
          </p:cNvPr>
          <p:cNvSpPr txBox="1"/>
          <p:nvPr/>
        </p:nvSpPr>
        <p:spPr>
          <a:xfrm>
            <a:off x="2387330" y="1482325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ARTIGOS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64F57D04-3D07-5D19-A63C-67C7976B19B0}"/>
              </a:ext>
            </a:extLst>
          </p:cNvPr>
          <p:cNvSpPr txBox="1"/>
          <p:nvPr/>
        </p:nvSpPr>
        <p:spPr>
          <a:xfrm>
            <a:off x="1328634" y="1658805"/>
            <a:ext cx="1546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PARÂMETROS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BB5DE5D-120D-32F1-B899-3A382B38721F}"/>
              </a:ext>
            </a:extLst>
          </p:cNvPr>
          <p:cNvSpPr txBox="1"/>
          <p:nvPr/>
        </p:nvSpPr>
        <p:spPr>
          <a:xfrm>
            <a:off x="1384670" y="2104537"/>
            <a:ext cx="190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Identificação do artigo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6CCD3D3-0DE3-FAD8-06F7-5607CEB6229C}"/>
              </a:ext>
            </a:extLst>
          </p:cNvPr>
          <p:cNvSpPr txBox="1"/>
          <p:nvPr/>
        </p:nvSpPr>
        <p:spPr>
          <a:xfrm>
            <a:off x="1358222" y="2606548"/>
            <a:ext cx="18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Problema de pesquisa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252FE9-8B2A-CDAB-14C5-2F5DE6A604E6}"/>
              </a:ext>
            </a:extLst>
          </p:cNvPr>
          <p:cNvSpPr txBox="1"/>
          <p:nvPr/>
        </p:nvSpPr>
        <p:spPr>
          <a:xfrm>
            <a:off x="1497249" y="3245330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Objeto empírico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ECA3BA9-9896-7C70-2DD9-F47CF7ABB646}"/>
              </a:ext>
            </a:extLst>
          </p:cNvPr>
          <p:cNvSpPr txBox="1"/>
          <p:nvPr/>
        </p:nvSpPr>
        <p:spPr>
          <a:xfrm>
            <a:off x="1497248" y="3810825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Conceitos principais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B1D5208-7C2B-1AA3-642E-851F9C508FBC}"/>
              </a:ext>
            </a:extLst>
          </p:cNvPr>
          <p:cNvSpPr txBox="1"/>
          <p:nvPr/>
        </p:nvSpPr>
        <p:spPr>
          <a:xfrm>
            <a:off x="1485488" y="4425287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Definições adotadas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A532251-488D-712D-88F0-6182095C08AC}"/>
              </a:ext>
            </a:extLst>
          </p:cNvPr>
          <p:cNvSpPr txBox="1"/>
          <p:nvPr/>
        </p:nvSpPr>
        <p:spPr>
          <a:xfrm>
            <a:off x="1475768" y="5062556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1">
                    <a:lumMod val="75000"/>
                  </a:schemeClr>
                </a:solidFill>
              </a:rPr>
              <a:t>Hipóteses e pressupostos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AF039B3-A564-0CFD-FDBD-82B9AA9C3FB8}"/>
              </a:ext>
            </a:extLst>
          </p:cNvPr>
          <p:cNvSpPr txBox="1"/>
          <p:nvPr/>
        </p:nvSpPr>
        <p:spPr>
          <a:xfrm>
            <a:off x="1497250" y="5680952"/>
            <a:ext cx="23865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accent1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61" name="Chave Esquerda 60">
            <a:extLst>
              <a:ext uri="{FF2B5EF4-FFF2-40B4-BE49-F238E27FC236}">
                <a16:creationId xmlns:a16="http://schemas.microsoft.com/office/drawing/2014/main" id="{7D800B8A-4780-D0FB-5D3B-ADEF21910B93}"/>
              </a:ext>
            </a:extLst>
          </p:cNvPr>
          <p:cNvSpPr/>
          <p:nvPr/>
        </p:nvSpPr>
        <p:spPr>
          <a:xfrm rot="5400000">
            <a:off x="7460331" y="-2585603"/>
            <a:ext cx="400400" cy="7694577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F5730249-D8A2-31E6-C574-CB29CA6EF170}"/>
              </a:ext>
            </a:extLst>
          </p:cNvPr>
          <p:cNvSpPr txBox="1"/>
          <p:nvPr/>
        </p:nvSpPr>
        <p:spPr>
          <a:xfrm>
            <a:off x="5632657" y="667834"/>
            <a:ext cx="373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Referências Bibliográficas</a:t>
            </a:r>
          </a:p>
        </p:txBody>
      </p:sp>
      <p:sp>
        <p:nvSpPr>
          <p:cNvPr id="63" name="Chave Esquerda 62">
            <a:extLst>
              <a:ext uri="{FF2B5EF4-FFF2-40B4-BE49-F238E27FC236}">
                <a16:creationId xmlns:a16="http://schemas.microsoft.com/office/drawing/2014/main" id="{9E018E8D-BF4F-4265-F646-07683F99666E}"/>
              </a:ext>
            </a:extLst>
          </p:cNvPr>
          <p:cNvSpPr/>
          <p:nvPr/>
        </p:nvSpPr>
        <p:spPr>
          <a:xfrm>
            <a:off x="1055910" y="1984442"/>
            <a:ext cx="400400" cy="4192621"/>
          </a:xfrm>
          <a:prstGeom prst="leftBrace">
            <a:avLst>
              <a:gd name="adj1" fmla="val 29797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259CCF2-53E8-63E9-C68B-5CBDC3A20CE3}"/>
              </a:ext>
            </a:extLst>
          </p:cNvPr>
          <p:cNvSpPr txBox="1"/>
          <p:nvPr/>
        </p:nvSpPr>
        <p:spPr>
          <a:xfrm rot="16200000">
            <a:off x="-505215" y="3935688"/>
            <a:ext cx="269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chemeClr val="accent1">
                    <a:lumMod val="75000"/>
                  </a:schemeClr>
                </a:solidFill>
              </a:rPr>
              <a:t>Critérios de análise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AE4FBCD2-A8B2-6C19-A18D-2DE719DD4F6A}"/>
              </a:ext>
            </a:extLst>
          </p:cNvPr>
          <p:cNvSpPr txBox="1"/>
          <p:nvPr/>
        </p:nvSpPr>
        <p:spPr>
          <a:xfrm>
            <a:off x="423151" y="503049"/>
            <a:ext cx="441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11.2.2.2. Matriz de Extração</a:t>
            </a:r>
          </a:p>
        </p:txBody>
      </p:sp>
    </p:spTree>
    <p:extLst>
      <p:ext uri="{BB962C8B-B14F-4D97-AF65-F5344CB8AC3E}">
        <p14:creationId xmlns:p14="http://schemas.microsoft.com/office/powerpoint/2010/main" val="233247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2. Modelagem (Protocolo ODD)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ol3"/>
          <p:cNvSpPr/>
          <p:nvPr/>
        </p:nvSpPr>
        <p:spPr>
          <a:xfrm>
            <a:off x="457200" y="1000080"/>
            <a:ext cx="5486040" cy="331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Overview — Propósito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Simular evacuação emergencial e identificar gargalos, fatores de risco e impacto dos perfis de ocupantes.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Entidades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OcupanteAgente (Adulto, Idoso, PcD) • BrigadistaAgente • Células de fogo e fumaça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Design Concepts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Emergência: congestionamentos surgem da competição por células de escada. Adaptação: agentes desviam de chamas e ajustam rotas quando bloqueados.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Estocasticidade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Seed aleatório controla posição inicial, propagação do fogo e nível de pânico, garantindo reprodutibilidade.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ol4"/>
          <p:cNvSpPr/>
          <p:nvPr/>
        </p:nvSpPr>
        <p:spPr>
          <a:xfrm>
            <a:off x="6248520" y="1000080"/>
            <a:ext cx="5486040" cy="296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Escala Espacial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Célula (≈0,5 m²) → Andar (20×20) → Edifício (30 andares)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Interações entre Agentes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Conflito de célula entre ocupantes • Redução de pânico por brigadistas próximos • Fila nas escadas (capacidade máx. por step)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Observação via Mesa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DataCollector registra métricas a cada step: evacuados, mortos, feridos, pânico médio, células em chamas.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Inicialização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 ocupantes distribuídos aleatoriamente pelos andares 1–29. Fogo inicia no andar e célula configurados.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3. Formalismo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ol3"/>
          <p:cNvSpPr/>
          <p:nvPr/>
        </p:nvSpPr>
        <p:spPr>
          <a:xfrm>
            <a:off x="457200" y="1000080"/>
            <a:ext cx="5486040" cy="29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Propagação do Fogo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Autômato Celular com vizinhança de Von Neumann (4 direções). Probabilidade de ignição configurável (padrão: 15%/step). Intensidade cresce progressivamente.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Movimentação dos Agentes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Sistema reativo com heurística gulosa: o agente move para o vizinho mais próximo ao alvo (escada ou saída), desviando de células intransitáveis.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Nível de Pânico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Variável contínua [0,1]. Incremento proporcional à proximidade do fogo/fumaça. Decremento por brigadista próximo. Acima de 0,7: movimento semi-aleatório.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ol4"/>
          <p:cNvSpPr/>
          <p:nvPr/>
        </p:nvSpPr>
        <p:spPr>
          <a:xfrm>
            <a:off x="6248520" y="1000080"/>
            <a:ext cx="5486040" cy="331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Fluxo nas Escadas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Fila com capacidade máxima por step: agente aguarda se escada está lotada, modelando gargalos reais.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de Vida do Agente (FSM)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NORMAL → FUGA → EVACUADO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    ⇘ FERIDO → MORTO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Transições baseadas em saúde e posição.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Parâmetros de Dano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Fogo: −0,40 saúde/step • Fumaça: −0,08 saúde/step • Ferido: sa&amp;uacute;de &lt; 0,3 • Morto: saúde = 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Framework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 Mesa (Agent-Based Modeling) com RandomActivation scheduler e DataCollector integrado.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4. Computador — Implementação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Col3"/>
          <p:cNvSpPr/>
          <p:nvPr/>
        </p:nvSpPr>
        <p:spPr>
          <a:xfrm>
            <a:off x="457200" y="1000080"/>
            <a:ext cx="5486040" cy="349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Linguagem e Framework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Python 3.11+ com framework Mesa para simulação baseada em agentes. Numpy para grades de andares. Matplotlib e Seaborn para visualizações.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ModeloEvacuacao (mesa.Model)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Orquestra a simulação: schedule (RandomActivation), datacollector, grades dos andares e ModeloFogo (autômato celular).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OcupanteAgente (mesa.Agent)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Atributos: estado (FSM), pânico [0,1], saúde [0,1], perfil (ADULTO/IDOSO/PCD). Métodos: _atualizar_panico, _aplicar_dano, _mover.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BrigadistaAgente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 1,5× adulto. Patrulha andares e move em direção ao ocupante com maior pânico no raio de influência (5 células).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Col4"/>
          <p:cNvSpPr/>
          <p:nvPr/>
        </p:nvSpPr>
        <p:spPr>
          <a:xfrm>
            <a:off x="6248520" y="1000080"/>
            <a:ext cx="5486040" cy="27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do step() do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Reset contadores de escada • 2. Rebuild mapa de ocupação • 3. ModeloFogo.step() • 4. schedule.step() • 5. Atualiza grid de agentes • 6. DataCollector.collect() • 7. Verifica fim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de Arquivos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simulacao/ (config, edificio, agentes, fogo, modelo) • analise/ (experimentos, visualizações) • run_simulation.py (CLI) • gerar_graficos.py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Interface de Linha de Comando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--ocupantes N • --andar-foco A • --taxa-fogo T • --brigadistas B • --seed S • --rodadas R • --sensibilidade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ulo"/>
          <p:cNvSpPr/>
          <p:nvPr/>
        </p:nvSpPr>
        <p:spPr>
          <a:xfrm>
            <a:off x="457200" y="274680"/>
            <a:ext cx="1127736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Col3"/>
          <p:cNvSpPr/>
          <p:nvPr/>
        </p:nvSpPr>
        <p:spPr>
          <a:xfrm>
            <a:off x="457200" y="1000080"/>
            <a:ext cx="5486040" cy="255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Rodada Única (Configuração Padrão)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300 ocupantes • 10 brigadistas • Foco no andar 10 • Taxa de fogo 0,15 • Seed 42 • Capacidade escada: 5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Experimento Estatístico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30 rodadas independentes com seeds distintos (--rodadas 30). Gera resumo_rodadas.csv com métricas finais de cada rodada.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Análise de Sensibilidade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Variação automática de 2 parâmetros: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Taxa de propagação do fogo: 0,05 • 0,10 • 0,15 • 0,20 • 0,30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Capacidade da escada: 2 • 5 • 8 • 12 ag./step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ol4"/>
          <p:cNvSpPr/>
          <p:nvPr/>
        </p:nvSpPr>
        <p:spPr>
          <a:xfrm>
            <a:off x="6248520" y="1000080"/>
            <a:ext cx="5486040" cy="313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Reprodutibilidade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Seed aleatório garante que toda rodada seja reproduzível. Seed padrão = 42.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Coleta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DataCollector do Mesa registra a cada step: evacuados, mortos, feridos, pânico médio, células em chamas.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Saídas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rodada_seedN.csv (série temporal) • resumo_rodadas.csv • sensibilidade.csv • Gráficos PNG em resultados/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Limite de Execução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Máximo de 3.000 steps por rodada. Simulação encerra quando todos os agentes são evacuados ou incapacitados.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ulo"/>
          <p:cNvSpPr/>
          <p:nvPr/>
        </p:nvSpPr>
        <p:spPr>
          <a:xfrm>
            <a:off x="457200" y="274680"/>
            <a:ext cx="11277360" cy="59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e Retroalimentação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ol3"/>
          <p:cNvSpPr/>
          <p:nvPr/>
        </p:nvSpPr>
        <p:spPr>
          <a:xfrm>
            <a:off x="457200" y="1000080"/>
            <a:ext cx="5486040" cy="539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Métricas Coletadas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Taxa de evacuação (evacuados/total) • Tempo médio de evacuação (steps) • Número de vítimas (mortos + feridos) • Pânico médio • Células em chamas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Visualizações Geradas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Série temporal de evacuados, mortos, feridos, fogo e pânico por step • Mapa de calor de densidade no térreo e andar do foco • Heatmap de sensibilidade (taxa de evacuação × parâmetros)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Boxplots de Distribuição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Distribuição das métricas nas 30 rodadas, mostrando variância e outliers de cada cenário simulado.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Col4"/>
          <p:cNvSpPr/>
          <p:nvPr/>
        </p:nvSpPr>
        <p:spPr>
          <a:xfrm>
            <a:off x="6248520" y="1000080"/>
            <a:ext cx="5486040" cy="539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Conclusões Esperadas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Identificação de gargalos nas escadas • Impacto do perfil PcD no tempo de evacuação • Efeito dos brigadistas na redução de vítimas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Retroalimentação ao Modelo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Resultados da análise de sensibilidade orientam ajuste dos parâmetros. Taxa de fogo e capacidade de escada são os fatores críticos identificados.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Referências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lang="pt-BR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ABNT NBR 9077:2001 • Grimm et al. (2010) ODD Protocol • Wilensky &amp; Rand (2015) ABM • Python Mesa framework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Obrigado! Dúvidas?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1419</Words>
  <Application>Microsoft Office PowerPoint</Application>
  <PresentationFormat>Widescreen</PresentationFormat>
  <Paragraphs>193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Mattedi</cp:lastModifiedBy>
  <cp:revision>3</cp:revision>
  <dcterms:created xsi:type="dcterms:W3CDTF">2026-04-13T15:47:06Z</dcterms:created>
  <dcterms:modified xsi:type="dcterms:W3CDTF">2026-05-04T10:24:26Z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