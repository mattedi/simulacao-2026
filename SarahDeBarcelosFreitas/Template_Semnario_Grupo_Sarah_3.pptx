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6" r:id="rId5"/>
    <p:sldId id="267" r:id="rId6"/>
    <p:sldId id="263" r:id="rId7"/>
    <p:sldId id="1698" r:id="rId8"/>
    <p:sldId id="268" r:id="rId9"/>
    <p:sldId id="269" r:id="rId10"/>
    <p:sldId id="1699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64D92A-6B4A-4E12-ACB8-D2FE7AE14DAF}" v="3" dt="2026-05-09T17:46:31.7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attedi" userId="4f01ea1ca72d2475" providerId="LiveId" clId="{22ED33B0-18A5-4D2B-9F18-43759766D8F7}"/>
    <pc:docChg chg="custSel modSld">
      <pc:chgData name="Marcos Mattedi" userId="4f01ea1ca72d2475" providerId="LiveId" clId="{22ED33B0-18A5-4D2B-9F18-43759766D8F7}" dt="2026-05-09T17:46:54.612" v="133" actId="1076"/>
      <pc:docMkLst>
        <pc:docMk/>
      </pc:docMkLst>
      <pc:sldChg chg="addSp modSp mod">
        <pc:chgData name="Marcos Mattedi" userId="4f01ea1ca72d2475" providerId="LiveId" clId="{22ED33B0-18A5-4D2B-9F18-43759766D8F7}" dt="2026-05-09T17:46:54.612" v="133" actId="1076"/>
        <pc:sldMkLst>
          <pc:docMk/>
          <pc:sldMk cId="1686684502" sldId="1699"/>
        </pc:sldMkLst>
        <pc:spChg chg="add mod">
          <ac:chgData name="Marcos Mattedi" userId="4f01ea1ca72d2475" providerId="LiveId" clId="{22ED33B0-18A5-4D2B-9F18-43759766D8F7}" dt="2026-05-09T17:46:54.612" v="133" actId="1076"/>
          <ac:spMkLst>
            <pc:docMk/>
            <pc:sldMk cId="1686684502" sldId="1699"/>
            <ac:spMk id="2" creationId="{CC137B1F-B698-8685-2CBA-DDF4E74E51B8}"/>
          </ac:spMkLst>
        </pc:spChg>
        <pc:spChg chg="add mod">
          <ac:chgData name="Marcos Mattedi" userId="4f01ea1ca72d2475" providerId="LiveId" clId="{22ED33B0-18A5-4D2B-9F18-43759766D8F7}" dt="2026-05-09T17:46:54.612" v="133" actId="1076"/>
          <ac:spMkLst>
            <pc:docMk/>
            <pc:sldMk cId="1686684502" sldId="1699"/>
            <ac:spMk id="3" creationId="{791C2982-2F27-1ABE-1DF3-0B8E4116ECFE}"/>
          </ac:spMkLst>
        </pc:spChg>
        <pc:spChg chg="add mod">
          <ac:chgData name="Marcos Mattedi" userId="4f01ea1ca72d2475" providerId="LiveId" clId="{22ED33B0-18A5-4D2B-9F18-43759766D8F7}" dt="2026-05-09T17:46:54.612" v="133" actId="1076"/>
          <ac:spMkLst>
            <pc:docMk/>
            <pc:sldMk cId="1686684502" sldId="1699"/>
            <ac:spMk id="4" creationId="{4CFD8A99-662A-F033-54C1-35E6661EFD3E}"/>
          </ac:spMkLst>
        </pc:spChg>
        <pc:spChg chg="add mod">
          <ac:chgData name="Marcos Mattedi" userId="4f01ea1ca72d2475" providerId="LiveId" clId="{22ED33B0-18A5-4D2B-9F18-43759766D8F7}" dt="2026-05-09T17:46:54.612" v="133" actId="1076"/>
          <ac:spMkLst>
            <pc:docMk/>
            <pc:sldMk cId="1686684502" sldId="1699"/>
            <ac:spMk id="5" creationId="{7BAA13CA-F0C4-4590-1C92-A041EC0697D4}"/>
          </ac:spMkLst>
        </pc:spChg>
        <pc:picChg chg="mod">
          <ac:chgData name="Marcos Mattedi" userId="4f01ea1ca72d2475" providerId="LiveId" clId="{22ED33B0-18A5-4D2B-9F18-43759766D8F7}" dt="2026-05-09T17:46:54.612" v="133" actId="1076"/>
          <ac:picMkLst>
            <pc:docMk/>
            <pc:sldMk cId="1686684502" sldId="1699"/>
            <ac:picMk id="6" creationId="{7373A3E1-4671-064D-E87B-74EDE533483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FB8EE-F128-40E9-8C38-0730BFD4169A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EB72E-18FB-4B26-987F-9189232A5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0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2"/>
            <a:ext cx="4565373" cy="10778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22 )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15 )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4" y="446225"/>
            <a:ext cx="2970825" cy="141813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200" dirty="0">
                <a:solidFill>
                  <a:schemeClr val="bg2"/>
                </a:solidFill>
              </a:rPr>
              <a:t>("fire evacuation" OR "building fire" OR "building evacuation" OR "occupant evacuation" OR "smoke spread" OR "fire dynamics") AND ("</a:t>
            </a:r>
            <a:r>
              <a:rPr lang="en-US" sz="1200" dirty="0" err="1">
                <a:solidFill>
                  <a:schemeClr val="bg2"/>
                </a:solidFill>
              </a:rPr>
              <a:t>NetLogo</a:t>
            </a:r>
            <a:r>
              <a:rPr lang="en-US" sz="1200" dirty="0">
                <a:solidFill>
                  <a:schemeClr val="bg2"/>
                </a:solidFill>
              </a:rPr>
              <a:t>" OR "Fire Dynamics Simulator" OR FDS OR "</a:t>
            </a:r>
            <a:r>
              <a:rPr lang="en-US" sz="1200" dirty="0" err="1">
                <a:solidFill>
                  <a:schemeClr val="bg2"/>
                </a:solidFill>
              </a:rPr>
              <a:t>FDS+Evac</a:t>
            </a:r>
            <a:r>
              <a:rPr lang="en-US" sz="1200" dirty="0">
                <a:solidFill>
                  <a:schemeClr val="bg2"/>
                </a:solidFill>
              </a:rPr>
              <a:t>" OR "Python" OR "Python-based simulation")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 flipV="1">
            <a:off x="8084771" y="1153973"/>
            <a:ext cx="1008583" cy="131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2133776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15 )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 12)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2155550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Citações totais / (Ano da coleta − Ano de publicação + 1)</a:t>
            </a:r>
            <a:endParaRPr lang="pt-BR" sz="1200" dirty="0">
              <a:solidFill>
                <a:schemeClr val="bg1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574648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692903"/>
            <a:ext cx="0" cy="440873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3314875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3298547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30)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3298547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 (n = 15)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739419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479646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20)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(n= 10)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3015520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4180291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920518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660745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660745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10)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CC01C5-1252-080E-B593-6A1F16BCC917}"/>
              </a:ext>
            </a:extLst>
          </p:cNvPr>
          <p:cNvSpPr txBox="1"/>
          <p:nvPr/>
        </p:nvSpPr>
        <p:spPr>
          <a:xfrm>
            <a:off x="301244" y="676656"/>
            <a:ext cx="983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baixo encontrasse a tabela com 10 artigos para a revisão bibliográfica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1748261-5AFB-E382-3AB3-605FD98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087813"/>
              </p:ext>
            </p:extLst>
          </p:nvPr>
        </p:nvGraphicFramePr>
        <p:xfrm>
          <a:off x="176021" y="1331214"/>
          <a:ext cx="11839957" cy="45946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891666832"/>
                    </a:ext>
                  </a:extLst>
                </a:gridCol>
                <a:gridCol w="2171855">
                  <a:extLst>
                    <a:ext uri="{9D8B030D-6E8A-4147-A177-3AD203B41FA5}">
                      <a16:colId xmlns:a16="http://schemas.microsoft.com/office/drawing/2014/main" val="2351778930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035529529"/>
                    </a:ext>
                  </a:extLst>
                </a:gridCol>
                <a:gridCol w="1998559">
                  <a:extLst>
                    <a:ext uri="{9D8B030D-6E8A-4147-A177-3AD203B41FA5}">
                      <a16:colId xmlns:a16="http://schemas.microsoft.com/office/drawing/2014/main" val="3042827053"/>
                    </a:ext>
                  </a:extLst>
                </a:gridCol>
                <a:gridCol w="2059123">
                  <a:extLst>
                    <a:ext uri="{9D8B030D-6E8A-4147-A177-3AD203B41FA5}">
                      <a16:colId xmlns:a16="http://schemas.microsoft.com/office/drawing/2014/main" val="1947812782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400663158"/>
                    </a:ext>
                  </a:extLst>
                </a:gridCol>
              </a:tblGrid>
              <a:tr h="207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2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3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4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5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3924"/>
                  </a:ext>
                </a:extLst>
              </a:tr>
              <a:tr h="6560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Experimental study and numerical simulation for a storehouse fire accident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 probabilistic occupant evacuation model for fire emergencies using Monte Carlo methods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Agent-based evacuation model incorporating fire scene and building geometry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agent-based simulator for indoor crowd evacuation considering fire impacts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Integrated Method for Fire Risk Assessment in Residential Buildings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8818193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Reconstrução e compreensão da dinâmica de incêndios reais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Modelar evacuação considerando incertezas no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Integrar fogo, geometria e comportamento em simulação de evacuação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Incorporar impactos do fogo no comportamento dos evacuees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Avaliar o risco de incêndio em 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8852512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Temperatura, propagação do fogo, taxa de liberação de calor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Tempo de evacuação, distribuição probabilística, comportamento estocástico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Tempo de evacuação, interação agente-ambiente, influência do fogo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Velocidade, saúde, tomada de decisão, exposição a riscos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Probabilidade, severidade, fatores de risco, análise fuzzy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164371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em armazém (experimento + simulação CFD)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Simulações computacionais de evacuação (Monte Carlo)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Edifícios com modelagem geométrica e simulação FDS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Simulação de evacuação em ambientes internos (ex: museu)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093343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CFD, FDS, propagação do fogo, reconstrução numérica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probabilísticos, Monte Carlo, evacuação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Sistemas multiagentes, GIS, CFD, comportamento de agentes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baseados em agentes, impacto do fogo,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Análise de risco, teoria fuzzy, ER (evidential reasoning)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2960817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como processo físico dinâmico modelado por CFD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probabilístico com variáveis aleatórias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interação entre agentes, ambiente e fogo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dinâmico afetado por calor, fumaça e gases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Risco como combinação de probabilidade e severidade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779394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Modelos numéricos podem reproduzir incêndios reais com precisão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Comportamento humano pode ser representado por distribuições probabilísticas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Agentes tomam decisões baseadas em ambiente e percepção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como fumaça e calor alteram comportamento e mobilidade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de risco podem ser quantificados via lógica </a:t>
                      </a:r>
                      <a:r>
                        <a:rPr lang="pt-BR" sz="1000" u="none" strike="noStrike" dirty="0" err="1">
                          <a:effectLst/>
                        </a:rPr>
                        <a:t>fuzzy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99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6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72A1BE3-7FAA-F07B-2214-D94A7C5F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56947"/>
              </p:ext>
            </p:extLst>
          </p:nvPr>
        </p:nvGraphicFramePr>
        <p:xfrm>
          <a:off x="426719" y="1229558"/>
          <a:ext cx="11338561" cy="43781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29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1979893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  <a:gridCol w="1913927">
                  <a:extLst>
                    <a:ext uri="{9D8B030D-6E8A-4147-A177-3AD203B41FA5}">
                      <a16:colId xmlns:a16="http://schemas.microsoft.com/office/drawing/2014/main" val="476675093"/>
                    </a:ext>
                  </a:extLst>
                </a:gridCol>
                <a:gridCol w="1971923">
                  <a:extLst>
                    <a:ext uri="{9D8B030D-6E8A-4147-A177-3AD203B41FA5}">
                      <a16:colId xmlns:a16="http://schemas.microsoft.com/office/drawing/2014/main" val="3065936590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3787514625"/>
                    </a:ext>
                  </a:extLst>
                </a:gridCol>
              </a:tblGrid>
              <a:tr h="1964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6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7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8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9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10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8048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building information modeling-based fire emergency evacuation simulation system for large infrastructures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 risk analysis of residential buildings based on scenario clusters and its application in fire risk management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 route selection model for fire evacuations based on hazard prediction data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of the Use of Fire Dynamics Theory in Fire Service Activities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Simulation Research on Fire Evacuation of Large Public Buildings Based on Building Information Modeling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de evacuação eficiente em infraestruturas complexas com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métodos sistemáticos para análise de risco de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de rotas pré-definidas em cenários dinâmicos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Baixa integração entre teoria de dinâmica do fogo e prática operacional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das estratégias tradicionais de evacuação em edifícios grandes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6269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comportamento humano, propagação do fogo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Probabilidade de incêndio, perdas humanas e materiais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exposição à fumaça, segurança das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da teoria em prevenção, operação e investigação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estratégias (escadas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elevadores), densidade populacional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392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Estação de metrô (China)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Edifícios residenciais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Modelo computacional de edifícios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Literatura científica + entrevistas com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Cantina universitária (edifício público)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307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 de evacuação, FDS, otimização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de incêndio, clusters de cenários,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Algoritmo A*, previsão de risco, simulação computacional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fogo, engenharia de segurança,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firefighting</a:t>
                      </a:r>
                      <a:endParaRPr lang="pt-B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simulação, evacuação vertical, estratégias combinadas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647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Evacuação como processo dinâmico influenciado por fogo e comportamento humano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= probabilidade × consequência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 ótima = caminho mais seguro e rápido considerando riscos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 como base para decisões operacionais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Estratégia ótima baseada na simulação de cenários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(BIM + sensores + simulação) melhora evacuação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Modelagem por cenários permite melhor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Previsão antecipada de riscos melhora escolha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uso da teoria pode melhorar atuação dos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Combinação escadas + elevadores reduz tempo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4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373A3E1-4671-064D-E87B-74EDE5334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655" y="817684"/>
            <a:ext cx="3780690" cy="5671035"/>
          </a:xfrm>
          <a:prstGeom prst="rect">
            <a:avLst/>
          </a:prstGeom>
        </p:spPr>
      </p:pic>
      <p:sp>
        <p:nvSpPr>
          <p:cNvPr id="2" name="Chave Esquerda 1">
            <a:extLst>
              <a:ext uri="{FF2B5EF4-FFF2-40B4-BE49-F238E27FC236}">
                <a16:creationId xmlns:a16="http://schemas.microsoft.com/office/drawing/2014/main" id="{CC137B1F-B698-8685-2CBA-DDF4E74E51B8}"/>
              </a:ext>
            </a:extLst>
          </p:cNvPr>
          <p:cNvSpPr/>
          <p:nvPr/>
        </p:nvSpPr>
        <p:spPr>
          <a:xfrm>
            <a:off x="1594340" y="698986"/>
            <a:ext cx="325315" cy="590843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91C2982-2F27-1ABE-1DF3-0B8E4116ECFE}"/>
              </a:ext>
            </a:extLst>
          </p:cNvPr>
          <p:cNvSpPr txBox="1"/>
          <p:nvPr/>
        </p:nvSpPr>
        <p:spPr>
          <a:xfrm>
            <a:off x="0" y="3349869"/>
            <a:ext cx="160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Componentes </a:t>
            </a:r>
          </a:p>
          <a:p>
            <a:pPr algn="ctr"/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 simulação</a:t>
            </a:r>
          </a:p>
        </p:txBody>
      </p:sp>
      <p:sp>
        <p:nvSpPr>
          <p:cNvPr id="4" name="Chave Esquerda 3">
            <a:extLst>
              <a:ext uri="{FF2B5EF4-FFF2-40B4-BE49-F238E27FC236}">
                <a16:creationId xmlns:a16="http://schemas.microsoft.com/office/drawing/2014/main" id="{4CFD8A99-662A-F033-54C1-35E6661EFD3E}"/>
              </a:ext>
            </a:extLst>
          </p:cNvPr>
          <p:cNvSpPr/>
          <p:nvPr/>
        </p:nvSpPr>
        <p:spPr>
          <a:xfrm rot="10800000">
            <a:off x="5685693" y="698986"/>
            <a:ext cx="325315" cy="590843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BAA13CA-F0C4-4590-1C92-A041EC0697D4}"/>
              </a:ext>
            </a:extLst>
          </p:cNvPr>
          <p:cNvSpPr txBox="1"/>
          <p:nvPr/>
        </p:nvSpPr>
        <p:spPr>
          <a:xfrm>
            <a:off x="5843957" y="3499312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Modelo</a:t>
            </a:r>
          </a:p>
        </p:txBody>
      </p:sp>
    </p:spTree>
    <p:extLst>
      <p:ext uri="{BB962C8B-B14F-4D97-AF65-F5344CB8AC3E}">
        <p14:creationId xmlns:p14="http://schemas.microsoft.com/office/powerpoint/2010/main" val="1686684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5932</TotalTime>
  <Words>1402</Words>
  <Application>Microsoft Office PowerPoint</Application>
  <PresentationFormat>Widescreen</PresentationFormat>
  <Paragraphs>183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Aptos</vt:lpstr>
      <vt:lpstr>Aptos Narrow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Marcos Antonio Mattedi</cp:lastModifiedBy>
  <cp:revision>15</cp:revision>
  <dcterms:created xsi:type="dcterms:W3CDTF">2026-04-13T15:47:06Z</dcterms:created>
  <dcterms:modified xsi:type="dcterms:W3CDTF">2026-05-09T17:46:55Z</dcterms:modified>
</cp:coreProperties>
</file>