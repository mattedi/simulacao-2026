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6" r:id="rId5"/>
    <p:sldId id="267" r:id="rId6"/>
    <p:sldId id="263" r:id="rId7"/>
    <p:sldId id="1698" r:id="rId8"/>
    <p:sldId id="268" r:id="rId9"/>
    <p:sldId id="269" r:id="rId10"/>
    <p:sldId id="1699" r:id="rId11"/>
    <p:sldId id="259" r:id="rId12"/>
    <p:sldId id="260" r:id="rId13"/>
    <p:sldId id="261" r:id="rId14"/>
    <p:sldId id="262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9C37A4-88C6-4B41-BBC3-45018DA13F57}" v="3" dt="2026-05-04T09:46:41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8FB8EE-F128-40E9-8C38-0730BFD4169A}" type="datetimeFigureOut">
              <a:rPr lang="pt-BR" smtClean="0"/>
              <a:t>04/05/2026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EB72E-18FB-4B26-987F-9189232A5A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507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0C17B-0A72-4CE8-B023-6D1C17B7998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112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6843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CB716D76-4EE0-34BB-3FE4-746A7B7F99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990" y="106734"/>
            <a:ext cx="461935" cy="235953"/>
          </a:xfrm>
          <a:prstGeom prst="rect">
            <a:avLst/>
          </a:prstGeom>
        </p:spPr>
      </p:pic>
      <p:pic>
        <p:nvPicPr>
          <p:cNvPr id="8" name="Imagem 7" descr="Uma imagem contendo placar, desenho&#10;&#10;Descrição gerada automaticamente">
            <a:extLst>
              <a:ext uri="{FF2B5EF4-FFF2-40B4-BE49-F238E27FC236}">
                <a16:creationId xmlns:a16="http://schemas.microsoft.com/office/drawing/2014/main" id="{144D06B7-FB8A-8452-1AF8-C83CE1E98BF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3" t="15342" r="9314" b="15342"/>
          <a:stretch/>
        </p:blipFill>
        <p:spPr>
          <a:xfrm>
            <a:off x="11676211" y="121127"/>
            <a:ext cx="341799" cy="219153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501361FC-2F74-AE7E-3415-1ABF301AF2E0}"/>
              </a:ext>
            </a:extLst>
          </p:cNvPr>
          <p:cNvSpPr/>
          <p:nvPr userDrawn="1"/>
        </p:nvSpPr>
        <p:spPr>
          <a:xfrm>
            <a:off x="-1" y="96669"/>
            <a:ext cx="12192000" cy="318404"/>
          </a:xfrm>
          <a:prstGeom prst="rect">
            <a:avLst/>
          </a:prstGeom>
          <a:solidFill>
            <a:schemeClr val="bg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pic>
        <p:nvPicPr>
          <p:cNvPr id="10" name="Imagem 9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EC9A2412-8527-050F-1760-1D795B65936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8" b="41998"/>
          <a:stretch>
            <a:fillRect/>
          </a:stretch>
        </p:blipFill>
        <p:spPr>
          <a:xfrm>
            <a:off x="5840282" y="77509"/>
            <a:ext cx="511435" cy="26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359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11E991F-1419-1468-BE10-D2AF9BD832EA}"/>
              </a:ext>
            </a:extLst>
          </p:cNvPr>
          <p:cNvSpPr txBox="1"/>
          <p:nvPr/>
        </p:nvSpPr>
        <p:spPr>
          <a:xfrm>
            <a:off x="2794000" y="2455610"/>
            <a:ext cx="7030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Título: Simulação de Evacuação de Edifícios em Chamas</a:t>
            </a:r>
          </a:p>
          <a:p>
            <a:endParaRPr lang="pt-BR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B5BC1B5-ED1C-9832-E853-1E5DCBBF6E7D}"/>
              </a:ext>
            </a:extLst>
          </p:cNvPr>
          <p:cNvSpPr txBox="1"/>
          <p:nvPr/>
        </p:nvSpPr>
        <p:spPr>
          <a:xfrm>
            <a:off x="2086532" y="864415"/>
            <a:ext cx="7738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650"/>
              </a:spcBef>
              <a:spcAft>
                <a:spcPts val="825"/>
              </a:spcAft>
              <a:buNone/>
            </a:pPr>
            <a:r>
              <a:rPr lang="pt-BR" b="1" i="0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MÓDULO V - SEMINÁRIO DE APRESETNTAÇÃO DOS RESULTADOS</a:t>
            </a:r>
            <a:endParaRPr lang="pt-BR" b="0" i="0" dirty="0">
              <a:solidFill>
                <a:schemeClr val="tx2">
                  <a:lumMod val="90000"/>
                  <a:lumOff val="1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7E728AB-E81F-068E-0D0C-8111400D7157}"/>
              </a:ext>
            </a:extLst>
          </p:cNvPr>
          <p:cNvSpPr txBox="1"/>
          <p:nvPr/>
        </p:nvSpPr>
        <p:spPr>
          <a:xfrm>
            <a:off x="7630677" y="3993765"/>
            <a:ext cx="34923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Autores:</a:t>
            </a:r>
          </a:p>
          <a:p>
            <a:pPr algn="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Sarah de Barcelos Freitas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13F2793-2F9E-906C-DEE3-567571E01F74}"/>
              </a:ext>
            </a:extLst>
          </p:cNvPr>
          <p:cNvSpPr txBox="1"/>
          <p:nvPr/>
        </p:nvSpPr>
        <p:spPr>
          <a:xfrm>
            <a:off x="4719217" y="5993585"/>
            <a:ext cx="2608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Junho de 2026</a:t>
            </a:r>
          </a:p>
        </p:txBody>
      </p:sp>
    </p:spTree>
    <p:extLst>
      <p:ext uri="{BB962C8B-B14F-4D97-AF65-F5344CB8AC3E}">
        <p14:creationId xmlns:p14="http://schemas.microsoft.com/office/powerpoint/2010/main" val="6529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4752B93-B681-AFAB-6EB7-F01A288E8400}"/>
              </a:ext>
            </a:extLst>
          </p:cNvPr>
          <p:cNvSpPr txBox="1"/>
          <p:nvPr/>
        </p:nvSpPr>
        <p:spPr>
          <a:xfrm>
            <a:off x="2528595" y="905070"/>
            <a:ext cx="589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Estrutura da Apresentação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F3C4A689-4D83-44CA-EE9C-67A96D08D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99999"/>
              </p:ext>
            </p:extLst>
          </p:nvPr>
        </p:nvGraphicFramePr>
        <p:xfrm>
          <a:off x="1259659" y="1448045"/>
          <a:ext cx="9377239" cy="4354870"/>
        </p:xfrm>
        <a:graphic>
          <a:graphicData uri="http://schemas.openxmlformats.org/drawingml/2006/table">
            <a:tbl>
              <a:tblPr/>
              <a:tblGrid>
                <a:gridCol w="858390">
                  <a:extLst>
                    <a:ext uri="{9D8B030D-6E8A-4147-A177-3AD203B41FA5}">
                      <a16:colId xmlns:a16="http://schemas.microsoft.com/office/drawing/2014/main" val="3535084583"/>
                    </a:ext>
                  </a:extLst>
                </a:gridCol>
                <a:gridCol w="2211355">
                  <a:extLst>
                    <a:ext uri="{9D8B030D-6E8A-4147-A177-3AD203B41FA5}">
                      <a16:colId xmlns:a16="http://schemas.microsoft.com/office/drawing/2014/main" val="1130658036"/>
                    </a:ext>
                  </a:extLst>
                </a:gridCol>
                <a:gridCol w="6307494">
                  <a:extLst>
                    <a:ext uri="{9D8B030D-6E8A-4147-A177-3AD203B41FA5}">
                      <a16:colId xmlns:a16="http://schemas.microsoft.com/office/drawing/2014/main" val="3729648614"/>
                    </a:ext>
                  </a:extLst>
                </a:gridCol>
              </a:tblGrid>
              <a:tr h="300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solidFill>
                            <a:srgbClr val="FF0000"/>
                          </a:solidFill>
                        </a:rPr>
                        <a:t>Etapa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solidFill>
                            <a:srgbClr val="FF0000"/>
                          </a:solidFill>
                        </a:rPr>
                        <a:t>Nome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rgbClr val="FF0000"/>
                          </a:solidFill>
                        </a:rPr>
                        <a:t>Descrição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879018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1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Sistema de Referência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Define o problema real a ser estudado (ex: evacuação de um prédio).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4737026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2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Modelagem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Representação simplificada do sistema real (regras, agentes, ambiente).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944287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3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Formalismo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Tradução do modelo para linguagem formal/matemática ou lógica.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143428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4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Computador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Implementação do modelo em código (programação da simulação).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816725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5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Execução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Rodar a simulação com diferentes parâmetros e cenários.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31444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6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Observação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Análise dos resultados obtidos (gráficos, métricas, conclusões).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4712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486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0F32-FD66-0C26-75DA-A9DDED95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44EB669-D9BB-1EF5-9A40-55EB1D8A7DED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1. Sistema de Referência</a:t>
            </a:r>
          </a:p>
        </p:txBody>
      </p:sp>
    </p:spTree>
    <p:extLst>
      <p:ext uri="{BB962C8B-B14F-4D97-AF65-F5344CB8AC3E}">
        <p14:creationId xmlns:p14="http://schemas.microsoft.com/office/powerpoint/2010/main" val="1905564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7B76E1A1-A1E2-7CB2-D4DD-28FAEC7A56EE}"/>
              </a:ext>
            </a:extLst>
          </p:cNvPr>
          <p:cNvSpPr txBox="1"/>
          <p:nvPr/>
        </p:nvSpPr>
        <p:spPr>
          <a:xfrm>
            <a:off x="404447" y="689633"/>
            <a:ext cx="5767754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 </a:t>
            </a:r>
            <a:r>
              <a:rPr lang="pt-BR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Sistema de Referência </a:t>
            </a:r>
            <a:r>
              <a:rPr lang="pt-BR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consiste em um edifício residencial de 30 andares em situação de incêndio, utilizado como base empírica para a simulação de evacuação. Cada pavimento possui dimensão aproximada de 20 × 20 m e será discretizado em uma grade de 20 × 20 células. O edifício contém apartamentos, corredores, elevadores bloqueados e escada de emergência como rota principal. A população inicial é composta por 180 ocupantes, distribuídos entre adultos, crianças, idosos e </a:t>
            </a:r>
            <a:r>
              <a:rPr lang="pt-BR" sz="14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PcD</a:t>
            </a:r>
            <a:r>
              <a:rPr lang="pt-BR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, permitindo representar diferentes condições de mobilidade. O incêndio possui origem e material combustível parametrizáveis, afetando propagação do fogo, formação de fumaça, visibilidade e acessibilidade das rotas. O Sistema de Referência define, portanto, as restrições físicas, populacionais e operacionais que servirão de base para a modelagem, execução e validação da simulação.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C1678CC-052C-8862-D45D-319FEC184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327" y="689633"/>
            <a:ext cx="4809281" cy="4922749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E79F7E06-FD49-A737-2463-49F6E2E7A9B8}"/>
              </a:ext>
            </a:extLst>
          </p:cNvPr>
          <p:cNvSpPr txBox="1"/>
          <p:nvPr/>
        </p:nvSpPr>
        <p:spPr>
          <a:xfrm>
            <a:off x="7666893" y="5612382"/>
            <a:ext cx="27815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Imagem 1: Planta de um dos andares do prédio</a:t>
            </a:r>
          </a:p>
        </p:txBody>
      </p:sp>
    </p:spTree>
    <p:extLst>
      <p:ext uri="{BB962C8B-B14F-4D97-AF65-F5344CB8AC3E}">
        <p14:creationId xmlns:p14="http://schemas.microsoft.com/office/powerpoint/2010/main" val="1466528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FB0A-08AD-8F23-6F5A-62DDC652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61F0B17F-919A-19E3-F53F-30F9083CE6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696127"/>
              </p:ext>
            </p:extLst>
          </p:nvPr>
        </p:nvGraphicFramePr>
        <p:xfrm>
          <a:off x="4123593" y="909440"/>
          <a:ext cx="6559062" cy="2317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458414051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2101983554"/>
                    </a:ext>
                  </a:extLst>
                </a:gridCol>
              </a:tblGrid>
              <a:tr h="1955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b="1">
                          <a:solidFill>
                            <a:srgbClr val="FF0000"/>
                          </a:solidFill>
                        </a:rPr>
                        <a:t>Dimensão do Sistema de Referência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b="1" dirty="0">
                          <a:solidFill>
                            <a:srgbClr val="FF0000"/>
                          </a:solidFill>
                        </a:rPr>
                        <a:t>Caracterização necessária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3341"/>
                  </a:ext>
                </a:extLst>
              </a:tr>
            </a:tbl>
          </a:graphicData>
        </a:graphic>
      </p:graphicFrame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2C072602-2099-BC2B-C622-1D006DB139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788386"/>
              </p:ext>
            </p:extLst>
          </p:nvPr>
        </p:nvGraphicFramePr>
        <p:xfrm>
          <a:off x="4123593" y="1141212"/>
          <a:ext cx="6559062" cy="3422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049123575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3060891490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Sistema real observado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Edifício residencial vertical em situação de incêndio.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0307547"/>
                  </a:ext>
                </a:extLst>
              </a:tr>
            </a:tbl>
          </a:graphicData>
        </a:graphic>
      </p:graphicFrame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4FDBCF73-5679-4512-33C1-B34FB4F39D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98965"/>
              </p:ext>
            </p:extLst>
          </p:nvPr>
        </p:nvGraphicFramePr>
        <p:xfrm>
          <a:off x="4123593" y="1483452"/>
          <a:ext cx="6559062" cy="2317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050921907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4031021352"/>
                    </a:ext>
                  </a:extLst>
                </a:gridCol>
              </a:tblGrid>
              <a:tr h="195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Escala vertical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30 andares, aproximadamente 120 m de altura.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470255"/>
                  </a:ext>
                </a:extLst>
              </a:tr>
            </a:tbl>
          </a:graphicData>
        </a:graphic>
      </p:graphicFrame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FE181C8B-5FA1-F3B5-1B7B-59E2D97F49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458829"/>
              </p:ext>
            </p:extLst>
          </p:nvPr>
        </p:nvGraphicFramePr>
        <p:xfrm>
          <a:off x="4123593" y="1715224"/>
          <a:ext cx="6559062" cy="3422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825549069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564323385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Escala espacial por pavimento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Pavimento com dimensão aproximada de 20 × 20 m.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37109"/>
                  </a:ext>
                </a:extLst>
              </a:tr>
            </a:tbl>
          </a:graphicData>
        </a:graphic>
      </p:graphicFrame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A0DB3435-9CEB-C329-AAF8-FD99511A2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863853"/>
              </p:ext>
            </p:extLst>
          </p:nvPr>
        </p:nvGraphicFramePr>
        <p:xfrm>
          <a:off x="4123593" y="2066321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011771006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1838396608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Representação espacial futura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Grade discreta de 20 × 20 células, com equivalência aproximada de 1 célula = 1 m².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5145768"/>
                  </a:ext>
                </a:extLst>
              </a:tr>
            </a:tbl>
          </a:graphicData>
        </a:graphic>
      </p:graphicFrame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5A5CF596-9D5E-20CB-9604-87B9C7946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082754"/>
              </p:ext>
            </p:extLst>
          </p:nvPr>
        </p:nvGraphicFramePr>
        <p:xfrm>
          <a:off x="4123593" y="2489830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682861820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1815093349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Estrutura interna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Apartamentos, corredores, portas, elevadores, escadas, paredes e áreas de circulação.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728147"/>
                  </a:ext>
                </a:extLst>
              </a:tr>
            </a:tbl>
          </a:graphicData>
        </a:graphic>
      </p:graphicFrame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11E555AF-CA9C-42B3-643A-8991C817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741916"/>
              </p:ext>
            </p:extLst>
          </p:nvPr>
        </p:nvGraphicFramePr>
        <p:xfrm>
          <a:off x="4123593" y="2904482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381328248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2468184270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Rotas de evacuação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Escada de emergência como rota principal; elevadores bloqueados durante o incêndio.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4015384"/>
                  </a:ext>
                </a:extLst>
              </a:tr>
            </a:tbl>
          </a:graphicData>
        </a:graphic>
      </p:graphicFrame>
      <p:graphicFrame>
        <p:nvGraphicFramePr>
          <p:cNvPr id="16" name="Tabela 15">
            <a:extLst>
              <a:ext uri="{FF2B5EF4-FFF2-40B4-BE49-F238E27FC236}">
                <a16:creationId xmlns:a16="http://schemas.microsoft.com/office/drawing/2014/main" id="{74E72E56-3129-1B4D-C281-712AAA7F8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474698"/>
              </p:ext>
            </p:extLst>
          </p:nvPr>
        </p:nvGraphicFramePr>
        <p:xfrm>
          <a:off x="4123593" y="3319134"/>
          <a:ext cx="6559062" cy="2317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588914141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2552649782"/>
                    </a:ext>
                  </a:extLst>
                </a:gridCol>
              </a:tblGrid>
              <a:tr h="195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População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180 ocupantes distribuídos nos 30 andares.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871629"/>
                  </a:ext>
                </a:extLst>
              </a:tr>
            </a:tbl>
          </a:graphicData>
        </a:graphic>
      </p:graphicFrame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3D16BF1D-B911-53BF-1EE7-212AA6D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22135"/>
              </p:ext>
            </p:extLst>
          </p:nvPr>
        </p:nvGraphicFramePr>
        <p:xfrm>
          <a:off x="4123593" y="3550906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4101620978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413726783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Perfis de ocupantes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Adultos, crianças, idosos e </a:t>
                      </a:r>
                      <a:r>
                        <a:rPr lang="pt-BR" sz="1200" dirty="0" err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PcD</a:t>
                      </a: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, com diferentes velocidades e capacidades de deslocamento.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3631876"/>
                  </a:ext>
                </a:extLst>
              </a:tr>
            </a:tbl>
          </a:graphicData>
        </a:graphic>
      </p:graphicFrame>
      <p:graphicFrame>
        <p:nvGraphicFramePr>
          <p:cNvPr id="18" name="Tabela 17">
            <a:extLst>
              <a:ext uri="{FF2B5EF4-FFF2-40B4-BE49-F238E27FC236}">
                <a16:creationId xmlns:a16="http://schemas.microsoft.com/office/drawing/2014/main" id="{36F85C37-3CEB-6AC9-B01C-23425E19A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288444"/>
              </p:ext>
            </p:extLst>
          </p:nvPr>
        </p:nvGraphicFramePr>
        <p:xfrm>
          <a:off x="4123593" y="3956895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952728653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698812873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Incêndio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Origem variável por andar e célula; tipo de material combustível parametrizável.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1376145"/>
                  </a:ext>
                </a:extLst>
              </a:tr>
            </a:tbl>
          </a:graphicData>
        </a:graphic>
      </p:graphicFrame>
      <p:graphicFrame>
        <p:nvGraphicFramePr>
          <p:cNvPr id="19" name="Tabela 18">
            <a:extLst>
              <a:ext uri="{FF2B5EF4-FFF2-40B4-BE49-F238E27FC236}">
                <a16:creationId xmlns:a16="http://schemas.microsoft.com/office/drawing/2014/main" id="{D246F2C0-CF60-44BD-1F77-0FEFD29E4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4843361"/>
              </p:ext>
            </p:extLst>
          </p:nvPr>
        </p:nvGraphicFramePr>
        <p:xfrm>
          <a:off x="4123593" y="4371547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754171210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1397962389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Fumaça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Redução de visibilidade, alteração de rotas e aumento do risco.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443907"/>
                  </a:ext>
                </a:extLst>
              </a:tr>
            </a:tbl>
          </a:graphicData>
        </a:graphic>
      </p:graphicFrame>
      <p:graphicFrame>
        <p:nvGraphicFramePr>
          <p:cNvPr id="20" name="Tabela 19">
            <a:extLst>
              <a:ext uri="{FF2B5EF4-FFF2-40B4-BE49-F238E27FC236}">
                <a16:creationId xmlns:a16="http://schemas.microsoft.com/office/drawing/2014/main" id="{C4EDC352-BF8B-EF3F-409C-FF52BDC37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176899"/>
              </p:ext>
            </p:extLst>
          </p:nvPr>
        </p:nvGraphicFramePr>
        <p:xfrm>
          <a:off x="4123593" y="4786393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4071190776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2765411469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Restrições físicas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Células bloqueadas, escadas com capacidade limitada e possibilidade de congestionamento.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85878"/>
                  </a:ext>
                </a:extLst>
              </a:tr>
            </a:tbl>
          </a:graphicData>
        </a:graphic>
      </p:graphicFrame>
      <p:graphicFrame>
        <p:nvGraphicFramePr>
          <p:cNvPr id="21" name="Tabela 20">
            <a:extLst>
              <a:ext uri="{FF2B5EF4-FFF2-40B4-BE49-F238E27FC236}">
                <a16:creationId xmlns:a16="http://schemas.microsoft.com/office/drawing/2014/main" id="{F6761221-4DF0-0A07-35C0-A8469FD25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87213"/>
              </p:ext>
            </p:extLst>
          </p:nvPr>
        </p:nvGraphicFramePr>
        <p:xfrm>
          <a:off x="4123593" y="5201045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554008529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2944791592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Fenômenos esperados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Evacuação, formação de filas, gargalos, rotas preferenciais, feridos e vítimas.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8381168"/>
                  </a:ext>
                </a:extLst>
              </a:tr>
            </a:tbl>
          </a:graphicData>
        </a:graphic>
      </p:graphicFrame>
      <p:graphicFrame>
        <p:nvGraphicFramePr>
          <p:cNvPr id="22" name="Tabela 21">
            <a:extLst>
              <a:ext uri="{FF2B5EF4-FFF2-40B4-BE49-F238E27FC236}">
                <a16:creationId xmlns:a16="http://schemas.microsoft.com/office/drawing/2014/main" id="{C2003356-1454-7890-5FF4-B6661DCE5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106633"/>
              </p:ext>
            </p:extLst>
          </p:nvPr>
        </p:nvGraphicFramePr>
        <p:xfrm>
          <a:off x="4123593" y="5606836"/>
          <a:ext cx="6559062" cy="4146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466158679"/>
                    </a:ext>
                  </a:extLst>
                </a:gridCol>
                <a:gridCol w="3815862">
                  <a:extLst>
                    <a:ext uri="{9D8B030D-6E8A-4147-A177-3AD203B41FA5}">
                      <a16:colId xmlns:a16="http://schemas.microsoft.com/office/drawing/2014/main" val="3215144278"/>
                    </a:ext>
                  </a:extLst>
                </a:gridCol>
              </a:tblGrid>
              <a:tr h="3422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Função metodológica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Servir como base de validação para o modelo, o formalismo e os resultados.</a:t>
                      </a:r>
                    </a:p>
                  </a:txBody>
                  <a:tcPr marL="48891" marR="48891" marT="24446" marB="24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22311"/>
                  </a:ext>
                </a:extLst>
              </a:tr>
            </a:tbl>
          </a:graphicData>
        </a:graphic>
      </p:graphicFrame>
      <p:sp>
        <p:nvSpPr>
          <p:cNvPr id="2" name="Chave Esquerda 1">
            <a:extLst>
              <a:ext uri="{FF2B5EF4-FFF2-40B4-BE49-F238E27FC236}">
                <a16:creationId xmlns:a16="http://schemas.microsoft.com/office/drawing/2014/main" id="{F02A0FF4-5476-239F-43E4-D75E42CFE62A}"/>
              </a:ext>
            </a:extLst>
          </p:cNvPr>
          <p:cNvSpPr/>
          <p:nvPr/>
        </p:nvSpPr>
        <p:spPr>
          <a:xfrm>
            <a:off x="3314701" y="619858"/>
            <a:ext cx="808892" cy="5618284"/>
          </a:xfrm>
          <a:prstGeom prst="leftBrace">
            <a:avLst>
              <a:gd name="adj1" fmla="val 0"/>
              <a:gd name="adj2" fmla="val 50000"/>
            </a:avLst>
          </a:prstGeom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597D3A3-C42E-ADA2-E93A-73C94DB9185B}"/>
              </a:ext>
            </a:extLst>
          </p:cNvPr>
          <p:cNvSpPr txBox="1"/>
          <p:nvPr/>
        </p:nvSpPr>
        <p:spPr>
          <a:xfrm>
            <a:off x="967155" y="3244334"/>
            <a:ext cx="2532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Propriedades de S</a:t>
            </a:r>
          </a:p>
        </p:txBody>
      </p:sp>
    </p:spTree>
    <p:extLst>
      <p:ext uri="{BB962C8B-B14F-4D97-AF65-F5344CB8AC3E}">
        <p14:creationId xmlns:p14="http://schemas.microsoft.com/office/powerpoint/2010/main" val="376972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A29C7-645E-D5F5-D652-B5F194475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B722FD8-4BE1-DF7D-4ADC-581BB2C92B46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2. Modelagem</a:t>
            </a:r>
          </a:p>
        </p:txBody>
      </p:sp>
    </p:spTree>
    <p:extLst>
      <p:ext uri="{BB962C8B-B14F-4D97-AF65-F5344CB8AC3E}">
        <p14:creationId xmlns:p14="http://schemas.microsoft.com/office/powerpoint/2010/main" val="1764901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618911F-C30D-EE7A-E712-E08E56536012}"/>
              </a:ext>
            </a:extLst>
          </p:cNvPr>
          <p:cNvSpPr/>
          <p:nvPr/>
        </p:nvSpPr>
        <p:spPr>
          <a:xfrm>
            <a:off x="880796" y="631371"/>
            <a:ext cx="1630018" cy="81642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1. Identificação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9AB7694-572B-A7B5-F667-35D85E86B910}"/>
              </a:ext>
            </a:extLst>
          </p:cNvPr>
          <p:cNvSpPr/>
          <p:nvPr/>
        </p:nvSpPr>
        <p:spPr>
          <a:xfrm>
            <a:off x="3519398" y="615042"/>
            <a:ext cx="4565373" cy="1077861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Artigos identificados por meio de busca em banco de dados: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 Web of Science (n= 18)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Scopus (n= 22 )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IEEE(n= 15 )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6598904-72E3-BD06-D0C1-7204C26C27B5}"/>
              </a:ext>
            </a:extLst>
          </p:cNvPr>
          <p:cNvSpPr/>
          <p:nvPr/>
        </p:nvSpPr>
        <p:spPr>
          <a:xfrm>
            <a:off x="9093354" y="446225"/>
            <a:ext cx="2970825" cy="1418133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200" dirty="0">
                <a:solidFill>
                  <a:schemeClr val="bg2"/>
                </a:solidFill>
              </a:rPr>
              <a:t>("fire evacuation" OR "building fire" OR "building evacuation" OR "occupant evacuation" OR "smoke spread" OR "fire dynamics") AND ("</a:t>
            </a:r>
            <a:r>
              <a:rPr lang="en-US" sz="1200" dirty="0" err="1">
                <a:solidFill>
                  <a:schemeClr val="bg2"/>
                </a:solidFill>
              </a:rPr>
              <a:t>NetLogo</a:t>
            </a:r>
            <a:r>
              <a:rPr lang="en-US" sz="1200" dirty="0">
                <a:solidFill>
                  <a:schemeClr val="bg2"/>
                </a:solidFill>
              </a:rPr>
              <a:t>" OR "Fire Dynamics Simulator" OR FDS OR "</a:t>
            </a:r>
            <a:r>
              <a:rPr lang="en-US" sz="1200" dirty="0" err="1">
                <a:solidFill>
                  <a:schemeClr val="bg2"/>
                </a:solidFill>
              </a:rPr>
              <a:t>FDS+Evac</a:t>
            </a:r>
            <a:r>
              <a:rPr lang="en-US" sz="1200" dirty="0">
                <a:solidFill>
                  <a:schemeClr val="bg2"/>
                </a:solidFill>
              </a:rPr>
              <a:t>" OR "Python" OR "Python-based simulation")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1A9D67D-8C61-D8A9-FD31-999B9D6AE17C}"/>
              </a:ext>
            </a:extLst>
          </p:cNvPr>
          <p:cNvCxnSpPr>
            <a:cxnSpLocks/>
            <a:stCxn id="4" idx="1"/>
            <a:endCxn id="3" idx="3"/>
          </p:cNvCxnSpPr>
          <p:nvPr/>
        </p:nvCxnSpPr>
        <p:spPr>
          <a:xfrm flipH="1" flipV="1">
            <a:off x="8084771" y="1153973"/>
            <a:ext cx="1008583" cy="1319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0F98B93-4D54-1C0D-BF17-AD5B905C914D}"/>
              </a:ext>
            </a:extLst>
          </p:cNvPr>
          <p:cNvSpPr/>
          <p:nvPr/>
        </p:nvSpPr>
        <p:spPr>
          <a:xfrm>
            <a:off x="3519398" y="2133776"/>
            <a:ext cx="4565373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 Web of Science (n= 15 )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Scopus (n=  18)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IEEE(n=  12)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2AD511C-C129-57CB-751D-E2D4854AB865}"/>
              </a:ext>
            </a:extLst>
          </p:cNvPr>
          <p:cNvSpPr/>
          <p:nvPr/>
        </p:nvSpPr>
        <p:spPr>
          <a:xfrm>
            <a:off x="9093355" y="2155550"/>
            <a:ext cx="1630018" cy="86541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Citações totais / (Ano da coleta − Ano de publicação + 1)</a:t>
            </a:r>
            <a:endParaRPr lang="pt-BR" sz="1200" dirty="0">
              <a:solidFill>
                <a:schemeClr val="bg1"/>
              </a:solidFill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3A10F3A3-7629-F2B0-1488-2523ABBDC592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8084771" y="2574648"/>
            <a:ext cx="1008584" cy="13609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6F2A046C-011B-C34E-4E6E-95FAA8792570}"/>
              </a:ext>
            </a:extLst>
          </p:cNvPr>
          <p:cNvCxnSpPr>
            <a:cxnSpLocks/>
            <a:stCxn id="3" idx="2"/>
            <a:endCxn id="10" idx="0"/>
          </p:cNvCxnSpPr>
          <p:nvPr/>
        </p:nvCxnSpPr>
        <p:spPr>
          <a:xfrm>
            <a:off x="5802085" y="1692903"/>
            <a:ext cx="0" cy="440873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9249F0A-4331-C15E-48DB-518EF9D8AF30}"/>
              </a:ext>
            </a:extLst>
          </p:cNvPr>
          <p:cNvSpPr/>
          <p:nvPr/>
        </p:nvSpPr>
        <p:spPr>
          <a:xfrm>
            <a:off x="880796" y="3314875"/>
            <a:ext cx="1630018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2. Triagem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C402D7CE-3D8B-6D50-EBC5-1750F01D5CF8}"/>
              </a:ext>
            </a:extLst>
          </p:cNvPr>
          <p:cNvSpPr/>
          <p:nvPr/>
        </p:nvSpPr>
        <p:spPr>
          <a:xfrm>
            <a:off x="3519398" y="3298547"/>
            <a:ext cx="4565373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selecionados para triagem de resumos (n= 30)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96B2F14A-C8B4-58F8-4704-DC79DCB6054C}"/>
              </a:ext>
            </a:extLst>
          </p:cNvPr>
          <p:cNvSpPr/>
          <p:nvPr/>
        </p:nvSpPr>
        <p:spPr>
          <a:xfrm>
            <a:off x="9172277" y="3298547"/>
            <a:ext cx="1630018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Duplicados removidos (n = 15)</a:t>
            </a:r>
          </a:p>
        </p:txBody>
      </p: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2976A488-BB4A-A4F2-558D-6E54C8C9E45C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8242615" y="3739419"/>
            <a:ext cx="929662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8752AC9-1EFF-644F-1430-281D29146D4F}"/>
              </a:ext>
            </a:extLst>
          </p:cNvPr>
          <p:cNvSpPr/>
          <p:nvPr/>
        </p:nvSpPr>
        <p:spPr>
          <a:xfrm>
            <a:off x="880796" y="4479646"/>
            <a:ext cx="1630018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3. Eligibilidade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C9B3F532-4FAE-11A2-4749-49328AA1E632}"/>
              </a:ext>
            </a:extLst>
          </p:cNvPr>
          <p:cNvSpPr/>
          <p:nvPr/>
        </p:nvSpPr>
        <p:spPr>
          <a:xfrm>
            <a:off x="3519398" y="4479646"/>
            <a:ext cx="4565373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de texto completo avaliados para elegibilidade (n= 20)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F9EF43DD-005E-54BF-84C0-3FD447102B32}"/>
              </a:ext>
            </a:extLst>
          </p:cNvPr>
          <p:cNvSpPr/>
          <p:nvPr/>
        </p:nvSpPr>
        <p:spPr>
          <a:xfrm>
            <a:off x="9172277" y="4479646"/>
            <a:ext cx="1630018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excluídos: (n= 10)</a:t>
            </a:r>
          </a:p>
        </p:txBody>
      </p: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01E4EBD7-52F5-C7B3-CC1B-7F4F305BC494}"/>
              </a:ext>
            </a:extLst>
          </p:cNvPr>
          <p:cNvCxnSpPr>
            <a:cxnSpLocks/>
            <a:stCxn id="10" idx="2"/>
            <a:endCxn id="21" idx="0"/>
          </p:cNvCxnSpPr>
          <p:nvPr/>
        </p:nvCxnSpPr>
        <p:spPr>
          <a:xfrm>
            <a:off x="5802085" y="3015520"/>
            <a:ext cx="0" cy="28302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4C6F9E7B-278E-EC7F-0259-231ED8217010}"/>
              </a:ext>
            </a:extLst>
          </p:cNvPr>
          <p:cNvCxnSpPr>
            <a:cxnSpLocks/>
            <a:stCxn id="21" idx="2"/>
            <a:endCxn id="26" idx="0"/>
          </p:cNvCxnSpPr>
          <p:nvPr/>
        </p:nvCxnSpPr>
        <p:spPr>
          <a:xfrm>
            <a:off x="5802085" y="4180291"/>
            <a:ext cx="0" cy="299355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269D0BAB-A3ED-BAEE-B2BE-A40F01B772AA}"/>
              </a:ext>
            </a:extLst>
          </p:cNvPr>
          <p:cNvCxnSpPr>
            <a:cxnSpLocks/>
            <a:stCxn id="27" idx="1"/>
            <a:endCxn id="26" idx="3"/>
          </p:cNvCxnSpPr>
          <p:nvPr/>
        </p:nvCxnSpPr>
        <p:spPr>
          <a:xfrm flipH="1">
            <a:off x="8084771" y="4920518"/>
            <a:ext cx="1087506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13B59E7E-6D6E-4C1E-C083-E0655AB6DF9F}"/>
              </a:ext>
            </a:extLst>
          </p:cNvPr>
          <p:cNvSpPr/>
          <p:nvPr/>
        </p:nvSpPr>
        <p:spPr>
          <a:xfrm>
            <a:off x="880796" y="5660745"/>
            <a:ext cx="1630018" cy="88174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4. Incluídos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02DB279C-DA3F-81C6-D407-C6F2DA79A9F6}"/>
              </a:ext>
            </a:extLst>
          </p:cNvPr>
          <p:cNvSpPr/>
          <p:nvPr/>
        </p:nvSpPr>
        <p:spPr>
          <a:xfrm>
            <a:off x="3519398" y="5660745"/>
            <a:ext cx="4565373" cy="88174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Estudos elegíveis incluídos na revisão final (n= 10)</a:t>
            </a:r>
          </a:p>
        </p:txBody>
      </p:sp>
    </p:spTree>
    <p:extLst>
      <p:ext uri="{BB962C8B-B14F-4D97-AF65-F5344CB8AC3E}">
        <p14:creationId xmlns:p14="http://schemas.microsoft.com/office/powerpoint/2010/main" val="203326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0CC01C5-1252-080E-B593-6A1F16BCC917}"/>
              </a:ext>
            </a:extLst>
          </p:cNvPr>
          <p:cNvSpPr txBox="1"/>
          <p:nvPr/>
        </p:nvSpPr>
        <p:spPr>
          <a:xfrm>
            <a:off x="301244" y="676656"/>
            <a:ext cx="9838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 baixo encontrasse a tabela com 10 artigos para a revisão bibliográfica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1748261-5AFB-E382-3AB3-605FD9824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087813"/>
              </p:ext>
            </p:extLst>
          </p:nvPr>
        </p:nvGraphicFramePr>
        <p:xfrm>
          <a:off x="176021" y="1331214"/>
          <a:ext cx="11839957" cy="4594692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73860">
                  <a:extLst>
                    <a:ext uri="{9D8B030D-6E8A-4147-A177-3AD203B41FA5}">
                      <a16:colId xmlns:a16="http://schemas.microsoft.com/office/drawing/2014/main" val="891666832"/>
                    </a:ext>
                  </a:extLst>
                </a:gridCol>
                <a:gridCol w="2171855">
                  <a:extLst>
                    <a:ext uri="{9D8B030D-6E8A-4147-A177-3AD203B41FA5}">
                      <a16:colId xmlns:a16="http://schemas.microsoft.com/office/drawing/2014/main" val="2351778930"/>
                    </a:ext>
                  </a:extLst>
                </a:gridCol>
                <a:gridCol w="1968280">
                  <a:extLst>
                    <a:ext uri="{9D8B030D-6E8A-4147-A177-3AD203B41FA5}">
                      <a16:colId xmlns:a16="http://schemas.microsoft.com/office/drawing/2014/main" val="3035529529"/>
                    </a:ext>
                  </a:extLst>
                </a:gridCol>
                <a:gridCol w="1998559">
                  <a:extLst>
                    <a:ext uri="{9D8B030D-6E8A-4147-A177-3AD203B41FA5}">
                      <a16:colId xmlns:a16="http://schemas.microsoft.com/office/drawing/2014/main" val="3042827053"/>
                    </a:ext>
                  </a:extLst>
                </a:gridCol>
                <a:gridCol w="2059123">
                  <a:extLst>
                    <a:ext uri="{9D8B030D-6E8A-4147-A177-3AD203B41FA5}">
                      <a16:colId xmlns:a16="http://schemas.microsoft.com/office/drawing/2014/main" val="1947812782"/>
                    </a:ext>
                  </a:extLst>
                </a:gridCol>
                <a:gridCol w="1968280">
                  <a:extLst>
                    <a:ext uri="{9D8B030D-6E8A-4147-A177-3AD203B41FA5}">
                      <a16:colId xmlns:a16="http://schemas.microsoft.com/office/drawing/2014/main" val="3400663158"/>
                    </a:ext>
                  </a:extLst>
                </a:gridCol>
              </a:tblGrid>
              <a:tr h="207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PARÂMETROS / ARTIGOS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1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2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3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313924"/>
                  </a:ext>
                </a:extLst>
              </a:tr>
              <a:tr h="65604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Identificação do artigo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Experimental study and numerical simulation for a storehouse fire accident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A probabilistic occupant evacuation model for fire emergencies using Monte Carlo methods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Agent-based evacuation model incorporating fire scene and building geometry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An agent-based simulator for indoor crowd evacuation considering fire impacts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An Integrated Method for Fire Risk Assessment in Residential Buildings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78818193"/>
                  </a:ext>
                </a:extLst>
              </a:tr>
              <a:tr h="6218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Problema de pesquisa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Reconstrução e compreensão da dinâmica de incêndios reais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Modelar evacuação considerando incertezas no comportamento humano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Integrar fogo, geometria e comportamento em simulação de evacuação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Incorporar impactos do fogo no comportamento dos evacuees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Avaliar o risco de incêndio em edifícios residenciais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878852512"/>
                  </a:ext>
                </a:extLst>
              </a:tr>
              <a:tr h="6218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Critérios de análise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Temperatura, propagação do fogo, taxa de liberação de calor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Tempo de evacuação, distribuição probabilística, comportamento estocástico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Tempo de evacuação, interação agente-ambiente, influência do fogo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Velocidade, saúde, tomada de decisão, exposição a riscos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Probabilidade, severidade, fatores de risco, análise fuzzy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61643715"/>
                  </a:ext>
                </a:extLst>
              </a:tr>
              <a:tr h="6218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Objeto empírico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Incêndio em armazém (experimento + simulação CFD)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Simulações computacionais de evacuação (Monte Carlo)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Edifícios com modelagem geométrica e simulação FDS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Simulação de evacuação em ambientes internos (ex: museu)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Edifícios residenciais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50933435"/>
                  </a:ext>
                </a:extLst>
              </a:tr>
              <a:tr h="6218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Conceitos principais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CFD, FDS, propagação do fogo, reconstrução numérica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Modelos probabilísticos, Monte Carlo, evacuação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Sistemas multiagentes, GIS, CFD, comportamento de agentes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Modelos baseados em agentes, impacto do fogo, comportamento humano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Análise de risco, teoria fuzzy, ER (evidential reasoning)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22960817"/>
                  </a:ext>
                </a:extLst>
              </a:tr>
              <a:tr h="6218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Definições adotadas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Incêndio como processo físico dinâmico modelado por CFD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Evacuação como processo probabilístico com variáveis aleatórias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Evacuação como interação entre agentes, ambiente e fogo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Evacuação como processo dinâmico afetado por calor, fumaça e gases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Risco como combinação de probabilidade e severidade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67793945"/>
                  </a:ext>
                </a:extLst>
              </a:tr>
              <a:tr h="6218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Hipóteses e pressupostos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Modelos numéricos podem reproduzir incêndios reais com precisão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Comportamento humano pode ser representado por distribuições probabilísticas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Agentes tomam decisões baseadas em ambiente e percepção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Fatores como fumaça e calor alteram comportamento e mobilidade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Fatores de risco podem ser quantificados via lógica </a:t>
                      </a:r>
                      <a:r>
                        <a:rPr lang="pt-BR" sz="1000" u="none" strike="noStrike" dirty="0" err="1">
                          <a:effectLst/>
                        </a:rPr>
                        <a:t>fuzzy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59927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0960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772A1BE3-7FAA-F07B-2214-D94A7C5F7B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56947"/>
              </p:ext>
            </p:extLst>
          </p:nvPr>
        </p:nvGraphicFramePr>
        <p:xfrm>
          <a:off x="426719" y="1229558"/>
          <a:ext cx="11338561" cy="437814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02964">
                  <a:extLst>
                    <a:ext uri="{9D8B030D-6E8A-4147-A177-3AD203B41FA5}">
                      <a16:colId xmlns:a16="http://schemas.microsoft.com/office/drawing/2014/main" val="1345072528"/>
                    </a:ext>
                  </a:extLst>
                </a:gridCol>
                <a:gridCol w="1979893">
                  <a:extLst>
                    <a:ext uri="{9D8B030D-6E8A-4147-A177-3AD203B41FA5}">
                      <a16:colId xmlns:a16="http://schemas.microsoft.com/office/drawing/2014/main" val="2555319018"/>
                    </a:ext>
                  </a:extLst>
                </a:gridCol>
                <a:gridCol w="1884927">
                  <a:extLst>
                    <a:ext uri="{9D8B030D-6E8A-4147-A177-3AD203B41FA5}">
                      <a16:colId xmlns:a16="http://schemas.microsoft.com/office/drawing/2014/main" val="2929565287"/>
                    </a:ext>
                  </a:extLst>
                </a:gridCol>
                <a:gridCol w="1913927">
                  <a:extLst>
                    <a:ext uri="{9D8B030D-6E8A-4147-A177-3AD203B41FA5}">
                      <a16:colId xmlns:a16="http://schemas.microsoft.com/office/drawing/2014/main" val="476675093"/>
                    </a:ext>
                  </a:extLst>
                </a:gridCol>
                <a:gridCol w="1971923">
                  <a:extLst>
                    <a:ext uri="{9D8B030D-6E8A-4147-A177-3AD203B41FA5}">
                      <a16:colId xmlns:a16="http://schemas.microsoft.com/office/drawing/2014/main" val="3065936590"/>
                    </a:ext>
                  </a:extLst>
                </a:gridCol>
                <a:gridCol w="1884927">
                  <a:extLst>
                    <a:ext uri="{9D8B030D-6E8A-4147-A177-3AD203B41FA5}">
                      <a16:colId xmlns:a16="http://schemas.microsoft.com/office/drawing/2014/main" val="3787514625"/>
                    </a:ext>
                  </a:extLst>
                </a:gridCol>
              </a:tblGrid>
              <a:tr h="196413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PARÂMETROS / ARTIGOS</a:t>
                      </a:r>
                    </a:p>
                  </a:txBody>
                  <a:tcPr marL="7568" marR="7568" marT="7568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6</a:t>
                      </a:r>
                    </a:p>
                  </a:txBody>
                  <a:tcPr marL="7568" marR="7568" marT="7568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7</a:t>
                      </a:r>
                    </a:p>
                  </a:txBody>
                  <a:tcPr marL="7568" marR="7568" marT="7568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8</a:t>
                      </a:r>
                    </a:p>
                  </a:txBody>
                  <a:tcPr marL="7568" marR="7568" marT="7568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9</a:t>
                      </a:r>
                    </a:p>
                  </a:txBody>
                  <a:tcPr marL="7568" marR="7568" marT="7568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Trabalho Correlato 10</a:t>
                      </a:r>
                    </a:p>
                  </a:txBody>
                  <a:tcPr marL="7568" marR="7568" marT="7568" marB="0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964132"/>
                  </a:ext>
                </a:extLst>
              </a:tr>
              <a:tr h="80485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Identificação do artigo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 building information modeling-based fire emergency evacuation simulation system for large infrastructures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Fire risk analysis of residential buildings based on scenario clusters and its application in fire risk management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Optimal route selection model for fire evacuations based on hazard prediction data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Review of the Use of Fire Dynamics Theory in Fire Service Activities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Simulation Research on Fire Evacuation of Large Public Buildings Based on Building Information Modeling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3660147144"/>
                  </a:ext>
                </a:extLst>
              </a:tr>
              <a:tr h="5892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Problema de pesquisa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Dificuldade de evacuação eficiente em infraestruturas complexas com incêndio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Falta de métodos sistemáticos para análise de risco de incêndio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Ineficiência de rotas pré-definidas em cenários dinâmicos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Baixa integração entre teoria de dinâmica do fogo e prática operacional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Ineficiência das estratégias tradicionais de evacuação em edifícios grandes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1825329760"/>
                  </a:ext>
                </a:extLst>
              </a:tr>
              <a:tr h="626912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Critérios de análise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Tempo de evacuação, comportamento humano, propagação do fogo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Probabilidade de incêndio, perdas humanas e materiais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Tempo de evacuação, exposição à fumaça, segurança das rotas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Uso da teoria em prevenção, operação e investigação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Tempo de evacuação, estratégias (escadas </a:t>
                      </a:r>
                      <a:r>
                        <a:rPr lang="pt-BR" sz="10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elevadores), densidade populacional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732374175"/>
                  </a:ext>
                </a:extLst>
              </a:tr>
              <a:tr h="392827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Objeto empírico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Estação de metrô (China)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Edifícios residenciais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Modelo computacional de edifícios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Literatura científica + entrevistas com bombeiros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Cantina universitária (edifício público)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593303448"/>
                  </a:ext>
                </a:extLst>
              </a:tr>
              <a:tr h="530717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Conceitos principais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BIM, simulação de evacuação, FDS, otimização de rotas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Risco de incêndio, clusters de cenários, gestão de risco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Algoritmo A*, previsão de risco, simulação computacional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Dinâmica do fogo, engenharia de segurança, </a:t>
                      </a:r>
                      <a:r>
                        <a:rPr lang="pt-BR" sz="10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firefighting</a:t>
                      </a:r>
                      <a:endParaRPr lang="pt-B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BIM, simulação, evacuação vertical, estratégias combinadas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179068664"/>
                  </a:ext>
                </a:extLst>
              </a:tr>
              <a:tr h="647943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Definições adotadas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Evacuação como processo dinâmico influenciado por fogo e comportamento humano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Risco = probabilidade × consequência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Rota ótima = caminho mais seguro e rápido considerando riscos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Dinâmica do fogo como base para decisões operacionais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Estratégia ótima baseada na simulação de cenários de evacuação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1446104264"/>
                  </a:ext>
                </a:extLst>
              </a:tr>
              <a:tr h="5892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50" b="1" kern="12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Hipóteses e pressupostos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Integração de dados (BIM + sensores + simulação) melhora evacuação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Modelagem por cenários permite melhor gestão de risco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Previsão antecipada de riscos melhora escolha de rotas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Maior uso da teoria pode melhorar atuação dos bombeiros</a:t>
                      </a:r>
                    </a:p>
                  </a:txBody>
                  <a:tcPr marL="7568" marR="7568" marT="7568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pt-BR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Combinação escadas + elevadores reduz tempo de evacuação</a:t>
                      </a:r>
                    </a:p>
                  </a:txBody>
                  <a:tcPr marL="7568" marR="7568" marT="7568" marB="0" anchor="ctr"/>
                </a:tc>
                <a:extLst>
                  <a:ext uri="{0D108BD9-81ED-4DB2-BD59-A6C34878D82A}">
                    <a16:rowId xmlns:a16="http://schemas.microsoft.com/office/drawing/2014/main" val="328922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4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7373A3E1-4671-064D-E87B-74EDE5334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684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6C9F-62B3-9027-CE87-419B0ACD6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1C5FA92-C48F-00BD-8AF8-56DD40B18358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3. Formalismo</a:t>
            </a:r>
          </a:p>
        </p:txBody>
      </p:sp>
    </p:spTree>
    <p:extLst>
      <p:ext uri="{BB962C8B-B14F-4D97-AF65-F5344CB8AC3E}">
        <p14:creationId xmlns:p14="http://schemas.microsoft.com/office/powerpoint/2010/main" val="3062111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E23C-3C29-AB43-CC1C-29FC59C61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6E588AE-613D-0F01-5119-F2764DFE15B7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4. Computador</a:t>
            </a:r>
          </a:p>
        </p:txBody>
      </p:sp>
    </p:spTree>
    <p:extLst>
      <p:ext uri="{BB962C8B-B14F-4D97-AF65-F5344CB8AC3E}">
        <p14:creationId xmlns:p14="http://schemas.microsoft.com/office/powerpoint/2010/main" val="138043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BE59-FE81-33A7-70E3-E0CBC48D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832CDFC-286D-70E6-7117-22E38D31685C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5. Execução</a:t>
            </a:r>
          </a:p>
        </p:txBody>
      </p:sp>
    </p:spTree>
    <p:extLst>
      <p:ext uri="{BB962C8B-B14F-4D97-AF65-F5344CB8AC3E}">
        <p14:creationId xmlns:p14="http://schemas.microsoft.com/office/powerpoint/2010/main" val="3743239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B3F0-BC85-C350-CE74-951AA51A8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168FC49-E03F-BACA-EC63-7EF8D148230E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6. Observação</a:t>
            </a:r>
          </a:p>
        </p:txBody>
      </p:sp>
    </p:spTree>
    <p:extLst>
      <p:ext uri="{BB962C8B-B14F-4D97-AF65-F5344CB8AC3E}">
        <p14:creationId xmlns:p14="http://schemas.microsoft.com/office/powerpoint/2010/main" val="31011838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5929</TotalTime>
  <Words>1398</Words>
  <Application>Microsoft Office PowerPoint</Application>
  <PresentationFormat>Widescreen</PresentationFormat>
  <Paragraphs>180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Aptos</vt:lpstr>
      <vt:lpstr>Aptos Narrow</vt:lpstr>
      <vt:lpstr>Arial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Marcos Mattedi</dc:creator>
  <cp:lastModifiedBy>sarah de barcelos freitas</cp:lastModifiedBy>
  <cp:revision>14</cp:revision>
  <dcterms:created xsi:type="dcterms:W3CDTF">2026-04-13T15:47:06Z</dcterms:created>
  <dcterms:modified xsi:type="dcterms:W3CDTF">2026-05-07T21:32:20Z</dcterms:modified>
</cp:coreProperties>
</file>