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6" r:id="rId5"/>
    <p:sldId id="267" r:id="rId6"/>
    <p:sldId id="263" r:id="rId7"/>
    <p:sldId id="1698" r:id="rId8"/>
    <p:sldId id="268" r:id="rId9"/>
    <p:sldId id="269" r:id="rId10"/>
    <p:sldId id="1699" r:id="rId11"/>
    <p:sldId id="259" r:id="rId12"/>
    <p:sldId id="273" r:id="rId13"/>
    <p:sldId id="274" r:id="rId14"/>
    <p:sldId id="260" r:id="rId15"/>
    <p:sldId id="1702" r:id="rId16"/>
    <p:sldId id="261" r:id="rId17"/>
    <p:sldId id="262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9C37A4-88C6-4B41-BBC3-45018DA13F57}" v="3" dt="2026-05-04T09:46:41.9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8FB8EE-F128-40E9-8C38-0730BFD4169A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5EB72E-18FB-4B26-987F-9189232A5A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7507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0C17B-0A72-4CE8-B023-6D1C17B7998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112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843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6"/>
          <p:cNvPicPr/>
          <p:nvPr/>
        </p:nvPicPr>
        <p:blipFill>
          <a:blip r:embed="rId2"/>
          <a:stretch/>
        </p:blipFill>
        <p:spPr>
          <a:xfrm>
            <a:off x="173880" y="106560"/>
            <a:ext cx="461520" cy="23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Imagem 7" descr="Uma imagem contendo placar, desenho&#10;&#10;Descrição gerada automaticamente"/>
          <p:cNvPicPr/>
          <p:nvPr/>
        </p:nvPicPr>
        <p:blipFill>
          <a:blip r:embed="rId3"/>
          <a:srcRect l="7362" t="15322" r="9331" b="15322"/>
          <a:stretch/>
        </p:blipFill>
        <p:spPr>
          <a:xfrm>
            <a:off x="11676240" y="120960"/>
            <a:ext cx="341280" cy="2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Retângulo 8"/>
          <p:cNvSpPr/>
          <p:nvPr/>
        </p:nvSpPr>
        <p:spPr>
          <a:xfrm>
            <a:off x="0" y="96840"/>
            <a:ext cx="12191760" cy="317880"/>
          </a:xfrm>
          <a:prstGeom prst="rect">
            <a:avLst/>
          </a:prstGeom>
          <a:solidFill>
            <a:schemeClr val="lt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1" u="none" strike="noStrike">
              <a:solidFill>
                <a:schemeClr val="dk2">
                  <a:lumMod val="90000"/>
                  <a:lumOff val="10000"/>
                </a:schemeClr>
              </a:solidFill>
              <a:effectLst/>
              <a:uFillTx/>
              <a:latin typeface="Aptos"/>
            </a:endParaRPr>
          </a:p>
        </p:txBody>
      </p:sp>
      <p:pic>
        <p:nvPicPr>
          <p:cNvPr id="11" name="Imagem 9" descr="Interface gráfica do usuário, Texto&#10;&#10;O conteúdo gerado por IA pode estar incorreto."/>
          <p:cNvPicPr/>
          <p:nvPr/>
        </p:nvPicPr>
        <p:blipFill>
          <a:blip r:embed="rId4"/>
          <a:srcRect t="16862" b="42005"/>
          <a:stretch/>
        </p:blipFill>
        <p:spPr>
          <a:xfrm>
            <a:off x="5840280" y="77400"/>
            <a:ext cx="511200" cy="26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510446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CB716D76-4EE0-34BB-3FE4-746A7B7F99B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73990" y="106734"/>
            <a:ext cx="461935" cy="235953"/>
          </a:xfrm>
          <a:prstGeom prst="rect">
            <a:avLst/>
          </a:prstGeom>
        </p:spPr>
      </p:pic>
      <p:pic>
        <p:nvPicPr>
          <p:cNvPr id="8" name="Imagem 7" descr="Uma imagem contendo placar, desenho&#10;&#10;Descrição gerada automaticamente">
            <a:extLst>
              <a:ext uri="{FF2B5EF4-FFF2-40B4-BE49-F238E27FC236}">
                <a16:creationId xmlns:a16="http://schemas.microsoft.com/office/drawing/2014/main" id="{144D06B7-FB8A-8452-1AF8-C83CE1E98BF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15342" r="9314" b="15342"/>
          <a:stretch/>
        </p:blipFill>
        <p:spPr>
          <a:xfrm>
            <a:off x="11676211" y="121127"/>
            <a:ext cx="341799" cy="21915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501361FC-2F74-AE7E-3415-1ABF301AF2E0}"/>
              </a:ext>
            </a:extLst>
          </p:cNvPr>
          <p:cNvSpPr/>
          <p:nvPr userDrawn="1"/>
        </p:nvSpPr>
        <p:spPr>
          <a:xfrm>
            <a:off x="-1" y="96669"/>
            <a:ext cx="12192000" cy="318404"/>
          </a:xfrm>
          <a:prstGeom prst="rect">
            <a:avLst/>
          </a:prstGeom>
          <a:solidFill>
            <a:schemeClr val="bg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10" name="Imagem 9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EC9A2412-8527-050F-1760-1D795B65936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41998"/>
          <a:stretch>
            <a:fillRect/>
          </a:stretch>
        </p:blipFill>
        <p:spPr>
          <a:xfrm>
            <a:off x="5840282" y="77509"/>
            <a:ext cx="511435" cy="26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359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11E991F-1419-1468-BE10-D2AF9BD832EA}"/>
              </a:ext>
            </a:extLst>
          </p:cNvPr>
          <p:cNvSpPr txBox="1"/>
          <p:nvPr/>
        </p:nvSpPr>
        <p:spPr>
          <a:xfrm>
            <a:off x="2794000" y="2455610"/>
            <a:ext cx="703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Título: Simulação de Evacuação de Edifícios em Chamas</a:t>
            </a:r>
          </a:p>
          <a:p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5BC1B5-ED1C-9832-E853-1E5DCBBF6E7D}"/>
              </a:ext>
            </a:extLst>
          </p:cNvPr>
          <p:cNvSpPr txBox="1"/>
          <p:nvPr/>
        </p:nvSpPr>
        <p:spPr>
          <a:xfrm>
            <a:off x="2086532" y="864415"/>
            <a:ext cx="7738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650"/>
              </a:spcBef>
              <a:spcAft>
                <a:spcPts val="825"/>
              </a:spcAft>
              <a:buNone/>
            </a:pPr>
            <a:r>
              <a:rPr lang="pt-BR" b="1" i="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MÓDULO V - SEMINÁRIO DE APRESETNTAÇÃO DOS RESULTADOS</a:t>
            </a:r>
            <a:endParaRPr lang="pt-BR" b="0" i="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7E728AB-E81F-068E-0D0C-8111400D7157}"/>
              </a:ext>
            </a:extLst>
          </p:cNvPr>
          <p:cNvSpPr txBox="1"/>
          <p:nvPr/>
        </p:nvSpPr>
        <p:spPr>
          <a:xfrm>
            <a:off x="7630677" y="3993765"/>
            <a:ext cx="349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Autores:</a:t>
            </a:r>
          </a:p>
          <a:p>
            <a:pPr algn="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Sarah de Barcelos Freitas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13F2793-2F9E-906C-DEE3-567571E01F74}"/>
              </a:ext>
            </a:extLst>
          </p:cNvPr>
          <p:cNvSpPr txBox="1"/>
          <p:nvPr/>
        </p:nvSpPr>
        <p:spPr>
          <a:xfrm>
            <a:off x="4719217" y="5993585"/>
            <a:ext cx="2608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Junho de 2026</a:t>
            </a:r>
          </a:p>
        </p:txBody>
      </p:sp>
    </p:spTree>
    <p:extLst>
      <p:ext uri="{BB962C8B-B14F-4D97-AF65-F5344CB8AC3E}">
        <p14:creationId xmlns:p14="http://schemas.microsoft.com/office/powerpoint/2010/main" val="6529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4752B93-B681-AFAB-6EB7-F01A288E8400}"/>
              </a:ext>
            </a:extLst>
          </p:cNvPr>
          <p:cNvSpPr txBox="1"/>
          <p:nvPr/>
        </p:nvSpPr>
        <p:spPr>
          <a:xfrm>
            <a:off x="2528595" y="905070"/>
            <a:ext cx="5896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Estrutura da Apresentação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F3C4A689-4D83-44CA-EE9C-67A96D08D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99999"/>
              </p:ext>
            </p:extLst>
          </p:nvPr>
        </p:nvGraphicFramePr>
        <p:xfrm>
          <a:off x="1259659" y="1448045"/>
          <a:ext cx="9377239" cy="4354870"/>
        </p:xfrm>
        <a:graphic>
          <a:graphicData uri="http://schemas.openxmlformats.org/drawingml/2006/table">
            <a:tbl>
              <a:tblPr/>
              <a:tblGrid>
                <a:gridCol w="858390">
                  <a:extLst>
                    <a:ext uri="{9D8B030D-6E8A-4147-A177-3AD203B41FA5}">
                      <a16:colId xmlns:a16="http://schemas.microsoft.com/office/drawing/2014/main" val="3535084583"/>
                    </a:ext>
                  </a:extLst>
                </a:gridCol>
                <a:gridCol w="2211355">
                  <a:extLst>
                    <a:ext uri="{9D8B030D-6E8A-4147-A177-3AD203B41FA5}">
                      <a16:colId xmlns:a16="http://schemas.microsoft.com/office/drawing/2014/main" val="1130658036"/>
                    </a:ext>
                  </a:extLst>
                </a:gridCol>
                <a:gridCol w="6307494">
                  <a:extLst>
                    <a:ext uri="{9D8B030D-6E8A-4147-A177-3AD203B41FA5}">
                      <a16:colId xmlns:a16="http://schemas.microsoft.com/office/drawing/2014/main" val="3729648614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Etapa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Nome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rgbClr val="FF0000"/>
                          </a:solidFill>
                        </a:rPr>
                        <a:t>Descrição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87901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de Referência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Define o problema real a ser estudado (ex: evacuação de um prédio).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737026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Modelagem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Representação simplificada do sistema real (regras, agentes, ambiente).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944287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Formalismo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Tradução do modelo para linguagem formal/matemática ou lógica.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14342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4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Computador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Implementação do modelo em código (programação da simulação).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816725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5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Execução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Rodar a simulação com diferentes parâmetros e cenários.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23144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6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Observação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Análise dos resultados obtidos (gráficos, métricas, conclusões).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712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8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0F32-FD66-0C26-75DA-A9DDED95F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44EB669-D9BB-1EF5-9A40-55EB1D8A7DED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 Sistema de Referência</a:t>
            </a:r>
          </a:p>
        </p:txBody>
      </p:sp>
    </p:spTree>
    <p:extLst>
      <p:ext uri="{BB962C8B-B14F-4D97-AF65-F5344CB8AC3E}">
        <p14:creationId xmlns:p14="http://schemas.microsoft.com/office/powerpoint/2010/main" val="1905564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7B76E1A1-A1E2-7CB2-D4DD-28FAEC7A56EE}"/>
              </a:ext>
            </a:extLst>
          </p:cNvPr>
          <p:cNvSpPr txBox="1"/>
          <p:nvPr/>
        </p:nvSpPr>
        <p:spPr>
          <a:xfrm>
            <a:off x="404447" y="689633"/>
            <a:ext cx="5767754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 </a:t>
            </a:r>
            <a:r>
              <a:rPr lang="pt-BR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Sistema de Referência </a:t>
            </a:r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consiste em um edifício residencial de 30 andares em situação de incêndio, utilizado como base empírica para a simulação de evacuação. Cada pavimento possui dimensão aproximada de 20 × 20 m e será discretizado em uma grade de 20 × 20 células. O edifício contém apartamentos, corredores, elevadores bloqueados e escada de emergência como rota principal. A população inicial é composta por 180 ocupantes, distribuídos entre adultos, crianças, idosos e </a:t>
            </a:r>
            <a:r>
              <a:rPr lang="pt-BR" sz="1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PcD</a:t>
            </a:r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, permitindo representar diferentes condições de mobilidade. O incêndio possui origem e material combustível parametrizáveis, afetando propagação do fogo, formação de fumaça, visibilidade e acessibilidade das rotas. O Sistema de Referência define, portanto, as restrições físicas, populacionais e operacionais que servirão de base para a modelagem, execução e validação da simulação.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C1678CC-052C-8862-D45D-319FEC184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327" y="689633"/>
            <a:ext cx="4809281" cy="4922749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E79F7E06-FD49-A737-2463-49F6E2E7A9B8}"/>
              </a:ext>
            </a:extLst>
          </p:cNvPr>
          <p:cNvSpPr txBox="1"/>
          <p:nvPr/>
        </p:nvSpPr>
        <p:spPr>
          <a:xfrm>
            <a:off x="7666893" y="5612382"/>
            <a:ext cx="27815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Imagem 1: Planta de um dos andares do prédio</a:t>
            </a:r>
          </a:p>
        </p:txBody>
      </p:sp>
    </p:spTree>
    <p:extLst>
      <p:ext uri="{BB962C8B-B14F-4D97-AF65-F5344CB8AC3E}">
        <p14:creationId xmlns:p14="http://schemas.microsoft.com/office/powerpoint/2010/main" val="1466528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1FB0A-08AD-8F23-6F5A-62DDC652C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61F0B17F-919A-19E3-F53F-30F9083CE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696127"/>
              </p:ext>
            </p:extLst>
          </p:nvPr>
        </p:nvGraphicFramePr>
        <p:xfrm>
          <a:off x="4123593" y="909440"/>
          <a:ext cx="6559062" cy="2317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458414051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101983554"/>
                    </a:ext>
                  </a:extLst>
                </a:gridCol>
              </a:tblGrid>
              <a:tr h="1955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b="1">
                          <a:solidFill>
                            <a:srgbClr val="FF0000"/>
                          </a:solidFill>
                        </a:rPr>
                        <a:t>Dimensão do Sistema de Referência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b="1" dirty="0">
                          <a:solidFill>
                            <a:srgbClr val="FF0000"/>
                          </a:solidFill>
                        </a:rPr>
                        <a:t>Caracterização necessária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23341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2C072602-2099-BC2B-C622-1D006DB139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788386"/>
              </p:ext>
            </p:extLst>
          </p:nvPr>
        </p:nvGraphicFramePr>
        <p:xfrm>
          <a:off x="4123593" y="1141212"/>
          <a:ext cx="6559062" cy="342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049123575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3060891490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real observado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Edifício residencial vertical em situação de incêndio.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307547"/>
                  </a:ext>
                </a:extLst>
              </a:tr>
            </a:tbl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4FDBCF73-5679-4512-33C1-B34FB4F39D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98965"/>
              </p:ext>
            </p:extLst>
          </p:nvPr>
        </p:nvGraphicFramePr>
        <p:xfrm>
          <a:off x="4123593" y="1483452"/>
          <a:ext cx="6559062" cy="2317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050921907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4031021352"/>
                    </a:ext>
                  </a:extLst>
                </a:gridCol>
              </a:tblGrid>
              <a:tr h="195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Escala vertical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30 andares, aproximadamente 120 m de altura.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470255"/>
                  </a:ext>
                </a:extLst>
              </a:tr>
            </a:tbl>
          </a:graphicData>
        </a:graphic>
      </p:graphicFrame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FE181C8B-5FA1-F3B5-1B7B-59E2D97F4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458829"/>
              </p:ext>
            </p:extLst>
          </p:nvPr>
        </p:nvGraphicFramePr>
        <p:xfrm>
          <a:off x="4123593" y="1715224"/>
          <a:ext cx="6559062" cy="342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825549069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564323385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Escala espacial por pavimento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Pavimento com dimensão aproximada de 20 × 20 m.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37109"/>
                  </a:ext>
                </a:extLst>
              </a:tr>
            </a:tbl>
          </a:graphicData>
        </a:graphic>
      </p:graphicFrame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A0DB3435-9CEB-C329-AAF8-FD99511A2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863853"/>
              </p:ext>
            </p:extLst>
          </p:nvPr>
        </p:nvGraphicFramePr>
        <p:xfrm>
          <a:off x="4123593" y="2066321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011771006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1838396608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Representação espacial futura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Grade discreta de 20 × 20 células, com equivalência aproximada de 1 célula = 1 m².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145768"/>
                  </a:ext>
                </a:extLst>
              </a:tr>
            </a:tbl>
          </a:graphicData>
        </a:graphic>
      </p:graphicFrame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5A5CF596-9D5E-20CB-9604-87B9C7946F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082754"/>
              </p:ext>
            </p:extLst>
          </p:nvPr>
        </p:nvGraphicFramePr>
        <p:xfrm>
          <a:off x="4123593" y="2489830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682861820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1815093349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Estrutura interna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Apartamentos, corredores, portas, elevadores, escadas, paredes e áreas de circulação.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728147"/>
                  </a:ext>
                </a:extLst>
              </a:tr>
            </a:tbl>
          </a:graphicData>
        </a:graphic>
      </p:graphicFrame>
      <p:graphicFrame>
        <p:nvGraphicFramePr>
          <p:cNvPr id="15" name="Tabela 14">
            <a:extLst>
              <a:ext uri="{FF2B5EF4-FFF2-40B4-BE49-F238E27FC236}">
                <a16:creationId xmlns:a16="http://schemas.microsoft.com/office/drawing/2014/main" id="{11E555AF-CA9C-42B3-643A-8991C817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741916"/>
              </p:ext>
            </p:extLst>
          </p:nvPr>
        </p:nvGraphicFramePr>
        <p:xfrm>
          <a:off x="4123593" y="2904482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381328248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468184270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Rotas de evacuação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Escada de emergência como rota principal; elevadores bloqueados durante o incêndio.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015384"/>
                  </a:ext>
                </a:extLst>
              </a:tr>
            </a:tbl>
          </a:graphicData>
        </a:graphic>
      </p:graphicFrame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74E72E56-3129-1B4D-C281-712AAA7F8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474698"/>
              </p:ext>
            </p:extLst>
          </p:nvPr>
        </p:nvGraphicFramePr>
        <p:xfrm>
          <a:off x="4123593" y="3319134"/>
          <a:ext cx="6559062" cy="2317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588914141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552649782"/>
                    </a:ext>
                  </a:extLst>
                </a:gridCol>
              </a:tblGrid>
              <a:tr h="195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População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180 ocupantes distribuídos nos 30 andares.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871629"/>
                  </a:ext>
                </a:extLst>
              </a:tr>
            </a:tbl>
          </a:graphicData>
        </a:graphic>
      </p:graphicFrame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3D16BF1D-B911-53BF-1EE7-212AA6DBA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22135"/>
              </p:ext>
            </p:extLst>
          </p:nvPr>
        </p:nvGraphicFramePr>
        <p:xfrm>
          <a:off x="4123593" y="3550906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101620978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413726783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Perfis de ocupantes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Adultos, crianças, idosos e </a:t>
                      </a:r>
                      <a:r>
                        <a:rPr lang="pt-BR" sz="1200" dirty="0" err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PcD</a:t>
                      </a: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, com diferentes velocidades e capacidades de deslocamento.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631876"/>
                  </a:ext>
                </a:extLst>
              </a:tr>
            </a:tbl>
          </a:graphicData>
        </a:graphic>
      </p:graphicFrame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36F85C37-3CEB-6AC9-B01C-23425E19A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288444"/>
              </p:ext>
            </p:extLst>
          </p:nvPr>
        </p:nvGraphicFramePr>
        <p:xfrm>
          <a:off x="4123593" y="3956895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952728653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698812873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Incêndio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Origem variável por andar e célula; tipo de material combustível parametrizável.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376145"/>
                  </a:ext>
                </a:extLst>
              </a:tr>
            </a:tbl>
          </a:graphicData>
        </a:graphic>
      </p:graphicFrame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D246F2C0-CF60-44BD-1F77-0FEFD29E4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843361"/>
              </p:ext>
            </p:extLst>
          </p:nvPr>
        </p:nvGraphicFramePr>
        <p:xfrm>
          <a:off x="4123593" y="4371547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754171210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1397962389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Fumaça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Redução de visibilidade, alteração de rotas e aumento do risco.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443907"/>
                  </a:ext>
                </a:extLst>
              </a:tr>
            </a:tbl>
          </a:graphicData>
        </a:graphic>
      </p:graphicFrame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C4EDC352-BF8B-EF3F-409C-FF52BDC37E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176899"/>
              </p:ext>
            </p:extLst>
          </p:nvPr>
        </p:nvGraphicFramePr>
        <p:xfrm>
          <a:off x="4123593" y="4786393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071190776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765411469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Restrições físicas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Células bloqueadas, escadas com capacidade limitada e possibilidade de congestionamento.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85878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F6761221-4DF0-0A07-35C0-A8469FD256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87213"/>
              </p:ext>
            </p:extLst>
          </p:nvPr>
        </p:nvGraphicFramePr>
        <p:xfrm>
          <a:off x="4123593" y="5201045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554008529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944791592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Fenômenos esperados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Evacuação, formação de filas, gargalos, rotas preferenciais, feridos e vítimas.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8381168"/>
                  </a:ext>
                </a:extLst>
              </a:tr>
            </a:tbl>
          </a:graphicData>
        </a:graphic>
      </p:graphicFrame>
      <p:graphicFrame>
        <p:nvGraphicFramePr>
          <p:cNvPr id="22" name="Tabela 21">
            <a:extLst>
              <a:ext uri="{FF2B5EF4-FFF2-40B4-BE49-F238E27FC236}">
                <a16:creationId xmlns:a16="http://schemas.microsoft.com/office/drawing/2014/main" id="{C2003356-1454-7890-5FF4-B6661DCE5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106633"/>
              </p:ext>
            </p:extLst>
          </p:nvPr>
        </p:nvGraphicFramePr>
        <p:xfrm>
          <a:off x="4123593" y="5606836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66158679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3215144278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Função metodológica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Servir como base de validação para o modelo, o formalismo e os resultados.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22311"/>
                  </a:ext>
                </a:extLst>
              </a:tr>
            </a:tbl>
          </a:graphicData>
        </a:graphic>
      </p:graphicFrame>
      <p:sp>
        <p:nvSpPr>
          <p:cNvPr id="2" name="Chave Esquerda 1">
            <a:extLst>
              <a:ext uri="{FF2B5EF4-FFF2-40B4-BE49-F238E27FC236}">
                <a16:creationId xmlns:a16="http://schemas.microsoft.com/office/drawing/2014/main" id="{F02A0FF4-5476-239F-43E4-D75E42CFE62A}"/>
              </a:ext>
            </a:extLst>
          </p:cNvPr>
          <p:cNvSpPr/>
          <p:nvPr/>
        </p:nvSpPr>
        <p:spPr>
          <a:xfrm>
            <a:off x="3314701" y="619858"/>
            <a:ext cx="808892" cy="5618284"/>
          </a:xfrm>
          <a:prstGeom prst="leftBrace">
            <a:avLst>
              <a:gd name="adj1" fmla="val 0"/>
              <a:gd name="adj2" fmla="val 50000"/>
            </a:avLst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597D3A3-C42E-ADA2-E93A-73C94DB9185B}"/>
              </a:ext>
            </a:extLst>
          </p:cNvPr>
          <p:cNvSpPr txBox="1"/>
          <p:nvPr/>
        </p:nvSpPr>
        <p:spPr>
          <a:xfrm>
            <a:off x="967155" y="3244334"/>
            <a:ext cx="2532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Propriedades de S</a:t>
            </a:r>
          </a:p>
        </p:txBody>
      </p:sp>
    </p:spTree>
    <p:extLst>
      <p:ext uri="{BB962C8B-B14F-4D97-AF65-F5344CB8AC3E}">
        <p14:creationId xmlns:p14="http://schemas.microsoft.com/office/powerpoint/2010/main" val="3769724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A29C7-645E-D5F5-D652-B5F194475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B722FD8-4BE1-DF7D-4ADC-581BB2C92B46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Modelagem</a:t>
            </a:r>
          </a:p>
        </p:txBody>
      </p:sp>
    </p:spTree>
    <p:extLst>
      <p:ext uri="{BB962C8B-B14F-4D97-AF65-F5344CB8AC3E}">
        <p14:creationId xmlns:p14="http://schemas.microsoft.com/office/powerpoint/2010/main" val="1764901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618911F-C30D-EE7A-E712-E08E56536012}"/>
              </a:ext>
            </a:extLst>
          </p:cNvPr>
          <p:cNvSpPr/>
          <p:nvPr/>
        </p:nvSpPr>
        <p:spPr>
          <a:xfrm>
            <a:off x="880796" y="631371"/>
            <a:ext cx="1630018" cy="816429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1. Identificação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39AB7694-572B-A7B5-F667-35D85E86B910}"/>
              </a:ext>
            </a:extLst>
          </p:cNvPr>
          <p:cNvSpPr/>
          <p:nvPr/>
        </p:nvSpPr>
        <p:spPr>
          <a:xfrm>
            <a:off x="3519398" y="615042"/>
            <a:ext cx="4565373" cy="1077861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Artigos identificados por meio de busca em banco de dados: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 Web of Science (n= 18)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Scopus (n= 22 )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IEEE(n= 15 )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6598904-72E3-BD06-D0C1-7204C26C27B5}"/>
              </a:ext>
            </a:extLst>
          </p:cNvPr>
          <p:cNvSpPr/>
          <p:nvPr/>
        </p:nvSpPr>
        <p:spPr>
          <a:xfrm>
            <a:off x="9093354" y="446225"/>
            <a:ext cx="2970825" cy="1418133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200" dirty="0">
                <a:solidFill>
                  <a:schemeClr val="bg2"/>
                </a:solidFill>
              </a:rPr>
              <a:t>("fire evacuation" OR "building fire" OR "building evacuation" OR "occupant evacuation" OR "smoke spread" OR "fire dynamics") AND ("</a:t>
            </a:r>
            <a:r>
              <a:rPr lang="en-US" sz="1200" dirty="0" err="1">
                <a:solidFill>
                  <a:schemeClr val="bg2"/>
                </a:solidFill>
              </a:rPr>
              <a:t>NetLogo</a:t>
            </a:r>
            <a:r>
              <a:rPr lang="en-US" sz="1200" dirty="0">
                <a:solidFill>
                  <a:schemeClr val="bg2"/>
                </a:solidFill>
              </a:rPr>
              <a:t>" OR "Fire Dynamics Simulator" OR FDS OR "</a:t>
            </a:r>
            <a:r>
              <a:rPr lang="en-US" sz="1200" dirty="0" err="1">
                <a:solidFill>
                  <a:schemeClr val="bg2"/>
                </a:solidFill>
              </a:rPr>
              <a:t>FDS+Evac</a:t>
            </a:r>
            <a:r>
              <a:rPr lang="en-US" sz="1200" dirty="0">
                <a:solidFill>
                  <a:schemeClr val="bg2"/>
                </a:solidFill>
              </a:rPr>
              <a:t>" OR "Python" OR "Python-based simulation")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81A9D67D-8C61-D8A9-FD31-999B9D6AE17C}"/>
              </a:ext>
            </a:extLst>
          </p:cNvPr>
          <p:cNvCxnSpPr>
            <a:cxnSpLocks/>
            <a:stCxn id="4" idx="1"/>
            <a:endCxn id="3" idx="3"/>
          </p:cNvCxnSpPr>
          <p:nvPr/>
        </p:nvCxnSpPr>
        <p:spPr>
          <a:xfrm flipH="1" flipV="1">
            <a:off x="8084771" y="1153973"/>
            <a:ext cx="1008583" cy="1319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00F98B93-4D54-1C0D-BF17-AD5B905C914D}"/>
              </a:ext>
            </a:extLst>
          </p:cNvPr>
          <p:cNvSpPr/>
          <p:nvPr/>
        </p:nvSpPr>
        <p:spPr>
          <a:xfrm>
            <a:off x="3519398" y="2133776"/>
            <a:ext cx="4565373" cy="88174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 Web of Science (n= 15 )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Scopus (n=  18)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IEEE(n=  12)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2AD511C-C129-57CB-751D-E2D4854AB865}"/>
              </a:ext>
            </a:extLst>
          </p:cNvPr>
          <p:cNvSpPr/>
          <p:nvPr/>
        </p:nvSpPr>
        <p:spPr>
          <a:xfrm>
            <a:off x="9093355" y="2155550"/>
            <a:ext cx="1630018" cy="86541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Citações totais / (Ano da coleta − Ano de publicação + 1)</a:t>
            </a:r>
            <a:endParaRPr lang="pt-BR" sz="1200" dirty="0">
              <a:solidFill>
                <a:schemeClr val="bg1"/>
              </a:solidFill>
            </a:endParaRP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3A10F3A3-7629-F2B0-1488-2523ABBDC592}"/>
              </a:ext>
            </a:extLst>
          </p:cNvPr>
          <p:cNvCxnSpPr>
            <a:cxnSpLocks/>
            <a:stCxn id="11" idx="1"/>
            <a:endCxn id="10" idx="3"/>
          </p:cNvCxnSpPr>
          <p:nvPr/>
        </p:nvCxnSpPr>
        <p:spPr>
          <a:xfrm flipH="1" flipV="1">
            <a:off x="8084771" y="2574648"/>
            <a:ext cx="1008584" cy="13609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6F2A046C-011B-C34E-4E6E-95FAA8792570}"/>
              </a:ext>
            </a:extLst>
          </p:cNvPr>
          <p:cNvCxnSpPr>
            <a:cxnSpLocks/>
            <a:stCxn id="3" idx="2"/>
            <a:endCxn id="10" idx="0"/>
          </p:cNvCxnSpPr>
          <p:nvPr/>
        </p:nvCxnSpPr>
        <p:spPr>
          <a:xfrm>
            <a:off x="5802085" y="1692903"/>
            <a:ext cx="0" cy="440873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29249F0A-4331-C15E-48DB-518EF9D8AF30}"/>
              </a:ext>
            </a:extLst>
          </p:cNvPr>
          <p:cNvSpPr/>
          <p:nvPr/>
        </p:nvSpPr>
        <p:spPr>
          <a:xfrm>
            <a:off x="880796" y="3314875"/>
            <a:ext cx="1630018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Triagem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C402D7CE-3D8B-6D50-EBC5-1750F01D5CF8}"/>
              </a:ext>
            </a:extLst>
          </p:cNvPr>
          <p:cNvSpPr/>
          <p:nvPr/>
        </p:nvSpPr>
        <p:spPr>
          <a:xfrm>
            <a:off x="3519398" y="3298547"/>
            <a:ext cx="4565373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selecionados para triagem de resumos (n= 30)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96B2F14A-C8B4-58F8-4704-DC79DCB6054C}"/>
              </a:ext>
            </a:extLst>
          </p:cNvPr>
          <p:cNvSpPr/>
          <p:nvPr/>
        </p:nvSpPr>
        <p:spPr>
          <a:xfrm>
            <a:off x="9172277" y="3298547"/>
            <a:ext cx="1630018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Duplicados removidos (n = 15)</a:t>
            </a: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2976A488-BB4A-A4F2-558D-6E54C8C9E45C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8242615" y="3739419"/>
            <a:ext cx="929662" cy="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48752AC9-1EFF-644F-1430-281D29146D4F}"/>
              </a:ext>
            </a:extLst>
          </p:cNvPr>
          <p:cNvSpPr/>
          <p:nvPr/>
        </p:nvSpPr>
        <p:spPr>
          <a:xfrm>
            <a:off x="880796" y="4479646"/>
            <a:ext cx="1630018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Eligibilidade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9B3F532-4FAE-11A2-4749-49328AA1E632}"/>
              </a:ext>
            </a:extLst>
          </p:cNvPr>
          <p:cNvSpPr/>
          <p:nvPr/>
        </p:nvSpPr>
        <p:spPr>
          <a:xfrm>
            <a:off x="3519398" y="4479646"/>
            <a:ext cx="4565373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de texto completo avaliados para elegibilidade (n= 20)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F9EF43DD-005E-54BF-84C0-3FD447102B32}"/>
              </a:ext>
            </a:extLst>
          </p:cNvPr>
          <p:cNvSpPr/>
          <p:nvPr/>
        </p:nvSpPr>
        <p:spPr>
          <a:xfrm>
            <a:off x="9172277" y="4479646"/>
            <a:ext cx="1630018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excluídos: (n= 10)</a:t>
            </a:r>
          </a:p>
        </p:txBody>
      </p: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01E4EBD7-52F5-C7B3-CC1B-7F4F305BC494}"/>
              </a:ext>
            </a:extLst>
          </p:cNvPr>
          <p:cNvCxnSpPr>
            <a:cxnSpLocks/>
            <a:stCxn id="10" idx="2"/>
            <a:endCxn id="21" idx="0"/>
          </p:cNvCxnSpPr>
          <p:nvPr/>
        </p:nvCxnSpPr>
        <p:spPr>
          <a:xfrm>
            <a:off x="5802085" y="3015520"/>
            <a:ext cx="0" cy="283027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4C6F9E7B-278E-EC7F-0259-231ED8217010}"/>
              </a:ext>
            </a:extLst>
          </p:cNvPr>
          <p:cNvCxnSpPr>
            <a:cxnSpLocks/>
            <a:stCxn id="21" idx="2"/>
            <a:endCxn id="26" idx="0"/>
          </p:cNvCxnSpPr>
          <p:nvPr/>
        </p:nvCxnSpPr>
        <p:spPr>
          <a:xfrm>
            <a:off x="5802085" y="4180291"/>
            <a:ext cx="0" cy="299355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269D0BAB-A3ED-BAEE-B2BE-A40F01B772AA}"/>
              </a:ext>
            </a:extLst>
          </p:cNvPr>
          <p:cNvCxnSpPr>
            <a:cxnSpLocks/>
            <a:stCxn id="27" idx="1"/>
            <a:endCxn id="26" idx="3"/>
          </p:cNvCxnSpPr>
          <p:nvPr/>
        </p:nvCxnSpPr>
        <p:spPr>
          <a:xfrm flipH="1">
            <a:off x="8084771" y="4920518"/>
            <a:ext cx="1087506" cy="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13B59E7E-6D6E-4C1E-C083-E0655AB6DF9F}"/>
              </a:ext>
            </a:extLst>
          </p:cNvPr>
          <p:cNvSpPr/>
          <p:nvPr/>
        </p:nvSpPr>
        <p:spPr>
          <a:xfrm>
            <a:off x="880796" y="5660745"/>
            <a:ext cx="1630018" cy="88174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Incluídos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02DB279C-DA3F-81C6-D407-C6F2DA79A9F6}"/>
              </a:ext>
            </a:extLst>
          </p:cNvPr>
          <p:cNvSpPr/>
          <p:nvPr/>
        </p:nvSpPr>
        <p:spPr>
          <a:xfrm>
            <a:off x="3519398" y="5660745"/>
            <a:ext cx="4565373" cy="88174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Estudos elegíveis incluídos na revisão final (n= 10)</a:t>
            </a:r>
          </a:p>
        </p:txBody>
      </p:sp>
    </p:spTree>
    <p:extLst>
      <p:ext uri="{BB962C8B-B14F-4D97-AF65-F5344CB8AC3E}">
        <p14:creationId xmlns:p14="http://schemas.microsoft.com/office/powerpoint/2010/main" val="2033268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0CC01C5-1252-080E-B593-6A1F16BCC917}"/>
              </a:ext>
            </a:extLst>
          </p:cNvPr>
          <p:cNvSpPr txBox="1"/>
          <p:nvPr/>
        </p:nvSpPr>
        <p:spPr>
          <a:xfrm>
            <a:off x="301244" y="676656"/>
            <a:ext cx="9838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 baixo encontrasse a tabela com 10 artigos para a revisão bibliográfica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21748261-5AFB-E382-3AB3-605FD9824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133467"/>
              </p:ext>
            </p:extLst>
          </p:nvPr>
        </p:nvGraphicFramePr>
        <p:xfrm>
          <a:off x="176021" y="1331214"/>
          <a:ext cx="11839957" cy="459469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673860">
                  <a:extLst>
                    <a:ext uri="{9D8B030D-6E8A-4147-A177-3AD203B41FA5}">
                      <a16:colId xmlns:a16="http://schemas.microsoft.com/office/drawing/2014/main" val="891666832"/>
                    </a:ext>
                  </a:extLst>
                </a:gridCol>
                <a:gridCol w="2171855">
                  <a:extLst>
                    <a:ext uri="{9D8B030D-6E8A-4147-A177-3AD203B41FA5}">
                      <a16:colId xmlns:a16="http://schemas.microsoft.com/office/drawing/2014/main" val="2351778930"/>
                    </a:ext>
                  </a:extLst>
                </a:gridCol>
                <a:gridCol w="1968280">
                  <a:extLst>
                    <a:ext uri="{9D8B030D-6E8A-4147-A177-3AD203B41FA5}">
                      <a16:colId xmlns:a16="http://schemas.microsoft.com/office/drawing/2014/main" val="3035529529"/>
                    </a:ext>
                  </a:extLst>
                </a:gridCol>
                <a:gridCol w="1998559">
                  <a:extLst>
                    <a:ext uri="{9D8B030D-6E8A-4147-A177-3AD203B41FA5}">
                      <a16:colId xmlns:a16="http://schemas.microsoft.com/office/drawing/2014/main" val="3042827053"/>
                    </a:ext>
                  </a:extLst>
                </a:gridCol>
                <a:gridCol w="2059123">
                  <a:extLst>
                    <a:ext uri="{9D8B030D-6E8A-4147-A177-3AD203B41FA5}">
                      <a16:colId xmlns:a16="http://schemas.microsoft.com/office/drawing/2014/main" val="1947812782"/>
                    </a:ext>
                  </a:extLst>
                </a:gridCol>
                <a:gridCol w="1968280">
                  <a:extLst>
                    <a:ext uri="{9D8B030D-6E8A-4147-A177-3AD203B41FA5}">
                      <a16:colId xmlns:a16="http://schemas.microsoft.com/office/drawing/2014/main" val="3400663158"/>
                    </a:ext>
                  </a:extLst>
                </a:gridCol>
              </a:tblGrid>
              <a:tr h="2072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PARÂMETROS / ARTIGOS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1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2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3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4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5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313924"/>
                  </a:ext>
                </a:extLst>
              </a:tr>
              <a:tr h="65604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Identificação do artigo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Experimental study and numerical simulation for a storehouse fire accident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 probabilistic occupant evacuation model for fire emergencies using Monte Carlo methods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Agent-based evacuation model incorporating fire scene and building geometry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An agent-based simulator for indoor crowd evacuation considering fire impacts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An Integrated Method for Fire Risk Assessment in Residential Buildings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78818193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Problema de pesquisa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Reconstrução e compreensão da dinâmica de incêndios reais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Modelar evacuação considerando incertezas no comportamento humano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Integrar fogo, geometria e comportamento em simulação de evacuação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Incorporar impactos do fogo no comportamento dos evacuees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Avaliar o risco de incêndio em edifícios residenciais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78852512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Critérios de análise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Temperatura, propagação do fogo, taxa de liberação de calor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Tempo de evacuação, distribuição probabilística, comportamento estocástico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Tempo de evacuação, interação agente-ambiente, influência do fogo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Velocidade, saúde, tomada de decisão, exposição a riscos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Probabilidade, severidade, fatores de risco, análise fuzzy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61643715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Objeto empírico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Incêndio em armazém (experimento + simulação CFD)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Simulações computacionais de evacuação (Monte Carlo)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Edifícios com modelagem geométrica e simulação FDS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Simulação de evacuação em ambientes internos (ex: museu)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Edifícios residenciais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50933435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Conceitos principais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CFD, FDS, propagação do fogo, reconstrução numérica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Modelos probabilísticos, Monte Carlo, evacuação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Sistemas multiagentes, GIS, CFD, comportamento de agentes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Modelos baseados em agentes, impacto do fogo, comportamento humano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Análise de risco, teoria fuzzy, ER (evidential reasoning)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22960817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Definições adotadas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Incêndio como processo físico dinâmico modelado por CFD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Evacuação como processo probabilístico com variáveis aleatórias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Evacuação como interação entre agentes, ambiente e fogo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Evacuação como processo dinâmico afetado por calor, fumaça e gases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Risco como combinação de probabilidade e severidade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67793945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Hipóteses e pressupostos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Modelos numéricos podem reproduzir incêndios reais com precisão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Comportamento humano pode ser representado por distribuições probabilísticas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Agentes tomam decisões baseadas em ambiente e percepção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Fatores como fumaça e calor alteram comportamento e mobilidade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Fatores de risco podem ser quantificados via lógica </a:t>
                      </a:r>
                      <a:r>
                        <a:rPr lang="pt-BR" sz="1000" u="none" strike="noStrike" dirty="0" err="1">
                          <a:effectLst/>
                        </a:rPr>
                        <a:t>fuzzy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59927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0960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772A1BE3-7FAA-F07B-2214-D94A7C5F7B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327974"/>
              </p:ext>
            </p:extLst>
          </p:nvPr>
        </p:nvGraphicFramePr>
        <p:xfrm>
          <a:off x="426719" y="1229558"/>
          <a:ext cx="11338561" cy="437814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702964">
                  <a:extLst>
                    <a:ext uri="{9D8B030D-6E8A-4147-A177-3AD203B41FA5}">
                      <a16:colId xmlns:a16="http://schemas.microsoft.com/office/drawing/2014/main" val="1345072528"/>
                    </a:ext>
                  </a:extLst>
                </a:gridCol>
                <a:gridCol w="1979893">
                  <a:extLst>
                    <a:ext uri="{9D8B030D-6E8A-4147-A177-3AD203B41FA5}">
                      <a16:colId xmlns:a16="http://schemas.microsoft.com/office/drawing/2014/main" val="2555319018"/>
                    </a:ext>
                  </a:extLst>
                </a:gridCol>
                <a:gridCol w="1884927">
                  <a:extLst>
                    <a:ext uri="{9D8B030D-6E8A-4147-A177-3AD203B41FA5}">
                      <a16:colId xmlns:a16="http://schemas.microsoft.com/office/drawing/2014/main" val="2929565287"/>
                    </a:ext>
                  </a:extLst>
                </a:gridCol>
                <a:gridCol w="1913927">
                  <a:extLst>
                    <a:ext uri="{9D8B030D-6E8A-4147-A177-3AD203B41FA5}">
                      <a16:colId xmlns:a16="http://schemas.microsoft.com/office/drawing/2014/main" val="476675093"/>
                    </a:ext>
                  </a:extLst>
                </a:gridCol>
                <a:gridCol w="1971923">
                  <a:extLst>
                    <a:ext uri="{9D8B030D-6E8A-4147-A177-3AD203B41FA5}">
                      <a16:colId xmlns:a16="http://schemas.microsoft.com/office/drawing/2014/main" val="3065936590"/>
                    </a:ext>
                  </a:extLst>
                </a:gridCol>
                <a:gridCol w="1884927">
                  <a:extLst>
                    <a:ext uri="{9D8B030D-6E8A-4147-A177-3AD203B41FA5}">
                      <a16:colId xmlns:a16="http://schemas.microsoft.com/office/drawing/2014/main" val="3787514625"/>
                    </a:ext>
                  </a:extLst>
                </a:gridCol>
              </a:tblGrid>
              <a:tr h="19641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PARÂMETROS / ARTIGOS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6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7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8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9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10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964132"/>
                  </a:ext>
                </a:extLst>
              </a:tr>
              <a:tr h="80485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Identificação do artigo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building information modeling-based fire emergency evacuation simulation system for large infrastructures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Fire risk analysis of residential buildings based on scenario clusters and its application in fire risk management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Optimal route selection model for fire evacuations based on hazard prediction data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Review of the Use of Fire Dynamics Theory in Fire Service Activities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Simulation Research on Fire Evacuation of Large Public Buildings Based on Building Information Modeling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3660147144"/>
                  </a:ext>
                </a:extLst>
              </a:tr>
              <a:tr h="5892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Problema de pesquisa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Dificuldade de evacuação eficiente em infraestruturas complexas com incêndio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Falta de métodos sistemáticos para análise de risco de incêndio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Ineficiência de rotas pré-definidas em cenários dinâmicos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Baixa integração entre teoria de dinâmica do fogo e prática operacional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Ineficiência das estratégias tradicionais de evacuação em edifícios grandes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825329760"/>
                  </a:ext>
                </a:extLst>
              </a:tr>
              <a:tr h="62691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Critérios de análise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Tempo de evacuação, comportamento humano, propagação do fogo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Probabilidade de incêndio, perdas humanas e materiais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Tempo de evacuação, exposição à fumaça, segurança das rotas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Uso da teoria em prevenção, operação e investigação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Tempo de evacuação, estratégias (escadas </a:t>
                      </a:r>
                      <a:r>
                        <a:rPr lang="pt-BR" sz="1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vs</a:t>
                      </a: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elevadores), densidade populacional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732374175"/>
                  </a:ext>
                </a:extLst>
              </a:tr>
              <a:tr h="39282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Objeto empírico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Estação de metrô (China)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Edifícios residenciais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Modelo computacional de edifícios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Literatura científica + entrevistas com bombeiros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Cantina universitária (edifício público)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593303448"/>
                  </a:ext>
                </a:extLst>
              </a:tr>
              <a:tr h="53071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Conceitos principais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BIM, simulação de evacuação, FDS, otimização de rotas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Risco de incêndio, clusters de cenários, gestão de risco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Algoritmo A*, previsão de risco, simulação computacional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Dinâmica do fogo, engenharia de segurança, </a:t>
                      </a:r>
                      <a:r>
                        <a:rPr lang="pt-BR" sz="1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firefighting</a:t>
                      </a:r>
                      <a:endParaRPr lang="pt-B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BIM, simulação, evacuação vertical, estratégias combinadas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79068664"/>
                  </a:ext>
                </a:extLst>
              </a:tr>
              <a:tr h="64794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Definições adotadas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Evacuação como processo dinâmico influenciado por fogo e comportamento humano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Risco = probabilidade × consequência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Rota ótima = caminho mais seguro e rápido considerando riscos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Dinâmica do fogo como base para decisões operacionais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Estratégia ótima baseada na simulação de cenários de evacuação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446104264"/>
                  </a:ext>
                </a:extLst>
              </a:tr>
              <a:tr h="5892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Hipóteses e pressupostos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Integração de dados (BIM + sensores + simulação) melhora evacuação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Modelagem por cenários permite melhor gestão de risco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Previsão antecipada de riscos melhora escolha de rotas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Maior uso da teoria pode melhorar atuação dos bombeiros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Combinação escadas + elevadores reduz tempo de evacuação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328922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8646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7373A3E1-4671-064D-E87B-74EDE5334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684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A6C9F-62B3-9027-CE87-419B0ACD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1C5FA92-C48F-00BD-8AF8-56DD40B18358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Formalismo</a:t>
            </a:r>
          </a:p>
        </p:txBody>
      </p:sp>
    </p:spTree>
    <p:extLst>
      <p:ext uri="{BB962C8B-B14F-4D97-AF65-F5344CB8AC3E}">
        <p14:creationId xmlns:p14="http://schemas.microsoft.com/office/powerpoint/2010/main" val="3062111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C40A295-6314-37DB-47D8-7A63FAFAD0AC}"/>
              </a:ext>
            </a:extLst>
          </p:cNvPr>
          <p:cNvSpPr txBox="1"/>
          <p:nvPr/>
        </p:nvSpPr>
        <p:spPr>
          <a:xfrm>
            <a:off x="536027" y="735724"/>
            <a:ext cx="4229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 Agente Baseado em Modelo (ABM)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7CFDBC6-E43B-AA59-40C3-FAD65D95DDD5}"/>
              </a:ext>
            </a:extLst>
          </p:cNvPr>
          <p:cNvSpPr txBox="1"/>
          <p:nvPr/>
        </p:nvSpPr>
        <p:spPr>
          <a:xfrm>
            <a:off x="1017242" y="1392089"/>
            <a:ext cx="1077163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3.1.1. Definição de ABM:</a:t>
            </a:r>
          </a:p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 Modelagem Baseada em Agentes (ABM) é uma abordagem de simulação que representa sistemas por meio de indivíduos autônomos (agentes), cada um com características próprias e capacidade de tomar decisões de forma independente. Esses agentes interagem entre si e com o ambiente, permitindo a análise de comportamentos emergentes ao longo do tempo.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C0F71B9-CF95-3E1E-0261-EF7068789B3F}"/>
              </a:ext>
            </a:extLst>
          </p:cNvPr>
          <p:cNvSpPr txBox="1"/>
          <p:nvPr/>
        </p:nvSpPr>
        <p:spPr>
          <a:xfrm>
            <a:off x="1017241" y="3024442"/>
            <a:ext cx="1077163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3.1.2. Justificativa:</a:t>
            </a:r>
          </a:p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 escolha da ABM se justifica por sua capacidade de representar indivíduos heterogêneos e simular decisões descentralizadas, gerando comportamentos mais realistas. Além disso, permite modelar ambientes dinâmicos, incorporar aleatoriedade e considerar interações sociais, como congestionamentos e influência coletiva. Por fim, métricas globais, como tempo de evacuação e taxa de sobrevivência, emergem naturalmente das interações no modelo.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E8EDA45-05D0-0178-9524-5F3AC46C8EE2}"/>
              </a:ext>
            </a:extLst>
          </p:cNvPr>
          <p:cNvSpPr txBox="1"/>
          <p:nvPr/>
        </p:nvSpPr>
        <p:spPr>
          <a:xfrm>
            <a:off x="1067898" y="4665692"/>
            <a:ext cx="1072097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3.1.3. Descrição de ABM:</a:t>
            </a:r>
          </a:p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 ABM representa indivíduos de forma independente, considerando características como velocidade, saúde e percepção do ambiente. Cada agente toma decisões locais, tornando o comportamento mais realista em situações de emergência.</a:t>
            </a:r>
          </a:p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 modelo também simula a interação com um ambiente dinâmico (fogo e fumaça) e incorpora elementos estocásticos, capturando a variabilidade e imprevisibilidade do comportamento humano.</a:t>
            </a:r>
          </a:p>
        </p:txBody>
      </p:sp>
    </p:spTree>
    <p:extLst>
      <p:ext uri="{BB962C8B-B14F-4D97-AF65-F5344CB8AC3E}">
        <p14:creationId xmlns:p14="http://schemas.microsoft.com/office/powerpoint/2010/main" val="3480326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8D91067-CE45-F9FB-F8B0-8CCC471BC89D}"/>
              </a:ext>
            </a:extLst>
          </p:cNvPr>
          <p:cNvSpPr txBox="1"/>
          <p:nvPr/>
        </p:nvSpPr>
        <p:spPr>
          <a:xfrm>
            <a:off x="624659" y="814450"/>
            <a:ext cx="2028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3.2. Exemplo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154FC4B-1523-61E1-CC06-299189C706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4168" y="655795"/>
            <a:ext cx="8528800" cy="620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70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FE23C-3C29-AB43-CC1C-29FC59C61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6E588AE-613D-0F01-5119-F2764DFE15B7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Computador</a:t>
            </a:r>
          </a:p>
        </p:txBody>
      </p:sp>
    </p:spTree>
    <p:extLst>
      <p:ext uri="{BB962C8B-B14F-4D97-AF65-F5344CB8AC3E}">
        <p14:creationId xmlns:p14="http://schemas.microsoft.com/office/powerpoint/2010/main" val="138043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F2217A77-C88D-52CC-825E-89002ECBA8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362666"/>
              </p:ext>
            </p:extLst>
          </p:nvPr>
        </p:nvGraphicFramePr>
        <p:xfrm>
          <a:off x="562403" y="657000"/>
          <a:ext cx="11067193" cy="554400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771664">
                  <a:extLst>
                    <a:ext uri="{9D8B030D-6E8A-4147-A177-3AD203B41FA5}">
                      <a16:colId xmlns:a16="http://schemas.microsoft.com/office/drawing/2014/main" val="1345072528"/>
                    </a:ext>
                  </a:extLst>
                </a:gridCol>
                <a:gridCol w="4400205">
                  <a:extLst>
                    <a:ext uri="{9D8B030D-6E8A-4147-A177-3AD203B41FA5}">
                      <a16:colId xmlns:a16="http://schemas.microsoft.com/office/drawing/2014/main" val="2555319018"/>
                    </a:ext>
                  </a:extLst>
                </a:gridCol>
                <a:gridCol w="5895324">
                  <a:extLst>
                    <a:ext uri="{9D8B030D-6E8A-4147-A177-3AD203B41FA5}">
                      <a16:colId xmlns:a16="http://schemas.microsoft.com/office/drawing/2014/main" val="2929565287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N°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Tópico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Descrição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96413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Plataforma de implementação</a:t>
                      </a:r>
                      <a:endParaRPr lang="en-US" sz="1400" b="1" kern="1200" dirty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Python, </a:t>
                      </a:r>
                      <a:r>
                        <a:rPr lang="pt-BR" sz="1200" dirty="0"/>
                        <a:t>utilizando bibliotecas como </a:t>
                      </a:r>
                      <a:r>
                        <a:rPr lang="pt-BR" sz="1200" dirty="0" err="1"/>
                        <a:t>NumPy</a:t>
                      </a:r>
                      <a:r>
                        <a:rPr lang="pt-BR" sz="1200" dirty="0"/>
                        <a:t> e Mesa e </a:t>
                      </a:r>
                      <a:r>
                        <a:rPr lang="pt-BR" sz="1200" dirty="0" err="1"/>
                        <a:t>Plotly</a:t>
                      </a:r>
                      <a:endParaRPr lang="en-US" sz="12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366014714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Linguagem de programação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Python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82532976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Representação dos agentes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Possuem posição, saúde, velocidade, são representados como classes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73237417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Representação do ambiente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Andares com duas saídas sinalizadas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59330344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Dados de entrada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Ocupantes = 180; Localização do incêndio =  Random; Largura das escadas = ; tempo de reação = ajustável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7906866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Regras implementadas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dirty="0"/>
                        <a:t>Se o alarme toca, o agente evacua; se há fumaça/fogo na rota, busca caminho alternativo</a:t>
                      </a:r>
                      <a:endParaRPr lang="pt-BR" sz="12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44610426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Algoritmos principais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dirty="0"/>
                        <a:t>Saída mais próxima; Escolhe rota com menos riscos; se houver gargalos diminui a velocidade; Fogo, fumaça e tempo de exposição afeta a saúde do agente</a:t>
                      </a:r>
                      <a:endParaRPr lang="pt-BR" sz="12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328922449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Controle do tempo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dirty="0"/>
                        <a:t>Simulação em passos discretos (</a:t>
                      </a:r>
                      <a:r>
                        <a:rPr lang="pt-BR" sz="1200" dirty="0" err="1"/>
                        <a:t>ticks</a:t>
                      </a:r>
                      <a:r>
                        <a:rPr lang="pt-BR" sz="1200" dirty="0"/>
                        <a:t>), onde cada passo representa uma unidade de tempo</a:t>
                      </a:r>
                      <a:endParaRPr lang="pt-BR" sz="12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247153635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Dados de saída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Evacuados; Vivos, Saúde média, Velocidade média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26600917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Visualização e validação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Planta do andar;</a:t>
                      </a:r>
                      <a:r>
                        <a:rPr lang="pt-BR" sz="1200" dirty="0"/>
                        <a:t> Agentes em movimento; Gráficos</a:t>
                      </a:r>
                      <a:r>
                        <a:rPr lang="pt-BR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5006245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6494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FBE59-FE81-33A7-70E3-E0CBC48D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832CDFC-286D-70E6-7117-22E38D31685C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 Execução</a:t>
            </a:r>
          </a:p>
        </p:txBody>
      </p:sp>
    </p:spTree>
    <p:extLst>
      <p:ext uri="{BB962C8B-B14F-4D97-AF65-F5344CB8AC3E}">
        <p14:creationId xmlns:p14="http://schemas.microsoft.com/office/powerpoint/2010/main" val="37432399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0B3F0-BC85-C350-CE74-951AA51A8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168FC49-E03F-BACA-EC63-7EF8D148230E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6. Observação</a:t>
            </a:r>
          </a:p>
        </p:txBody>
      </p:sp>
    </p:spTree>
    <p:extLst>
      <p:ext uri="{BB962C8B-B14F-4D97-AF65-F5344CB8AC3E}">
        <p14:creationId xmlns:p14="http://schemas.microsoft.com/office/powerpoint/2010/main" val="31011838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10251</TotalTime>
  <Words>1786</Words>
  <Application>Microsoft Office PowerPoint</Application>
  <PresentationFormat>Widescreen</PresentationFormat>
  <Paragraphs>222</Paragraphs>
  <Slides>17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4" baseType="lpstr">
      <vt:lpstr>Aptos</vt:lpstr>
      <vt:lpstr>Aptos Narrow</vt:lpstr>
      <vt:lpstr>Arial</vt:lpstr>
      <vt:lpstr>Calibri</vt:lpstr>
      <vt:lpstr>Symbol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 Mattedi</dc:creator>
  <cp:lastModifiedBy>sarah de barcelos freitas</cp:lastModifiedBy>
  <cp:revision>19</cp:revision>
  <dcterms:created xsi:type="dcterms:W3CDTF">2026-04-13T15:47:06Z</dcterms:created>
  <dcterms:modified xsi:type="dcterms:W3CDTF">2026-05-28T21:51:29Z</dcterms:modified>
</cp:coreProperties>
</file>