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73" r:id="rId13"/>
    <p:sldId id="274" r:id="rId14"/>
    <p:sldId id="1704" r:id="rId15"/>
    <p:sldId id="260" r:id="rId16"/>
    <p:sldId id="1702" r:id="rId17"/>
    <p:sldId id="261" r:id="rId18"/>
    <p:sldId id="1706" r:id="rId19"/>
    <p:sldId id="1707" r:id="rId20"/>
    <p:sldId id="1708" r:id="rId21"/>
    <p:sldId id="1709" r:id="rId22"/>
    <p:sldId id="1710" r:id="rId23"/>
    <p:sldId id="262" r:id="rId24"/>
    <p:sldId id="1711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5104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13346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27974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017242" y="1392089"/>
            <a:ext cx="10771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Baseada em Agentes (ABM) é uma abordagem de simulação que representa sistemas por meio de indivíduos autônomos (agentes), cada um com características próprias e capacidade de tomar decisões de forma independente. Esses agentes interagem entre si e com o ambiente, permitindo a análise de comportamentos emergentes ao longo do tempo.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017241" y="3024442"/>
            <a:ext cx="107716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escolha da ABM se justifica por sua capacidade de representar indivíduos heterogêneos e simular decisões descentralizadas, gerando comportamentos mais realistas. Além disso, permite modelar ambientes dinâmicos, incorporar aleatoriedade e considerar interações sociais, como congestionamentos e influência coletiva. Por fim, métricas globais, como tempo de evacuação e taxa de sobrevivência, emergem naturalmente das interações no modelo.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017241" y="4665692"/>
            <a:ext cx="10720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ABM: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ABM representa indivíduos de forma independente, considerando características como velocidade, saúde e percepção do ambiente. Cada agente toma decisões locais, tornando o comportamento mais realista em situações de emergência.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modelo também simula a interação com um ambiente dinâmico (fogo e fumaça) e incorpora elementos estocásticos, capturando a variabilidade e imprevisibilidade do comportamento humano.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  <p:sp>
        <p:nvSpPr>
          <p:cNvPr id="2" name="AutoShape 2" descr="Imagem gerada: Diagrama de formalismo para evacuação">
            <a:extLst>
              <a:ext uri="{FF2B5EF4-FFF2-40B4-BE49-F238E27FC236}">
                <a16:creationId xmlns:a16="http://schemas.microsoft.com/office/drawing/2014/main" id="{EB797B61-9E13-1B03-B83B-396FDA232F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80963"/>
            <a:ext cx="12192000" cy="669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E6B497D-F1F5-F8BE-4B70-A3EA2468F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202" y="1025520"/>
            <a:ext cx="8559595" cy="570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021-E51C-54DC-137B-3D5A565B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A03A41A-0331-573E-2022-690CF2767914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3.3. SDD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961C3E-CEAE-8C88-877C-6FA3586E0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8"/>
          <a:stretch>
            <a:fillRect/>
          </a:stretch>
        </p:blipFill>
        <p:spPr>
          <a:xfrm>
            <a:off x="2254318" y="840854"/>
            <a:ext cx="8689021" cy="575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5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2217A77-C88D-52CC-825E-89002ECBA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048638"/>
              </p:ext>
            </p:extLst>
          </p:nvPr>
        </p:nvGraphicFramePr>
        <p:xfrm>
          <a:off x="562403" y="657000"/>
          <a:ext cx="11067193" cy="5544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716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4400205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5895324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N°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Tópico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Plataforma de implementação</a:t>
                      </a:r>
                      <a:endParaRPr lang="en-US" sz="1400" b="1" kern="12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</a:t>
                      </a:r>
                      <a:r>
                        <a:rPr lang="pt-BR" sz="1200" dirty="0"/>
                        <a:t>utilizando bibliotecas como </a:t>
                      </a:r>
                      <a:r>
                        <a:rPr lang="pt-BR" sz="1200" dirty="0" err="1"/>
                        <a:t>NumPy</a:t>
                      </a:r>
                      <a:r>
                        <a:rPr lang="pt-BR" sz="1200" dirty="0"/>
                        <a:t> e Mesa e </a:t>
                      </a:r>
                      <a:r>
                        <a:rPr lang="pt-BR" sz="1200" dirty="0" err="1"/>
                        <a:t>Plotly</a:t>
                      </a:r>
                      <a:endParaRPr lang="en-US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Linguagem de programação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dos agentes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Possuem posição, saúde, velocidade, são representados como classes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 ambiente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Andares com duas saídas sinalizadas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entrada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Ocupantes = 180; Localização do incêndio =  Random; Largura das escadas = ; tempo de reação = ajustável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Regras implementadas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Se o alarme toca, o agente evacua; se há fumaça/fogo na rota, busca caminho alternativo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Algoritmos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Saída mais próxima; Escolhe rota com menos riscos; se houver gargalos diminui a velocidade; Fogo, fumaça e tempo de exposição afeta a saúde do agente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Controle do tempo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Simulação em passos discretos (</a:t>
                      </a:r>
                      <a:r>
                        <a:rPr lang="pt-BR" sz="1200" dirty="0" err="1"/>
                        <a:t>ticks</a:t>
                      </a:r>
                      <a:r>
                        <a:rPr lang="pt-BR" sz="1200" dirty="0"/>
                        <a:t>), onde cada passo representa uma unidade de tempo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4715363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saída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Evacuados; Vivos, Saúde média, Velocidade média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2660091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Visualização e validação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Planta do andar;</a:t>
                      </a:r>
                      <a:r>
                        <a:rPr lang="pt-BR" sz="1200" dirty="0"/>
                        <a:t> Agentes em movimento; Gráficos</a:t>
                      </a: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500624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9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0290A2-71F5-C16C-DAB7-DEFC646BC36D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71F785-8EB2-2271-FE2E-D7F77EA4CC5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 agente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0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119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26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154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7DEDB9-5892-9794-4F69-39833380CD7A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392859-0D7D-8DEF-005B-BCE0628F18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5748EA39-F31E-AD74-253B-DB090E74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160" y="1130169"/>
            <a:ext cx="6921962" cy="2684748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09B3BC9-8B93-A0A0-271B-CC7406D9E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992" y="3974227"/>
            <a:ext cx="6934995" cy="288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85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7D24-91BF-BE27-13FD-C5F057FB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47743B-4D55-50FA-A1D3-B2728A86C0BF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2: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80FF5B-5E2F-D8B1-2966-A84693CBE68D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Médio (0.25)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5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57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63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60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118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62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1308AA-9C4C-F5DC-C3CF-A3A9492DFBAF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9BE5ED-8D65-894D-00A0-09C1563E35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E2C2F02-86C6-C4C8-32F2-23680EB84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687" y="1261054"/>
            <a:ext cx="6667555" cy="260737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34A6FE9-53C8-2B86-A126-422D1DCC2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687" y="3935342"/>
            <a:ext cx="6667556" cy="279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9670-B61D-3BCA-C55C-5BD83A68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2FA0058-CA67-3EE6-E080-24BA5E12A9E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3: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2A4510-4133-BEB5-F9C6-D8CDEF9888A8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(0.50)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3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107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41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32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140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40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34213A-D88B-F7B5-353D-6FEE8D6F7E56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C8D4C7-8CEC-6137-4B6D-5F0FFFA655D2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FEF852E-8AB7-5DEB-BF82-066287F05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189" y="1097078"/>
            <a:ext cx="6745933" cy="26346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66230B9-6BB9-C212-1652-DF6D52778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189" y="3893862"/>
            <a:ext cx="6745933" cy="280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62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2E02-0B02-1F16-2F2B-A57D5E29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810521-BBF1-2D0F-01A8-A732F44C770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4: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392B3F-E70F-37F8-5154-477A83C2146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8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95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38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47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140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40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B67E5E-83E2-198C-0F23-4B5138E95AE4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9D37EB-FAD7-B685-E89B-9EEA007C9B14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B40414B-D374-A8E1-0FF2-AB47D617A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238" y="1176277"/>
            <a:ext cx="6727884" cy="263863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CC74193-001F-76C2-8BEA-D69B96A55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238" y="3895144"/>
            <a:ext cx="6727884" cy="285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65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EB66-FF18-1527-E892-739B899E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EF66C-CAA5-D38A-2E7A-03C5A03418C8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43E63D-7F34-17E0-EFFF-77EA6F93E08E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10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90	Crianças = 54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36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128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52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DB1199-3275-9400-AAFF-B1761A293868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618A36-87B0-A25E-5FDF-4AF6C18E607C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3C04AC-53FB-161C-AAF8-87FC5F319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362" y="1176277"/>
            <a:ext cx="6717890" cy="260393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43C7F29-ABE3-2734-2A05-A91EAE657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424" y="3908747"/>
            <a:ext cx="6734698" cy="285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8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CAAAFC-5E11-A274-B2FE-8146BCA596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94726" y="656961"/>
            <a:ext cx="6355080" cy="57749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500" dirty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rPr>
              <a:t>Conclusão:</a:t>
            </a:r>
          </a:p>
          <a:p>
            <a:pPr marL="0" indent="0" algn="ctr">
              <a:buNone/>
            </a:pPr>
            <a:endParaRPr lang="pt-BR" sz="3500" dirty="0">
              <a:solidFill>
                <a:schemeClr val="tx2">
                  <a:lumMod val="90000"/>
                  <a:lumOff val="10000"/>
                </a:schemeClr>
              </a:solidFill>
              <a:latin typeface="+mn-lt"/>
            </a:endParaRPr>
          </a:p>
          <a:p>
            <a:pPr marL="0" indent="0">
              <a:buNone/>
            </a:pPr>
            <a:r>
              <a:rPr lang="pt-BR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rPr>
              <a:t>Os cenários demonstram que a localização inicial do fogo e sua velocidade de propagação são os fatores decisivos para o desfecho da evacuação.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rPr>
              <a:t>O cenário 1 foi o mais letal, com mortalidade imediata e pouquíssimas evacuações, indicando fogo próximo à saída ou em andar baixo. Os cenários 2 e 3 apresentaram fuga em massa abrupta após um período inicial estável, típico de fogo originado em andares elevados. Já os cenários 4 e 5 exibiram evacuações graduais e mais organizadas, com perdas concentradas apenas nos agentes mais vulneráveis ao final da simulação.</a:t>
            </a:r>
          </a:p>
          <a:p>
            <a:pPr marL="0" indent="0">
              <a:buNone/>
            </a:pPr>
            <a:r>
              <a:rPr lang="pt-BR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rPr>
              <a:t>Em síntese, fogos em andares superiores e de propagação lenta favorecem evacuações ordenadas com menores perdas, enquanto fogos próximos à saída resultam em colapso rápido da capacidade de fuga.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384A1A-34C4-2435-F580-86EC066CC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191" y="367842"/>
            <a:ext cx="2151882" cy="18411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D478C64-6741-AEF5-2472-07A1E6C16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841" y="367842"/>
            <a:ext cx="2219769" cy="182668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624FDDA-B279-4AF6-8CC1-0B613790C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837" y="2523138"/>
            <a:ext cx="2149504" cy="18266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F93CA01-118A-613D-B315-2B9AEF133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4192" y="2528219"/>
            <a:ext cx="2149504" cy="180156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1819B08-0FC8-C2BF-747B-C82D7DB5C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235" y="4723532"/>
            <a:ext cx="2149504" cy="179762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44D9915-9210-15F0-692B-A2EC5522B7FB}"/>
              </a:ext>
            </a:extLst>
          </p:cNvPr>
          <p:cNvSpPr txBox="1"/>
          <p:nvPr/>
        </p:nvSpPr>
        <p:spPr>
          <a:xfrm>
            <a:off x="7460837" y="2190986"/>
            <a:ext cx="1144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 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D4858B9-F859-D2D5-5542-20D13912AEF9}"/>
              </a:ext>
            </a:extLst>
          </p:cNvPr>
          <p:cNvSpPr txBox="1"/>
          <p:nvPr/>
        </p:nvSpPr>
        <p:spPr>
          <a:xfrm>
            <a:off x="9906987" y="2186999"/>
            <a:ext cx="103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</a:t>
            </a:r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A69B00-9978-6C14-53B3-0C81FAF6AE70}"/>
              </a:ext>
            </a:extLst>
          </p:cNvPr>
          <p:cNvSpPr txBox="1"/>
          <p:nvPr/>
        </p:nvSpPr>
        <p:spPr>
          <a:xfrm>
            <a:off x="7460837" y="4354200"/>
            <a:ext cx="114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</a:t>
            </a:r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AA5B0DA-F51B-8D98-0002-F779AD18E537}"/>
              </a:ext>
            </a:extLst>
          </p:cNvPr>
          <p:cNvSpPr txBox="1"/>
          <p:nvPr/>
        </p:nvSpPr>
        <p:spPr>
          <a:xfrm>
            <a:off x="9853744" y="4328015"/>
            <a:ext cx="114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</a:t>
            </a:r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5A45F93-CFEC-BB81-EA55-8D216B0C4710}"/>
              </a:ext>
            </a:extLst>
          </p:cNvPr>
          <p:cNvSpPr txBox="1"/>
          <p:nvPr/>
        </p:nvSpPr>
        <p:spPr>
          <a:xfrm>
            <a:off x="8832235" y="6521159"/>
            <a:ext cx="114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</a:t>
            </a:r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140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10349</TotalTime>
  <Words>2196</Words>
  <Application>Microsoft Office PowerPoint</Application>
  <PresentationFormat>Widescreen</PresentationFormat>
  <Paragraphs>288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sarah de barcelos freitas</cp:lastModifiedBy>
  <cp:revision>26</cp:revision>
  <dcterms:created xsi:type="dcterms:W3CDTF">2026-04-13T15:47:06Z</dcterms:created>
  <dcterms:modified xsi:type="dcterms:W3CDTF">2026-06-21T23:41:39Z</dcterms:modified>
</cp:coreProperties>
</file>