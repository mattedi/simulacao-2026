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6" r:id="rId5"/>
    <p:sldId id="267" r:id="rId6"/>
    <p:sldId id="263" r:id="rId7"/>
    <p:sldId id="1698" r:id="rId8"/>
    <p:sldId id="268" r:id="rId9"/>
    <p:sldId id="269" r:id="rId10"/>
    <p:sldId id="1699" r:id="rId11"/>
    <p:sldId id="259" r:id="rId12"/>
    <p:sldId id="273" r:id="rId13"/>
    <p:sldId id="274" r:id="rId14"/>
    <p:sldId id="1704" r:id="rId15"/>
    <p:sldId id="260" r:id="rId16"/>
    <p:sldId id="1702" r:id="rId17"/>
    <p:sldId id="261" r:id="rId18"/>
    <p:sldId id="1706" r:id="rId19"/>
    <p:sldId id="1707" r:id="rId20"/>
    <p:sldId id="1708" r:id="rId21"/>
    <p:sldId id="1709" r:id="rId22"/>
    <p:sldId id="1710" r:id="rId23"/>
    <p:sldId id="262" r:id="rId24"/>
    <p:sldId id="1711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FB8EE-F128-40E9-8C38-0730BFD4169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EB72E-18FB-4B26-987F-9189232A5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0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0C17B-0A72-4CE8-B023-6D1C17B7998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11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51044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Simulação de Evacuação de Edifícios em Chamas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</a:t>
            </a:r>
          </a:p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Sarah de Barcelos Freitas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B76E1A1-A1E2-7CB2-D4DD-28FAEC7A56EE}"/>
              </a:ext>
            </a:extLst>
          </p:cNvPr>
          <p:cNvSpPr txBox="1"/>
          <p:nvPr/>
        </p:nvSpPr>
        <p:spPr>
          <a:xfrm>
            <a:off x="404447" y="689633"/>
            <a:ext cx="57677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</a:t>
            </a:r>
            <a:r>
              <a:rPr lang="pt-BR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Sistema de Referência 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 em um edifício residencial de 30 andares em situação de incêndio, utilizado como base empírica para a simulação de evacuação. Cada pavimento possui dimensão aproximada de 20 × 20 m e será discretizado em uma grade de 20 × 20 células. O edifício contém apartamentos, corredores, elevadores bloqueados e escada de emergência como rota principal. A população inicial é composta por 180 ocupantes, distribuídos entre adultos, crianças, idosos e </a:t>
            </a:r>
            <a:r>
              <a:rPr lang="pt-BR" sz="1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PcD</a:t>
            </a:r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permitindo representar diferentes condições de mobilidade. O incêndio possui origem e material combustível parametrizáveis, afetando propagação do fogo, formação de fumaça, visibilidade e acessibilidade das rotas. O Sistema de Referência define, portanto, as restrições físicas, populacionais e operacionais que servirão de base para a modelagem, execução e validação da simulação.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C1678CC-052C-8862-D45D-319FEC184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327" y="689633"/>
            <a:ext cx="4809281" cy="492274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79F7E06-FD49-A737-2463-49F6E2E7A9B8}"/>
              </a:ext>
            </a:extLst>
          </p:cNvPr>
          <p:cNvSpPr txBox="1"/>
          <p:nvPr/>
        </p:nvSpPr>
        <p:spPr>
          <a:xfrm>
            <a:off x="7666893" y="5612382"/>
            <a:ext cx="2781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Imagem 1: Planta de um dos andares do prédio</a:t>
            </a:r>
          </a:p>
        </p:txBody>
      </p:sp>
    </p:spTree>
    <p:extLst>
      <p:ext uri="{BB962C8B-B14F-4D97-AF65-F5344CB8AC3E}">
        <p14:creationId xmlns:p14="http://schemas.microsoft.com/office/powerpoint/2010/main" val="1466528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B0A-08AD-8F23-6F5A-62DDC652C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1F0B17F-919A-19E3-F53F-30F9083CE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696127"/>
              </p:ext>
            </p:extLst>
          </p:nvPr>
        </p:nvGraphicFramePr>
        <p:xfrm>
          <a:off x="4123593" y="909440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5841405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101983554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>
                          <a:solidFill>
                            <a:srgbClr val="FF0000"/>
                          </a:solidFill>
                        </a:rPr>
                        <a:t>Dimensão do Sistema de Referência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Caracterização necessária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334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C072602-2099-BC2B-C622-1D006DB139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88386"/>
              </p:ext>
            </p:extLst>
          </p:nvPr>
        </p:nvGraphicFramePr>
        <p:xfrm>
          <a:off x="4123593" y="1141212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49123575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06089149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real observado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Edifício residencial vertical em situação de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07547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4FDBCF73-5679-4512-33C1-B34FB4F39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98965"/>
              </p:ext>
            </p:extLst>
          </p:nvPr>
        </p:nvGraphicFramePr>
        <p:xfrm>
          <a:off x="4123593" y="1483452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50921907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03102135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vertical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30 andares, aproximadamente 120 m de altura.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70255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E181C8B-5FA1-F3B5-1B7B-59E2D97F4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458829"/>
              </p:ext>
            </p:extLst>
          </p:nvPr>
        </p:nvGraphicFramePr>
        <p:xfrm>
          <a:off x="4123593" y="1715224"/>
          <a:ext cx="6559062" cy="342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2554906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564323385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Escala espacial por pavimento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Pavimento com dimensão aproximada de 20 × 20 m.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37109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A0DB3435-9CEB-C329-AAF8-FD99511A2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63853"/>
              </p:ext>
            </p:extLst>
          </p:nvPr>
        </p:nvGraphicFramePr>
        <p:xfrm>
          <a:off x="4123593" y="2066321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01177100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3839660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espacial futura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Grade discreta de 20 × 20 células, com equivalência aproximada de 1 célula = 1 m².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45768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A5CF596-9D5E-20CB-9604-87B9C7946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82754"/>
              </p:ext>
            </p:extLst>
          </p:nvPr>
        </p:nvGraphicFramePr>
        <p:xfrm>
          <a:off x="4123593" y="2489830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68286182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81509334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Estrutura interna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Apartamentos, corredores, portas, elevadores, escadas, paredes e áreas de circulação.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72814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11E555AF-CA9C-42B3-643A-8991C817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741916"/>
              </p:ext>
            </p:extLst>
          </p:nvPr>
        </p:nvGraphicFramePr>
        <p:xfrm>
          <a:off x="4123593" y="2904482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38132824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468184270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Rotas de evacuação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Escada de emergência como rota principal; elevadores bloqueados durante o incêndio.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015384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74E72E56-3129-1B4D-C281-712AAA7F8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74698"/>
              </p:ext>
            </p:extLst>
          </p:nvPr>
        </p:nvGraphicFramePr>
        <p:xfrm>
          <a:off x="4123593" y="3319134"/>
          <a:ext cx="6559062" cy="2317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88914141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552649782"/>
                    </a:ext>
                  </a:extLst>
                </a:gridCol>
              </a:tblGrid>
              <a:tr h="195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População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180 ocupantes distribuídos nos 30 andares.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871629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3D16BF1D-B911-53BF-1EE7-212AA6DBA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22135"/>
              </p:ext>
            </p:extLst>
          </p:nvPr>
        </p:nvGraphicFramePr>
        <p:xfrm>
          <a:off x="4123593" y="355090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101620978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41372678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Perfis de ocupantes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Adultos, crianças, idosos e </a:t>
                      </a:r>
                      <a:r>
                        <a:rPr lang="pt-BR" sz="1200" dirty="0" err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PcD</a:t>
                      </a: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, com diferentes velocidades e capacidades de deslocamento.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631876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36F85C37-3CEB-6AC9-B01C-23425E19A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288444"/>
              </p:ext>
            </p:extLst>
          </p:nvPr>
        </p:nvGraphicFramePr>
        <p:xfrm>
          <a:off x="4123593" y="395689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952728653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698812873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Incêndio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Origem variável por andar e célula; tipo de material combustível parametrizável.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37614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246F2C0-CF60-44BD-1F77-0FEFD29E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43361"/>
              </p:ext>
            </p:extLst>
          </p:nvPr>
        </p:nvGraphicFramePr>
        <p:xfrm>
          <a:off x="4123593" y="4371547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54171210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139796238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Fumaça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Redução de visibilidade, alteração de rotas e aumento do risco.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43907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4EDC352-BF8B-EF3F-409C-FF52BDC37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176899"/>
              </p:ext>
            </p:extLst>
          </p:nvPr>
        </p:nvGraphicFramePr>
        <p:xfrm>
          <a:off x="4123593" y="4786393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1190776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765411469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Restrições físicas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Células bloqueadas, escadas com capacidade limitada e possibilidade de congestionamento.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8587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6761221-4DF0-0A07-35C0-A8469FD2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7213"/>
              </p:ext>
            </p:extLst>
          </p:nvPr>
        </p:nvGraphicFramePr>
        <p:xfrm>
          <a:off x="4123593" y="5201045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55400852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2944791592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Fenômenos esperados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Evacuação, formação de filas, gargalos, rotas preferenciais, feridos e vítimas.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81168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C2003356-1454-7890-5FF4-B6661DCE5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106633"/>
              </p:ext>
            </p:extLst>
          </p:nvPr>
        </p:nvGraphicFramePr>
        <p:xfrm>
          <a:off x="4123593" y="5606836"/>
          <a:ext cx="6559062" cy="4146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66158679"/>
                    </a:ext>
                  </a:extLst>
                </a:gridCol>
                <a:gridCol w="3815862">
                  <a:extLst>
                    <a:ext uri="{9D8B030D-6E8A-4147-A177-3AD203B41FA5}">
                      <a16:colId xmlns:a16="http://schemas.microsoft.com/office/drawing/2014/main" val="3215144278"/>
                    </a:ext>
                  </a:extLst>
                </a:gridCol>
              </a:tblGrid>
              <a:tr h="342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Função metodológica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Servir como base de validação para o modelo, o formalismo e os resultados.</a:t>
                      </a:r>
                    </a:p>
                  </a:txBody>
                  <a:tcPr marL="48891" marR="48891" marT="24446" marB="244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22311"/>
                  </a:ext>
                </a:extLst>
              </a:tr>
            </a:tbl>
          </a:graphicData>
        </a:graphic>
      </p:graphicFrame>
      <p:sp>
        <p:nvSpPr>
          <p:cNvPr id="2" name="Chave Esquerda 1">
            <a:extLst>
              <a:ext uri="{FF2B5EF4-FFF2-40B4-BE49-F238E27FC236}">
                <a16:creationId xmlns:a16="http://schemas.microsoft.com/office/drawing/2014/main" id="{F02A0FF4-5476-239F-43E4-D75E42CFE62A}"/>
              </a:ext>
            </a:extLst>
          </p:cNvPr>
          <p:cNvSpPr/>
          <p:nvPr/>
        </p:nvSpPr>
        <p:spPr>
          <a:xfrm>
            <a:off x="3314701" y="619858"/>
            <a:ext cx="808892" cy="5618284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97D3A3-C42E-ADA2-E93A-73C94DB9185B}"/>
              </a:ext>
            </a:extLst>
          </p:cNvPr>
          <p:cNvSpPr txBox="1"/>
          <p:nvPr/>
        </p:nvSpPr>
        <p:spPr>
          <a:xfrm>
            <a:off x="967155" y="3244334"/>
            <a:ext cx="253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Propriedades de S</a:t>
            </a:r>
          </a:p>
        </p:txBody>
      </p:sp>
    </p:spTree>
    <p:extLst>
      <p:ext uri="{BB962C8B-B14F-4D97-AF65-F5344CB8AC3E}">
        <p14:creationId xmlns:p14="http://schemas.microsoft.com/office/powerpoint/2010/main" val="376972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18911F-C30D-EE7A-E712-E08E56536012}"/>
              </a:ext>
            </a:extLst>
          </p:cNvPr>
          <p:cNvSpPr/>
          <p:nvPr/>
        </p:nvSpPr>
        <p:spPr>
          <a:xfrm>
            <a:off x="880796" y="631371"/>
            <a:ext cx="1630018" cy="816429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1. Identificação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9AB7694-572B-A7B5-F667-35D85E86B910}"/>
              </a:ext>
            </a:extLst>
          </p:cNvPr>
          <p:cNvSpPr/>
          <p:nvPr/>
        </p:nvSpPr>
        <p:spPr>
          <a:xfrm>
            <a:off x="3519398" y="615042"/>
            <a:ext cx="4565373" cy="10778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Artigos identificados por meio de busca em banco de dados: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22 )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15 )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598904-72E3-BD06-D0C1-7204C26C27B5}"/>
              </a:ext>
            </a:extLst>
          </p:cNvPr>
          <p:cNvSpPr/>
          <p:nvPr/>
        </p:nvSpPr>
        <p:spPr>
          <a:xfrm>
            <a:off x="9093354" y="446225"/>
            <a:ext cx="2970825" cy="14181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200" dirty="0">
                <a:solidFill>
                  <a:schemeClr val="bg2"/>
                </a:solidFill>
              </a:rPr>
              <a:t>("fire evacuation" OR "building fire" OR "building evacuation" OR "occupant evacuation" OR "smoke spread" OR "fire dynamics") AND ("</a:t>
            </a:r>
            <a:r>
              <a:rPr lang="en-US" sz="1200" dirty="0" err="1">
                <a:solidFill>
                  <a:schemeClr val="bg2"/>
                </a:solidFill>
              </a:rPr>
              <a:t>NetLogo</a:t>
            </a:r>
            <a:r>
              <a:rPr lang="en-US" sz="1200" dirty="0">
                <a:solidFill>
                  <a:schemeClr val="bg2"/>
                </a:solidFill>
              </a:rPr>
              <a:t>" OR "Fire Dynamics Simulator" OR FDS OR "</a:t>
            </a:r>
            <a:r>
              <a:rPr lang="en-US" sz="1200" dirty="0" err="1">
                <a:solidFill>
                  <a:schemeClr val="bg2"/>
                </a:solidFill>
              </a:rPr>
              <a:t>FDS+Evac</a:t>
            </a:r>
            <a:r>
              <a:rPr lang="en-US" sz="1200" dirty="0">
                <a:solidFill>
                  <a:schemeClr val="bg2"/>
                </a:solidFill>
              </a:rPr>
              <a:t>" OR "Python" OR "Python-based simulation")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1A9D67D-8C61-D8A9-FD31-999B9D6AE17C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flipH="1" flipV="1">
            <a:off x="8084771" y="1153973"/>
            <a:ext cx="1008583" cy="131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0F98B93-4D54-1C0D-BF17-AD5B905C914D}"/>
              </a:ext>
            </a:extLst>
          </p:cNvPr>
          <p:cNvSpPr/>
          <p:nvPr/>
        </p:nvSpPr>
        <p:spPr>
          <a:xfrm>
            <a:off x="3519398" y="2133776"/>
            <a:ext cx="4565373" cy="88174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 Web of Science (n= 15 )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Scopus (n=  18)</a:t>
            </a:r>
          </a:p>
          <a:p>
            <a:pPr algn="ctr"/>
            <a:r>
              <a:rPr lang="pt-BR" sz="1200" dirty="0">
                <a:solidFill>
                  <a:schemeClr val="bg1"/>
                </a:solidFill>
              </a:rPr>
              <a:t>IEEE(n=  12)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2AD511C-C129-57CB-751D-E2D4854AB865}"/>
              </a:ext>
            </a:extLst>
          </p:cNvPr>
          <p:cNvSpPr/>
          <p:nvPr/>
        </p:nvSpPr>
        <p:spPr>
          <a:xfrm>
            <a:off x="9093355" y="2155550"/>
            <a:ext cx="1630018" cy="865414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Citações totais / (Ano da coleta − Ano de publicação + 1)</a:t>
            </a:r>
            <a:endParaRPr lang="pt-BR" sz="1200" dirty="0">
              <a:solidFill>
                <a:schemeClr val="bg1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3A10F3A3-7629-F2B0-1488-2523ABBDC592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8084771" y="2574648"/>
            <a:ext cx="1008584" cy="13609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F2A046C-011B-C34E-4E6E-95FAA8792570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5802085" y="1692903"/>
            <a:ext cx="0" cy="440873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9249F0A-4331-C15E-48DB-518EF9D8AF30}"/>
              </a:ext>
            </a:extLst>
          </p:cNvPr>
          <p:cNvSpPr/>
          <p:nvPr/>
        </p:nvSpPr>
        <p:spPr>
          <a:xfrm>
            <a:off x="880796" y="3314875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Triagem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402D7CE-3D8B-6D50-EBC5-1750F01D5CF8}"/>
              </a:ext>
            </a:extLst>
          </p:cNvPr>
          <p:cNvSpPr/>
          <p:nvPr/>
        </p:nvSpPr>
        <p:spPr>
          <a:xfrm>
            <a:off x="3519398" y="3298547"/>
            <a:ext cx="4565373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selecionados para triagem de resumos (n= 30)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6B2F14A-C8B4-58F8-4704-DC79DCB6054C}"/>
              </a:ext>
            </a:extLst>
          </p:cNvPr>
          <p:cNvSpPr/>
          <p:nvPr/>
        </p:nvSpPr>
        <p:spPr>
          <a:xfrm>
            <a:off x="9172277" y="3298547"/>
            <a:ext cx="1630018" cy="8817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Duplicados removidos (n = 15)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976A488-BB4A-A4F2-558D-6E54C8C9E45C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8242615" y="3739419"/>
            <a:ext cx="929662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8752AC9-1EFF-644F-1430-281D29146D4F}"/>
              </a:ext>
            </a:extLst>
          </p:cNvPr>
          <p:cNvSpPr/>
          <p:nvPr/>
        </p:nvSpPr>
        <p:spPr>
          <a:xfrm>
            <a:off x="880796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Eligibilidade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9B3F532-4FAE-11A2-4749-49328AA1E632}"/>
              </a:ext>
            </a:extLst>
          </p:cNvPr>
          <p:cNvSpPr/>
          <p:nvPr/>
        </p:nvSpPr>
        <p:spPr>
          <a:xfrm>
            <a:off x="3519398" y="4479646"/>
            <a:ext cx="4565373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de texto completo avaliados para elegibilidade (n= 20)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EF43DD-005E-54BF-84C0-3FD447102B32}"/>
              </a:ext>
            </a:extLst>
          </p:cNvPr>
          <p:cNvSpPr/>
          <p:nvPr/>
        </p:nvSpPr>
        <p:spPr>
          <a:xfrm>
            <a:off x="9172277" y="4479646"/>
            <a:ext cx="1630018" cy="88174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Artigos excluídos: (n= 10)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01E4EBD7-52F5-C7B3-CC1B-7F4F305BC494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>
            <a:off x="5802085" y="3015520"/>
            <a:ext cx="0" cy="283027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C6F9E7B-278E-EC7F-0259-231ED8217010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>
            <a:off x="5802085" y="4180291"/>
            <a:ext cx="0" cy="299355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69D0BAB-A3ED-BAEE-B2BE-A40F01B772AA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H="1">
            <a:off x="8084771" y="4920518"/>
            <a:ext cx="1087506" cy="0"/>
          </a:xfrm>
          <a:prstGeom prst="straightConnector1">
            <a:avLst/>
          </a:prstGeom>
          <a:ln>
            <a:solidFill>
              <a:schemeClr val="tx2">
                <a:lumMod val="90000"/>
                <a:lumOff val="1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3B59E7E-6D6E-4C1E-C083-E0655AB6DF9F}"/>
              </a:ext>
            </a:extLst>
          </p:cNvPr>
          <p:cNvSpPr/>
          <p:nvPr/>
        </p:nvSpPr>
        <p:spPr>
          <a:xfrm>
            <a:off x="880796" y="5660745"/>
            <a:ext cx="1630018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Incluídos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2DB279C-DA3F-81C6-D407-C6F2DA79A9F6}"/>
              </a:ext>
            </a:extLst>
          </p:cNvPr>
          <p:cNvSpPr/>
          <p:nvPr/>
        </p:nvSpPr>
        <p:spPr>
          <a:xfrm>
            <a:off x="3519398" y="5660745"/>
            <a:ext cx="4565373" cy="88174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Estudos elegíveis incluídos na revisão final (n= 10)</a:t>
            </a:r>
          </a:p>
        </p:txBody>
      </p:sp>
    </p:spTree>
    <p:extLst>
      <p:ext uri="{BB962C8B-B14F-4D97-AF65-F5344CB8AC3E}">
        <p14:creationId xmlns:p14="http://schemas.microsoft.com/office/powerpoint/2010/main" val="20332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CC01C5-1252-080E-B593-6A1F16BCC917}"/>
              </a:ext>
            </a:extLst>
          </p:cNvPr>
          <p:cNvSpPr txBox="1"/>
          <p:nvPr/>
        </p:nvSpPr>
        <p:spPr>
          <a:xfrm>
            <a:off x="301244" y="676656"/>
            <a:ext cx="98389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baixo encontrasse a tabela com 10 artigos para a revisão bibliográfica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1748261-5AFB-E382-3AB3-605FD9824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133467"/>
              </p:ext>
            </p:extLst>
          </p:nvPr>
        </p:nvGraphicFramePr>
        <p:xfrm>
          <a:off x="176021" y="1331214"/>
          <a:ext cx="11839957" cy="459469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73860">
                  <a:extLst>
                    <a:ext uri="{9D8B030D-6E8A-4147-A177-3AD203B41FA5}">
                      <a16:colId xmlns:a16="http://schemas.microsoft.com/office/drawing/2014/main" val="891666832"/>
                    </a:ext>
                  </a:extLst>
                </a:gridCol>
                <a:gridCol w="2171855">
                  <a:extLst>
                    <a:ext uri="{9D8B030D-6E8A-4147-A177-3AD203B41FA5}">
                      <a16:colId xmlns:a16="http://schemas.microsoft.com/office/drawing/2014/main" val="2351778930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035529529"/>
                    </a:ext>
                  </a:extLst>
                </a:gridCol>
                <a:gridCol w="1998559">
                  <a:extLst>
                    <a:ext uri="{9D8B030D-6E8A-4147-A177-3AD203B41FA5}">
                      <a16:colId xmlns:a16="http://schemas.microsoft.com/office/drawing/2014/main" val="3042827053"/>
                    </a:ext>
                  </a:extLst>
                </a:gridCol>
                <a:gridCol w="2059123">
                  <a:extLst>
                    <a:ext uri="{9D8B030D-6E8A-4147-A177-3AD203B41FA5}">
                      <a16:colId xmlns:a16="http://schemas.microsoft.com/office/drawing/2014/main" val="1947812782"/>
                    </a:ext>
                  </a:extLst>
                </a:gridCol>
                <a:gridCol w="1968280">
                  <a:extLst>
                    <a:ext uri="{9D8B030D-6E8A-4147-A177-3AD203B41FA5}">
                      <a16:colId xmlns:a16="http://schemas.microsoft.com/office/drawing/2014/main" val="3400663158"/>
                    </a:ext>
                  </a:extLst>
                </a:gridCol>
              </a:tblGrid>
              <a:tr h="2072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2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3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4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5</a:t>
                      </a:r>
                    </a:p>
                  </a:txBody>
                  <a:tcPr marL="7620" marR="7620" marT="7620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13924"/>
                  </a:ext>
                </a:extLst>
              </a:tr>
              <a:tr h="65604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Experimental study and numerical simulation for a storehouse fire accident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 probabilistic occupant evacuation model for fire emergencies using Monte Carlo methods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Agent-based evacuation model incorporating fire scene and building geometry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agent-based simulator for indoor crowd evacuation considering fire impacts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An Integrated Method for Fire Risk Assessment in Residential Buildings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78818193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Reconstrução e compreensão da dinâmica de incêndios reais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Modelar evacuação considerando incertezas no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Integrar fogo, geometria e comportamento em simulação de evacuação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Incorporar impactos do fogo no comportamento dos evacuees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Avaliar o risco de incêndio em 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78852512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Temperatura, propagação do fogo, taxa de liberação de calor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Tempo de evacuação, distribuição probabilística, comportamento estocástico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Tempo de evacuação, interação agente-ambiente, influência do fogo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Velocidade, saúde, tomada de decisão, exposição a riscos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Probabilidade, severidade, fatores de risco, análise fuzzy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164371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em armazém (experimento + simulação CFD)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Simulações computacionais de evacuação (Monte Carlo)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Edifícios com modelagem geométrica e simulação FDS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Simulação de evacuação em ambientes internos (ex: museu)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Edifícios residenciais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093343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CFD, FDS, propagação do fogo, reconstrução numérica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probabilísticos, Monte Carlo, evacuação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Sistemas multiagentes, GIS, CFD, comportamento de agentes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Modelos baseados em agentes, impacto do fogo, comportamento humano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Análise de risco, teoria fuzzy, ER (evidential reasoning)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2960817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Incêndio como processo físico dinâmico modelado por CFD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probabilístico com variáveis aleatórias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interação entre agentes, ambiente e fogo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Evacuação como processo dinâmico afetado por calor, fumaça e gases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Risco como combinação de probabilidade e severidade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67793945"/>
                  </a:ext>
                </a:extLst>
              </a:tr>
              <a:tr h="6218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Modelos numéricos podem reproduzir incêndios reais com precisão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Comportamento humano pode ser representado por distribuições probabilísticas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Agentes tomam decisões baseadas em ambiente e percepção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como fumaça e calor alteram comportamento e mobilidade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Fatores de risco podem ser quantificados via lógica </a:t>
                      </a:r>
                      <a:r>
                        <a:rPr lang="pt-BR" sz="1000" u="none" strike="noStrike" dirty="0" err="1">
                          <a:effectLst/>
                        </a:rPr>
                        <a:t>fuzzy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99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6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72A1BE3-7FAA-F07B-2214-D94A7C5F7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27974"/>
              </p:ext>
            </p:extLst>
          </p:nvPr>
        </p:nvGraphicFramePr>
        <p:xfrm>
          <a:off x="426719" y="1229558"/>
          <a:ext cx="11338561" cy="437814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7029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1979893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  <a:gridCol w="1913927">
                  <a:extLst>
                    <a:ext uri="{9D8B030D-6E8A-4147-A177-3AD203B41FA5}">
                      <a16:colId xmlns:a16="http://schemas.microsoft.com/office/drawing/2014/main" val="476675093"/>
                    </a:ext>
                  </a:extLst>
                </a:gridCol>
                <a:gridCol w="1971923">
                  <a:extLst>
                    <a:ext uri="{9D8B030D-6E8A-4147-A177-3AD203B41FA5}">
                      <a16:colId xmlns:a16="http://schemas.microsoft.com/office/drawing/2014/main" val="3065936590"/>
                    </a:ext>
                  </a:extLst>
                </a:gridCol>
                <a:gridCol w="1884927">
                  <a:extLst>
                    <a:ext uri="{9D8B030D-6E8A-4147-A177-3AD203B41FA5}">
                      <a16:colId xmlns:a16="http://schemas.microsoft.com/office/drawing/2014/main" val="3787514625"/>
                    </a:ext>
                  </a:extLst>
                </a:gridCol>
              </a:tblGrid>
              <a:tr h="19641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PARÂMETROS / ARTIGOS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6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7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8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9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Trabalho Correlato 10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80485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Identificação do artigo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building information modeling-based fire emergency evacuation simulation system for large infrastructures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 risk analysis of residential buildings based on scenario clusters and its application in fire risk management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Optimal route selection model for fire evacuations based on hazard prediction data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of the Use of Fire Dynamics Theory in Fire Service Activities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Simulation Research on Fire Evacuation of Large Public Buildings Based on Building Information Modeling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Problema de pesquisa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Dificuldade de evacuação eficiente em infraestruturas complexas com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métodos sistemáticos para análise de risco de incêndio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de rotas pré-definidas em cenários dinâmicos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Baixa integração entre teoria de dinâmica do fogo e prática operacional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Ineficiência das estratégias tradicionais de evacuação em edifícios grandes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6269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Critérios de análise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comportamento humano, propagação do fogo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Probabilidade de incêndio, perdas humanas e materiais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exposição à fumaça, segurança das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Uso da teoria em prevenção, operação e investigação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 de evacuação, estratégias (escadas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elevadores), densidade populacional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392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Objeto empírico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Estação de metrô (China)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Edifícios residenciais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Modelo computacional de edifícios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Literatura científica + entrevistas com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Cantina universitária (edifício público)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307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Conceitos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 de evacuação, FDS, otimização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de incêndio, clusters de cenários,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Algoritmo A*, previsão de risco, simulação computacional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fogo, engenharia de segurança, </a:t>
                      </a:r>
                      <a:r>
                        <a:rPr lang="pt-BR" sz="1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firefighting</a:t>
                      </a:r>
                      <a:endParaRPr lang="pt-B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BIM, simulação, evacuação vertical, estratégias combinadas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6479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Definições adotadas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Evacuação como processo dinâmico influenciado por fogo e comportamento humano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Risco = probabilidade × consequência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Rota ótima = caminho mais seguro e rápido considerando riscos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Dinâmica do fogo como base para decisões operacionais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Estratégia ótima baseada na simulação de cenários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892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5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Hipóteses e pressupostos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Integração de dados (BIM + sensores + simulação) melhora evacuação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Modelagem por cenários permite melhor gestão de risco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Previsão antecipada de riscos melhora escolha de rotas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Maior uso da teoria pode melhorar atuação dos bombeiros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Combinação escadas + elevadores reduz tempo de evacuação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4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373A3E1-4671-064D-E87B-74EDE533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84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017242" y="1392089"/>
            <a:ext cx="1077163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Modelagem Baseada em Agentes (ABM) é uma abordagem de simulação que representa sistemas por meio de indivíduos autônomos (agentes), cada um com características próprias e capacidade de tomar decisões de forma independente. Esses agentes interagem entre si e com o ambiente, permitindo a análise de comportamentos emergentes ao longo do tempo.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017241" y="3024442"/>
            <a:ext cx="107716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Justificativa:</a:t>
            </a:r>
          </a:p>
          <a:p>
            <a:pPr marL="623888" algn="just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escolha da ABM se justifica por sua capacidade de representar indivíduos heterogêneos e simular decisões descentralizadas, gerando comportamentos mais realistas. Além disso, permite modelar ambientes dinâmicos, incorporar aleatoriedade e considerar interações sociais, como congestionamentos e influência coletiva. Por fim, métricas globais, como tempo de evacuação e taxa de sobrevivência, emergem naturalmente das interações no modelo.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017241" y="4665692"/>
            <a:ext cx="1072097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ABM: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ABM representa indivíduos de forma independente, considerando características como velocidade, saúde e percepção do ambiente. Cada agente toma decisões locais, tornando o comportamento mais realista em situações de emergência.</a:t>
            </a:r>
          </a:p>
          <a:p>
            <a:pPr marL="623888"/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 modelo também simula a interação com um ambiente dinâmico (fogo e fumaça) e incorpora elementos estocásticos, capturando a variabilidade e imprevisibilidade do comportamento humano.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  <p:sp>
        <p:nvSpPr>
          <p:cNvPr id="2" name="AutoShape 2" descr="Imagem gerada: Diagrama de formalismo para evacuação">
            <a:extLst>
              <a:ext uri="{FF2B5EF4-FFF2-40B4-BE49-F238E27FC236}">
                <a16:creationId xmlns:a16="http://schemas.microsoft.com/office/drawing/2014/main" id="{EB797B61-9E13-1B03-B83B-396FDA232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80963"/>
            <a:ext cx="12192000" cy="669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CDD093-A896-444B-6592-AD1F8E045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946" y="1226561"/>
            <a:ext cx="9740107" cy="53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021-E51C-54DC-137B-3D5A565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A03A41A-0331-573E-2022-690CF2767914}"/>
              </a:ext>
            </a:extLst>
          </p:cNvPr>
          <p:cNvSpPr txBox="1"/>
          <p:nvPr/>
        </p:nvSpPr>
        <p:spPr>
          <a:xfrm>
            <a:off x="624659" y="656188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3.3. SDD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961C3E-CEAE-8C88-877C-6FA3586E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48"/>
          <a:stretch>
            <a:fillRect/>
          </a:stretch>
        </p:blipFill>
        <p:spPr>
          <a:xfrm>
            <a:off x="2254318" y="840854"/>
            <a:ext cx="8689021" cy="5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5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2217A77-C88D-52CC-825E-89002ECBA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48638"/>
              </p:ext>
            </p:extLst>
          </p:nvPr>
        </p:nvGraphicFramePr>
        <p:xfrm>
          <a:off x="562403" y="657000"/>
          <a:ext cx="11067193" cy="55440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71664">
                  <a:extLst>
                    <a:ext uri="{9D8B030D-6E8A-4147-A177-3AD203B41FA5}">
                      <a16:colId xmlns:a16="http://schemas.microsoft.com/office/drawing/2014/main" val="1345072528"/>
                    </a:ext>
                  </a:extLst>
                </a:gridCol>
                <a:gridCol w="4400205">
                  <a:extLst>
                    <a:ext uri="{9D8B030D-6E8A-4147-A177-3AD203B41FA5}">
                      <a16:colId xmlns:a16="http://schemas.microsoft.com/office/drawing/2014/main" val="2555319018"/>
                    </a:ext>
                  </a:extLst>
                </a:gridCol>
                <a:gridCol w="5895324">
                  <a:extLst>
                    <a:ext uri="{9D8B030D-6E8A-4147-A177-3AD203B41FA5}">
                      <a16:colId xmlns:a16="http://schemas.microsoft.com/office/drawing/2014/main" val="292956528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N°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Tópico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7568" marR="7568" marT="7568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64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Plataforma de implementação</a:t>
                      </a:r>
                      <a:endParaRPr lang="en-US" sz="1400" b="1" kern="1200" dirty="0">
                        <a:solidFill>
                          <a:schemeClr val="tx2">
                            <a:lumMod val="90000"/>
                            <a:lumOff val="1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Python, </a:t>
                      </a:r>
                      <a:r>
                        <a:rPr lang="pt-BR" sz="1200" dirty="0"/>
                        <a:t>utilizando bibliotecas como </a:t>
                      </a:r>
                      <a:r>
                        <a:rPr lang="pt-BR" sz="1200" dirty="0" err="1"/>
                        <a:t>NumPy</a:t>
                      </a:r>
                      <a:r>
                        <a:rPr lang="pt-BR" sz="1200" dirty="0"/>
                        <a:t> e Mesa e </a:t>
                      </a:r>
                      <a:r>
                        <a:rPr lang="pt-BR" sz="1200" dirty="0" err="1"/>
                        <a:t>Plotly</a:t>
                      </a:r>
                      <a:endParaRPr lang="en-US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01471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Linguagem de programação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Python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82532976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dos agentes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Possuem posição, saúde, velocidade, são representados como classes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3237417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Representação do ambiente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Andares com duas saídas sinalizadas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59330344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entrada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Ocupantes = 180; Localização do incêndio =  Random; Largura das escadas = ; tempo de reação = ajustável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686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Regras implementadas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Se o alarme toca, o agente evacua; se há fumaça/fogo na rota, busca caminho alternativo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4610426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Algoritmos principais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Saída mais próxima; Escolhe rota com menos riscos; se houver gargalos diminui a velocidade; Fogo, fumaça e tempo de exposição afeta a saúde do agente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2892244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Controle do tempo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dirty="0"/>
                        <a:t>Simulação em passos discretos (</a:t>
                      </a:r>
                      <a:r>
                        <a:rPr lang="pt-BR" sz="1200" dirty="0" err="1"/>
                        <a:t>ticks</a:t>
                      </a:r>
                      <a:r>
                        <a:rPr lang="pt-BR" sz="1200" dirty="0"/>
                        <a:t>), onde cada passo representa uma unidade de tempo</a:t>
                      </a:r>
                      <a:endParaRPr lang="pt-BR" sz="12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4715363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Dados de saída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Evacuados; Vivos, Saúde média, Velocidade média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266009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400" b="1" kern="12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Visualização e validação</a:t>
                      </a: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Planta do andar;</a:t>
                      </a:r>
                      <a:r>
                        <a:rPr lang="pt-BR" sz="1200" dirty="0"/>
                        <a:t> Agentes em movimento; Gráficos</a:t>
                      </a:r>
                      <a:r>
                        <a:rPr lang="pt-BR" sz="12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500624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49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0290A2-71F5-C16C-DAB7-DEFC646BC36D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971F785-8EB2-2271-FE2E-D7F77EA4CC5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 agente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0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119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65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115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D8E99D-5FA3-5FE9-B9F4-8244AF8AC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7" y="1176277"/>
            <a:ext cx="7207045" cy="267754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AEC0463-B8F4-F5B3-448D-D173C6A78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206" y="4009833"/>
            <a:ext cx="7207045" cy="26921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17DEDB9-5892-9794-4F69-39833380CD7A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392859-0D7D-8DEF-005B-BCE0628F18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165885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67D24-91BF-BE27-13FD-C5F057FB2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47743B-4D55-50FA-A1D3-B2728A86C0BF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2: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0FF5B-5E2F-D8B1-2966-A84693CBE68D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Médio (0.25)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5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57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63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60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170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10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1308AA-9C4C-F5DC-C3CF-A3A9492DFBAF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9BE5ED-8D65-894D-00A0-09C1563E359A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7F8882B-BD19-491C-2E68-5D5E0D4A4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6" cy="269215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A44B604-23E1-8A8C-8BF4-AAEB4B965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3"/>
            <a:ext cx="7246376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9670-B61D-3BCA-C55C-5BD83A68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2FA0058-CA67-3EE6-E080-24BA5E12A9E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3: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2A4510-4133-BEB5-F9C6-D8CDEF9888A8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Alto (0.50)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3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107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41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32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113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67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34213A-D88B-F7B5-353D-6FEE8D6F7E56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C8D4C7-8CEC-6137-4B6D-5F0FFFA655D2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F40F48-C514-235D-7E65-42C2F97A3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64232"/>
            <a:ext cx="7246378" cy="269215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091E8E1-FE78-9D7E-69FB-48490EA6F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78" cy="269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62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2E02-0B02-1F16-2F2B-A57D5E29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810521-BBF1-2D0F-01A8-A732F44C7700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4: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392B3F-E70F-37F8-5154-477A83C2146A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8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95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Crianças = 38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47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153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27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B67E5E-83E2-198C-0F23-4B5138E95AE4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9D37EB-FAD7-B685-E89B-9EEA007C9B14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B5E026E-CD48-62BB-360A-86D94B49D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6341"/>
            <a:ext cx="7246378" cy="26921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F9A118E-BF95-54D4-0104-8C1F1E06D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3985514"/>
            <a:ext cx="7246380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65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EB66-FF18-1527-E892-739B899E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0EF66C-CAA5-D38A-2E7A-03C5A03418C8}"/>
              </a:ext>
            </a:extLst>
          </p:cNvPr>
          <p:cNvSpPr txBox="1"/>
          <p:nvPr/>
        </p:nvSpPr>
        <p:spPr>
          <a:xfrm>
            <a:off x="4697361" y="491613"/>
            <a:ext cx="2797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Cenário</a:t>
            </a:r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5: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43E63D-7F34-17E0-EFFF-77EA6F93E08E}"/>
              </a:ext>
            </a:extLst>
          </p:cNvPr>
          <p:cNvSpPr txBox="1"/>
          <p:nvPr/>
        </p:nvSpPr>
        <p:spPr>
          <a:xfrm>
            <a:off x="255639" y="1858297"/>
            <a:ext cx="37952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Fogo: Baixo (0.12)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Saídas: 10 agentes por vez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Agentes: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Adultos = 90	Crianças = 54</a:t>
            </a:r>
            <a:b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Idosos e PCDs = 36</a:t>
            </a: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pt-BR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Estado final: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Vivos: 0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Evacuados: 138 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Mortos: 42</a:t>
            </a:r>
          </a:p>
          <a:p>
            <a:r>
              <a:rPr lang="pt-BR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Total: 180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DB1199-3275-9400-AAFF-B1761A293868}"/>
              </a:ext>
            </a:extLst>
          </p:cNvPr>
          <p:cNvSpPr txBox="1"/>
          <p:nvPr/>
        </p:nvSpPr>
        <p:spPr>
          <a:xfrm>
            <a:off x="11394122" y="1176277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Inicio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618A36-87B0-A25E-5FDF-4AF6C18E607C}"/>
              </a:ext>
            </a:extLst>
          </p:cNvPr>
          <p:cNvSpPr txBox="1"/>
          <p:nvPr/>
        </p:nvSpPr>
        <p:spPr>
          <a:xfrm>
            <a:off x="11415251" y="3985514"/>
            <a:ext cx="513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23B4D4-399E-8790-7077-0E1DFDAA8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1151302"/>
            <a:ext cx="7246381" cy="26921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286A98-D4EA-C987-E4B2-11DD4BC1C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58" y="4077746"/>
            <a:ext cx="7246381" cy="26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8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39E947E-A237-4FED-3CEE-A19615282D3C}"/>
              </a:ext>
            </a:extLst>
          </p:cNvPr>
          <p:cNvSpPr txBox="1"/>
          <p:nvPr/>
        </p:nvSpPr>
        <p:spPr>
          <a:xfrm>
            <a:off x="553915" y="1063869"/>
            <a:ext cx="4994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que explica as diferenças entre cenários?</a:t>
            </a:r>
          </a:p>
        </p:txBody>
      </p:sp>
    </p:spTree>
    <p:extLst>
      <p:ext uri="{BB962C8B-B14F-4D97-AF65-F5344CB8AC3E}">
        <p14:creationId xmlns:p14="http://schemas.microsoft.com/office/powerpoint/2010/main" val="26922409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10294</TotalTime>
  <Words>2061</Words>
  <Application>Microsoft Office PowerPoint</Application>
  <PresentationFormat>Widescreen</PresentationFormat>
  <Paragraphs>279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Aptos</vt:lpstr>
      <vt:lpstr>Aptos Narrow</vt:lpstr>
      <vt:lpstr>Arial</vt:lpstr>
      <vt:lpstr>Calibri</vt:lpstr>
      <vt:lpstr>Symbol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Marcos Antonio Mattedi</cp:lastModifiedBy>
  <cp:revision>26</cp:revision>
  <dcterms:created xsi:type="dcterms:W3CDTF">2026-04-13T15:47:06Z</dcterms:created>
  <dcterms:modified xsi:type="dcterms:W3CDTF">2026-06-15T12:49:55Z</dcterms:modified>
</cp:coreProperties>
</file>